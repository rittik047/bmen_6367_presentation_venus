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2" saveSubsetFonts="1" autoCompressPictures="0">
  <p:sldMasterIdLst>
    <p:sldMasterId id="2147483648" r:id="rId1"/>
    <p:sldMasterId id="2147483660" r:id="rId2"/>
    <p:sldMasterId id="2147483688" r:id="rId3"/>
  </p:sldMasterIdLst>
  <p:notesMasterIdLst>
    <p:notesMasterId r:id="rId21"/>
  </p:notesMasterIdLst>
  <p:sldIdLst>
    <p:sldId id="308" r:id="rId4"/>
    <p:sldId id="309" r:id="rId5"/>
    <p:sldId id="310" r:id="rId6"/>
    <p:sldId id="311" r:id="rId7"/>
    <p:sldId id="324" r:id="rId8"/>
    <p:sldId id="315" r:id="rId9"/>
    <p:sldId id="313" r:id="rId10"/>
    <p:sldId id="316" r:id="rId11"/>
    <p:sldId id="312" r:id="rId12"/>
    <p:sldId id="314" r:id="rId13"/>
    <p:sldId id="317" r:id="rId14"/>
    <p:sldId id="318" r:id="rId15"/>
    <p:sldId id="319" r:id="rId16"/>
    <p:sldId id="320" r:id="rId17"/>
    <p:sldId id="321" r:id="rId18"/>
    <p:sldId id="322" r:id="rId19"/>
    <p:sldId id="323"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233BA8-D8ED-6A4B-9226-195FFC37C2C5}" v="11" dt="2026-09-25T01:35:11.0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257"/>
    <p:restoredTop sz="96000"/>
  </p:normalViewPr>
  <p:slideViewPr>
    <p:cSldViewPr snapToGrid="0">
      <p:cViewPr varScale="1">
        <p:scale>
          <a:sx n="117" d="100"/>
          <a:sy n="117" d="100"/>
        </p:scale>
        <p:origin x="1544" y="176"/>
      </p:cViewPr>
      <p:guideLst>
        <p:guide orient="horz" pos="2160"/>
        <p:guide pos="216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microsoft.com/office/2015/10/relationships/revisionInfo" Target="revisionInfo.xml"/><Relationship Id="rId3" Type="http://schemas.openxmlformats.org/officeDocument/2006/relationships/slideMaster" Target="slideMasters/slideMaster3.xml"/><Relationship Id="rId21" Type="http://schemas.openxmlformats.org/officeDocument/2006/relationships/notesMaster" Target="notesMasters/notes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AUC (×100)</c:v>
                </c:pt>
              </c:strCache>
            </c:strRef>
          </c:tx>
          <c:spPr>
            <a:solidFill>
              <a:srgbClr val="E87500"/>
            </a:solidFill>
            <a:effectLst/>
          </c:spPr>
          <c:invertIfNegative val="0"/>
          <c:dLbls>
            <c:numFmt formatCode="0.0" sourceLinked="0"/>
            <c:spPr>
              <a:noFill/>
              <a:ln>
                <a:noFill/>
              </a:ln>
              <a:effectLst/>
            </c:spPr>
            <c:txPr>
              <a:bodyPr/>
              <a:lstStyle/>
              <a:p>
                <a:pPr>
                  <a:defRPr sz="70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Eko · heart murmur, stethoscope</c:v>
                </c:pt>
                <c:pt idx="1">
                  <c:v>SkinVision · melanoma, smartphone</c:v>
                </c:pt>
                <c:pt idx="2">
                  <c:v>Tempus xT · oncology genomics</c:v>
                </c:pt>
                <c:pt idx="3">
                  <c:v>PathAI · breast histopathology</c:v>
                </c:pt>
                <c:pt idx="4">
                  <c:v>Google Health · mammography</c:v>
                </c:pt>
                <c:pt idx="5">
                  <c:v>Aidoc · head-CT haemorrhage</c:v>
                </c:pt>
                <c:pt idx="6">
                  <c:v>AI-Rad Companion · lung CT</c:v>
                </c:pt>
                <c:pt idx="7">
                  <c:v>CNN · diabetic retinopathy*</c:v>
                </c:pt>
              </c:strCache>
            </c:strRef>
          </c:cat>
          <c:val>
            <c:numRef>
              <c:f>Sheet1!$B$2:$B$9</c:f>
              <c:numCache>
                <c:formatCode>General</c:formatCode>
                <c:ptCount val="8"/>
                <c:pt idx="0">
                  <c:v>90</c:v>
                </c:pt>
                <c:pt idx="1">
                  <c:v>89</c:v>
                </c:pt>
                <c:pt idx="2">
                  <c:v>87</c:v>
                </c:pt>
                <c:pt idx="3">
                  <c:v>98</c:v>
                </c:pt>
                <c:pt idx="4">
                  <c:v>94.5</c:v>
                </c:pt>
                <c:pt idx="5">
                  <c:v>91</c:v>
                </c:pt>
                <c:pt idx="6">
                  <c:v>94</c:v>
                </c:pt>
                <c:pt idx="7">
                  <c:v>96.3</c:v>
                </c:pt>
              </c:numCache>
            </c:numRef>
          </c:val>
          <c:extLst>
            <c:ext xmlns:c16="http://schemas.microsoft.com/office/drawing/2014/chart" uri="{C3380CC4-5D6E-409C-BE32-E72D297353CC}">
              <c16:uniqueId val="{00000000-3A22-A64E-8835-03D82FFE7212}"/>
            </c:ext>
          </c:extLst>
        </c:ser>
        <c:ser>
          <c:idx val="1"/>
          <c:order val="1"/>
          <c:tx>
            <c:strRef>
              <c:f>Sheet1!$C$1</c:f>
              <c:strCache>
                <c:ptCount val="1"/>
                <c:pt idx="0">
                  <c:v>Accuracy (%)</c:v>
                </c:pt>
              </c:strCache>
            </c:strRef>
          </c:tx>
          <c:spPr>
            <a:solidFill>
              <a:srgbClr val="FFB611"/>
            </a:solidFill>
            <a:effectLst/>
          </c:spPr>
          <c:invertIfNegative val="0"/>
          <c:dLbls>
            <c:numFmt formatCode="0.0" sourceLinked="0"/>
            <c:spPr>
              <a:noFill/>
              <a:ln>
                <a:noFill/>
              </a:ln>
              <a:effectLst/>
            </c:spPr>
            <c:txPr>
              <a:bodyPr/>
              <a:lstStyle/>
              <a:p>
                <a:pPr>
                  <a:defRPr sz="70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Eko · heart murmur, stethoscope</c:v>
                </c:pt>
                <c:pt idx="1">
                  <c:v>SkinVision · melanoma, smartphone</c:v>
                </c:pt>
                <c:pt idx="2">
                  <c:v>Tempus xT · oncology genomics</c:v>
                </c:pt>
                <c:pt idx="3">
                  <c:v>PathAI · breast histopathology</c:v>
                </c:pt>
                <c:pt idx="4">
                  <c:v>Google Health · mammography</c:v>
                </c:pt>
                <c:pt idx="5">
                  <c:v>Aidoc · head-CT haemorrhage</c:v>
                </c:pt>
                <c:pt idx="6">
                  <c:v>AI-Rad Companion · lung CT</c:v>
                </c:pt>
                <c:pt idx="7">
                  <c:v>CNN · diabetic retinopathy*</c:v>
                </c:pt>
              </c:strCache>
            </c:strRef>
          </c:cat>
          <c:val>
            <c:numRef>
              <c:f>Sheet1!$C$2:$C$9</c:f>
              <c:numCache>
                <c:formatCode>General</c:formatCode>
                <c:ptCount val="8"/>
                <c:pt idx="5">
                  <c:v>91</c:v>
                </c:pt>
                <c:pt idx="6">
                  <c:v>89.3</c:v>
                </c:pt>
                <c:pt idx="7">
                  <c:v>91.3</c:v>
                </c:pt>
              </c:numCache>
            </c:numRef>
          </c:val>
          <c:extLst>
            <c:ext xmlns:c16="http://schemas.microsoft.com/office/drawing/2014/chart" uri="{C3380CC4-5D6E-409C-BE32-E72D297353CC}">
              <c16:uniqueId val="{00000001-3A22-A64E-8835-03D82FFE7212}"/>
            </c:ext>
          </c:extLst>
        </c:ser>
        <c:ser>
          <c:idx val="2"/>
          <c:order val="2"/>
          <c:tx>
            <c:strRef>
              <c:f>Sheet1!$D$1</c:f>
              <c:strCache>
                <c:ptCount val="1"/>
                <c:pt idx="0">
                  <c:v>Specificity (%)</c:v>
                </c:pt>
              </c:strCache>
            </c:strRef>
          </c:tx>
          <c:spPr>
            <a:solidFill>
              <a:srgbClr val="0077A8"/>
            </a:solidFill>
            <a:effectLst/>
          </c:spPr>
          <c:invertIfNegative val="0"/>
          <c:dLbls>
            <c:numFmt formatCode="0.0" sourceLinked="0"/>
            <c:spPr>
              <a:noFill/>
              <a:ln>
                <a:noFill/>
              </a:ln>
              <a:effectLst/>
            </c:spPr>
            <c:txPr>
              <a:bodyPr/>
              <a:lstStyle/>
              <a:p>
                <a:pPr>
                  <a:defRPr sz="70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Eko · heart murmur, stethoscope</c:v>
                </c:pt>
                <c:pt idx="1">
                  <c:v>SkinVision · melanoma, smartphone</c:v>
                </c:pt>
                <c:pt idx="2">
                  <c:v>Tempus xT · oncology genomics</c:v>
                </c:pt>
                <c:pt idx="3">
                  <c:v>PathAI · breast histopathology</c:v>
                </c:pt>
                <c:pt idx="4">
                  <c:v>Google Health · mammography</c:v>
                </c:pt>
                <c:pt idx="5">
                  <c:v>Aidoc · head-CT haemorrhage</c:v>
                </c:pt>
                <c:pt idx="6">
                  <c:v>AI-Rad Companion · lung CT</c:v>
                </c:pt>
                <c:pt idx="7">
                  <c:v>CNN · diabetic retinopathy*</c:v>
                </c:pt>
              </c:strCache>
            </c:strRef>
          </c:cat>
          <c:val>
            <c:numRef>
              <c:f>Sheet1!$D$2:$D$9</c:f>
              <c:numCache>
                <c:formatCode>General</c:formatCode>
                <c:ptCount val="8"/>
                <c:pt idx="0">
                  <c:v>91.1</c:v>
                </c:pt>
                <c:pt idx="1">
                  <c:v>78.3</c:v>
                </c:pt>
                <c:pt idx="2">
                  <c:v>85</c:v>
                </c:pt>
                <c:pt idx="3">
                  <c:v>93.8</c:v>
                </c:pt>
                <c:pt idx="4">
                  <c:v>94.5</c:v>
                </c:pt>
                <c:pt idx="5">
                  <c:v>93.6</c:v>
                </c:pt>
                <c:pt idx="6">
                  <c:v>86.5</c:v>
                </c:pt>
                <c:pt idx="7">
                  <c:v>91.6</c:v>
                </c:pt>
              </c:numCache>
            </c:numRef>
          </c:val>
          <c:extLst>
            <c:ext xmlns:c16="http://schemas.microsoft.com/office/drawing/2014/chart" uri="{C3380CC4-5D6E-409C-BE32-E72D297353CC}">
              <c16:uniqueId val="{00000002-3A22-A64E-8835-03D82FFE7212}"/>
            </c:ext>
          </c:extLst>
        </c:ser>
        <c:ser>
          <c:idx val="3"/>
          <c:order val="3"/>
          <c:tx>
            <c:strRef>
              <c:f>Sheet1!$E$1</c:f>
              <c:strCache>
                <c:ptCount val="1"/>
                <c:pt idx="0">
                  <c:v>Sensitivity (%)</c:v>
                </c:pt>
              </c:strCache>
            </c:strRef>
          </c:tx>
          <c:spPr>
            <a:solidFill>
              <a:srgbClr val="154734"/>
            </a:solidFill>
            <a:effectLst/>
          </c:spPr>
          <c:invertIfNegative val="0"/>
          <c:dLbls>
            <c:numFmt formatCode="0.0" sourceLinked="0"/>
            <c:spPr>
              <a:noFill/>
              <a:ln>
                <a:noFill/>
              </a:ln>
              <a:effectLst/>
            </c:spPr>
            <c:txPr>
              <a:bodyPr/>
              <a:lstStyle/>
              <a:p>
                <a:pPr>
                  <a:defRPr sz="700" b="0" i="0" u="none" strike="noStrike">
                    <a:solidFill>
                      <a:srgbClr val="3333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Eko · heart murmur, stethoscope</c:v>
                </c:pt>
                <c:pt idx="1">
                  <c:v>SkinVision · melanoma, smartphone</c:v>
                </c:pt>
                <c:pt idx="2">
                  <c:v>Tempus xT · oncology genomics</c:v>
                </c:pt>
                <c:pt idx="3">
                  <c:v>PathAI · breast histopathology</c:v>
                </c:pt>
                <c:pt idx="4">
                  <c:v>Google Health · mammography</c:v>
                </c:pt>
                <c:pt idx="5">
                  <c:v>Aidoc · head-CT haemorrhage</c:v>
                </c:pt>
                <c:pt idx="6">
                  <c:v>AI-Rad Companion · lung CT</c:v>
                </c:pt>
                <c:pt idx="7">
                  <c:v>CNN · diabetic retinopathy*</c:v>
                </c:pt>
              </c:strCache>
            </c:strRef>
          </c:cat>
          <c:val>
            <c:numRef>
              <c:f>Sheet1!$E$2:$E$9</c:f>
              <c:numCache>
                <c:formatCode>General</c:formatCode>
                <c:ptCount val="8"/>
                <c:pt idx="0">
                  <c:v>87.6</c:v>
                </c:pt>
                <c:pt idx="1">
                  <c:v>95.1</c:v>
                </c:pt>
                <c:pt idx="2">
                  <c:v>88</c:v>
                </c:pt>
                <c:pt idx="3">
                  <c:v>94.6</c:v>
                </c:pt>
                <c:pt idx="4">
                  <c:v>89</c:v>
                </c:pt>
                <c:pt idx="5">
                  <c:v>89.4</c:v>
                </c:pt>
                <c:pt idx="6">
                  <c:v>92</c:v>
                </c:pt>
                <c:pt idx="7">
                  <c:v>90.5</c:v>
                </c:pt>
              </c:numCache>
            </c:numRef>
          </c:val>
          <c:extLst>
            <c:ext xmlns:c16="http://schemas.microsoft.com/office/drawing/2014/chart" uri="{C3380CC4-5D6E-409C-BE32-E72D297353CC}">
              <c16:uniqueId val="{00000003-3A22-A64E-8835-03D82FFE7212}"/>
            </c:ext>
          </c:extLst>
        </c:ser>
        <c:dLbls>
          <c:showLegendKey val="0"/>
          <c:showVal val="1"/>
          <c:showCatName val="0"/>
          <c:showSerName val="0"/>
          <c:showPercent val="0"/>
          <c:showBubbleSize val="0"/>
        </c:dLbls>
        <c:gapWidth val="12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33333"/>
                </a:solidFill>
                <a:latin typeface="Calibri"/>
              </a:defRPr>
            </a:pPr>
            <a:endParaRPr lang="en-US"/>
          </a:p>
        </c:txPr>
        <c:crossAx val="2094734552"/>
        <c:crosses val="autoZero"/>
        <c:auto val="1"/>
        <c:lblAlgn val="ctr"/>
        <c:lblOffset val="100"/>
        <c:noMultiLvlLbl val="1"/>
      </c:catAx>
      <c:valAx>
        <c:axId val="2094734552"/>
        <c:scaling>
          <c:orientation val="minMax"/>
          <c:max val="100"/>
          <c:min val="70"/>
        </c:scaling>
        <c:delete val="0"/>
        <c:axPos val="b"/>
        <c:majorGridlines>
          <c:spPr>
            <a:ln w="6350" cap="flat">
              <a:solidFill>
                <a:srgbClr val="E5EA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77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50">
              <a:solidFill>
                <a:srgbClr val="333333"/>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857" y="685800"/>
            <a:ext cx="4574286" cy="3430714"/>
          </a:xfrm>
          <a:prstGeom prst="rect">
            <a:avLst/>
          </a:prstGeom>
        </p:spPr>
        <p:txBody>
          <a:bodyPr/>
          <a:lstStyle/>
          <a:p>
            <a:endParaRPr lang="en-US"/>
          </a:p>
        </p:txBody>
      </p:sp>
      <p:sp>
        <p:nvSpPr>
          <p:cNvPr id="3" name="Notes Placeholder 2"/>
          <p:cNvSpPr>
            <a:spLocks noGrp="1"/>
          </p:cNvSpPr>
          <p:nvPr>
            <p:ph type="body" sz="quarter" idx="3"/>
          </p:nvPr>
        </p:nvSpPr>
        <p:spPr>
          <a:xfrm>
            <a:off x="685800" y="4343400"/>
            <a:ext cx="5486400" cy="4114800"/>
          </a:xfrm>
          <a:prstGeom prst="rect">
            <a:avLst/>
          </a:prstGeom>
        </p:spPr>
        <p:txBody>
          <a:bodyPr/>
          <a:lstStyle/>
          <a:p>
            <a:endParaRPr lang="en-US"/>
          </a:p>
        </p:txBody>
      </p:sp>
      <p:sp>
        <p:nvSpPr>
          <p:cNvPr id="4" name="Slide Number Placeholder 3"/>
          <p:cNvSpPr>
            <a:spLocks noGrp="1"/>
          </p:cNvSpPr>
          <p:nvPr>
            <p:ph type="sldNum" sz="quarter" idx="5"/>
          </p:nvPr>
        </p:nvSpPr>
        <p:spPr>
          <a:xfrm>
            <a:off x="3881627" y="8686800"/>
            <a:ext cx="2976372" cy="457200"/>
          </a:xfrm>
          <a:prstGeom prst="rect">
            <a:avLst/>
          </a:prstGeom>
        </p:spPr>
        <p:txBody>
          <a:bodyPr/>
          <a:lstStyle/>
          <a:p>
            <a:endParaRPr lang="en-US"/>
          </a:p>
        </p:txBody>
      </p:sp>
    </p:spTree>
    <p:extLst>
      <p:ext uri="{BB962C8B-B14F-4D97-AF65-F5344CB8AC3E}">
        <p14:creationId xmlns:p14="http://schemas.microsoft.com/office/powerpoint/2010/main" val="449772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1413" y="685800"/>
            <a:ext cx="4575175" cy="3430588"/>
          </a:xfrm>
        </p:spPr>
        <p:txBody>
          <a:bodyPr/>
          <a:lstStyle/>
          <a:p>
            <a:endParaRPr lang="en-US"/>
          </a:p>
        </p:txBody>
      </p:sp>
      <p:sp>
        <p:nvSpPr>
          <p:cNvPr id="3" name="Notes Placeholder 2"/>
          <p:cNvSpPr>
            <a:spLocks noGrp="1"/>
          </p:cNvSpPr>
          <p:nvPr>
            <p:ph type="body" idx="1"/>
          </p:nvPr>
        </p:nvSpPr>
        <p:spPr/>
        <p:txBody>
          <a:bodyPr/>
          <a:lstStyle/>
          <a:p>
            <a:r>
              <a:rPr dirty="0"/>
              <a:t>Good morning. I'm Rittik Patra, Team </a:t>
            </a:r>
            <a:r>
              <a:rPr lang="en-US" dirty="0"/>
              <a:t>Venus</a:t>
            </a:r>
            <a:r>
              <a:rPr dirty="0"/>
              <a:t>. I'm presenting 'AI-Driven Wearable Bioelectronics in Digital Healthcare' by Huang, Chen and Liao, Biosensors 2025, a 46-page review. I'll read it as an engineering pipeline, explain every figure and table, and finish with my critique and questions.</a:t>
            </a:r>
          </a:p>
          <a:p>
            <a:endParaRPr dirty="0"/>
          </a:p>
          <a:p>
            <a:r>
              <a:rPr dirty="0"/>
              <a:t>IF ASKED: Affiliations: Shenzhen University of Advanced Technology; University of Cambridge; UT Austin. Corresponding author: Caizhi Liao. Vol. 15, issue 7, article 410; doi:10.3390/bios15070410; 225 references.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EB03A62-B4E1-4E76-92D8-4DA5B42024B2}"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9412319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0:50]</a:t>
            </a:r>
          </a:p>
          <a:p>
            <a:r>
              <a:t>The motivation is disease burden and ageing. The paper cites 422 million people with diabetes and 17.9 million cardiovascular deaths per year. Those are older WHO figures, from 2014 and 2019.</a:t>
            </a:r>
          </a:p>
          <a:p>
            <a:r>
              <a:t>Current estimates are higher: 828 million adults with diabetes in 2022, from the NCD-RisC analysis in The Lancet, and 19.8 million cardiovascular deaths, from WHO. The ageing figure, 2.1 billion people over 60 by 2050, is correct.</a:t>
            </a:r>
          </a:p>
          <a:p>
            <a:r>
              <a:t>So the case for this field is stronger than the paper states. Care today is reactive and episodic. AI plus wearables promise continuous, proactive and personalized care outside the clinic.</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0:50]</a:t>
            </a:r>
          </a:p>
          <a:p>
            <a:r>
              <a:t>The problem: wearables already stream continuous, multimodal data, but three bottlenecks stop it from becoming trusted clinical decisions.</a:t>
            </a:r>
          </a:p>
          <a:p>
            <a:r>
              <a:t>First, signal quality: motion artifacts, drift and cross-sensitivity.</a:t>
            </a:r>
          </a:p>
          <a:p>
            <a:r>
              <a:t>Second, power and data links: on-device AI competes with battery life.</a:t>
            </a:r>
          </a:p>
          <a:p>
            <a:r>
              <a:t>Third, trust: validation, bias, privacy and regulation.</a:t>
            </a:r>
          </a:p>
          <a:p>
            <a:r>
              <a:t>The purpose is an end-to-end synthesis for researchers, clinicians and policymakers. The four objectives match the four quadrants of Figure 1: foundations, applications, challenges and future directions.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0:40]</a:t>
            </a:r>
          </a:p>
          <a:p>
            <a:r>
              <a:t>Methods. This is a narrative review: 225 references, 12 figures and 5 tables. It reports no search strategy or inclusion criteria, so we cannot tell how studies were selected.</a:t>
            </a:r>
          </a:p>
          <a:p>
            <a:r>
              <a:t>Its technical framework is a five-step pipeline: sense the signal, condition it, extract features such as heart-rate variability, run inference, and act, either as an alert or as closed-loop therapy.</a:t>
            </a:r>
          </a:p>
          <a:p>
            <a:r>
              <a:t>Section 3.4 turns this into an "AI–Biosensor Fusion Framework" with four pillars: AI-enhanced sensing, AI-guided sensor design, intelligent diagnostics, and a staged deployment roadmap. The figures are striking, for example 75 percent less power from adaptive sampling, but the section cites no sources for any of them.</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6CDF-5086-38CB-DD73-6E3F8D808D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FF54DA-BC7B-0B02-9D25-D07E7FA766F7}"/>
              </a:ext>
            </a:extLst>
          </p:cNvPr>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a:extLst>
              <a:ext uri="{FF2B5EF4-FFF2-40B4-BE49-F238E27FC236}">
                <a16:creationId xmlns:a16="http://schemas.microsoft.com/office/drawing/2014/main" id="{7CEB66EB-9560-B19D-13F2-DFF8F842AEB5}"/>
              </a:ext>
            </a:extLst>
          </p:cNvPr>
          <p:cNvSpPr>
            <a:spLocks noGrp="1"/>
          </p:cNvSpPr>
          <p:nvPr>
            <p:ph type="body" sz="quarter" idx="3"/>
          </p:nvPr>
        </p:nvSpPr>
        <p:spPr/>
        <p:txBody>
          <a:bodyPr/>
          <a:lstStyle/>
          <a:p>
            <a:r>
              <a:t>[Target 1:00]</a:t>
            </a:r>
          </a:p>
          <a:p>
            <a:r>
              <a:t>Results start with hardware.</a:t>
            </a:r>
          </a:p>
          <a:p>
            <a:r>
              <a:t>Figure 2 is the field's timeline, from the 1962 Holter monitor to recent synthetic-biology sensors. Panel b splits every wearable into materials, sensing, power and a decision unit, which is where AI sits.</a:t>
            </a:r>
          </a:p>
          <a:p>
            <a:r>
              <a:t>Figure 3 is a battery-free electrotherapy patch. It is powered wirelessly over NFC, and its molybdenum electrodes dissolve after use. The dissolution shown was an accelerated test at 75 degrees.</a:t>
            </a:r>
          </a:p>
          <a:p>
            <a:r>
              <a:t>Figure 4 is a stretchable graphene–hydrogel composite that can be worn on the skin or placed on the heart.</a:t>
            </a:r>
          </a:p>
          <a:p>
            <a:r>
              <a:t>Figure 5 is a textile wristband for sweat potassium, with the whole signal chain woven into the fabric: sensing, amplification, conversion and Bluetooth.</a:t>
            </a:r>
          </a:p>
          <a:p>
            <a:r>
              <a:t>Across these four figures, devices are getting softer, wireless and self-powered.</a:t>
            </a:r>
          </a:p>
        </p:txBody>
      </p:sp>
      <p:sp>
        <p:nvSpPr>
          <p:cNvPr id="4" name="Slide Number Placeholder 3">
            <a:extLst>
              <a:ext uri="{FF2B5EF4-FFF2-40B4-BE49-F238E27FC236}">
                <a16:creationId xmlns:a16="http://schemas.microsoft.com/office/drawing/2014/main" id="{40955E15-FEDE-F266-8838-02E310517B56}"/>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220422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1:00]</a:t>
            </a:r>
          </a:p>
          <a:p>
            <a:r>
              <a:t>Results start with hardware.</a:t>
            </a:r>
          </a:p>
          <a:p>
            <a:r>
              <a:t>Figure 2 is the field's timeline, from the 1962 Holter monitor to recent synthetic-biology sensors. Panel b splits every wearable into materials, sensing, power and a decision unit, which is where AI sits.</a:t>
            </a:r>
          </a:p>
          <a:p>
            <a:r>
              <a:t>Figure 3 is a battery-free electrotherapy patch. It is powered wirelessly over NFC, and its molybdenum electrodes dissolve after use. The dissolution shown was an accelerated test at 75 degrees.</a:t>
            </a:r>
          </a:p>
          <a:p>
            <a:r>
              <a:t>Figure 4 is a stretchable graphene–hydrogel composite that can be worn on the skin or placed on the heart.</a:t>
            </a:r>
          </a:p>
          <a:p>
            <a:r>
              <a:t>Figure 5 is a textile wristband for sweat potassium, with the whole signal chain woven into the fabric: sensing, amplification, conversion and Bluetooth.</a:t>
            </a:r>
          </a:p>
          <a:p>
            <a:r>
              <a:t>Across these four figures, devices are getting softer, wireless and self-powered.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0:45]</a:t>
            </a:r>
          </a:p>
          <a:p>
            <a:r>
              <a:t>Data. The review has no dataset of its own. It covers three kinds of data: physiological signals such as ECG, PPG and SpO2; biochemical signals from sweat, interstitial fluid, saliva and tears; and context, including EHR records. These come from watches, patches, implants and textiles.</a:t>
            </a:r>
          </a:p>
          <a:p>
            <a:r>
              <a:t>Table 1 shows sensors improving across three generations: response time from over 30 seconds to under 1, and stability from hours to months.</a:t>
            </a:r>
          </a:p>
          <a:p>
            <a:r>
              <a:t>Our caution: the table is uncited, and months of stability fits implants such as the one-year Eversense CGM, not typical sweat sensors.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0:45]</a:t>
            </a:r>
          </a:p>
          <a:p>
            <a:r>
              <a:t>Table 2 compares eight materials, and the pattern is a trade-off. Graphene and silver nanowires conduct well but are costly or oxidize. PDMS and Ecoflex stretch but do not conduct. Hydrogels are tissue-soft but dry out. That is why real devices use composites.</a:t>
            </a:r>
          </a:p>
          <a:p>
            <a:r>
              <a:t>One technical note: the "sensitivity" given for graphene is actually a detection range. Sensitivity is a calibration slope.</a:t>
            </a:r>
          </a:p>
          <a:p>
            <a:r>
              <a:t>Figure 6 shows the self-powering chain: harvest, convert, store, then power the sensor. Harvested power is small, so any on-device AI must fit a milliwatt budget.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0:55]</a:t>
            </a:r>
          </a:p>
          <a:p>
            <a:r>
              <a:t>Table 3 compares 13 algorithms by healthcare application, advantages and limitations. We colour-coded four families: classical ML, deep learning, unsupervised and reinforcement learning. The authors cite random forests for fall detection at over 90% accuracy within 100 ms on a microcontroller, and deep learning for raw ECG, PPG and CGM data.</a:t>
            </a:r>
          </a:p>
          <a:p>
            <a:r>
              <a:t>Five insights. First, moving down the table trades interpretability for capacity. Second, there is no column for memory, latency or power, even though the paper calls these the binding constraint for wearables. Third, many listed uses are imaging or NLP, not wearable sensing. Fourth, the text reports sensitivity for unsupervised clustering and "selectivity" for RL, which need labels to mean anything, and it describes autoencoders as RL. Finally, spiking networks and self-supervised foundation models for PPG and ECG are missing.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0:50]</a:t>
            </a:r>
          </a:p>
          <a:p>
            <a:r>
              <a:t>Evaluation. The review reports diagnostic metrics such as sensitivity, specificity and AUC, plus latency, power, drift and number of analytes.</a:t>
            </a:r>
          </a:p>
          <a:p>
            <a:r>
              <a:t>Table 4 is its headline comparison of traditional versus AI-enhanced sensing:</a:t>
            </a:r>
          </a:p>
          <a:p>
            <a:r>
              <a:t>- accuracy rises from 72 to 90 percent;</a:t>
            </a:r>
          </a:p>
          <a:p>
            <a:r>
              <a:t>- latency falls fivefold;</a:t>
            </a:r>
          </a:p>
          <a:p>
            <a:r>
              <a:t>- capacity triples;</a:t>
            </a:r>
          </a:p>
          <a:p>
            <a:r>
              <a:t>- drift drops 73 percent.</a:t>
            </a:r>
          </a:p>
          <a:p>
            <a:r>
              <a:t>The arithmetic is internally consistent. But no value has a source, dataset, sample size or confidence interval, and section 3.4 has no citations at all. So we read Table 4 as illustrating a trend, not as pooled evidence.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0:35]</a:t>
            </a:r>
          </a:p>
          <a:p>
            <a:r>
              <a:t>Figure 7 maps AI across healthcare in general. It is useful context, but most of it is not about wearables.</a:t>
            </a:r>
          </a:p>
          <a:p>
            <a:r>
              <a:t>Figure 8 is the key idea: move inference from the cloud onto the device. That gives real-time alerts, privacy, longer battery life and offline use. The authors' targets are under 100 ms latency, under 5 milliwatts and models under 200 kilobytes, but most of these numbers are uncited.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0:45]</a:t>
            </a:r>
          </a:p>
          <a:p>
            <a:r>
              <a:t>Two application figures.</a:t>
            </a:r>
          </a:p>
          <a:p>
            <a:r>
              <a:t>Figure 9 is a wireless patch that measures C-reactive protein, an inflammation marker, in sweat. It combines iontophoresis to produce sweat, microfluidics, and a graphene immunosensor. It targets COPD, heart failure and infection, which normally need a blood draw.</a:t>
            </a:r>
          </a:p>
          <a:p>
            <a:r>
              <a:t>Figure 10 is the iCares smart bandage. It removes wound fluid, senses pH, oxygen and reactive species, and uses machine learning to predict healing.</a:t>
            </a:r>
          </a:p>
          <a:p>
            <a:r>
              <a:t>Section 4 also covers vital signs, early warning for AF and glucose, mental health, and EHR integration.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0:50]</a:t>
            </a:r>
          </a:p>
          <a:p>
            <a:r>
              <a:t>Table 5 lists eight deployed AI systems, with sensitivity and specificity mostly 85 to 95 percent. Accuracy, reported for only three systems, is 89 to 91 percent, and AUC ranges from 0.87 to 0.98. SkinVision stands out: high sensitivity, but only 78 percent specificity.</a:t>
            </a:r>
          </a:p>
          <a:p>
            <a:r>
              <a:t>We found three problems.</a:t>
            </a:r>
          </a:p>
          <a:p>
            <a:r>
              <a:t>First, six of the eight systems are imaging or genomics, and none is body-worn.</a:t>
            </a:r>
          </a:p>
          <a:p>
            <a:r>
              <a:t>Second, the retinopathy row matches Ting et al., JAMA 2017, on sensitivity and specificity, but Ting reported an AUC of 0.936, not 0.963. It looks like transposed digits.</a:t>
            </a:r>
          </a:p>
          <a:p>
            <a:r>
              <a:t>Third, this skew mirrors the FDA's list, where about 77% of AI devices are radiology.</a:t>
            </a:r>
          </a:p>
          <a:p>
            <a:r>
              <a:t>Better wearable evidence exists: Hannun 2019 reached cardiologist-level arrhythmia detection on patch ECG, and the Apple Heart Study enrolled over 419,000 people.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0:55]</a:t>
            </a:r>
          </a:p>
          <a:p>
            <a:r>
              <a:t>The authors conclude that AI plus wearables shift care from reactive to proactive, that the gains are systemic, and that adoption depends on the barriers in Figure 11: security, bias, consent, regulation and liability.</a:t>
            </a:r>
          </a:p>
          <a:p>
            <a:r>
              <a:t>For the future, Figure 12 and sections 6 and 7 point three ways:</a:t>
            </a:r>
          </a:p>
          <a:p>
            <a:r>
              <a:t>- Technology: neuromorphic chips, synthetic data, federated learning, 5G.</a:t>
            </a:r>
          </a:p>
          <a:p>
            <a:r>
              <a:t>- Access: cheaper manufacturing, open hardware, tiered pricing.</a:t>
            </a:r>
          </a:p>
          <a:p>
            <a:r>
              <a:t>- Policy: pre-market validation, post-market monitoring and bias audits.</a:t>
            </a:r>
          </a:p>
          <a:p>
            <a:r>
              <a:t>They also propose a five-phase roadmap, from readiness in 6 months to EHR integration at 3 to 5 years. In our view, this policy section is the paper's most original part, and also its least supported.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1:10]</a:t>
            </a:r>
          </a:p>
          <a:p>
            <a:r>
              <a:t>Our comments.</a:t>
            </a:r>
          </a:p>
          <a:p>
            <a:r>
              <a:t>The strengths: a coherent scope from materials to policy, useful comparative tables, the power–compute trade-off treated as the core constraint, and real attention to equity and regulation.</a:t>
            </a:r>
          </a:p>
          <a:p>
            <a:r>
              <a:t>We also verified five concerns.</a:t>
            </a:r>
          </a:p>
          <a:p>
            <a:r>
              <a:t>1. Outdated statistics, as on slide 2.</a:t>
            </a:r>
          </a:p>
          <a:p>
            <a:r>
              <a:t>2. A numerical error in Table 5.</a:t>
            </a:r>
          </a:p>
          <a:p>
            <a:r>
              <a:t>3. Scope drift: much of the AI evidence is imaging, not wearables.</a:t>
            </a:r>
          </a:p>
          <a:p>
            <a:r>
              <a:t>4. Weak sourcing: section 3.4, including Table 4, cites nothing. Section 7 cites an EHR-privacy review for a Singapore "Safer Wearables Initiative" we could not find. And FDA Pre-Cert is described as if it were active, but the pilot ended in 2022.</a:t>
            </a:r>
          </a:p>
          <a:p>
            <a:r>
              <a:t>5. Rigor: no search protocol, a wrong section roadmap, and spelling errors in schematics.</a:t>
            </a:r>
          </a:p>
          <a:p>
            <a:r>
              <a:t>Verdict: a good entry point, but check its numbers against primary sources before citing them.</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[Target 0:40]</a:t>
            </a:r>
          </a:p>
          <a:p>
            <a:r>
              <a:t>Four questions for the authors.</a:t>
            </a:r>
          </a:p>
          <a:p>
            <a:r>
              <a:t>One: what evidence underlies Table 4?</a:t>
            </a:r>
          </a:p>
          <a:p>
            <a:r>
              <a:t>Two: since no Table 5 system is body-worn, how should these models be re-validated on noisy, free-living wearable data?</a:t>
            </a:r>
          </a:p>
          <a:p>
            <a:r>
              <a:t>Three: what safety verification would they require for closed-loop RL, such as insulin dosing?</a:t>
            </a:r>
          </a:p>
          <a:p>
            <a:r>
              <a:t>Four: how was their Accessibility Index derived, and has it been piloted?</a:t>
            </a:r>
          </a:p>
          <a:p>
            <a:r>
              <a:t>Thank you. We're happy to take questions.</a:t>
            </a:r>
          </a:p>
          <a:p>
            <a:endParaRPr/>
          </a:p>
          <a:p>
            <a:r>
              <a:t>[Total target ≈ 11:55. If running long, shorten slides 8 and 14 first.]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Backup slide. Do not present. Keep it for Q&amp;A if someone asks where the corrected figures come from.</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e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2130426"/>
            <a:ext cx="5829300" cy="1470025"/>
          </a:xfrm>
        </p:spPr>
        <p:txBody>
          <a:bodyPr/>
          <a:lstStyle/>
          <a:p>
            <a:r>
              <a:rPr lang="en-US"/>
              <a:t>Click to edit Master title style</a:t>
            </a:r>
          </a:p>
        </p:txBody>
      </p:sp>
      <p:sp>
        <p:nvSpPr>
          <p:cNvPr id="3" name="Subtitle 2"/>
          <p:cNvSpPr>
            <a:spLocks noGrp="1"/>
          </p:cNvSpPr>
          <p:nvPr>
            <p:ph type="subTitle" idx="1"/>
          </p:nvPr>
        </p:nvSpPr>
        <p:spPr>
          <a:xfrm>
            <a:off x="1028700" y="3886200"/>
            <a:ext cx="48006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735" y="4406901"/>
            <a:ext cx="58293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541735" y="2906713"/>
            <a:ext cx="58293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600201"/>
            <a:ext cx="302895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86150" y="1600201"/>
            <a:ext cx="302895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1535113"/>
            <a:ext cx="3030141"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342900" y="2174875"/>
            <a:ext cx="3030141"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3769" y="1535113"/>
            <a:ext cx="3031331"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83769" y="2174875"/>
            <a:ext cx="3031331"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r>
              <a:rPr lang="en-US"/>
              <a:t>Introduction</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r>
              <a:rPr lang="en-US"/>
              <a:t>Introduction</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en-US"/>
              <a:t>Introduction</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273050"/>
            <a:ext cx="2256235"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2681287" y="273051"/>
            <a:ext cx="3833813"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435101"/>
            <a:ext cx="2256235"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216" y="4800600"/>
            <a:ext cx="41148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344216" y="612775"/>
            <a:ext cx="41148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344216" y="5367338"/>
            <a:ext cx="41148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72050" y="274639"/>
            <a:ext cx="15430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274639"/>
            <a:ext cx="45148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1918" y="585894"/>
            <a:ext cx="1480164" cy="1973552"/>
          </a:xfrm>
          <a:prstGeom prst="rect">
            <a:avLst/>
          </a:prstGeom>
        </p:spPr>
      </p:pic>
    </p:spTree>
    <p:extLst>
      <p:ext uri="{BB962C8B-B14F-4D97-AF65-F5344CB8AC3E}">
        <p14:creationId xmlns:p14="http://schemas.microsoft.com/office/powerpoint/2010/main" val="3852914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4130117" y="440088"/>
            <a:ext cx="883766" cy="1180400"/>
          </a:xfrm>
          <a:prstGeom prst="rect">
            <a:avLst/>
          </a:prstGeom>
        </p:spPr>
      </p:pic>
    </p:spTree>
    <p:extLst>
      <p:ext uri="{BB962C8B-B14F-4D97-AF65-F5344CB8AC3E}">
        <p14:creationId xmlns:p14="http://schemas.microsoft.com/office/powerpoint/2010/main" val="3598059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3201" y="585895"/>
            <a:ext cx="1477598" cy="1973551"/>
          </a:xfrm>
          <a:prstGeom prst="rect">
            <a:avLst/>
          </a:prstGeom>
        </p:spPr>
      </p:pic>
    </p:spTree>
    <p:extLst>
      <p:ext uri="{BB962C8B-B14F-4D97-AF65-F5344CB8AC3E}">
        <p14:creationId xmlns:p14="http://schemas.microsoft.com/office/powerpoint/2010/main" val="3379946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i="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157352" y="91243"/>
            <a:ext cx="2829297" cy="1508957"/>
          </a:xfrm>
          <a:prstGeom prst="rect">
            <a:avLst/>
          </a:prstGeom>
        </p:spPr>
      </p:pic>
    </p:spTree>
    <p:extLst>
      <p:ext uri="{BB962C8B-B14F-4D97-AF65-F5344CB8AC3E}">
        <p14:creationId xmlns:p14="http://schemas.microsoft.com/office/powerpoint/2010/main" val="3544100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8C99210-9F21-304E-BAB5-5C46220805BC}"/>
              </a:ext>
            </a:extLst>
          </p:cNvPr>
          <p:cNvSpPr/>
          <p:nvPr userDrawn="1"/>
        </p:nvSpPr>
        <p:spPr>
          <a:xfrm>
            <a:off x="0" y="6228864"/>
            <a:ext cx="9144000" cy="629137"/>
          </a:xfrm>
          <a:prstGeom prst="rect">
            <a:avLst/>
          </a:prstGeom>
          <a:gradFill flip="none" rotWithShape="1">
            <a:gsLst>
              <a:gs pos="0">
                <a:schemeClr val="accent5">
                  <a:lumMod val="90000"/>
                  <a:lumOff val="10000"/>
                </a:schemeClr>
              </a:gs>
              <a:gs pos="68000">
                <a:srgbClr val="003720"/>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solidFill>
                <a:srgbClr val="C95C3A"/>
              </a:solidFill>
            </a:endParaRPr>
          </a:p>
        </p:txBody>
      </p:sp>
      <p:sp>
        <p:nvSpPr>
          <p:cNvPr id="2" name="Title 1"/>
          <p:cNvSpPr>
            <a:spLocks noGrp="1"/>
          </p:cNvSpPr>
          <p:nvPr>
            <p:ph type="title"/>
          </p:nvPr>
        </p:nvSpPr>
        <p:spPr/>
        <p:txBody>
          <a:bodyPr/>
          <a:lstStyle>
            <a:lvl1pPr>
              <a:defRPr i="0"/>
            </a:lvl1pPr>
          </a:lstStyle>
          <a:p>
            <a:r>
              <a:rPr lang="en-US"/>
              <a:t>Click to edit Master title style</a:t>
            </a:r>
          </a:p>
        </p:txBody>
      </p:sp>
      <p:sp>
        <p:nvSpPr>
          <p:cNvPr id="3" name="Content Placeholder 2"/>
          <p:cNvSpPr>
            <a:spLocks noGrp="1"/>
          </p:cNvSpPr>
          <p:nvPr>
            <p:ph idx="1" hasCustomPrompt="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6" name="Slide Number Placeholder 5"/>
          <p:cNvSpPr>
            <a:spLocks noGrp="1"/>
          </p:cNvSpPr>
          <p:nvPr>
            <p:ph type="sldNum" sz="quarter" idx="12"/>
          </p:nvPr>
        </p:nvSpPr>
        <p:spPr>
          <a:xfrm>
            <a:off x="4437697" y="6461730"/>
            <a:ext cx="268605" cy="190307"/>
          </a:xfrm>
        </p:spPr>
        <p:txBody>
          <a:bodyPr/>
          <a:lstStyle>
            <a:lvl1pPr>
              <a:defRPr sz="750" i="0">
                <a:solidFill>
                  <a:schemeClr val="bg1"/>
                </a:solidFill>
              </a:defRPr>
            </a:lvl1pPr>
          </a:lstStyle>
          <a:p>
            <a:fld id="{C68DACDF-E1A9-A04C-A5FF-FC2443684BF5}" type="slidenum">
              <a:rPr lang="en-US" smtClean="0"/>
              <a:pPr/>
              <a:t>‹#›</a:t>
            </a:fld>
            <a:endParaRPr lang="en-US"/>
          </a:p>
        </p:txBody>
      </p:sp>
      <p:cxnSp>
        <p:nvCxnSpPr>
          <p:cNvPr id="8" name="Straight Connector 7"/>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8618" y="6217010"/>
            <a:ext cx="2931715" cy="600320"/>
          </a:xfrm>
          <a:prstGeom prst="rect">
            <a:avLst/>
          </a:prstGeom>
        </p:spPr>
      </p:pic>
    </p:spTree>
    <p:extLst>
      <p:ext uri="{BB962C8B-B14F-4D97-AF65-F5344CB8AC3E}">
        <p14:creationId xmlns:p14="http://schemas.microsoft.com/office/powerpoint/2010/main" val="317230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4"/>
            <a:ext cx="9144000" cy="629137"/>
          </a:xfrm>
          <a:prstGeom prst="rect">
            <a:avLst/>
          </a:prstGeom>
          <a:solidFill>
            <a:srgbClr val="C75B1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i="0"/>
            </a:lvl1pPr>
          </a:lstStyle>
          <a:p>
            <a:r>
              <a:rPr lang="en-US"/>
              <a:t>Click to edit Master title style</a:t>
            </a:r>
          </a:p>
        </p:txBody>
      </p:sp>
      <p:sp>
        <p:nvSpPr>
          <p:cNvPr id="4" name="Footer Placeholder 3"/>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5" name="Slide Number Placeholder 4"/>
          <p:cNvSpPr>
            <a:spLocks noGrp="1"/>
          </p:cNvSpPr>
          <p:nvPr>
            <p:ph type="sldNum" sz="quarter" idx="12"/>
          </p:nvPr>
        </p:nvSpPr>
        <p:spPr>
          <a:xfrm>
            <a:off x="8515350" y="6461730"/>
            <a:ext cx="267462" cy="190307"/>
          </a:xfrm>
        </p:spPr>
        <p:txBody>
          <a:bodyPr/>
          <a:lstStyle>
            <a:lvl1pPr>
              <a:defRPr sz="750" i="0">
                <a:solidFill>
                  <a:schemeClr val="bg1"/>
                </a:solidFill>
              </a:defRPr>
            </a:lvl1pPr>
          </a:lstStyle>
          <a:p>
            <a:fld id="{C68DACDF-E1A9-A04C-A5FF-FC2443684BF5}" type="slidenum">
              <a:rPr lang="en-US" smtClean="0"/>
              <a:pPr/>
              <a:t>‹#›</a:t>
            </a:fld>
            <a:endParaRPr lang="en-US"/>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45164" y="6303180"/>
            <a:ext cx="353600" cy="471466"/>
          </a:xfrm>
          <a:prstGeom prst="rect">
            <a:avLst/>
          </a:prstGeom>
        </p:spPr>
      </p:pic>
      <p:sp>
        <p:nvSpPr>
          <p:cNvPr id="11" name="Content Placeholder 2">
            <a:extLst>
              <a:ext uri="{FF2B5EF4-FFF2-40B4-BE49-F238E27FC236}">
                <a16:creationId xmlns:a16="http://schemas.microsoft.com/office/drawing/2014/main" id="{DA57F938-CAE3-9A4D-954E-71F2CEBC5F52}"/>
              </a:ext>
            </a:extLst>
          </p:cNvPr>
          <p:cNvSpPr>
            <a:spLocks noGrp="1"/>
          </p:cNvSpPr>
          <p:nvPr>
            <p:ph idx="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28699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sz="750" i="0">
                <a:solidFill>
                  <a:schemeClr val="tx1"/>
                </a:solidFill>
              </a:defRPr>
            </a:lvl1pPr>
          </a:lstStyle>
          <a:p>
            <a:r>
              <a:rPr lang="en-US"/>
              <a:t>Introduction</a:t>
            </a:r>
          </a:p>
        </p:txBody>
      </p:sp>
      <p:sp>
        <p:nvSpPr>
          <p:cNvPr id="4" name="Slide Number Placeholder 3"/>
          <p:cNvSpPr>
            <a:spLocks noGrp="1"/>
          </p:cNvSpPr>
          <p:nvPr>
            <p:ph type="sldNum" sz="quarter" idx="12"/>
          </p:nvPr>
        </p:nvSpPr>
        <p:spPr/>
        <p:txBody>
          <a:bodyPr/>
          <a:lstStyle>
            <a:lvl1pPr>
              <a:defRPr sz="750" i="0">
                <a:solidFill>
                  <a:schemeClr val="bg2">
                    <a:lumMod val="75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1918660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1918" y="585894"/>
            <a:ext cx="1480164" cy="1973552"/>
          </a:xfrm>
          <a:prstGeom prst="rect">
            <a:avLst/>
          </a:prstGeom>
        </p:spPr>
      </p:pic>
    </p:spTree>
    <p:extLst>
      <p:ext uri="{BB962C8B-B14F-4D97-AF65-F5344CB8AC3E}">
        <p14:creationId xmlns:p14="http://schemas.microsoft.com/office/powerpoint/2010/main" val="53975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4130117" y="440088"/>
            <a:ext cx="883766" cy="1180400"/>
          </a:xfrm>
          <a:prstGeom prst="rect">
            <a:avLst/>
          </a:prstGeom>
        </p:spPr>
      </p:pic>
    </p:spTree>
    <p:extLst>
      <p:ext uri="{BB962C8B-B14F-4D97-AF65-F5344CB8AC3E}">
        <p14:creationId xmlns:p14="http://schemas.microsoft.com/office/powerpoint/2010/main" val="2959718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3201" y="585895"/>
            <a:ext cx="1477598" cy="1973551"/>
          </a:xfrm>
          <a:prstGeom prst="rect">
            <a:avLst/>
          </a:prstGeom>
        </p:spPr>
      </p:pic>
    </p:spTree>
    <p:extLst>
      <p:ext uri="{BB962C8B-B14F-4D97-AF65-F5344CB8AC3E}">
        <p14:creationId xmlns:p14="http://schemas.microsoft.com/office/powerpoint/2010/main" val="2202870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i="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grpSp>
        <p:nvGrpSpPr>
          <p:cNvPr id="5" name="Group 4">
            <a:extLst>
              <a:ext uri="{FF2B5EF4-FFF2-40B4-BE49-F238E27FC236}">
                <a16:creationId xmlns:a16="http://schemas.microsoft.com/office/drawing/2014/main" id="{1D5DD1B7-2AD1-65C5-CC36-A270EAA55231}"/>
              </a:ext>
            </a:extLst>
          </p:cNvPr>
          <p:cNvGrpSpPr/>
          <p:nvPr userDrawn="1"/>
        </p:nvGrpSpPr>
        <p:grpSpPr>
          <a:xfrm>
            <a:off x="2779323" y="91243"/>
            <a:ext cx="3585354" cy="1508957"/>
            <a:chOff x="2779323" y="91243"/>
            <a:chExt cx="3585354" cy="1508957"/>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779323" y="91243"/>
              <a:ext cx="3585354" cy="1508957"/>
            </a:xfrm>
            <a:prstGeom prst="rect">
              <a:avLst/>
            </a:prstGeom>
          </p:spPr>
        </p:pic>
        <p:pic>
          <p:nvPicPr>
            <p:cNvPr id="4" name="Picture 3" descr="Monogram using orange text. ">
              <a:extLst>
                <a:ext uri="{FF2B5EF4-FFF2-40B4-BE49-F238E27FC236}">
                  <a16:creationId xmlns:a16="http://schemas.microsoft.com/office/drawing/2014/main" id="{2473AAED-5FA6-259A-E8E5-D62D9BB34DE6}"/>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33036" y="174138"/>
              <a:ext cx="1077927" cy="1079798"/>
            </a:xfrm>
            <a:prstGeom prst="rect">
              <a:avLst/>
            </a:prstGeom>
          </p:spPr>
        </p:pic>
      </p:grpSp>
    </p:spTree>
    <p:extLst>
      <p:ext uri="{BB962C8B-B14F-4D97-AF65-F5344CB8AC3E}">
        <p14:creationId xmlns:p14="http://schemas.microsoft.com/office/powerpoint/2010/main" val="786790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1_Monogram Wordmark">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5C8F1B5-E483-57CD-B9F7-1C7F5C60BFD6}"/>
              </a:ext>
            </a:extLst>
          </p:cNvPr>
          <p:cNvPicPr>
            <a:picLocks noChangeAspect="1"/>
          </p:cNvPicPr>
          <p:nvPr userDrawn="1"/>
        </p:nvPicPr>
        <p:blipFill>
          <a:blip r:embed="rId2"/>
          <a:srcRect r="32335"/>
          <a:stretch>
            <a:fillRect/>
          </a:stretch>
        </p:blipFill>
        <p:spPr>
          <a:xfrm>
            <a:off x="3183355" y="-80819"/>
            <a:ext cx="6250350" cy="7091219"/>
          </a:xfrm>
          <a:prstGeom prst="rect">
            <a:avLst/>
          </a:prstGeom>
          <a:ln>
            <a:noFill/>
          </a:ln>
          <a:effectLst>
            <a:softEdge rad="261148"/>
          </a:effectLst>
          <a:scene3d>
            <a:camera prst="orthographicFront">
              <a:rot lat="0" lon="0" rev="0"/>
            </a:camera>
            <a:lightRig rig="threePt" dir="t"/>
          </a:scene3d>
        </p:spPr>
      </p:pic>
      <p:sp>
        <p:nvSpPr>
          <p:cNvPr id="12" name="Rectangle 11">
            <a:extLst>
              <a:ext uri="{FF2B5EF4-FFF2-40B4-BE49-F238E27FC236}">
                <a16:creationId xmlns:a16="http://schemas.microsoft.com/office/drawing/2014/main" id="{7FDF595D-E181-E4E0-6C73-64A55D2C8E0A}"/>
              </a:ext>
            </a:extLst>
          </p:cNvPr>
          <p:cNvSpPr/>
          <p:nvPr userDrawn="1"/>
        </p:nvSpPr>
        <p:spPr>
          <a:xfrm>
            <a:off x="-88900" y="-80819"/>
            <a:ext cx="9232900" cy="6946900"/>
          </a:xfrm>
          <a:prstGeom prst="rect">
            <a:avLst/>
          </a:prstGeom>
          <a:gradFill flip="none" rotWithShape="1">
            <a:gsLst>
              <a:gs pos="0">
                <a:schemeClr val="accent5">
                  <a:lumMod val="0"/>
                  <a:lumOff val="100000"/>
                  <a:alpha val="0"/>
                </a:schemeClr>
              </a:gs>
              <a:gs pos="59000">
                <a:srgbClr val="FFFFFF">
                  <a:lumMod val="63000"/>
                  <a:lumOff val="37000"/>
                </a:srgbClr>
              </a:gs>
              <a:gs pos="48000">
                <a:schemeClr val="accent5">
                  <a:lumMod val="0"/>
                  <a:lumOff val="100000"/>
                  <a:alpha val="13000"/>
                </a:schemeClr>
              </a:gs>
              <a:gs pos="100000">
                <a:schemeClr val="bg1"/>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25E150-4EC4-9237-97B7-D9D15ADC0CC0}"/>
              </a:ext>
            </a:extLst>
          </p:cNvPr>
          <p:cNvSpPr/>
          <p:nvPr userDrawn="1"/>
        </p:nvSpPr>
        <p:spPr>
          <a:xfrm>
            <a:off x="-44450" y="-90976"/>
            <a:ext cx="9232900" cy="6946900"/>
          </a:xfrm>
          <a:prstGeom prst="rect">
            <a:avLst/>
          </a:prstGeom>
          <a:gradFill flip="none" rotWithShape="1">
            <a:gsLst>
              <a:gs pos="0">
                <a:schemeClr val="accent5">
                  <a:lumMod val="0"/>
                  <a:lumOff val="100000"/>
                  <a:alpha val="0"/>
                </a:schemeClr>
              </a:gs>
              <a:gs pos="70000">
                <a:srgbClr val="FFFFFF">
                  <a:lumMod val="63000"/>
                  <a:lumOff val="37000"/>
                  <a:alpha val="90361"/>
                </a:srgbClr>
              </a:gs>
              <a:gs pos="59000">
                <a:schemeClr val="accent5">
                  <a:lumMod val="0"/>
                  <a:lumOff val="100000"/>
                  <a:alpha val="0"/>
                </a:schemeClr>
              </a:gs>
              <a:gs pos="100000">
                <a:schemeClr val="bg1"/>
              </a:gs>
            </a:gsLst>
            <a:path path="circle">
              <a:fillToRect l="100000" b="100000"/>
            </a:path>
            <a:tileRect t="-100000" r="-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200805" y="1361698"/>
            <a:ext cx="3863195" cy="2387600"/>
          </a:xfrm>
        </p:spPr>
        <p:txBody>
          <a:bodyPr anchor="ctr"/>
          <a:lstStyle>
            <a:lvl1pPr algn="ctr">
              <a:defRPr sz="3375" i="0"/>
            </a:lvl1pPr>
          </a:lstStyle>
          <a:p>
            <a:r>
              <a:rPr lang="en-US"/>
              <a:t>Click to edit Master title style</a:t>
            </a:r>
          </a:p>
        </p:txBody>
      </p:sp>
      <p:sp>
        <p:nvSpPr>
          <p:cNvPr id="3" name="Subtitle 2"/>
          <p:cNvSpPr>
            <a:spLocks noGrp="1"/>
          </p:cNvSpPr>
          <p:nvPr>
            <p:ph type="subTitle" idx="1"/>
          </p:nvPr>
        </p:nvSpPr>
        <p:spPr>
          <a:xfrm>
            <a:off x="200805" y="3948302"/>
            <a:ext cx="3863195" cy="2528697"/>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grpSp>
        <p:nvGrpSpPr>
          <p:cNvPr id="5" name="Group 4">
            <a:extLst>
              <a:ext uri="{FF2B5EF4-FFF2-40B4-BE49-F238E27FC236}">
                <a16:creationId xmlns:a16="http://schemas.microsoft.com/office/drawing/2014/main" id="{1D5DD1B7-2AD1-65C5-CC36-A270EAA55231}"/>
              </a:ext>
            </a:extLst>
          </p:cNvPr>
          <p:cNvGrpSpPr/>
          <p:nvPr userDrawn="1"/>
        </p:nvGrpSpPr>
        <p:grpSpPr>
          <a:xfrm>
            <a:off x="339725" y="-80819"/>
            <a:ext cx="3585354" cy="1508957"/>
            <a:chOff x="2779323" y="91243"/>
            <a:chExt cx="3585354" cy="1508957"/>
          </a:xfrm>
        </p:grpSpPr>
        <p:pic>
          <p:nvPicPr>
            <p:cNvPr id="7" name="Picture 6"/>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2779323" y="91243"/>
              <a:ext cx="3585354" cy="1508957"/>
            </a:xfrm>
            <a:prstGeom prst="rect">
              <a:avLst/>
            </a:prstGeom>
          </p:spPr>
        </p:pic>
        <p:pic>
          <p:nvPicPr>
            <p:cNvPr id="4" name="Picture 3" descr="Monogram using orange text. ">
              <a:extLst>
                <a:ext uri="{FF2B5EF4-FFF2-40B4-BE49-F238E27FC236}">
                  <a16:creationId xmlns:a16="http://schemas.microsoft.com/office/drawing/2014/main" id="{2473AAED-5FA6-259A-E8E5-D62D9BB34DE6}"/>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3036" y="174138"/>
              <a:ext cx="1077927" cy="1079798"/>
            </a:xfrm>
            <a:prstGeom prst="rect">
              <a:avLst/>
            </a:prstGeom>
          </p:spPr>
        </p:pic>
      </p:grpSp>
    </p:spTree>
    <p:extLst>
      <p:ext uri="{BB962C8B-B14F-4D97-AF65-F5344CB8AC3E}">
        <p14:creationId xmlns:p14="http://schemas.microsoft.com/office/powerpoint/2010/main" val="31797625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8C99210-9F21-304E-BAB5-5C46220805BC}"/>
              </a:ext>
            </a:extLst>
          </p:cNvPr>
          <p:cNvSpPr/>
          <p:nvPr userDrawn="1"/>
        </p:nvSpPr>
        <p:spPr>
          <a:xfrm>
            <a:off x="0" y="6228864"/>
            <a:ext cx="9144000" cy="629137"/>
          </a:xfrm>
          <a:prstGeom prst="rect">
            <a:avLst/>
          </a:prstGeom>
          <a:gradFill flip="none" rotWithShape="1">
            <a:gsLst>
              <a:gs pos="0">
                <a:schemeClr val="accent5">
                  <a:lumMod val="90000"/>
                  <a:lumOff val="10000"/>
                </a:schemeClr>
              </a:gs>
              <a:gs pos="68000">
                <a:srgbClr val="003720"/>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solidFill>
                <a:srgbClr val="C95C3A"/>
              </a:solidFill>
            </a:endParaRPr>
          </a:p>
        </p:txBody>
      </p:sp>
      <p:sp>
        <p:nvSpPr>
          <p:cNvPr id="2" name="Title 1"/>
          <p:cNvSpPr>
            <a:spLocks noGrp="1"/>
          </p:cNvSpPr>
          <p:nvPr>
            <p:ph type="title"/>
          </p:nvPr>
        </p:nvSpPr>
        <p:spPr/>
        <p:txBody>
          <a:bodyPr/>
          <a:lstStyle>
            <a:lvl1pPr>
              <a:defRPr i="0"/>
            </a:lvl1pPr>
          </a:lstStyle>
          <a:p>
            <a:r>
              <a:rPr lang="en-US"/>
              <a:t>Click to edit Master title style</a:t>
            </a:r>
          </a:p>
        </p:txBody>
      </p:sp>
      <p:sp>
        <p:nvSpPr>
          <p:cNvPr id="3" name="Content Placeholder 2"/>
          <p:cNvSpPr>
            <a:spLocks noGrp="1"/>
          </p:cNvSpPr>
          <p:nvPr>
            <p:ph idx="1" hasCustomPrompt="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6" name="Slide Number Placeholder 5"/>
          <p:cNvSpPr>
            <a:spLocks noGrp="1"/>
          </p:cNvSpPr>
          <p:nvPr>
            <p:ph type="sldNum" sz="quarter" idx="12"/>
          </p:nvPr>
        </p:nvSpPr>
        <p:spPr>
          <a:xfrm>
            <a:off x="8515350" y="6464044"/>
            <a:ext cx="268605" cy="190307"/>
          </a:xfrm>
        </p:spPr>
        <p:txBody>
          <a:bodyPr/>
          <a:lstStyle>
            <a:lvl1pPr>
              <a:defRPr sz="750" i="0">
                <a:solidFill>
                  <a:schemeClr val="bg1"/>
                </a:solidFill>
              </a:defRPr>
            </a:lvl1pPr>
          </a:lstStyle>
          <a:p>
            <a:fld id="{C68DACDF-E1A9-A04C-A5FF-FC2443684BF5}" type="slidenum">
              <a:rPr lang="en-US" smtClean="0"/>
              <a:pPr/>
              <a:t>‹#›</a:t>
            </a:fld>
            <a:endParaRPr lang="en-US"/>
          </a:p>
        </p:txBody>
      </p:sp>
      <p:cxnSp>
        <p:nvCxnSpPr>
          <p:cNvPr id="8" name="Straight Connector 7"/>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919" y="6228863"/>
            <a:ext cx="2574131" cy="600320"/>
          </a:xfrm>
          <a:prstGeom prst="rect">
            <a:avLst/>
          </a:prstGeom>
        </p:spPr>
      </p:pic>
    </p:spTree>
    <p:extLst>
      <p:ext uri="{BB962C8B-B14F-4D97-AF65-F5344CB8AC3E}">
        <p14:creationId xmlns:p14="http://schemas.microsoft.com/office/powerpoint/2010/main" val="984347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4"/>
            <a:ext cx="9144000" cy="629137"/>
          </a:xfrm>
          <a:prstGeom prst="rect">
            <a:avLst/>
          </a:prstGeom>
          <a:solidFill>
            <a:srgbClr val="C75B1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i="0"/>
            </a:lvl1pPr>
          </a:lstStyle>
          <a:p>
            <a:r>
              <a:rPr lang="en-US"/>
              <a:t>Click to edit Master title style</a:t>
            </a:r>
          </a:p>
        </p:txBody>
      </p:sp>
      <p:sp>
        <p:nvSpPr>
          <p:cNvPr id="4" name="Footer Placeholder 3"/>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5" name="Slide Number Placeholder 4"/>
          <p:cNvSpPr>
            <a:spLocks noGrp="1"/>
          </p:cNvSpPr>
          <p:nvPr>
            <p:ph type="sldNum" sz="quarter" idx="12"/>
          </p:nvPr>
        </p:nvSpPr>
        <p:spPr>
          <a:xfrm>
            <a:off x="8515350" y="6461730"/>
            <a:ext cx="267462" cy="190307"/>
          </a:xfrm>
        </p:spPr>
        <p:txBody>
          <a:bodyPr/>
          <a:lstStyle>
            <a:lvl1pPr>
              <a:defRPr sz="750" i="0">
                <a:solidFill>
                  <a:schemeClr val="bg1"/>
                </a:solidFill>
              </a:defRPr>
            </a:lvl1pPr>
          </a:lstStyle>
          <a:p>
            <a:fld id="{C68DACDF-E1A9-A04C-A5FF-FC2443684BF5}" type="slidenum">
              <a:rPr lang="en-US" smtClean="0"/>
              <a:pPr/>
              <a:t>‹#›</a:t>
            </a:fld>
            <a:endParaRPr lang="en-US"/>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45164" y="6303180"/>
            <a:ext cx="353600" cy="471466"/>
          </a:xfrm>
          <a:prstGeom prst="rect">
            <a:avLst/>
          </a:prstGeom>
        </p:spPr>
      </p:pic>
      <p:sp>
        <p:nvSpPr>
          <p:cNvPr id="11" name="Content Placeholder 2">
            <a:extLst>
              <a:ext uri="{FF2B5EF4-FFF2-40B4-BE49-F238E27FC236}">
                <a16:creationId xmlns:a16="http://schemas.microsoft.com/office/drawing/2014/main" id="{DA57F938-CAE3-9A4D-954E-71F2CEBC5F52}"/>
              </a:ext>
            </a:extLst>
          </p:cNvPr>
          <p:cNvSpPr>
            <a:spLocks noGrp="1"/>
          </p:cNvSpPr>
          <p:nvPr>
            <p:ph idx="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07751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sz="750" i="0">
                <a:solidFill>
                  <a:schemeClr val="tx1"/>
                </a:solidFill>
              </a:defRPr>
            </a:lvl1pPr>
          </a:lstStyle>
          <a:p>
            <a:r>
              <a:rPr lang="en-US"/>
              <a:t>Introduction</a:t>
            </a:r>
          </a:p>
        </p:txBody>
      </p:sp>
      <p:sp>
        <p:nvSpPr>
          <p:cNvPr id="4" name="Slide Number Placeholder 3"/>
          <p:cNvSpPr>
            <a:spLocks noGrp="1"/>
          </p:cNvSpPr>
          <p:nvPr>
            <p:ph type="sldNum" sz="quarter" idx="12"/>
          </p:nvPr>
        </p:nvSpPr>
        <p:spPr/>
        <p:txBody>
          <a:bodyPr/>
          <a:lstStyle>
            <a:lvl1pPr>
              <a:defRPr sz="750" i="0">
                <a:solidFill>
                  <a:schemeClr val="bg2">
                    <a:lumMod val="75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341248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5" Type="http://schemas.openxmlformats.org/officeDocument/2006/relationships/slideLayout" Target="../slideLayouts/slideLayout23.xml"/><Relationship Id="rId4" Type="http://schemas.openxmlformats.org/officeDocument/2006/relationships/slideLayout" Target="../slideLayouts/slideLayout22.xml"/><Relationship Id="rId9"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0" y="274638"/>
            <a:ext cx="61722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42900" y="1600201"/>
            <a:ext cx="61722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42900" y="6356351"/>
            <a:ext cx="1600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2343150" y="6356351"/>
            <a:ext cx="21717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Introduction</a:t>
            </a:r>
          </a:p>
        </p:txBody>
      </p:sp>
      <p:sp>
        <p:nvSpPr>
          <p:cNvPr id="6" name="Slide Number Placeholder 5"/>
          <p:cNvSpPr>
            <a:spLocks noGrp="1"/>
          </p:cNvSpPr>
          <p:nvPr>
            <p:ph type="sldNum" sz="quarter" idx="4"/>
          </p:nvPr>
        </p:nvSpPr>
        <p:spPr>
          <a:xfrm>
            <a:off x="4914900" y="6356351"/>
            <a:ext cx="1600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342900" rtl="0" eaLnBrk="1" latinLnBrk="0" hangingPunct="1">
        <a:spcBef>
          <a:spcPct val="20000"/>
        </a:spcBef>
        <a:buFont typeface="Arial"/>
        <a:buChar char="•"/>
        <a:defRPr sz="24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21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50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47915"/>
            <a:ext cx="78867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579418"/>
            <a:ext cx="7886700" cy="459754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028950" y="6461730"/>
            <a:ext cx="5486400" cy="190307"/>
          </a:xfrm>
          <a:prstGeom prst="rect">
            <a:avLst/>
          </a:prstGeom>
        </p:spPr>
        <p:txBody>
          <a:bodyPr vert="horz" lIns="91440" tIns="45720" rIns="0" bIns="45720" rtlCol="0" anchor="ctr"/>
          <a:lstStyle>
            <a:lvl1pPr algn="r">
              <a:defRPr sz="675">
                <a:solidFill>
                  <a:schemeClr val="bg2">
                    <a:lumMod val="90000"/>
                  </a:schemeClr>
                </a:solidFill>
              </a:defRPr>
            </a:lvl1pPr>
          </a:lstStyle>
          <a:p>
            <a:r>
              <a:rPr lang="en-US"/>
              <a:t>Introduction</a:t>
            </a:r>
          </a:p>
        </p:txBody>
      </p:sp>
      <p:sp>
        <p:nvSpPr>
          <p:cNvPr id="6" name="Slide Number Placeholder 5"/>
          <p:cNvSpPr>
            <a:spLocks noGrp="1"/>
          </p:cNvSpPr>
          <p:nvPr>
            <p:ph type="sldNum" sz="quarter" idx="4"/>
          </p:nvPr>
        </p:nvSpPr>
        <p:spPr>
          <a:xfrm>
            <a:off x="8515350" y="6461730"/>
            <a:ext cx="267462" cy="190307"/>
          </a:xfrm>
          <a:prstGeom prst="rect">
            <a:avLst/>
          </a:prstGeom>
        </p:spPr>
        <p:txBody>
          <a:bodyPr vert="horz" lIns="91440" tIns="45720" rIns="91440" bIns="45720" rtlCol="0" anchor="ctr"/>
          <a:lstStyle>
            <a:lvl1pPr algn="r">
              <a:defRPr sz="675">
                <a:solidFill>
                  <a:schemeClr val="bg2">
                    <a:lumMod val="90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28285661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514350" rtl="0" eaLnBrk="1" latinLnBrk="0" hangingPunct="1">
        <a:lnSpc>
          <a:spcPct val="90000"/>
        </a:lnSpc>
        <a:spcBef>
          <a:spcPct val="0"/>
        </a:spcBef>
        <a:buNone/>
        <a:defRPr sz="2475" kern="1200">
          <a:solidFill>
            <a:schemeClr val="tx1"/>
          </a:solidFill>
          <a:latin typeface="+mj-lt"/>
          <a:ea typeface="+mj-ea"/>
          <a:cs typeface="+mj-cs"/>
        </a:defRPr>
      </a:lvl1pPr>
    </p:titleStyle>
    <p:bodyStyle>
      <a:lvl1pPr marL="0" indent="0" algn="l" defTabSz="514350" rtl="0" eaLnBrk="1" latinLnBrk="0" hangingPunct="1">
        <a:lnSpc>
          <a:spcPct val="90000"/>
        </a:lnSpc>
        <a:spcBef>
          <a:spcPts val="563"/>
        </a:spcBef>
        <a:buFont typeface="Arial" panose="020B0604020202020204" pitchFamily="34" charset="0"/>
        <a:buNone/>
        <a:defRPr sz="1875" i="0" kern="1200">
          <a:solidFill>
            <a:schemeClr val="tx1"/>
          </a:solidFill>
          <a:latin typeface="+mn-lt"/>
          <a:ea typeface="+mn-ea"/>
          <a:cs typeface="+mn-cs"/>
        </a:defRPr>
      </a:lvl1pPr>
      <a:lvl2pPr marL="385763" indent="-128588" algn="l" defTabSz="514350" rtl="0" eaLnBrk="1" latinLnBrk="0" hangingPunct="1">
        <a:lnSpc>
          <a:spcPct val="90000"/>
        </a:lnSpc>
        <a:spcBef>
          <a:spcPts val="281"/>
        </a:spcBef>
        <a:buFont typeface="Arial" panose="020B0604020202020204" pitchFamily="34" charset="0"/>
        <a:buChar char="•"/>
        <a:defRPr sz="1500" i="0" kern="1200">
          <a:solidFill>
            <a:schemeClr val="tx1"/>
          </a:solidFill>
          <a:latin typeface="+mn-lt"/>
          <a:ea typeface="+mn-ea"/>
          <a:cs typeface="+mn-cs"/>
        </a:defRPr>
      </a:lvl2pPr>
      <a:lvl3pPr marL="642938" indent="-128588" algn="l" defTabSz="514350" rtl="0" eaLnBrk="1" latinLnBrk="0" hangingPunct="1">
        <a:lnSpc>
          <a:spcPct val="90000"/>
        </a:lnSpc>
        <a:spcBef>
          <a:spcPts val="281"/>
        </a:spcBef>
        <a:buFont typeface="Arial" panose="020B0604020202020204" pitchFamily="34" charset="0"/>
        <a:buChar char="•"/>
        <a:defRPr sz="1350" i="0" kern="1200">
          <a:solidFill>
            <a:schemeClr val="tx1"/>
          </a:solidFill>
          <a:latin typeface="+mn-lt"/>
          <a:ea typeface="+mn-ea"/>
          <a:cs typeface="+mn-cs"/>
        </a:defRPr>
      </a:lvl3pPr>
      <a:lvl4pPr marL="900113" indent="-128588" algn="l" defTabSz="514350" rtl="0" eaLnBrk="1" latinLnBrk="0" hangingPunct="1">
        <a:lnSpc>
          <a:spcPct val="90000"/>
        </a:lnSpc>
        <a:spcBef>
          <a:spcPts val="281"/>
        </a:spcBef>
        <a:buFont typeface="Arial" panose="020B0604020202020204" pitchFamily="34" charset="0"/>
        <a:buChar char="•"/>
        <a:defRPr sz="1200" i="0" kern="1200">
          <a:solidFill>
            <a:schemeClr val="tx1"/>
          </a:solidFill>
          <a:latin typeface="+mn-lt"/>
          <a:ea typeface="+mn-ea"/>
          <a:cs typeface="+mn-cs"/>
        </a:defRPr>
      </a:lvl4pPr>
      <a:lvl5pPr marL="1157288" indent="-128588" algn="l" defTabSz="514350" rtl="0" eaLnBrk="1" latinLnBrk="0" hangingPunct="1">
        <a:lnSpc>
          <a:spcPct val="90000"/>
        </a:lnSpc>
        <a:spcBef>
          <a:spcPts val="281"/>
        </a:spcBef>
        <a:buFont typeface="Arial" panose="020B0604020202020204" pitchFamily="34" charset="0"/>
        <a:buChar char="•"/>
        <a:defRPr sz="1050" i="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47915"/>
            <a:ext cx="78867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579418"/>
            <a:ext cx="7886700" cy="459754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028950" y="6461730"/>
            <a:ext cx="5486400" cy="190307"/>
          </a:xfrm>
          <a:prstGeom prst="rect">
            <a:avLst/>
          </a:prstGeom>
        </p:spPr>
        <p:txBody>
          <a:bodyPr vert="horz" lIns="91440" tIns="45720" rIns="0" bIns="45720" rtlCol="0" anchor="ctr"/>
          <a:lstStyle>
            <a:lvl1pPr algn="r">
              <a:defRPr sz="675">
                <a:solidFill>
                  <a:schemeClr val="bg2">
                    <a:lumMod val="90000"/>
                  </a:schemeClr>
                </a:solidFill>
              </a:defRPr>
            </a:lvl1pPr>
          </a:lstStyle>
          <a:p>
            <a:r>
              <a:rPr lang="en-US"/>
              <a:t>Introduction</a:t>
            </a:r>
          </a:p>
        </p:txBody>
      </p:sp>
      <p:sp>
        <p:nvSpPr>
          <p:cNvPr id="6" name="Slide Number Placeholder 5"/>
          <p:cNvSpPr>
            <a:spLocks noGrp="1"/>
          </p:cNvSpPr>
          <p:nvPr>
            <p:ph type="sldNum" sz="quarter" idx="4"/>
          </p:nvPr>
        </p:nvSpPr>
        <p:spPr>
          <a:xfrm>
            <a:off x="8515350" y="6461730"/>
            <a:ext cx="267462" cy="190307"/>
          </a:xfrm>
          <a:prstGeom prst="rect">
            <a:avLst/>
          </a:prstGeom>
        </p:spPr>
        <p:txBody>
          <a:bodyPr vert="horz" lIns="91440" tIns="45720" rIns="91440" bIns="45720" rtlCol="0" anchor="ctr"/>
          <a:lstStyle>
            <a:lvl1pPr algn="r">
              <a:defRPr sz="675">
                <a:solidFill>
                  <a:schemeClr val="bg2">
                    <a:lumMod val="90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5250013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6" r:id="rId5"/>
    <p:sldLayoutId id="2147483693" r:id="rId6"/>
    <p:sldLayoutId id="2147483694" r:id="rId7"/>
    <p:sldLayoutId id="2147483695"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514350" rtl="0" eaLnBrk="1" latinLnBrk="0" hangingPunct="1">
        <a:lnSpc>
          <a:spcPct val="90000"/>
        </a:lnSpc>
        <a:spcBef>
          <a:spcPct val="0"/>
        </a:spcBef>
        <a:buNone/>
        <a:defRPr sz="2475" kern="1200">
          <a:solidFill>
            <a:schemeClr val="tx1"/>
          </a:solidFill>
          <a:latin typeface="+mj-lt"/>
          <a:ea typeface="+mj-ea"/>
          <a:cs typeface="+mj-cs"/>
        </a:defRPr>
      </a:lvl1pPr>
    </p:titleStyle>
    <p:bodyStyle>
      <a:lvl1pPr marL="0" indent="0" algn="l" defTabSz="514350" rtl="0" eaLnBrk="1" latinLnBrk="0" hangingPunct="1">
        <a:lnSpc>
          <a:spcPct val="90000"/>
        </a:lnSpc>
        <a:spcBef>
          <a:spcPts val="563"/>
        </a:spcBef>
        <a:buFont typeface="Arial" panose="020B0604020202020204" pitchFamily="34" charset="0"/>
        <a:buNone/>
        <a:defRPr sz="1875" i="0" kern="1200">
          <a:solidFill>
            <a:schemeClr val="tx1"/>
          </a:solidFill>
          <a:latin typeface="+mn-lt"/>
          <a:ea typeface="+mn-ea"/>
          <a:cs typeface="+mn-cs"/>
        </a:defRPr>
      </a:lvl1pPr>
      <a:lvl2pPr marL="385763" indent="-128588" algn="l" defTabSz="514350" rtl="0" eaLnBrk="1" latinLnBrk="0" hangingPunct="1">
        <a:lnSpc>
          <a:spcPct val="90000"/>
        </a:lnSpc>
        <a:spcBef>
          <a:spcPts val="281"/>
        </a:spcBef>
        <a:buFont typeface="Arial" panose="020B0604020202020204" pitchFamily="34" charset="0"/>
        <a:buChar char="•"/>
        <a:defRPr sz="1500" i="0" kern="1200">
          <a:solidFill>
            <a:schemeClr val="tx1"/>
          </a:solidFill>
          <a:latin typeface="+mn-lt"/>
          <a:ea typeface="+mn-ea"/>
          <a:cs typeface="+mn-cs"/>
        </a:defRPr>
      </a:lvl2pPr>
      <a:lvl3pPr marL="642938" indent="-128588" algn="l" defTabSz="514350" rtl="0" eaLnBrk="1" latinLnBrk="0" hangingPunct="1">
        <a:lnSpc>
          <a:spcPct val="90000"/>
        </a:lnSpc>
        <a:spcBef>
          <a:spcPts val="281"/>
        </a:spcBef>
        <a:buFont typeface="Arial" panose="020B0604020202020204" pitchFamily="34" charset="0"/>
        <a:buChar char="•"/>
        <a:defRPr sz="1350" i="0" kern="1200">
          <a:solidFill>
            <a:schemeClr val="tx1"/>
          </a:solidFill>
          <a:latin typeface="+mn-lt"/>
          <a:ea typeface="+mn-ea"/>
          <a:cs typeface="+mn-cs"/>
        </a:defRPr>
      </a:lvl3pPr>
      <a:lvl4pPr marL="900113" indent="-128588" algn="l" defTabSz="514350" rtl="0" eaLnBrk="1" latinLnBrk="0" hangingPunct="1">
        <a:lnSpc>
          <a:spcPct val="90000"/>
        </a:lnSpc>
        <a:spcBef>
          <a:spcPts val="281"/>
        </a:spcBef>
        <a:buFont typeface="Arial" panose="020B0604020202020204" pitchFamily="34" charset="0"/>
        <a:buChar char="•"/>
        <a:defRPr sz="1200" i="0" kern="1200">
          <a:solidFill>
            <a:schemeClr val="tx1"/>
          </a:solidFill>
          <a:latin typeface="+mn-lt"/>
          <a:ea typeface="+mn-ea"/>
          <a:cs typeface="+mn-cs"/>
        </a:defRPr>
      </a:lvl4pPr>
      <a:lvl5pPr marL="1157288" indent="-128588" algn="l" defTabSz="514350" rtl="0" eaLnBrk="1" latinLnBrk="0" hangingPunct="1">
        <a:lnSpc>
          <a:spcPct val="90000"/>
        </a:lnSpc>
        <a:spcBef>
          <a:spcPts val="281"/>
        </a:spcBef>
        <a:buFont typeface="Arial" panose="020B0604020202020204" pitchFamily="34" charset="0"/>
        <a:buChar char="•"/>
        <a:defRPr sz="1050" i="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6.xml"/><Relationship Id="rId6" Type="http://schemas.openxmlformats.org/officeDocument/2006/relationships/image" Target="../media/image15.jpg"/><Relationship Id="rId5" Type="http://schemas.openxmlformats.org/officeDocument/2006/relationships/image" Target="../media/image14.pn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1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6.xml"/><Relationship Id="rId1" Type="http://schemas.openxmlformats.org/officeDocument/2006/relationships/slideLayout" Target="../slideLayouts/slideLayout16.xml"/><Relationship Id="rId5" Type="http://schemas.openxmlformats.org/officeDocument/2006/relationships/image" Target="../media/image25.jpg"/><Relationship Id="rId4" Type="http://schemas.openxmlformats.org/officeDocument/2006/relationships/image" Target="../media/image24.jp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6.xml"/><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32.jpg"/></Relationships>
</file>

<file path=ppt/slides/_rels/slide12.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34.jpg"/></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6.xml"/><Relationship Id="rId6" Type="http://schemas.openxmlformats.org/officeDocument/2006/relationships/image" Target="../media/image19.png"/><Relationship Id="rId5" Type="http://schemas.openxmlformats.org/officeDocument/2006/relationships/image" Target="../media/image30.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37.jp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932ED9C-2EC7-524F-81B3-53A3EFDD17CA}"/>
              </a:ext>
            </a:extLst>
          </p:cNvPr>
          <p:cNvSpPr>
            <a:spLocks noGrp="1"/>
          </p:cNvSpPr>
          <p:nvPr>
            <p:ph type="ctrTitle"/>
          </p:nvPr>
        </p:nvSpPr>
        <p:spPr>
          <a:xfrm>
            <a:off x="389211" y="1554480"/>
            <a:ext cx="8365577" cy="1517904"/>
          </a:xfrm>
        </p:spPr>
        <p:txBody>
          <a:bodyPr anchor="ctr">
            <a:normAutofit/>
          </a:bodyPr>
          <a:lstStyle/>
          <a:p>
            <a:pPr>
              <a:lnSpc>
                <a:spcPts val="3564"/>
              </a:lnSpc>
            </a:pPr>
            <a:r>
              <a:rPr lang="en-US" sz="2800" b="1" spc="-38" dirty="0">
                <a:solidFill>
                  <a:schemeClr val="accent5">
                    <a:lumMod val="90000"/>
                    <a:lumOff val="10000"/>
                  </a:schemeClr>
                </a:solidFill>
              </a:rPr>
              <a:t>AI-Driven Wearable Bioelectronics </a:t>
            </a:r>
            <a:br>
              <a:rPr lang="en-US" sz="2800" b="1" spc="-38" dirty="0">
                <a:solidFill>
                  <a:schemeClr val="accent5">
                    <a:lumMod val="90000"/>
                    <a:lumOff val="10000"/>
                  </a:schemeClr>
                </a:solidFill>
              </a:rPr>
            </a:br>
            <a:r>
              <a:rPr lang="en-US" sz="2800" b="1" spc="-38" dirty="0">
                <a:solidFill>
                  <a:schemeClr val="accent5">
                    <a:lumMod val="90000"/>
                    <a:lumOff val="10000"/>
                  </a:schemeClr>
                </a:solidFill>
              </a:rPr>
              <a:t>in </a:t>
            </a:r>
            <a:br>
              <a:rPr lang="en-US" sz="2800" b="1" spc="-38" dirty="0">
                <a:solidFill>
                  <a:schemeClr val="accent5">
                    <a:lumMod val="90000"/>
                    <a:lumOff val="10000"/>
                  </a:schemeClr>
                </a:solidFill>
              </a:rPr>
            </a:br>
            <a:r>
              <a:rPr lang="en-US" sz="2800" b="1" spc="-38" dirty="0">
                <a:solidFill>
                  <a:schemeClr val="accent5">
                    <a:lumMod val="90000"/>
                    <a:lumOff val="10000"/>
                  </a:schemeClr>
                </a:solidFill>
              </a:rPr>
              <a:t>Digital Healthcare</a:t>
            </a:r>
          </a:p>
        </p:txBody>
      </p:sp>
      <p:sp>
        <p:nvSpPr>
          <p:cNvPr id="5" name="Subtitle 4">
            <a:extLst>
              <a:ext uri="{FF2B5EF4-FFF2-40B4-BE49-F238E27FC236}">
                <a16:creationId xmlns:a16="http://schemas.microsoft.com/office/drawing/2014/main" id="{4E9B7918-2E7E-704A-A9C8-05B211B7898F}"/>
              </a:ext>
            </a:extLst>
          </p:cNvPr>
          <p:cNvSpPr>
            <a:spLocks noGrp="1"/>
          </p:cNvSpPr>
          <p:nvPr>
            <p:ph type="subTitle" idx="1"/>
          </p:nvPr>
        </p:nvSpPr>
        <p:spPr>
          <a:xfrm>
            <a:off x="1142999" y="4363043"/>
            <a:ext cx="6858000" cy="2103120"/>
          </a:xfrm>
        </p:spPr>
        <p:txBody>
          <a:bodyPr>
            <a:normAutofit/>
          </a:bodyPr>
          <a:lstStyle/>
          <a:p>
            <a:pPr>
              <a:lnSpc>
                <a:spcPct val="150000"/>
              </a:lnSpc>
            </a:pPr>
            <a:r>
              <a:rPr lang="en-US" sz="2400" b="1" dirty="0"/>
              <a:t>RITTIK PATRA</a:t>
            </a:r>
            <a:endParaRPr lang="en-US" sz="2400" dirty="0">
              <a:solidFill>
                <a:srgbClr val="154733"/>
              </a:solidFill>
            </a:endParaRPr>
          </a:p>
          <a:p>
            <a:r>
              <a:rPr lang="en-US" sz="1500" dirty="0">
                <a:solidFill>
                  <a:srgbClr val="154733"/>
                </a:solidFill>
              </a:rPr>
              <a:t>BMEN 6367 · Fall 2026</a:t>
            </a:r>
          </a:p>
          <a:p>
            <a:r>
              <a:rPr lang="en-US" sz="1350" dirty="0">
                <a:solidFill>
                  <a:schemeClr val="accent5"/>
                </a:solidFill>
                <a:latin typeface="+mj-lt"/>
                <a:cs typeface="Dreaming Outloud Script Pro" panose="03050502040304050704" pitchFamily="66" charset="77"/>
              </a:rPr>
              <a:t>Department of Bioengineering</a:t>
            </a:r>
          </a:p>
          <a:p>
            <a:r>
              <a:rPr lang="en-US" sz="1500" b="1" dirty="0">
                <a:solidFill>
                  <a:schemeClr val="accent5"/>
                </a:solidFill>
                <a:latin typeface="+mj-lt"/>
                <a:cs typeface="Dreaming Outloud Script Pro" panose="03050502040304050704" pitchFamily="66" charset="77"/>
              </a:rPr>
              <a:t>Team Venus</a:t>
            </a:r>
          </a:p>
          <a:p>
            <a:r>
              <a:rPr lang="en-US" sz="1500" b="1" dirty="0">
                <a:solidFill>
                  <a:schemeClr val="accent5"/>
                </a:solidFill>
                <a:latin typeface="+mj-lt"/>
                <a:cs typeface="Dreaming Outloud Script Pro" panose="03050502040304050704" pitchFamily="66" charset="77"/>
              </a:rPr>
              <a:t>Paper 1 [AI in Bioelectronics ]</a:t>
            </a:r>
          </a:p>
        </p:txBody>
      </p:sp>
      <p:sp>
        <p:nvSpPr>
          <p:cNvPr id="6" name="Paper: authors, affiliations, journal"/>
          <p:cNvSpPr txBox="1"/>
          <p:nvPr/>
        </p:nvSpPr>
        <p:spPr>
          <a:xfrm>
            <a:off x="548639" y="3246120"/>
            <a:ext cx="8046720" cy="914400"/>
          </a:xfrm>
          <a:prstGeom prst="rect">
            <a:avLst/>
          </a:prstGeom>
          <a:noFill/>
        </p:spPr>
        <p:txBody>
          <a:bodyPr wrap="square" lIns="0" tIns="0" rIns="0" bIns="0" anchor="t">
            <a:noAutofit/>
          </a:bodyPr>
          <a:lstStyle/>
          <a:p>
            <a:pPr algn="ctr">
              <a:spcAft>
                <a:spcPts val="500"/>
              </a:spcAft>
            </a:pPr>
            <a:r>
              <a:rPr sz="1400" b="1" dirty="0">
                <a:solidFill>
                  <a:srgbClr val="333333"/>
                </a:solidFill>
                <a:latin typeface="Arial"/>
              </a:rPr>
              <a:t>Guangqi Huang</a:t>
            </a:r>
            <a:r>
              <a:rPr sz="1400" b="1" baseline="30000" dirty="0">
                <a:solidFill>
                  <a:srgbClr val="333333"/>
                </a:solidFill>
                <a:latin typeface="Arial"/>
              </a:rPr>
              <a:t>1,2</a:t>
            </a:r>
            <a:r>
              <a:rPr sz="1400" b="1" dirty="0">
                <a:solidFill>
                  <a:srgbClr val="333333"/>
                </a:solidFill>
                <a:latin typeface="Arial"/>
              </a:rPr>
              <a:t> · Xiaofeng Chen</a:t>
            </a:r>
            <a:r>
              <a:rPr sz="1400" b="1" baseline="30000" dirty="0">
                <a:solidFill>
                  <a:srgbClr val="333333"/>
                </a:solidFill>
                <a:latin typeface="Arial"/>
              </a:rPr>
              <a:t>3</a:t>
            </a:r>
            <a:r>
              <a:rPr sz="1400" b="1" dirty="0">
                <a:solidFill>
                  <a:srgbClr val="333333"/>
                </a:solidFill>
                <a:latin typeface="Arial"/>
              </a:rPr>
              <a:t> · Caizhi Liao</a:t>
            </a:r>
            <a:r>
              <a:rPr sz="1400" b="1" baseline="30000" dirty="0">
                <a:solidFill>
                  <a:srgbClr val="333333"/>
                </a:solidFill>
                <a:latin typeface="Arial"/>
              </a:rPr>
              <a:t>1,2</a:t>
            </a:r>
            <a:r>
              <a:rPr sz="1400" b="1" dirty="0">
                <a:solidFill>
                  <a:srgbClr val="333333"/>
                </a:solidFill>
                <a:latin typeface="Arial"/>
              </a:rPr>
              <a:t>*</a:t>
            </a:r>
          </a:p>
          <a:p>
            <a:pPr algn="ctr">
              <a:spcAft>
                <a:spcPts val="500"/>
              </a:spcAft>
            </a:pPr>
            <a:r>
              <a:rPr sz="950" b="0" baseline="30000" dirty="0">
                <a:solidFill>
                  <a:srgbClr val="5B6770"/>
                </a:solidFill>
                <a:latin typeface="Arial"/>
              </a:rPr>
              <a:t>1</a:t>
            </a:r>
            <a:r>
              <a:rPr sz="950" b="0" dirty="0">
                <a:solidFill>
                  <a:srgbClr val="5B6770"/>
                </a:solidFill>
                <a:latin typeface="Arial"/>
              </a:rPr>
              <a:t>Dept. of Bioelectronics, Shenzhen University of Advanced Technology, China · </a:t>
            </a:r>
            <a:r>
              <a:rPr sz="950" b="0" baseline="30000" dirty="0">
                <a:solidFill>
                  <a:srgbClr val="5B6770"/>
                </a:solidFill>
                <a:latin typeface="Arial"/>
              </a:rPr>
              <a:t>2</a:t>
            </a:r>
            <a:r>
              <a:rPr sz="950" b="0" dirty="0">
                <a:solidFill>
                  <a:srgbClr val="5B6770"/>
                </a:solidFill>
                <a:latin typeface="Arial"/>
              </a:rPr>
              <a:t>Dept. of Engineering, University of Cambridge, UK · </a:t>
            </a:r>
            <a:r>
              <a:rPr sz="950" b="0" baseline="30000" dirty="0">
                <a:solidFill>
                  <a:srgbClr val="5B6770"/>
                </a:solidFill>
                <a:latin typeface="Arial"/>
              </a:rPr>
              <a:t>3</a:t>
            </a:r>
            <a:r>
              <a:rPr sz="950" b="0" dirty="0">
                <a:solidFill>
                  <a:srgbClr val="5B6770"/>
                </a:solidFill>
                <a:latin typeface="Arial"/>
              </a:rPr>
              <a:t>Dept. of Chemistry, The University of Texas at Austin, USA · *corresponding author</a:t>
            </a:r>
          </a:p>
          <a:p>
            <a:pPr algn="ctr">
              <a:spcAft>
                <a:spcPts val="500"/>
              </a:spcAft>
            </a:pPr>
            <a:r>
              <a:rPr sz="1150" b="1" i="1" dirty="0">
                <a:solidFill>
                  <a:srgbClr val="154734"/>
                </a:solidFill>
                <a:latin typeface="Arial"/>
              </a:rPr>
              <a:t>Biosensors</a:t>
            </a:r>
            <a:r>
              <a:rPr sz="1150" b="0" dirty="0">
                <a:solidFill>
                  <a:srgbClr val="154734"/>
                </a:solidFill>
                <a:latin typeface="Arial"/>
              </a:rPr>
              <a:t> (MDPI) · 2025 · Vol. 15, Issue 7, Article 410 · doi:10.3390/bios15070410</a:t>
            </a:r>
          </a:p>
        </p:txBody>
      </p:sp>
    </p:spTree>
    <p:extLst>
      <p:ext uri="{BB962C8B-B14F-4D97-AF65-F5344CB8AC3E}">
        <p14:creationId xmlns:p14="http://schemas.microsoft.com/office/powerpoint/2010/main" val="1693100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BACKGROUND · SIGNIFICANCE</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Chronic disease and ageing strain episodic care</a:t>
            </a:r>
            <a:endParaRPr lang="en-US" sz="2400" dirty="0">
              <a:solidFill>
                <a:schemeClr val="accent5"/>
              </a:solidFill>
            </a:endParaRPr>
          </a:p>
        </p:txBody>
      </p:sp>
      <p:grpSp>
        <p:nvGrpSpPr>
          <p:cNvPr id="2" name="Group 1">
            <a:extLst>
              <a:ext uri="{FF2B5EF4-FFF2-40B4-BE49-F238E27FC236}">
                <a16:creationId xmlns:a16="http://schemas.microsoft.com/office/drawing/2014/main" id="{5CCBC4F9-BE1E-8CCA-E6F8-3EA8932A2BC7}"/>
              </a:ext>
            </a:extLst>
          </p:cNvPr>
          <p:cNvGrpSpPr/>
          <p:nvPr/>
        </p:nvGrpSpPr>
        <p:grpSpPr>
          <a:xfrm>
            <a:off x="548640" y="1278726"/>
            <a:ext cx="8046720" cy="4650028"/>
            <a:chOff x="548640" y="1278726"/>
            <a:chExt cx="8046720" cy="4650028"/>
          </a:xfrm>
        </p:grpSpPr>
        <p:sp>
          <p:nvSpPr>
            <p:cNvPr id="5" name="Shape 0"/>
            <p:cNvSpPr/>
            <p:nvPr/>
          </p:nvSpPr>
          <p:spPr>
            <a:xfrm>
              <a:off x="548640" y="1278726"/>
              <a:ext cx="2563029" cy="2701445"/>
            </a:xfrm>
            <a:prstGeom prst="roundRect">
              <a:avLst>
                <a:gd name="adj" fmla="val 2497"/>
              </a:avLst>
            </a:prstGeom>
            <a:solidFill>
              <a:srgbClr val="F4F6F5"/>
            </a:solidFill>
            <a:ln w="9525">
              <a:solidFill>
                <a:srgbClr val="F4F6F5"/>
              </a:solidFill>
              <a:prstDash val="solid"/>
            </a:ln>
          </p:spPr>
          <p:txBody>
            <a:bodyPr/>
            <a:lstStyle/>
            <a:p>
              <a:endParaRPr lang="en-US"/>
            </a:p>
          </p:txBody>
        </p:sp>
        <p:sp>
          <p:nvSpPr>
            <p:cNvPr id="6" name="Shape 1"/>
            <p:cNvSpPr/>
            <p:nvPr/>
          </p:nvSpPr>
          <p:spPr>
            <a:xfrm>
              <a:off x="747511" y="1473584"/>
              <a:ext cx="460574" cy="460574"/>
            </a:xfrm>
            <a:prstGeom prst="ellipse">
              <a:avLst/>
            </a:prstGeom>
            <a:solidFill>
              <a:srgbClr val="2E8B57"/>
            </a:solidFill>
            <a:ln w="12700">
              <a:solidFill>
                <a:srgbClr val="2E8B57"/>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867261" y="1593334"/>
              <a:ext cx="221076" cy="221076"/>
            </a:xfrm>
            <a:prstGeom prst="rect">
              <a:avLst/>
            </a:prstGeom>
          </p:spPr>
        </p:pic>
        <p:sp>
          <p:nvSpPr>
            <p:cNvPr id="8" name="Text 2"/>
            <p:cNvSpPr txBox="1"/>
            <p:nvPr/>
          </p:nvSpPr>
          <p:spPr>
            <a:xfrm>
              <a:off x="1308608" y="1544442"/>
              <a:ext cx="1624245" cy="318859"/>
            </a:xfrm>
            <a:prstGeom prst="rect">
              <a:avLst/>
            </a:prstGeom>
            <a:noFill/>
            <a:ln/>
          </p:spPr>
          <p:txBody>
            <a:bodyPr wrap="square" lIns="0" tIns="0" rIns="0" bIns="0" rtlCol="0" anchor="ctr"/>
            <a:lstStyle/>
            <a:p>
              <a:pPr marL="0" indent="0" algn="r">
                <a:buNone/>
              </a:pPr>
              <a:r>
                <a:rPr lang="en-US" sz="950" dirty="0">
                  <a:solidFill>
                    <a:srgbClr val="5B6770"/>
                  </a:solidFill>
                  <a:latin typeface="Calibri" pitchFamily="34" charset="0"/>
                  <a:ea typeface="Calibri" pitchFamily="34" charset="-122"/>
                  <a:cs typeface="Calibri" pitchFamily="34" charset="-120"/>
                </a:rPr>
                <a:t>NCD-RisC, Lancet 2024</a:t>
              </a:r>
              <a:endParaRPr lang="en-US" sz="950" dirty="0"/>
            </a:p>
          </p:txBody>
        </p:sp>
        <p:sp>
          <p:nvSpPr>
            <p:cNvPr id="9" name="Text 3"/>
            <p:cNvSpPr txBox="1"/>
            <p:nvPr/>
          </p:nvSpPr>
          <p:spPr>
            <a:xfrm>
              <a:off x="745338" y="2075874"/>
              <a:ext cx="2169634" cy="620004"/>
            </a:xfrm>
            <a:prstGeom prst="rect">
              <a:avLst/>
            </a:prstGeom>
            <a:noFill/>
            <a:ln/>
          </p:spPr>
          <p:txBody>
            <a:bodyPr wrap="square" lIns="0" tIns="0" rIns="0" bIns="0" rtlCol="0" anchor="ctr"/>
            <a:lstStyle/>
            <a:p>
              <a:pPr marL="0" indent="0">
                <a:buNone/>
              </a:pPr>
              <a:r>
                <a:rPr lang="en-US" sz="3800" b="1" dirty="0">
                  <a:solidFill>
                    <a:srgbClr val="2E8B57"/>
                  </a:solidFill>
                  <a:latin typeface="Arial" pitchFamily="34" charset="0"/>
                  <a:ea typeface="Arial" pitchFamily="34" charset="-122"/>
                  <a:cs typeface="Arial" pitchFamily="34" charset="-120"/>
                </a:rPr>
                <a:t>828 M</a:t>
              </a:r>
              <a:endParaRPr lang="en-US" sz="3800" dirty="0"/>
            </a:p>
          </p:txBody>
        </p:sp>
        <p:sp>
          <p:nvSpPr>
            <p:cNvPr id="10" name="Text 4"/>
            <p:cNvSpPr txBox="1"/>
            <p:nvPr/>
          </p:nvSpPr>
          <p:spPr>
            <a:xfrm>
              <a:off x="745338" y="2766735"/>
              <a:ext cx="2169634" cy="637718"/>
            </a:xfrm>
            <a:prstGeom prst="rect">
              <a:avLst/>
            </a:prstGeom>
            <a:noFill/>
            <a:ln/>
          </p:spPr>
          <p:txBody>
            <a:bodyPr wrap="square" lIns="0" tIns="0" rIns="0" bIns="0" rtlCol="0" anchor="t"/>
            <a:lstStyle/>
            <a:p>
              <a:pPr marL="0" indent="0">
                <a:buNone/>
              </a:pPr>
              <a:r>
                <a:rPr lang="en-US" sz="1300" dirty="0">
                  <a:solidFill>
                    <a:srgbClr val="333333"/>
                  </a:solidFill>
                  <a:latin typeface="Calibri" pitchFamily="34" charset="0"/>
                  <a:ea typeface="Calibri" pitchFamily="34" charset="-122"/>
                  <a:cs typeface="Calibri" pitchFamily="34" charset="-120"/>
                </a:rPr>
                <a:t>adults living with diabetes (2022)</a:t>
              </a:r>
              <a:endParaRPr lang="en-US" sz="1300" dirty="0"/>
            </a:p>
          </p:txBody>
        </p:sp>
        <p:sp>
          <p:nvSpPr>
            <p:cNvPr id="11" name="Text 5"/>
            <p:cNvSpPr txBox="1"/>
            <p:nvPr/>
          </p:nvSpPr>
          <p:spPr>
            <a:xfrm>
              <a:off x="745338" y="3448739"/>
              <a:ext cx="2169634" cy="442860"/>
            </a:xfrm>
            <a:prstGeom prst="rect">
              <a:avLst/>
            </a:prstGeom>
            <a:noFill/>
            <a:ln/>
          </p:spPr>
          <p:txBody>
            <a:bodyPr wrap="square" lIns="0" tIns="0" rIns="0" bIns="0" rtlCol="0" anchor="t"/>
            <a:lstStyle/>
            <a:p>
              <a:pPr marL="0" indent="0">
                <a:buNone/>
              </a:pPr>
              <a:r>
                <a:rPr lang="en-US" sz="1050" i="1" dirty="0">
                  <a:solidFill>
                    <a:srgbClr val="B3261E"/>
                  </a:solidFill>
                  <a:latin typeface="Calibri" pitchFamily="34" charset="0"/>
                  <a:ea typeface="Calibri" pitchFamily="34" charset="-122"/>
                  <a:cs typeface="Calibri" pitchFamily="34" charset="-120"/>
                </a:rPr>
                <a:t>Paper: 422 M — a 2014 WHO estimate</a:t>
              </a:r>
              <a:endParaRPr lang="en-US" sz="1050" dirty="0"/>
            </a:p>
          </p:txBody>
        </p:sp>
        <p:sp>
          <p:nvSpPr>
            <p:cNvPr id="12" name="Shape 6"/>
            <p:cNvSpPr/>
            <p:nvPr/>
          </p:nvSpPr>
          <p:spPr>
            <a:xfrm>
              <a:off x="3290485" y="1278726"/>
              <a:ext cx="2563029" cy="2701445"/>
            </a:xfrm>
            <a:prstGeom prst="roundRect">
              <a:avLst>
                <a:gd name="adj" fmla="val 2497"/>
              </a:avLst>
            </a:prstGeom>
            <a:solidFill>
              <a:srgbClr val="F4F6F5"/>
            </a:solidFill>
            <a:ln w="9525">
              <a:solidFill>
                <a:srgbClr val="F4F6F5"/>
              </a:solidFill>
              <a:prstDash val="solid"/>
            </a:ln>
          </p:spPr>
          <p:txBody>
            <a:bodyPr/>
            <a:lstStyle/>
            <a:p>
              <a:endParaRPr lang="en-US"/>
            </a:p>
          </p:txBody>
        </p:sp>
        <p:sp>
          <p:nvSpPr>
            <p:cNvPr id="13" name="Shape 7"/>
            <p:cNvSpPr/>
            <p:nvPr/>
          </p:nvSpPr>
          <p:spPr>
            <a:xfrm>
              <a:off x="3489357" y="1473584"/>
              <a:ext cx="460574" cy="460574"/>
            </a:xfrm>
            <a:prstGeom prst="ellipse">
              <a:avLst/>
            </a:prstGeom>
            <a:solidFill>
              <a:srgbClr val="2E8B57"/>
            </a:solidFill>
            <a:ln w="12700">
              <a:solidFill>
                <a:srgbClr val="2E8B57"/>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3609106" y="1593334"/>
              <a:ext cx="221076" cy="221076"/>
            </a:xfrm>
            <a:prstGeom prst="rect">
              <a:avLst/>
            </a:prstGeom>
          </p:spPr>
        </p:pic>
        <p:sp>
          <p:nvSpPr>
            <p:cNvPr id="15" name="Text 8"/>
            <p:cNvSpPr txBox="1"/>
            <p:nvPr/>
          </p:nvSpPr>
          <p:spPr>
            <a:xfrm>
              <a:off x="4050453" y="1544442"/>
              <a:ext cx="1624245" cy="318859"/>
            </a:xfrm>
            <a:prstGeom prst="rect">
              <a:avLst/>
            </a:prstGeom>
            <a:noFill/>
            <a:ln/>
          </p:spPr>
          <p:txBody>
            <a:bodyPr wrap="square" lIns="0" tIns="0" rIns="0" bIns="0" rtlCol="0" anchor="ctr"/>
            <a:lstStyle/>
            <a:p>
              <a:pPr marL="0" indent="0" algn="r">
                <a:buNone/>
              </a:pPr>
              <a:r>
                <a:rPr lang="en-US" sz="950" dirty="0">
                  <a:solidFill>
                    <a:srgbClr val="5B6770"/>
                  </a:solidFill>
                  <a:latin typeface="Calibri" pitchFamily="34" charset="0"/>
                  <a:ea typeface="Calibri" pitchFamily="34" charset="-122"/>
                  <a:cs typeface="Calibri" pitchFamily="34" charset="-120"/>
                </a:rPr>
                <a:t>WHO fact sheet, 2025</a:t>
              </a:r>
              <a:endParaRPr lang="en-US" sz="950" dirty="0"/>
            </a:p>
          </p:txBody>
        </p:sp>
        <p:sp>
          <p:nvSpPr>
            <p:cNvPr id="16" name="Text 9"/>
            <p:cNvSpPr txBox="1"/>
            <p:nvPr/>
          </p:nvSpPr>
          <p:spPr>
            <a:xfrm>
              <a:off x="3487183" y="2075874"/>
              <a:ext cx="2169634" cy="620004"/>
            </a:xfrm>
            <a:prstGeom prst="rect">
              <a:avLst/>
            </a:prstGeom>
            <a:noFill/>
            <a:ln/>
          </p:spPr>
          <p:txBody>
            <a:bodyPr wrap="square" lIns="0" tIns="0" rIns="0" bIns="0" rtlCol="0" anchor="ctr"/>
            <a:lstStyle/>
            <a:p>
              <a:pPr marL="0" indent="0">
                <a:buNone/>
              </a:pPr>
              <a:r>
                <a:rPr lang="en-US" sz="3800" b="1" dirty="0">
                  <a:solidFill>
                    <a:srgbClr val="2E8B57"/>
                  </a:solidFill>
                  <a:latin typeface="Arial" pitchFamily="34" charset="0"/>
                  <a:ea typeface="Arial" pitchFamily="34" charset="-122"/>
                  <a:cs typeface="Arial" pitchFamily="34" charset="-120"/>
                </a:rPr>
                <a:t>19.8 M</a:t>
              </a:r>
              <a:endParaRPr lang="en-US" sz="3800" dirty="0"/>
            </a:p>
          </p:txBody>
        </p:sp>
        <p:sp>
          <p:nvSpPr>
            <p:cNvPr id="17" name="Text 10"/>
            <p:cNvSpPr txBox="1"/>
            <p:nvPr/>
          </p:nvSpPr>
          <p:spPr>
            <a:xfrm>
              <a:off x="3487183" y="2766735"/>
              <a:ext cx="2169634" cy="637718"/>
            </a:xfrm>
            <a:prstGeom prst="rect">
              <a:avLst/>
            </a:prstGeom>
            <a:noFill/>
            <a:ln/>
          </p:spPr>
          <p:txBody>
            <a:bodyPr wrap="square" lIns="0" tIns="0" rIns="0" bIns="0" rtlCol="0" anchor="t"/>
            <a:lstStyle/>
            <a:p>
              <a:pPr marL="0" indent="0">
                <a:buNone/>
              </a:pPr>
              <a:r>
                <a:rPr lang="en-US" sz="1300" dirty="0">
                  <a:solidFill>
                    <a:srgbClr val="333333"/>
                  </a:solidFill>
                  <a:latin typeface="Calibri" pitchFamily="34" charset="0"/>
                  <a:ea typeface="Calibri" pitchFamily="34" charset="-122"/>
                  <a:cs typeface="Calibri" pitchFamily="34" charset="-120"/>
                </a:rPr>
                <a:t>cardiovascular deaths per year (2022), ≈32% of all deaths</a:t>
              </a:r>
              <a:endParaRPr lang="en-US" sz="1300" dirty="0"/>
            </a:p>
          </p:txBody>
        </p:sp>
        <p:sp>
          <p:nvSpPr>
            <p:cNvPr id="18" name="Text 11"/>
            <p:cNvSpPr txBox="1"/>
            <p:nvPr/>
          </p:nvSpPr>
          <p:spPr>
            <a:xfrm>
              <a:off x="3487183" y="3448739"/>
              <a:ext cx="2169634" cy="442860"/>
            </a:xfrm>
            <a:prstGeom prst="rect">
              <a:avLst/>
            </a:prstGeom>
            <a:noFill/>
            <a:ln/>
          </p:spPr>
          <p:txBody>
            <a:bodyPr wrap="square" lIns="0" tIns="0" rIns="0" bIns="0" rtlCol="0" anchor="t"/>
            <a:lstStyle/>
            <a:p>
              <a:pPr marL="0" indent="0">
                <a:buNone/>
              </a:pPr>
              <a:r>
                <a:rPr lang="en-US" sz="1050" i="1" dirty="0">
                  <a:solidFill>
                    <a:srgbClr val="B3261E"/>
                  </a:solidFill>
                  <a:latin typeface="Calibri" pitchFamily="34" charset="0"/>
                  <a:ea typeface="Calibri" pitchFamily="34" charset="-122"/>
                  <a:cs typeface="Calibri" pitchFamily="34" charset="-120"/>
                </a:rPr>
                <a:t>Paper: 17.9 M — the 2019 figure</a:t>
              </a:r>
              <a:endParaRPr lang="en-US" sz="1050" dirty="0"/>
            </a:p>
          </p:txBody>
        </p:sp>
        <p:sp>
          <p:nvSpPr>
            <p:cNvPr id="19" name="Shape 12"/>
            <p:cNvSpPr/>
            <p:nvPr/>
          </p:nvSpPr>
          <p:spPr>
            <a:xfrm>
              <a:off x="6032331" y="1278726"/>
              <a:ext cx="2563029" cy="2701445"/>
            </a:xfrm>
            <a:prstGeom prst="roundRect">
              <a:avLst>
                <a:gd name="adj" fmla="val 2497"/>
              </a:avLst>
            </a:prstGeom>
            <a:solidFill>
              <a:srgbClr val="F4F6F5"/>
            </a:solidFill>
            <a:ln w="9525">
              <a:solidFill>
                <a:srgbClr val="F4F6F5"/>
              </a:solidFill>
              <a:prstDash val="solid"/>
            </a:ln>
          </p:spPr>
          <p:txBody>
            <a:bodyPr/>
            <a:lstStyle/>
            <a:p>
              <a:endParaRPr lang="en-US"/>
            </a:p>
          </p:txBody>
        </p:sp>
        <p:sp>
          <p:nvSpPr>
            <p:cNvPr id="20" name="Shape 13"/>
            <p:cNvSpPr/>
            <p:nvPr/>
          </p:nvSpPr>
          <p:spPr>
            <a:xfrm>
              <a:off x="6231202" y="1473584"/>
              <a:ext cx="460574" cy="460574"/>
            </a:xfrm>
            <a:prstGeom prst="ellipse">
              <a:avLst/>
            </a:prstGeom>
            <a:solidFill>
              <a:srgbClr val="2E8B57"/>
            </a:solidFill>
            <a:ln w="12700">
              <a:solidFill>
                <a:srgbClr val="2E8B57"/>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6350951" y="1593334"/>
              <a:ext cx="221076" cy="221076"/>
            </a:xfrm>
            <a:prstGeom prst="rect">
              <a:avLst/>
            </a:prstGeom>
          </p:spPr>
        </p:pic>
        <p:sp>
          <p:nvSpPr>
            <p:cNvPr id="22" name="Text 14"/>
            <p:cNvSpPr txBox="1"/>
            <p:nvPr/>
          </p:nvSpPr>
          <p:spPr>
            <a:xfrm>
              <a:off x="6792299" y="1544442"/>
              <a:ext cx="1624245" cy="318859"/>
            </a:xfrm>
            <a:prstGeom prst="rect">
              <a:avLst/>
            </a:prstGeom>
            <a:noFill/>
            <a:ln/>
          </p:spPr>
          <p:txBody>
            <a:bodyPr wrap="square" lIns="0" tIns="0" rIns="0" bIns="0" rtlCol="0" anchor="ctr"/>
            <a:lstStyle/>
            <a:p>
              <a:pPr marL="0" indent="0" algn="r">
                <a:buNone/>
              </a:pPr>
              <a:r>
                <a:rPr lang="en-US" sz="950" dirty="0">
                  <a:solidFill>
                    <a:srgbClr val="5B6770"/>
                  </a:solidFill>
                  <a:latin typeface="Calibri" pitchFamily="34" charset="0"/>
                  <a:ea typeface="Calibri" pitchFamily="34" charset="-122"/>
                  <a:cs typeface="Calibri" pitchFamily="34" charset="-120"/>
                </a:rPr>
                <a:t>WHO fact sheet, 2025</a:t>
              </a:r>
              <a:endParaRPr lang="en-US" sz="950" dirty="0"/>
            </a:p>
          </p:txBody>
        </p:sp>
        <p:sp>
          <p:nvSpPr>
            <p:cNvPr id="23" name="Text 15"/>
            <p:cNvSpPr txBox="1"/>
            <p:nvPr/>
          </p:nvSpPr>
          <p:spPr>
            <a:xfrm>
              <a:off x="6229028" y="2075874"/>
              <a:ext cx="2169634" cy="620004"/>
            </a:xfrm>
            <a:prstGeom prst="rect">
              <a:avLst/>
            </a:prstGeom>
            <a:noFill/>
            <a:ln/>
          </p:spPr>
          <p:txBody>
            <a:bodyPr wrap="square" lIns="0" tIns="0" rIns="0" bIns="0" rtlCol="0" anchor="ctr"/>
            <a:lstStyle/>
            <a:p>
              <a:pPr marL="0" indent="0">
                <a:buNone/>
              </a:pPr>
              <a:r>
                <a:rPr lang="en-US" sz="3800" b="1" dirty="0">
                  <a:solidFill>
                    <a:srgbClr val="2E8B57"/>
                  </a:solidFill>
                  <a:latin typeface="Arial" pitchFamily="34" charset="0"/>
                  <a:ea typeface="Arial" pitchFamily="34" charset="-122"/>
                  <a:cs typeface="Arial" pitchFamily="34" charset="-120"/>
                </a:rPr>
                <a:t>2.1 B</a:t>
              </a:r>
              <a:endParaRPr lang="en-US" sz="3800" dirty="0"/>
            </a:p>
          </p:txBody>
        </p:sp>
        <p:sp>
          <p:nvSpPr>
            <p:cNvPr id="24" name="Text 16"/>
            <p:cNvSpPr txBox="1"/>
            <p:nvPr/>
          </p:nvSpPr>
          <p:spPr>
            <a:xfrm>
              <a:off x="6229028" y="2766735"/>
              <a:ext cx="2169634" cy="637718"/>
            </a:xfrm>
            <a:prstGeom prst="rect">
              <a:avLst/>
            </a:prstGeom>
            <a:noFill/>
            <a:ln/>
          </p:spPr>
          <p:txBody>
            <a:bodyPr wrap="square" lIns="0" tIns="0" rIns="0" bIns="0" rtlCol="0" anchor="t"/>
            <a:lstStyle/>
            <a:p>
              <a:pPr marL="0" indent="0">
                <a:buNone/>
              </a:pPr>
              <a:r>
                <a:rPr lang="en-US" sz="1300" dirty="0">
                  <a:solidFill>
                    <a:srgbClr val="333333"/>
                  </a:solidFill>
                  <a:latin typeface="Calibri" pitchFamily="34" charset="0"/>
                  <a:ea typeface="Calibri" pitchFamily="34" charset="-122"/>
                  <a:cs typeface="Calibri" pitchFamily="34" charset="-120"/>
                </a:rPr>
                <a:t>people aged ≥60 by 2050 — double the 2020 number</a:t>
              </a:r>
              <a:endParaRPr lang="en-US" sz="1300" dirty="0"/>
            </a:p>
          </p:txBody>
        </p:sp>
        <p:sp>
          <p:nvSpPr>
            <p:cNvPr id="25" name="Text 17"/>
            <p:cNvSpPr txBox="1"/>
            <p:nvPr/>
          </p:nvSpPr>
          <p:spPr>
            <a:xfrm>
              <a:off x="6229028" y="3448739"/>
              <a:ext cx="2169634" cy="442860"/>
            </a:xfrm>
            <a:prstGeom prst="rect">
              <a:avLst/>
            </a:prstGeom>
            <a:noFill/>
            <a:ln/>
          </p:spPr>
          <p:txBody>
            <a:bodyPr wrap="square" lIns="0" tIns="0" rIns="0" bIns="0" rtlCol="0" anchor="t"/>
            <a:lstStyle/>
            <a:p>
              <a:pPr marL="0" indent="0">
                <a:buNone/>
              </a:pPr>
              <a:r>
                <a:rPr lang="en-US" sz="1050" i="1" dirty="0">
                  <a:solidFill>
                    <a:srgbClr val="2E8B57"/>
                  </a:solidFill>
                  <a:latin typeface="Calibri" pitchFamily="34" charset="0"/>
                  <a:ea typeface="Calibri" pitchFamily="34" charset="-122"/>
                  <a:cs typeface="Calibri" pitchFamily="34" charset="-120"/>
                </a:rPr>
                <a:t>Paper: consistent</a:t>
              </a:r>
              <a:endParaRPr lang="en-US" sz="1050" dirty="0"/>
            </a:p>
          </p:txBody>
        </p:sp>
        <p:sp>
          <p:nvSpPr>
            <p:cNvPr id="26" name="Shape 18"/>
            <p:cNvSpPr/>
            <p:nvPr/>
          </p:nvSpPr>
          <p:spPr>
            <a:xfrm>
              <a:off x="548640" y="4201601"/>
              <a:ext cx="3486912" cy="1062863"/>
            </a:xfrm>
            <a:prstGeom prst="roundRect">
              <a:avLst>
                <a:gd name="adj" fmla="val 6022"/>
              </a:avLst>
            </a:prstGeom>
            <a:solidFill>
              <a:srgbClr val="F4F6F5"/>
            </a:solidFill>
            <a:ln w="9525">
              <a:solidFill>
                <a:srgbClr val="F4F6F5"/>
              </a:solidFill>
              <a:prstDash val="solid"/>
            </a:ln>
          </p:spPr>
          <p:txBody>
            <a:bodyPr/>
            <a:lstStyle/>
            <a:p>
              <a:endParaRPr lang="en-US"/>
            </a:p>
          </p:txBody>
        </p:sp>
        <p:sp>
          <p:nvSpPr>
            <p:cNvPr id="27" name="Text 19"/>
            <p:cNvSpPr txBox="1"/>
            <p:nvPr/>
          </p:nvSpPr>
          <p:spPr>
            <a:xfrm>
              <a:off x="727456" y="4263601"/>
              <a:ext cx="3173984" cy="938863"/>
            </a:xfrm>
            <a:prstGeom prst="rect">
              <a:avLst/>
            </a:prstGeom>
            <a:noFill/>
            <a:ln/>
          </p:spPr>
          <p:txBody>
            <a:bodyPr wrap="square" lIns="0" tIns="0" rIns="0" bIns="0" rtlCol="0" anchor="ctr"/>
            <a:lstStyle/>
            <a:p>
              <a:pPr marL="0" indent="0">
                <a:buNone/>
              </a:pPr>
              <a:r>
                <a:rPr lang="en-US" sz="950" b="1" kern="0" spc="200" dirty="0">
                  <a:solidFill>
                    <a:srgbClr val="5B6770"/>
                  </a:solidFill>
                  <a:latin typeface="Calibri" pitchFamily="34" charset="0"/>
                  <a:ea typeface="Calibri" pitchFamily="34" charset="-122"/>
                  <a:cs typeface="Calibri" pitchFamily="34" charset="-120"/>
                </a:rPr>
                <a:t>TODAY</a:t>
              </a:r>
              <a:endParaRPr lang="en-US" sz="950" dirty="0"/>
            </a:p>
            <a:p>
              <a:pPr marL="0" indent="0">
                <a:buNone/>
              </a:pPr>
              <a:r>
                <a:rPr lang="en-US" sz="1600" b="1" dirty="0">
                  <a:solidFill>
                    <a:srgbClr val="154734"/>
                  </a:solidFill>
                  <a:latin typeface="Calibri" pitchFamily="34" charset="0"/>
                  <a:ea typeface="Calibri" pitchFamily="34" charset="-122"/>
                  <a:cs typeface="Calibri" pitchFamily="34" charset="-120"/>
                </a:rPr>
                <a:t>Reactive · episodic · clinic-bound</a:t>
              </a:r>
              <a:endParaRPr lang="en-US" sz="950" dirty="0"/>
            </a:p>
          </p:txBody>
        </p:sp>
        <p:pic>
          <p:nvPicPr>
            <p:cNvPr id="28" name="Image 3" descr="preencoded.png"/>
            <p:cNvPicPr>
              <a:picLocks noChangeAspect="1"/>
            </p:cNvPicPr>
            <p:nvPr/>
          </p:nvPicPr>
          <p:blipFill>
            <a:blip r:embed="rId6"/>
            <a:stretch>
              <a:fillRect/>
            </a:stretch>
          </p:blipFill>
          <p:spPr>
            <a:xfrm>
              <a:off x="4235427" y="4493888"/>
              <a:ext cx="673147" cy="442860"/>
            </a:xfrm>
            <a:prstGeom prst="rect">
              <a:avLst/>
            </a:prstGeom>
          </p:spPr>
        </p:pic>
        <p:sp>
          <p:nvSpPr>
            <p:cNvPr id="29" name="Shape 20"/>
            <p:cNvSpPr/>
            <p:nvPr/>
          </p:nvSpPr>
          <p:spPr>
            <a:xfrm>
              <a:off x="5108448" y="4201601"/>
              <a:ext cx="3486912" cy="1062863"/>
            </a:xfrm>
            <a:prstGeom prst="roundRect">
              <a:avLst>
                <a:gd name="adj" fmla="val 6022"/>
              </a:avLst>
            </a:prstGeom>
            <a:solidFill>
              <a:srgbClr val="E7F0EB"/>
            </a:solidFill>
            <a:ln w="9525">
              <a:solidFill>
                <a:srgbClr val="E7F0EB"/>
              </a:solidFill>
              <a:prstDash val="solid"/>
            </a:ln>
          </p:spPr>
          <p:txBody>
            <a:bodyPr/>
            <a:lstStyle/>
            <a:p>
              <a:endParaRPr lang="en-US"/>
            </a:p>
          </p:txBody>
        </p:sp>
        <p:sp>
          <p:nvSpPr>
            <p:cNvPr id="30" name="Text 21"/>
            <p:cNvSpPr txBox="1"/>
            <p:nvPr/>
          </p:nvSpPr>
          <p:spPr>
            <a:xfrm>
              <a:off x="5287264" y="4263601"/>
              <a:ext cx="3173984" cy="938863"/>
            </a:xfrm>
            <a:prstGeom prst="rect">
              <a:avLst/>
            </a:prstGeom>
            <a:noFill/>
            <a:ln/>
          </p:spPr>
          <p:txBody>
            <a:bodyPr wrap="square" lIns="0" tIns="0" rIns="0" bIns="0" rtlCol="0" anchor="ctr"/>
            <a:lstStyle/>
            <a:p>
              <a:pPr marL="0" indent="0">
                <a:buNone/>
              </a:pPr>
              <a:r>
                <a:rPr lang="en-US" sz="950" b="1" kern="0" spc="200" dirty="0">
                  <a:solidFill>
                    <a:srgbClr val="2E8B57"/>
                  </a:solidFill>
                  <a:latin typeface="Calibri" pitchFamily="34" charset="0"/>
                  <a:ea typeface="Calibri" pitchFamily="34" charset="-122"/>
                  <a:cs typeface="Calibri" pitchFamily="34" charset="-120"/>
                </a:rPr>
                <a:t>PROMISE OF AI + WEARABLES</a:t>
              </a:r>
              <a:endParaRPr lang="en-US" sz="950" dirty="0"/>
            </a:p>
            <a:p>
              <a:pPr marL="0" indent="0">
                <a:buNone/>
              </a:pPr>
              <a:r>
                <a:rPr lang="en-US" sz="1600" b="1" dirty="0">
                  <a:solidFill>
                    <a:srgbClr val="154734"/>
                  </a:solidFill>
                  <a:latin typeface="Calibri" pitchFamily="34" charset="0"/>
                  <a:ea typeface="Calibri" pitchFamily="34" charset="-122"/>
                  <a:cs typeface="Calibri" pitchFamily="34" charset="-120"/>
                </a:rPr>
                <a:t>Continuous · proactive · personalized</a:t>
              </a:r>
              <a:endParaRPr lang="en-US" sz="950" dirty="0"/>
            </a:p>
          </p:txBody>
        </p:sp>
        <p:sp>
          <p:nvSpPr>
            <p:cNvPr id="31" name="Text 22"/>
            <p:cNvSpPr txBox="1"/>
            <p:nvPr/>
          </p:nvSpPr>
          <p:spPr>
            <a:xfrm>
              <a:off x="548640" y="5441608"/>
              <a:ext cx="8046720" cy="487146"/>
            </a:xfrm>
            <a:prstGeom prst="rect">
              <a:avLst/>
            </a:prstGeom>
            <a:noFill/>
            <a:ln/>
          </p:spPr>
          <p:txBody>
            <a:bodyPr wrap="square" lIns="0" tIns="0" rIns="0" bIns="0" rtlCol="0" anchor="t"/>
            <a:lstStyle/>
            <a:p>
              <a:pPr marL="0" indent="0">
                <a:buNone/>
              </a:pPr>
              <a:r>
                <a:rPr lang="en-US" sz="1050" dirty="0">
                  <a:solidFill>
                    <a:srgbClr val="5B6770"/>
                  </a:solidFill>
                  <a:latin typeface="Calibri" pitchFamily="34" charset="0"/>
                  <a:ea typeface="Calibri" pitchFamily="34" charset="-122"/>
                  <a:cs typeface="Calibri" pitchFamily="34" charset="-120"/>
                </a:rPr>
                <a:t>Large numbers = current estimates (our update). Remote monitoring is expected to cut readmissions and reach remote and underserved patients (paper §1).</a:t>
              </a:r>
              <a:endParaRPr lang="en-US" sz="1050" dirty="0"/>
            </a:p>
          </p:txBody>
        </p:sp>
      </p:grpSp>
      <p:sp>
        <p:nvSpPr>
          <p:cNvPr id="32"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3</a:t>
            </a:fld>
            <a:endParaRPr lang="en-US">
              <a:solidFill>
                <a:srgbClr val="FFFFFF"/>
              </a:solidFill>
              <a:latin typeface="Arial" panose="020B0604020202020204"/>
            </a:endParaRPr>
          </a:p>
        </p:txBody>
      </p:sp>
      <p:sp>
        <p:nvSpPr>
          <p:cNvPr id="33"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dirty="0">
                <a:solidFill>
                  <a:srgbClr val="A84D00"/>
                </a:solidFill>
                <a:latin typeface="Arial"/>
              </a:rPr>
              <a:t>BACKGROUND · PROBLEM · PURPOSE</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Problem statement and objectives</a:t>
            </a:r>
            <a:endParaRPr lang="en-US" sz="2400" dirty="0">
              <a:solidFill>
                <a:schemeClr val="accent5"/>
              </a:solidFill>
            </a:endParaRPr>
          </a:p>
        </p:txBody>
      </p:sp>
      <p:grpSp>
        <p:nvGrpSpPr>
          <p:cNvPr id="40" name="Group 39">
            <a:extLst>
              <a:ext uri="{FF2B5EF4-FFF2-40B4-BE49-F238E27FC236}">
                <a16:creationId xmlns:a16="http://schemas.microsoft.com/office/drawing/2014/main" id="{37C1FF25-1408-0F49-49C4-A6EBB949CF09}"/>
              </a:ext>
            </a:extLst>
          </p:cNvPr>
          <p:cNvGrpSpPr/>
          <p:nvPr/>
        </p:nvGrpSpPr>
        <p:grpSpPr>
          <a:xfrm>
            <a:off x="548640" y="1252154"/>
            <a:ext cx="4470400" cy="3560593"/>
            <a:chOff x="548640" y="1252154"/>
            <a:chExt cx="4470400" cy="3560593"/>
          </a:xfrm>
        </p:grpSpPr>
        <p:sp>
          <p:nvSpPr>
            <p:cNvPr id="5" name="Text 0"/>
            <p:cNvSpPr txBox="1"/>
            <p:nvPr/>
          </p:nvSpPr>
          <p:spPr>
            <a:xfrm>
              <a:off x="548640" y="1252154"/>
              <a:ext cx="4470400" cy="318859"/>
            </a:xfrm>
            <a:prstGeom prst="rect">
              <a:avLst/>
            </a:prstGeom>
            <a:noFill/>
            <a:ln/>
          </p:spPr>
          <p:txBody>
            <a:bodyPr wrap="square" lIns="0" tIns="0" rIns="0" bIns="0" rtlCol="0" anchor="ctr"/>
            <a:lstStyle/>
            <a:p>
              <a:pPr marL="0" indent="0">
                <a:buNone/>
              </a:pPr>
              <a:r>
                <a:rPr lang="en-US" sz="1800" b="1" dirty="0">
                  <a:solidFill>
                    <a:srgbClr val="154734"/>
                  </a:solidFill>
                  <a:latin typeface="Arial" pitchFamily="34" charset="0"/>
                  <a:ea typeface="Arial" pitchFamily="34" charset="-122"/>
                  <a:cs typeface="Arial" pitchFamily="34" charset="-120"/>
                </a:rPr>
                <a:t>Problem</a:t>
              </a:r>
              <a:endParaRPr lang="en-US" sz="1800" dirty="0"/>
            </a:p>
          </p:txBody>
        </p:sp>
        <p:sp>
          <p:nvSpPr>
            <p:cNvPr id="6" name="Text 1"/>
            <p:cNvSpPr txBox="1"/>
            <p:nvPr/>
          </p:nvSpPr>
          <p:spPr>
            <a:xfrm>
              <a:off x="548640" y="1571013"/>
              <a:ext cx="4470400" cy="549146"/>
            </a:xfrm>
            <a:prstGeom prst="rect">
              <a:avLst/>
            </a:prstGeom>
            <a:noFill/>
            <a:ln/>
          </p:spPr>
          <p:txBody>
            <a:bodyPr wrap="square" lIns="0" tIns="0" rIns="0" bIns="0" rtlCol="0" anchor="t"/>
            <a:lstStyle/>
            <a:p>
              <a:pPr marL="0" indent="0">
                <a:buNone/>
              </a:pPr>
              <a:r>
                <a:rPr lang="en-US" sz="1250" dirty="0">
                  <a:solidFill>
                    <a:srgbClr val="333333"/>
                  </a:solidFill>
                  <a:latin typeface="Calibri" pitchFamily="34" charset="0"/>
                  <a:ea typeface="Calibri" pitchFamily="34" charset="-122"/>
                  <a:cs typeface="Calibri" pitchFamily="34" charset="-120"/>
                </a:rPr>
                <a:t>Wearables stream continuous, multimodal data, but three bottlenecks block turning it into decisions clinicians can trust:</a:t>
              </a:r>
              <a:endParaRPr lang="en-US" sz="1250" dirty="0"/>
            </a:p>
          </p:txBody>
        </p:sp>
        <p:sp>
          <p:nvSpPr>
            <p:cNvPr id="7" name="Shape 2"/>
            <p:cNvSpPr/>
            <p:nvPr/>
          </p:nvSpPr>
          <p:spPr>
            <a:xfrm>
              <a:off x="550396" y="2244160"/>
              <a:ext cx="372002" cy="372002"/>
            </a:xfrm>
            <a:prstGeom prst="ellipse">
              <a:avLst/>
            </a:prstGeom>
            <a:solidFill>
              <a:srgbClr val="2E8B57"/>
            </a:solidFill>
            <a:ln w="12700">
              <a:solidFill>
                <a:srgbClr val="2E8B57"/>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647116" y="2340881"/>
              <a:ext cx="178561" cy="178561"/>
            </a:xfrm>
            <a:prstGeom prst="rect">
              <a:avLst/>
            </a:prstGeom>
          </p:spPr>
        </p:pic>
        <p:sp>
          <p:nvSpPr>
            <p:cNvPr id="9" name="Text 3"/>
            <p:cNvSpPr txBox="1"/>
            <p:nvPr/>
          </p:nvSpPr>
          <p:spPr>
            <a:xfrm>
              <a:off x="1040384" y="2208732"/>
              <a:ext cx="3978656" cy="460574"/>
            </a:xfrm>
            <a:prstGeom prst="rect">
              <a:avLst/>
            </a:prstGeom>
            <a:noFill/>
            <a:ln/>
          </p:spPr>
          <p:txBody>
            <a:bodyPr wrap="square" lIns="0" tIns="0" rIns="0" bIns="0" rtlCol="0" anchor="ctr"/>
            <a:lstStyle/>
            <a:p>
              <a:pPr marL="0" indent="0">
                <a:buNone/>
              </a:pPr>
              <a:r>
                <a:rPr lang="en-US" sz="1200" b="1" dirty="0">
                  <a:solidFill>
                    <a:srgbClr val="154734"/>
                  </a:solidFill>
                  <a:latin typeface="Calibri" pitchFamily="34" charset="0"/>
                  <a:ea typeface="Calibri" pitchFamily="34" charset="-122"/>
                  <a:cs typeface="Calibri" pitchFamily="34" charset="-120"/>
                </a:rPr>
                <a:t>Signal quality — </a:t>
              </a:r>
              <a:r>
                <a:rPr lang="en-US" sz="1200" dirty="0">
                  <a:solidFill>
                    <a:srgbClr val="333333"/>
                  </a:solidFill>
                  <a:latin typeface="Calibri" pitchFamily="34" charset="0"/>
                  <a:ea typeface="Calibri" pitchFamily="34" charset="-122"/>
                  <a:cs typeface="Calibri" pitchFamily="34" charset="-120"/>
                </a:rPr>
                <a:t>motion artifacts, drift, cross-sensitivity in multiplexed sensors</a:t>
              </a:r>
              <a:endParaRPr lang="en-US" sz="1200" dirty="0"/>
            </a:p>
          </p:txBody>
        </p:sp>
        <p:sp>
          <p:nvSpPr>
            <p:cNvPr id="10" name="Shape 4"/>
            <p:cNvSpPr/>
            <p:nvPr/>
          </p:nvSpPr>
          <p:spPr>
            <a:xfrm>
              <a:off x="550396" y="2811021"/>
              <a:ext cx="372002" cy="372002"/>
            </a:xfrm>
            <a:prstGeom prst="ellipse">
              <a:avLst/>
            </a:prstGeom>
            <a:solidFill>
              <a:srgbClr val="2E8B57"/>
            </a:solidFill>
            <a:ln w="12700">
              <a:solidFill>
                <a:srgbClr val="2E8B57"/>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47116" y="2907741"/>
              <a:ext cx="178561" cy="178561"/>
            </a:xfrm>
            <a:prstGeom prst="rect">
              <a:avLst/>
            </a:prstGeom>
          </p:spPr>
        </p:pic>
        <p:sp>
          <p:nvSpPr>
            <p:cNvPr id="12" name="Text 5"/>
            <p:cNvSpPr txBox="1"/>
            <p:nvPr/>
          </p:nvSpPr>
          <p:spPr>
            <a:xfrm>
              <a:off x="1040384" y="2775592"/>
              <a:ext cx="3978656" cy="460574"/>
            </a:xfrm>
            <a:prstGeom prst="rect">
              <a:avLst/>
            </a:prstGeom>
            <a:noFill/>
            <a:ln/>
          </p:spPr>
          <p:txBody>
            <a:bodyPr wrap="square" lIns="0" tIns="0" rIns="0" bIns="0" rtlCol="0" anchor="ctr"/>
            <a:lstStyle/>
            <a:p>
              <a:pPr marL="0" indent="0">
                <a:buNone/>
              </a:pPr>
              <a:r>
                <a:rPr lang="en-US" sz="1200" b="1" dirty="0">
                  <a:solidFill>
                    <a:srgbClr val="154734"/>
                  </a:solidFill>
                  <a:latin typeface="Calibri" pitchFamily="34" charset="0"/>
                  <a:ea typeface="Calibri" pitchFamily="34" charset="-122"/>
                  <a:cs typeface="Calibri" pitchFamily="34" charset="-120"/>
                </a:rPr>
                <a:t>Power &amp; data links — </a:t>
              </a:r>
              <a:r>
                <a:rPr lang="en-US" sz="1200" dirty="0">
                  <a:solidFill>
                    <a:srgbClr val="333333"/>
                  </a:solidFill>
                  <a:latin typeface="Calibri" pitchFamily="34" charset="0"/>
                  <a:ea typeface="Calibri" pitchFamily="34" charset="-122"/>
                  <a:cs typeface="Calibri" pitchFamily="34" charset="-120"/>
                </a:rPr>
                <a:t>on-device AI vs. battery life; BLE/NFC latency and security</a:t>
              </a:r>
              <a:endParaRPr lang="en-US" sz="1200" dirty="0"/>
            </a:p>
          </p:txBody>
        </p:sp>
        <p:sp>
          <p:nvSpPr>
            <p:cNvPr id="13" name="Shape 6"/>
            <p:cNvSpPr/>
            <p:nvPr/>
          </p:nvSpPr>
          <p:spPr>
            <a:xfrm>
              <a:off x="550396" y="3377881"/>
              <a:ext cx="372002" cy="372002"/>
            </a:xfrm>
            <a:prstGeom prst="ellipse">
              <a:avLst/>
            </a:prstGeom>
            <a:solidFill>
              <a:srgbClr val="2E8B57"/>
            </a:solidFill>
            <a:ln w="12700">
              <a:solidFill>
                <a:srgbClr val="2E8B57"/>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647116" y="3474602"/>
              <a:ext cx="178561" cy="178561"/>
            </a:xfrm>
            <a:prstGeom prst="rect">
              <a:avLst/>
            </a:prstGeom>
          </p:spPr>
        </p:pic>
        <p:sp>
          <p:nvSpPr>
            <p:cNvPr id="15" name="Text 7"/>
            <p:cNvSpPr txBox="1"/>
            <p:nvPr/>
          </p:nvSpPr>
          <p:spPr>
            <a:xfrm>
              <a:off x="1040384" y="3342453"/>
              <a:ext cx="3978656" cy="460574"/>
            </a:xfrm>
            <a:prstGeom prst="rect">
              <a:avLst/>
            </a:prstGeom>
            <a:noFill/>
            <a:ln/>
          </p:spPr>
          <p:txBody>
            <a:bodyPr wrap="square" lIns="0" tIns="0" rIns="0" bIns="0" rtlCol="0" anchor="ctr"/>
            <a:lstStyle/>
            <a:p>
              <a:pPr marL="0" indent="0">
                <a:buNone/>
              </a:pPr>
              <a:r>
                <a:rPr lang="en-US" sz="1200" b="1" dirty="0">
                  <a:solidFill>
                    <a:srgbClr val="154734"/>
                  </a:solidFill>
                  <a:latin typeface="Calibri" pitchFamily="34" charset="0"/>
                  <a:ea typeface="Calibri" pitchFamily="34" charset="-122"/>
                  <a:cs typeface="Calibri" pitchFamily="34" charset="-120"/>
                </a:rPr>
                <a:t>Trust — </a:t>
              </a:r>
              <a:r>
                <a:rPr lang="en-US" sz="1200" dirty="0">
                  <a:solidFill>
                    <a:srgbClr val="333333"/>
                  </a:solidFill>
                  <a:latin typeface="Calibri" pitchFamily="34" charset="0"/>
                  <a:ea typeface="Calibri" pitchFamily="34" charset="-122"/>
                  <a:cs typeface="Calibri" pitchFamily="34" charset="-120"/>
                </a:rPr>
                <a:t>clinical validation, algorithmic bias, privacy, regulation</a:t>
              </a:r>
              <a:endParaRPr lang="en-US" sz="1200" dirty="0"/>
            </a:p>
          </p:txBody>
        </p:sp>
        <p:sp>
          <p:nvSpPr>
            <p:cNvPr id="16" name="Text 8"/>
            <p:cNvSpPr txBox="1"/>
            <p:nvPr/>
          </p:nvSpPr>
          <p:spPr>
            <a:xfrm>
              <a:off x="548640" y="3962456"/>
              <a:ext cx="4470400" cy="318859"/>
            </a:xfrm>
            <a:prstGeom prst="rect">
              <a:avLst/>
            </a:prstGeom>
            <a:noFill/>
            <a:ln/>
          </p:spPr>
          <p:txBody>
            <a:bodyPr wrap="square" lIns="0" tIns="0" rIns="0" bIns="0" rtlCol="0" anchor="ctr"/>
            <a:lstStyle/>
            <a:p>
              <a:pPr marL="0" indent="0">
                <a:buNone/>
              </a:pPr>
              <a:r>
                <a:rPr lang="en-US" sz="1800" b="1" dirty="0">
                  <a:solidFill>
                    <a:srgbClr val="154734"/>
                  </a:solidFill>
                  <a:latin typeface="Arial" pitchFamily="34" charset="0"/>
                  <a:ea typeface="Arial" pitchFamily="34" charset="-122"/>
                  <a:cs typeface="Arial" pitchFamily="34" charset="-120"/>
                </a:rPr>
                <a:t>Purpose &amp; objectives</a:t>
              </a:r>
              <a:endParaRPr lang="en-US" sz="1800" dirty="0"/>
            </a:p>
          </p:txBody>
        </p:sp>
        <p:sp>
          <p:nvSpPr>
            <p:cNvPr id="17" name="Text 9"/>
            <p:cNvSpPr txBox="1"/>
            <p:nvPr/>
          </p:nvSpPr>
          <p:spPr>
            <a:xfrm>
              <a:off x="548640" y="4281315"/>
              <a:ext cx="4470400" cy="531432"/>
            </a:xfrm>
            <a:prstGeom prst="rect">
              <a:avLst/>
            </a:prstGeom>
            <a:noFill/>
            <a:ln/>
          </p:spPr>
          <p:txBody>
            <a:bodyPr wrap="square" lIns="0" tIns="0" rIns="0" bIns="0" rtlCol="0" anchor="t"/>
            <a:lstStyle/>
            <a:p>
              <a:pPr marL="0" indent="0">
                <a:buNone/>
              </a:pPr>
              <a:r>
                <a:rPr lang="en-US" sz="1200" dirty="0">
                  <a:solidFill>
                    <a:srgbClr val="333333"/>
                  </a:solidFill>
                  <a:latin typeface="Calibri" pitchFamily="34" charset="0"/>
                  <a:ea typeface="Calibri" pitchFamily="34" charset="-122"/>
                  <a:cs typeface="Calibri" pitchFamily="34" charset="-120"/>
                </a:rPr>
                <a:t>Synthesize the field end-to-end to guide researchers, clinicians and policymakers toward responsible deployment. Four aims:</a:t>
              </a:r>
              <a:endParaRPr lang="en-US" sz="1200" dirty="0"/>
            </a:p>
          </p:txBody>
        </p:sp>
      </p:grpSp>
      <p:grpSp>
        <p:nvGrpSpPr>
          <p:cNvPr id="39" name="Group 38">
            <a:extLst>
              <a:ext uri="{FF2B5EF4-FFF2-40B4-BE49-F238E27FC236}">
                <a16:creationId xmlns:a16="http://schemas.microsoft.com/office/drawing/2014/main" id="{D6331E18-214D-324C-349C-A23AC00FFD0D}"/>
              </a:ext>
            </a:extLst>
          </p:cNvPr>
          <p:cNvGrpSpPr/>
          <p:nvPr/>
        </p:nvGrpSpPr>
        <p:grpSpPr>
          <a:xfrm>
            <a:off x="430368" y="4848176"/>
            <a:ext cx="8191331" cy="1082456"/>
            <a:chOff x="430368" y="4848176"/>
            <a:chExt cx="8191331" cy="1082456"/>
          </a:xfrm>
        </p:grpSpPr>
        <p:grpSp>
          <p:nvGrpSpPr>
            <p:cNvPr id="38" name="Group 37">
              <a:extLst>
                <a:ext uri="{FF2B5EF4-FFF2-40B4-BE49-F238E27FC236}">
                  <a16:creationId xmlns:a16="http://schemas.microsoft.com/office/drawing/2014/main" id="{A9928A21-8175-08DE-61CD-A9F0A3D7C846}"/>
                </a:ext>
              </a:extLst>
            </p:cNvPr>
            <p:cNvGrpSpPr/>
            <p:nvPr/>
          </p:nvGrpSpPr>
          <p:grpSpPr>
            <a:xfrm>
              <a:off x="430368" y="4848176"/>
              <a:ext cx="4023360" cy="460574"/>
              <a:chOff x="430369" y="4883605"/>
              <a:chExt cx="4023360" cy="460574"/>
            </a:xfrm>
          </p:grpSpPr>
          <p:sp>
            <p:nvSpPr>
              <p:cNvPr id="18" name="Shape 10"/>
              <p:cNvSpPr/>
              <p:nvPr/>
            </p:nvSpPr>
            <p:spPr>
              <a:xfrm>
                <a:off x="430369" y="4883605"/>
                <a:ext cx="4023360" cy="460574"/>
              </a:xfrm>
              <a:prstGeom prst="roundRect">
                <a:avLst>
                  <a:gd name="adj" fmla="val 13897"/>
                </a:avLst>
              </a:prstGeom>
              <a:solidFill>
                <a:srgbClr val="E7F0EB"/>
              </a:solidFill>
              <a:ln w="9525">
                <a:solidFill>
                  <a:srgbClr val="E7F0EB"/>
                </a:solidFill>
                <a:prstDash val="solid"/>
              </a:ln>
            </p:spPr>
            <p:txBody>
              <a:bodyPr/>
              <a:lstStyle/>
              <a:p>
                <a:endParaRPr lang="en-US"/>
              </a:p>
            </p:txBody>
          </p:sp>
          <p:sp>
            <p:nvSpPr>
              <p:cNvPr id="19" name="Text 11"/>
              <p:cNvSpPr txBox="1"/>
              <p:nvPr/>
            </p:nvSpPr>
            <p:spPr>
              <a:xfrm>
                <a:off x="519775" y="4883605"/>
                <a:ext cx="3892328" cy="460574"/>
              </a:xfrm>
              <a:prstGeom prst="rect">
                <a:avLst/>
              </a:prstGeom>
              <a:noFill/>
              <a:ln/>
            </p:spPr>
            <p:txBody>
              <a:bodyPr wrap="square" lIns="0" tIns="0" rIns="0" bIns="0" rtlCol="0" anchor="ctr"/>
              <a:lstStyle/>
              <a:p>
                <a:pPr marL="0" indent="0" algn="ctr">
                  <a:buNone/>
                </a:pPr>
                <a:r>
                  <a:rPr lang="en-US" sz="1600" dirty="0">
                    <a:solidFill>
                      <a:schemeClr val="accent1">
                        <a:lumMod val="75000"/>
                      </a:schemeClr>
                    </a:solidFill>
                    <a:latin typeface="Calibri" pitchFamily="34" charset="0"/>
                    <a:ea typeface="Calibri" pitchFamily="34" charset="-122"/>
                    <a:cs typeface="Calibri" pitchFamily="34" charset="-120"/>
                  </a:rPr>
                  <a:t>1. Foundations:</a:t>
                </a:r>
                <a:r>
                  <a:rPr lang="en-US" sz="1600" dirty="0">
                    <a:solidFill>
                      <a:srgbClr val="154734"/>
                    </a:solidFill>
                    <a:latin typeface="Calibri" pitchFamily="34" charset="0"/>
                    <a:ea typeface="Calibri" pitchFamily="34" charset="-122"/>
                    <a:cs typeface="Calibri" pitchFamily="34" charset="-120"/>
                  </a:rPr>
                  <a:t> sensors, materials, AI</a:t>
                </a:r>
                <a:endParaRPr lang="en-US" sz="1600" dirty="0"/>
              </a:p>
            </p:txBody>
          </p:sp>
        </p:grpSp>
        <p:sp>
          <p:nvSpPr>
            <p:cNvPr id="20" name="Shape 12"/>
            <p:cNvSpPr/>
            <p:nvPr/>
          </p:nvSpPr>
          <p:spPr>
            <a:xfrm>
              <a:off x="4598339" y="4848176"/>
              <a:ext cx="4023360" cy="460574"/>
            </a:xfrm>
            <a:prstGeom prst="roundRect">
              <a:avLst>
                <a:gd name="adj" fmla="val 13897"/>
              </a:avLst>
            </a:prstGeom>
            <a:solidFill>
              <a:srgbClr val="E7F0EB"/>
            </a:solidFill>
            <a:ln w="9525">
              <a:solidFill>
                <a:srgbClr val="E7F0EB"/>
              </a:solidFill>
              <a:prstDash val="solid"/>
            </a:ln>
          </p:spPr>
          <p:txBody>
            <a:bodyPr/>
            <a:lstStyle/>
            <a:p>
              <a:endParaRPr lang="en-US"/>
            </a:p>
          </p:txBody>
        </p:sp>
        <p:sp>
          <p:nvSpPr>
            <p:cNvPr id="21" name="Text 13"/>
            <p:cNvSpPr txBox="1"/>
            <p:nvPr/>
          </p:nvSpPr>
          <p:spPr>
            <a:xfrm>
              <a:off x="4661974" y="4848176"/>
              <a:ext cx="3799828" cy="460574"/>
            </a:xfrm>
            <a:prstGeom prst="rect">
              <a:avLst/>
            </a:prstGeom>
            <a:noFill/>
            <a:ln/>
          </p:spPr>
          <p:txBody>
            <a:bodyPr wrap="square" lIns="0" tIns="0" rIns="0" bIns="0" rtlCol="0" anchor="ctr"/>
            <a:lstStyle/>
            <a:p>
              <a:pPr marL="0" indent="0" algn="ctr">
                <a:buNone/>
              </a:pPr>
              <a:r>
                <a:rPr lang="en-US" sz="1600" dirty="0">
                  <a:solidFill>
                    <a:schemeClr val="accent1">
                      <a:lumMod val="75000"/>
                    </a:schemeClr>
                  </a:solidFill>
                  <a:latin typeface="Calibri" pitchFamily="34" charset="0"/>
                  <a:ea typeface="Calibri" pitchFamily="34" charset="-122"/>
                  <a:cs typeface="Calibri" pitchFamily="34" charset="-120"/>
                </a:rPr>
                <a:t>2. Applications:</a:t>
              </a:r>
              <a:r>
                <a:rPr lang="en-US" sz="1600" dirty="0">
                  <a:solidFill>
                    <a:srgbClr val="154734"/>
                  </a:solidFill>
                  <a:latin typeface="Calibri" pitchFamily="34" charset="0"/>
                  <a:ea typeface="Calibri" pitchFamily="34" charset="-122"/>
                  <a:cs typeface="Calibri" pitchFamily="34" charset="-120"/>
                </a:rPr>
                <a:t> monitoring, diagnosis, EHR</a:t>
              </a:r>
              <a:endParaRPr lang="en-US" sz="1600" dirty="0"/>
            </a:p>
          </p:txBody>
        </p:sp>
        <p:grpSp>
          <p:nvGrpSpPr>
            <p:cNvPr id="34" name="Group 33">
              <a:extLst>
                <a:ext uri="{FF2B5EF4-FFF2-40B4-BE49-F238E27FC236}">
                  <a16:creationId xmlns:a16="http://schemas.microsoft.com/office/drawing/2014/main" id="{5B1AA2AD-1696-6140-F66B-91D50D88FBA5}"/>
                </a:ext>
              </a:extLst>
            </p:cNvPr>
            <p:cNvGrpSpPr/>
            <p:nvPr/>
          </p:nvGrpSpPr>
          <p:grpSpPr>
            <a:xfrm>
              <a:off x="430368" y="5454762"/>
              <a:ext cx="4023360" cy="460574"/>
              <a:chOff x="548640" y="5415036"/>
              <a:chExt cx="4023360" cy="460574"/>
            </a:xfrm>
          </p:grpSpPr>
          <p:sp>
            <p:nvSpPr>
              <p:cNvPr id="22" name="Shape 14"/>
              <p:cNvSpPr/>
              <p:nvPr/>
            </p:nvSpPr>
            <p:spPr>
              <a:xfrm>
                <a:off x="548640" y="5415036"/>
                <a:ext cx="4023360" cy="460574"/>
              </a:xfrm>
              <a:prstGeom prst="roundRect">
                <a:avLst>
                  <a:gd name="adj" fmla="val 13897"/>
                </a:avLst>
              </a:prstGeom>
              <a:solidFill>
                <a:srgbClr val="E7F0EB"/>
              </a:solidFill>
              <a:ln w="9525">
                <a:solidFill>
                  <a:srgbClr val="E7F0EB"/>
                </a:solidFill>
                <a:prstDash val="solid"/>
              </a:ln>
            </p:spPr>
            <p:txBody>
              <a:bodyPr/>
              <a:lstStyle/>
              <a:p>
                <a:endParaRPr lang="en-US"/>
              </a:p>
            </p:txBody>
          </p:sp>
          <p:sp>
            <p:nvSpPr>
              <p:cNvPr id="23" name="Text 15"/>
              <p:cNvSpPr txBox="1"/>
              <p:nvPr/>
            </p:nvSpPr>
            <p:spPr>
              <a:xfrm>
                <a:off x="638047" y="5415036"/>
                <a:ext cx="3727767" cy="460574"/>
              </a:xfrm>
              <a:prstGeom prst="rect">
                <a:avLst/>
              </a:prstGeom>
              <a:noFill/>
              <a:ln/>
            </p:spPr>
            <p:txBody>
              <a:bodyPr wrap="square" lIns="0" tIns="0" rIns="0" bIns="0" rtlCol="0" anchor="ctr"/>
              <a:lstStyle/>
              <a:p>
                <a:pPr marL="0" indent="0" algn="ctr">
                  <a:buNone/>
                </a:pPr>
                <a:r>
                  <a:rPr lang="en-US" sz="1600" dirty="0">
                    <a:solidFill>
                      <a:schemeClr val="accent1">
                        <a:lumMod val="75000"/>
                      </a:schemeClr>
                    </a:solidFill>
                    <a:latin typeface="Calibri" pitchFamily="34" charset="0"/>
                    <a:ea typeface="Calibri" pitchFamily="34" charset="-122"/>
                    <a:cs typeface="Calibri" pitchFamily="34" charset="-120"/>
                  </a:rPr>
                  <a:t>3. Challenges:</a:t>
                </a:r>
                <a:r>
                  <a:rPr lang="en-US" sz="1600" dirty="0">
                    <a:solidFill>
                      <a:srgbClr val="154734"/>
                    </a:solidFill>
                    <a:latin typeface="Calibri" pitchFamily="34" charset="0"/>
                    <a:ea typeface="Calibri" pitchFamily="34" charset="-122"/>
                    <a:cs typeface="Calibri" pitchFamily="34" charset="-120"/>
                  </a:rPr>
                  <a:t> privacy, bias, regulation, cost</a:t>
                </a:r>
                <a:endParaRPr lang="en-US" sz="1600" dirty="0"/>
              </a:p>
            </p:txBody>
          </p:sp>
        </p:grpSp>
        <p:grpSp>
          <p:nvGrpSpPr>
            <p:cNvPr id="35" name="Group 34">
              <a:extLst>
                <a:ext uri="{FF2B5EF4-FFF2-40B4-BE49-F238E27FC236}">
                  <a16:creationId xmlns:a16="http://schemas.microsoft.com/office/drawing/2014/main" id="{C20279BC-8796-A82A-AAD8-9D4A421BAFDD}"/>
                </a:ext>
              </a:extLst>
            </p:cNvPr>
            <p:cNvGrpSpPr/>
            <p:nvPr/>
          </p:nvGrpSpPr>
          <p:grpSpPr>
            <a:xfrm>
              <a:off x="4598339" y="5453222"/>
              <a:ext cx="4023360" cy="477410"/>
              <a:chOff x="4598339" y="5453222"/>
              <a:chExt cx="4023360" cy="477410"/>
            </a:xfrm>
          </p:grpSpPr>
          <p:sp>
            <p:nvSpPr>
              <p:cNvPr id="24" name="Shape 16"/>
              <p:cNvSpPr/>
              <p:nvPr/>
            </p:nvSpPr>
            <p:spPr>
              <a:xfrm>
                <a:off x="4598339" y="5453222"/>
                <a:ext cx="4023360" cy="460574"/>
              </a:xfrm>
              <a:prstGeom prst="roundRect">
                <a:avLst>
                  <a:gd name="adj" fmla="val 13897"/>
                </a:avLst>
              </a:prstGeom>
              <a:solidFill>
                <a:srgbClr val="E7F0EB"/>
              </a:solidFill>
              <a:ln w="9525">
                <a:solidFill>
                  <a:srgbClr val="E7F0EB"/>
                </a:solidFill>
                <a:prstDash val="solid"/>
              </a:ln>
            </p:spPr>
            <p:txBody>
              <a:bodyPr/>
              <a:lstStyle/>
              <a:p>
                <a:endParaRPr lang="en-US"/>
              </a:p>
            </p:txBody>
          </p:sp>
          <p:sp>
            <p:nvSpPr>
              <p:cNvPr id="25" name="Text 17"/>
              <p:cNvSpPr txBox="1"/>
              <p:nvPr/>
            </p:nvSpPr>
            <p:spPr>
              <a:xfrm>
                <a:off x="4690273" y="5470058"/>
                <a:ext cx="3839492" cy="460574"/>
              </a:xfrm>
              <a:prstGeom prst="rect">
                <a:avLst/>
              </a:prstGeom>
              <a:noFill/>
              <a:ln/>
            </p:spPr>
            <p:txBody>
              <a:bodyPr wrap="square" lIns="0" tIns="0" rIns="0" bIns="0" rtlCol="0" anchor="ctr"/>
              <a:lstStyle/>
              <a:p>
                <a:pPr marL="0" indent="0" algn="ctr">
                  <a:buNone/>
                </a:pPr>
                <a:r>
                  <a:rPr lang="en-US" sz="1600" dirty="0">
                    <a:solidFill>
                      <a:schemeClr val="accent1">
                        <a:lumMod val="75000"/>
                      </a:schemeClr>
                    </a:solidFill>
                    <a:latin typeface="Calibri" pitchFamily="34" charset="0"/>
                    <a:ea typeface="Calibri" pitchFamily="34" charset="-122"/>
                    <a:cs typeface="Calibri" pitchFamily="34" charset="-120"/>
                  </a:rPr>
                  <a:t>4. Future:</a:t>
                </a:r>
                <a:r>
                  <a:rPr lang="en-US" sz="1600" dirty="0">
                    <a:solidFill>
                      <a:srgbClr val="154734"/>
                    </a:solidFill>
                    <a:latin typeface="Calibri" pitchFamily="34" charset="0"/>
                    <a:ea typeface="Calibri" pitchFamily="34" charset="-122"/>
                    <a:cs typeface="Calibri" pitchFamily="34" charset="-120"/>
                  </a:rPr>
                  <a:t> 5G/IoT, standards, policy</a:t>
                </a:r>
                <a:endParaRPr lang="en-US" sz="1600" dirty="0"/>
              </a:p>
            </p:txBody>
          </p:sp>
        </p:grpSp>
      </p:grpSp>
      <p:grpSp>
        <p:nvGrpSpPr>
          <p:cNvPr id="2" name="Group 1">
            <a:extLst>
              <a:ext uri="{FF2B5EF4-FFF2-40B4-BE49-F238E27FC236}">
                <a16:creationId xmlns:a16="http://schemas.microsoft.com/office/drawing/2014/main" id="{A7743B97-ED12-F6B7-2F54-8F9C4A34E210}"/>
              </a:ext>
            </a:extLst>
          </p:cNvPr>
          <p:cNvGrpSpPr/>
          <p:nvPr/>
        </p:nvGrpSpPr>
        <p:grpSpPr>
          <a:xfrm>
            <a:off x="5240804" y="997351"/>
            <a:ext cx="3352800" cy="3192684"/>
            <a:chOff x="5242560" y="1252154"/>
            <a:chExt cx="3352800" cy="3192684"/>
          </a:xfrm>
        </p:grpSpPr>
        <p:sp>
          <p:nvSpPr>
            <p:cNvPr id="26" name="Shape 18"/>
            <p:cNvSpPr/>
            <p:nvPr/>
          </p:nvSpPr>
          <p:spPr>
            <a:xfrm>
              <a:off x="5242560" y="1252154"/>
              <a:ext cx="3352800" cy="3192684"/>
            </a:xfrm>
            <a:prstGeom prst="roundRect">
              <a:avLst>
                <a:gd name="adj" fmla="val 1909"/>
              </a:avLst>
            </a:prstGeom>
            <a:solidFill>
              <a:srgbClr val="F4F6F5"/>
            </a:solidFill>
            <a:ln w="9525">
              <a:solidFill>
                <a:srgbClr val="F4F6F5"/>
              </a:solidFill>
              <a:prstDash val="solid"/>
            </a:ln>
          </p:spPr>
          <p:txBody>
            <a:bodyPr/>
            <a:lstStyle/>
            <a:p>
              <a:endParaRPr lang="en-US"/>
            </a:p>
          </p:txBody>
        </p:sp>
        <p:sp>
          <p:nvSpPr>
            <p:cNvPr id="27" name="Shape 19"/>
            <p:cNvSpPr/>
            <p:nvPr/>
          </p:nvSpPr>
          <p:spPr>
            <a:xfrm>
              <a:off x="5349850" y="1358441"/>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28" name="Text 20"/>
            <p:cNvSpPr txBox="1"/>
            <p:nvPr/>
          </p:nvSpPr>
          <p:spPr>
            <a:xfrm>
              <a:off x="5349850" y="1358441"/>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1</a:t>
              </a:r>
              <a:endParaRPr lang="en-US" sz="1050" dirty="0"/>
            </a:p>
          </p:txBody>
        </p:sp>
        <p:pic>
          <p:nvPicPr>
            <p:cNvPr id="29" name="Image 3" descr="fig1"/>
            <p:cNvPicPr>
              <a:picLocks noChangeAspect="1"/>
            </p:cNvPicPr>
            <p:nvPr/>
          </p:nvPicPr>
          <p:blipFill>
            <a:blip r:embed="rId6"/>
            <a:stretch>
              <a:fillRect/>
            </a:stretch>
          </p:blipFill>
          <p:spPr>
            <a:xfrm>
              <a:off x="5364522" y="1695014"/>
              <a:ext cx="3108876" cy="2082301"/>
            </a:xfrm>
            <a:prstGeom prst="rect">
              <a:avLst/>
            </a:prstGeom>
          </p:spPr>
        </p:pic>
        <p:sp>
          <p:nvSpPr>
            <p:cNvPr id="30" name="Text 21"/>
            <p:cNvSpPr txBox="1"/>
            <p:nvPr/>
          </p:nvSpPr>
          <p:spPr>
            <a:xfrm>
              <a:off x="5349850" y="3882019"/>
              <a:ext cx="3138221" cy="562819"/>
            </a:xfrm>
            <a:prstGeom prst="rect">
              <a:avLst/>
            </a:prstGeom>
            <a:noFill/>
            <a:ln/>
          </p:spPr>
          <p:txBody>
            <a:bodyPr wrap="square" lIns="0" tIns="0" rIns="0" bIns="0" rtlCol="0" anchor="t"/>
            <a:lstStyle/>
            <a:p>
              <a:pPr marL="0" indent="0">
                <a:buNone/>
              </a:pPr>
              <a:r>
                <a:rPr lang="en-US" sz="1050" dirty="0">
                  <a:solidFill>
                    <a:srgbClr val="5B6770"/>
                  </a:solidFill>
                  <a:latin typeface="Calibri" pitchFamily="34" charset="0"/>
                  <a:ea typeface="Calibri" pitchFamily="34" charset="-122"/>
                  <a:cs typeface="Calibri" pitchFamily="34" charset="-120"/>
                </a:rPr>
                <a:t>Review scope in four quadrants: foundations → applications → challenges → future directions (authors' schematic).</a:t>
              </a:r>
              <a:endParaRPr lang="en-US" sz="1050" dirty="0"/>
            </a:p>
          </p:txBody>
        </p:sp>
      </p:grpSp>
      <p:sp>
        <p:nvSpPr>
          <p:cNvPr id="31"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4</a:t>
            </a:fld>
            <a:endParaRPr lang="en-US">
              <a:solidFill>
                <a:srgbClr val="FFFFFF"/>
              </a:solidFill>
              <a:latin typeface="Arial" panose="020B0604020202020204"/>
            </a:endParaRPr>
          </a:p>
        </p:txBody>
      </p:sp>
      <p:sp>
        <p:nvSpPr>
          <p:cNvPr id="32"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dirty="0">
                <a:solidFill>
                  <a:srgbClr val="A84D00"/>
                </a:solidFill>
                <a:latin typeface="Arial"/>
              </a:rPr>
              <a:t>METHODS &amp; MATERIALS · METHODS &amp; ALGORITHMS</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200" b="1" dirty="0">
                <a:solidFill>
                  <a:schemeClr val="accent5"/>
                </a:solidFill>
                <a:ea typeface="Cambria" pitchFamily="34" charset="-122"/>
                <a:cs typeface="Cambria" pitchFamily="34" charset="-120"/>
              </a:rPr>
              <a:t>Methods: a narrative review around an AI–sensor pipeline</a:t>
            </a:r>
            <a:endParaRPr lang="en-US" sz="2400" dirty="0">
              <a:solidFill>
                <a:schemeClr val="accent5"/>
              </a:solidFill>
            </a:endParaRPr>
          </a:p>
        </p:txBody>
      </p:sp>
      <p:grpSp>
        <p:nvGrpSpPr>
          <p:cNvPr id="2" name="Group 1">
            <a:extLst>
              <a:ext uri="{FF2B5EF4-FFF2-40B4-BE49-F238E27FC236}">
                <a16:creationId xmlns:a16="http://schemas.microsoft.com/office/drawing/2014/main" id="{0A3D927A-A2B6-9871-32E0-2E2CDD4B085B}"/>
              </a:ext>
            </a:extLst>
          </p:cNvPr>
          <p:cNvGrpSpPr/>
          <p:nvPr/>
        </p:nvGrpSpPr>
        <p:grpSpPr>
          <a:xfrm>
            <a:off x="548640" y="1252154"/>
            <a:ext cx="8046720" cy="2090298"/>
            <a:chOff x="548640" y="1252154"/>
            <a:chExt cx="8046720" cy="2090298"/>
          </a:xfrm>
        </p:grpSpPr>
        <p:sp>
          <p:nvSpPr>
            <p:cNvPr id="5" name="Shape 0"/>
            <p:cNvSpPr/>
            <p:nvPr/>
          </p:nvSpPr>
          <p:spPr>
            <a:xfrm>
              <a:off x="548640" y="1252154"/>
              <a:ext cx="1298204" cy="283430"/>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6" name="Text 1"/>
            <p:cNvSpPr txBox="1"/>
            <p:nvPr/>
          </p:nvSpPr>
          <p:spPr>
            <a:xfrm>
              <a:off x="548640" y="1252154"/>
              <a:ext cx="1298204" cy="283430"/>
            </a:xfrm>
            <a:prstGeom prst="rect">
              <a:avLst/>
            </a:prstGeom>
            <a:noFill/>
            <a:ln/>
          </p:spPr>
          <p:txBody>
            <a:bodyPr wrap="square" lIns="0" tIns="0" rIns="0" bIns="0" rtlCol="0" anchor="ctr"/>
            <a:lstStyle/>
            <a:p>
              <a:pPr marL="0" indent="0" algn="ctr">
                <a:buNone/>
              </a:pPr>
              <a:r>
                <a:rPr lang="en-US" sz="1050" b="1" dirty="0">
                  <a:solidFill>
                    <a:srgbClr val="154734"/>
                  </a:solidFill>
                  <a:latin typeface="Calibri" pitchFamily="34" charset="0"/>
                  <a:ea typeface="Calibri" pitchFamily="34" charset="-122"/>
                  <a:cs typeface="Calibri" pitchFamily="34" charset="-120"/>
                </a:rPr>
                <a:t>Narrative review</a:t>
              </a:r>
              <a:endParaRPr lang="en-US" sz="1050" dirty="0"/>
            </a:p>
          </p:txBody>
        </p:sp>
        <p:sp>
          <p:nvSpPr>
            <p:cNvPr id="7" name="Shape 2"/>
            <p:cNvSpPr/>
            <p:nvPr/>
          </p:nvSpPr>
          <p:spPr>
            <a:xfrm>
              <a:off x="1936252" y="1252154"/>
              <a:ext cx="1169457" cy="283430"/>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8" name="Text 3"/>
            <p:cNvSpPr txBox="1"/>
            <p:nvPr/>
          </p:nvSpPr>
          <p:spPr>
            <a:xfrm>
              <a:off x="1936252" y="1252154"/>
              <a:ext cx="1169457" cy="283430"/>
            </a:xfrm>
            <a:prstGeom prst="rect">
              <a:avLst/>
            </a:prstGeom>
            <a:noFill/>
            <a:ln/>
          </p:spPr>
          <p:txBody>
            <a:bodyPr wrap="square" lIns="0" tIns="0" rIns="0" bIns="0" rtlCol="0" anchor="ctr"/>
            <a:lstStyle/>
            <a:p>
              <a:pPr marL="0" indent="0" algn="ctr">
                <a:buNone/>
              </a:pPr>
              <a:r>
                <a:rPr lang="en-US" sz="1050" b="1" dirty="0">
                  <a:solidFill>
                    <a:srgbClr val="154734"/>
                  </a:solidFill>
                  <a:latin typeface="Calibri" pitchFamily="34" charset="0"/>
                  <a:ea typeface="Calibri" pitchFamily="34" charset="-122"/>
                  <a:cs typeface="Calibri" pitchFamily="34" charset="-120"/>
                </a:rPr>
                <a:t>225 references</a:t>
              </a:r>
              <a:endParaRPr lang="en-US" sz="1050" dirty="0"/>
            </a:p>
          </p:txBody>
        </p:sp>
        <p:sp>
          <p:nvSpPr>
            <p:cNvPr id="9" name="Shape 4"/>
            <p:cNvSpPr/>
            <p:nvPr/>
          </p:nvSpPr>
          <p:spPr>
            <a:xfrm>
              <a:off x="3195117" y="1252154"/>
              <a:ext cx="1620073" cy="283430"/>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10" name="Text 5"/>
            <p:cNvSpPr txBox="1"/>
            <p:nvPr/>
          </p:nvSpPr>
          <p:spPr>
            <a:xfrm>
              <a:off x="3195117" y="1252154"/>
              <a:ext cx="1620073" cy="283430"/>
            </a:xfrm>
            <a:prstGeom prst="rect">
              <a:avLst/>
            </a:prstGeom>
            <a:noFill/>
            <a:ln/>
          </p:spPr>
          <p:txBody>
            <a:bodyPr wrap="square" lIns="0" tIns="0" rIns="0" bIns="0" rtlCol="0" anchor="ctr"/>
            <a:lstStyle/>
            <a:p>
              <a:pPr marL="0" indent="0" algn="ctr">
                <a:buNone/>
              </a:pPr>
              <a:r>
                <a:rPr lang="en-US" sz="1050" b="1" dirty="0">
                  <a:solidFill>
                    <a:srgbClr val="154734"/>
                  </a:solidFill>
                  <a:latin typeface="Calibri" pitchFamily="34" charset="0"/>
                  <a:ea typeface="Calibri" pitchFamily="34" charset="-122"/>
                  <a:cs typeface="Calibri" pitchFamily="34" charset="-120"/>
                </a:rPr>
                <a:t>12 figures · 5 tables</a:t>
              </a:r>
              <a:endParaRPr lang="en-US" sz="1050" dirty="0"/>
            </a:p>
          </p:txBody>
        </p:sp>
        <p:sp>
          <p:nvSpPr>
            <p:cNvPr id="11" name="Shape 6"/>
            <p:cNvSpPr/>
            <p:nvPr/>
          </p:nvSpPr>
          <p:spPr>
            <a:xfrm>
              <a:off x="4904598" y="1252154"/>
              <a:ext cx="1620073" cy="283430"/>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12" name="Text 7"/>
            <p:cNvSpPr txBox="1"/>
            <p:nvPr/>
          </p:nvSpPr>
          <p:spPr>
            <a:xfrm>
              <a:off x="4904598" y="1252154"/>
              <a:ext cx="1620073" cy="283430"/>
            </a:xfrm>
            <a:prstGeom prst="rect">
              <a:avLst/>
            </a:prstGeom>
            <a:noFill/>
            <a:ln/>
          </p:spPr>
          <p:txBody>
            <a:bodyPr wrap="square" lIns="0" tIns="0" rIns="0" bIns="0" rtlCol="0" anchor="ctr"/>
            <a:lstStyle/>
            <a:p>
              <a:pPr marL="0" indent="0" algn="ctr">
                <a:buNone/>
              </a:pPr>
              <a:r>
                <a:rPr lang="en-US" sz="1050" b="1" dirty="0">
                  <a:solidFill>
                    <a:srgbClr val="154734"/>
                  </a:solidFill>
                  <a:latin typeface="Calibri" pitchFamily="34" charset="0"/>
                  <a:ea typeface="Calibri" pitchFamily="34" charset="-122"/>
                  <a:cs typeface="Calibri" pitchFamily="34" charset="-120"/>
                </a:rPr>
                <a:t>8 sections · 46 pages</a:t>
              </a:r>
              <a:endParaRPr lang="en-US" sz="1050" dirty="0"/>
            </a:p>
          </p:txBody>
        </p:sp>
        <p:sp>
          <p:nvSpPr>
            <p:cNvPr id="13" name="Shape 8"/>
            <p:cNvSpPr/>
            <p:nvPr/>
          </p:nvSpPr>
          <p:spPr>
            <a:xfrm>
              <a:off x="548640" y="1588728"/>
              <a:ext cx="3422538" cy="283430"/>
            </a:xfrm>
            <a:prstGeom prst="roundRect">
              <a:avLst>
                <a:gd name="adj" fmla="val 51619"/>
              </a:avLst>
            </a:prstGeom>
            <a:solidFill>
              <a:srgbClr val="FBEAE8"/>
            </a:solidFill>
            <a:ln w="12700">
              <a:solidFill>
                <a:srgbClr val="FBEAE8"/>
              </a:solidFill>
              <a:prstDash val="solid"/>
            </a:ln>
          </p:spPr>
          <p:txBody>
            <a:bodyPr/>
            <a:lstStyle/>
            <a:p>
              <a:endParaRPr lang="en-US"/>
            </a:p>
          </p:txBody>
        </p:sp>
        <p:sp>
          <p:nvSpPr>
            <p:cNvPr id="14" name="Text 9"/>
            <p:cNvSpPr txBox="1"/>
            <p:nvPr/>
          </p:nvSpPr>
          <p:spPr>
            <a:xfrm>
              <a:off x="548640" y="1588728"/>
              <a:ext cx="3422538" cy="283430"/>
            </a:xfrm>
            <a:prstGeom prst="rect">
              <a:avLst/>
            </a:prstGeom>
            <a:noFill/>
            <a:ln/>
          </p:spPr>
          <p:txBody>
            <a:bodyPr wrap="square" lIns="0" tIns="0" rIns="0" bIns="0" rtlCol="0" anchor="ctr"/>
            <a:lstStyle/>
            <a:p>
              <a:pPr marL="0" indent="0" algn="ctr">
                <a:buNone/>
              </a:pPr>
              <a:r>
                <a:rPr lang="en-US" sz="1050" b="1" dirty="0">
                  <a:solidFill>
                    <a:srgbClr val="B3261E"/>
                  </a:solidFill>
                  <a:latin typeface="Calibri" pitchFamily="34" charset="0"/>
                  <a:ea typeface="Calibri" pitchFamily="34" charset="-122"/>
                  <a:cs typeface="Calibri" pitchFamily="34" charset="-120"/>
                </a:rPr>
                <a:t>No search strategy or inclusion criteria reported</a:t>
              </a:r>
              <a:endParaRPr lang="en-US" sz="1050" dirty="0"/>
            </a:p>
          </p:txBody>
        </p:sp>
        <p:sp>
          <p:nvSpPr>
            <p:cNvPr id="15" name="Shape 10"/>
            <p:cNvSpPr/>
            <p:nvPr/>
          </p:nvSpPr>
          <p:spPr>
            <a:xfrm>
              <a:off x="548640" y="2013873"/>
              <a:ext cx="1430528" cy="1328579"/>
            </a:xfrm>
            <a:prstGeom prst="roundRect">
              <a:avLst>
                <a:gd name="adj" fmla="val 4818"/>
              </a:avLst>
            </a:prstGeom>
            <a:solidFill>
              <a:srgbClr val="F4F6F5"/>
            </a:solidFill>
            <a:ln w="9525">
              <a:solidFill>
                <a:srgbClr val="F4F6F5"/>
              </a:solidFill>
              <a:prstDash val="solid"/>
            </a:ln>
          </p:spPr>
          <p:txBody>
            <a:bodyPr/>
            <a:lstStyle/>
            <a:p>
              <a:endParaRPr lang="en-US"/>
            </a:p>
          </p:txBody>
        </p:sp>
        <p:sp>
          <p:nvSpPr>
            <p:cNvPr id="16" name="Shape 11"/>
            <p:cNvSpPr/>
            <p:nvPr/>
          </p:nvSpPr>
          <p:spPr>
            <a:xfrm>
              <a:off x="657518" y="2120160"/>
              <a:ext cx="336573" cy="336573"/>
            </a:xfrm>
            <a:prstGeom prst="ellipse">
              <a:avLst/>
            </a:prstGeom>
            <a:solidFill>
              <a:srgbClr val="2E8B57"/>
            </a:solidFill>
            <a:ln w="12700">
              <a:solidFill>
                <a:srgbClr val="2E8B57"/>
              </a:solidFill>
              <a:prstDash val="solid"/>
            </a:ln>
          </p:spPr>
          <p:txBody>
            <a:bodyPr/>
            <a:lstStyle/>
            <a:p>
              <a:endParaRPr lang="en-US"/>
            </a:p>
          </p:txBody>
        </p:sp>
        <p:pic>
          <p:nvPicPr>
            <p:cNvPr id="17" name="Image 0" descr="preencoded.png"/>
            <p:cNvPicPr>
              <a:picLocks noChangeAspect="1"/>
            </p:cNvPicPr>
            <p:nvPr/>
          </p:nvPicPr>
          <p:blipFill>
            <a:blip r:embed="rId3"/>
            <a:stretch>
              <a:fillRect/>
            </a:stretch>
          </p:blipFill>
          <p:spPr>
            <a:xfrm>
              <a:off x="745027" y="2207669"/>
              <a:ext cx="161555" cy="161555"/>
            </a:xfrm>
            <a:prstGeom prst="rect">
              <a:avLst/>
            </a:prstGeom>
          </p:spPr>
        </p:pic>
        <p:sp>
          <p:nvSpPr>
            <p:cNvPr id="18" name="Text 12"/>
            <p:cNvSpPr txBox="1"/>
            <p:nvPr/>
          </p:nvSpPr>
          <p:spPr>
            <a:xfrm>
              <a:off x="655930" y="2501019"/>
              <a:ext cx="1251712"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1  Sense</a:t>
              </a:r>
              <a:endParaRPr lang="en-US" sz="1300" dirty="0"/>
            </a:p>
          </p:txBody>
        </p:sp>
        <p:sp>
          <p:nvSpPr>
            <p:cNvPr id="19" name="Text 13"/>
            <p:cNvSpPr txBox="1"/>
            <p:nvPr/>
          </p:nvSpPr>
          <p:spPr>
            <a:xfrm>
              <a:off x="655930" y="2793306"/>
              <a:ext cx="1251712" cy="513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Electrochemical, optical &amp; mechanical transducers</a:t>
              </a:r>
              <a:endParaRPr lang="en-US" sz="1000" dirty="0"/>
            </a:p>
          </p:txBody>
        </p:sp>
        <p:pic>
          <p:nvPicPr>
            <p:cNvPr id="20" name="Image 1" descr="preencoded.png"/>
            <p:cNvPicPr>
              <a:picLocks noChangeAspect="1"/>
            </p:cNvPicPr>
            <p:nvPr/>
          </p:nvPicPr>
          <p:blipFill>
            <a:blip r:embed="rId4"/>
            <a:stretch>
              <a:fillRect/>
            </a:stretch>
          </p:blipFill>
          <p:spPr>
            <a:xfrm>
              <a:off x="2024499" y="2616163"/>
              <a:ext cx="132858" cy="132858"/>
            </a:xfrm>
            <a:prstGeom prst="rect">
              <a:avLst/>
            </a:prstGeom>
          </p:spPr>
        </p:pic>
        <p:sp>
          <p:nvSpPr>
            <p:cNvPr id="21" name="Shape 14"/>
            <p:cNvSpPr/>
            <p:nvPr/>
          </p:nvSpPr>
          <p:spPr>
            <a:xfrm>
              <a:off x="2202688" y="2013873"/>
              <a:ext cx="1430528" cy="1328579"/>
            </a:xfrm>
            <a:prstGeom prst="roundRect">
              <a:avLst>
                <a:gd name="adj" fmla="val 4818"/>
              </a:avLst>
            </a:prstGeom>
            <a:solidFill>
              <a:srgbClr val="F4F6F5"/>
            </a:solidFill>
            <a:ln w="9525">
              <a:solidFill>
                <a:srgbClr val="F4F6F5"/>
              </a:solidFill>
              <a:prstDash val="solid"/>
            </a:ln>
          </p:spPr>
          <p:txBody>
            <a:bodyPr/>
            <a:lstStyle/>
            <a:p>
              <a:endParaRPr lang="en-US"/>
            </a:p>
          </p:txBody>
        </p:sp>
        <p:sp>
          <p:nvSpPr>
            <p:cNvPr id="22" name="Shape 15"/>
            <p:cNvSpPr/>
            <p:nvPr/>
          </p:nvSpPr>
          <p:spPr>
            <a:xfrm>
              <a:off x="2311566" y="2120160"/>
              <a:ext cx="336573" cy="336573"/>
            </a:xfrm>
            <a:prstGeom prst="ellipse">
              <a:avLst/>
            </a:prstGeom>
            <a:solidFill>
              <a:srgbClr val="2E8B57"/>
            </a:solidFill>
            <a:ln w="12700">
              <a:solidFill>
                <a:srgbClr val="2E8B57"/>
              </a:solidFill>
              <a:prstDash val="solid"/>
            </a:ln>
          </p:spPr>
          <p:txBody>
            <a:bodyPr/>
            <a:lstStyle/>
            <a:p>
              <a:endParaRPr lang="en-US"/>
            </a:p>
          </p:txBody>
        </p:sp>
        <p:pic>
          <p:nvPicPr>
            <p:cNvPr id="23" name="Image 2" descr="preencoded.png"/>
            <p:cNvPicPr>
              <a:picLocks noChangeAspect="1"/>
            </p:cNvPicPr>
            <p:nvPr/>
          </p:nvPicPr>
          <p:blipFill>
            <a:blip r:embed="rId5"/>
            <a:stretch>
              <a:fillRect/>
            </a:stretch>
          </p:blipFill>
          <p:spPr>
            <a:xfrm>
              <a:off x="2399075" y="2207669"/>
              <a:ext cx="161555" cy="161555"/>
            </a:xfrm>
            <a:prstGeom prst="rect">
              <a:avLst/>
            </a:prstGeom>
          </p:spPr>
        </p:pic>
        <p:sp>
          <p:nvSpPr>
            <p:cNvPr id="24" name="Text 16"/>
            <p:cNvSpPr txBox="1"/>
            <p:nvPr/>
          </p:nvSpPr>
          <p:spPr>
            <a:xfrm>
              <a:off x="2309978" y="2501019"/>
              <a:ext cx="1251712"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2  Condition</a:t>
              </a:r>
              <a:endParaRPr lang="en-US" sz="1300" dirty="0"/>
            </a:p>
          </p:txBody>
        </p:sp>
        <p:sp>
          <p:nvSpPr>
            <p:cNvPr id="25" name="Text 17"/>
            <p:cNvSpPr txBox="1"/>
            <p:nvPr/>
          </p:nvSpPr>
          <p:spPr>
            <a:xfrm>
              <a:off x="2309978" y="2793306"/>
              <a:ext cx="1251712" cy="513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Band-pass &amp; adaptive filters, wavelet denoising</a:t>
              </a:r>
              <a:endParaRPr lang="en-US" sz="1000" dirty="0"/>
            </a:p>
          </p:txBody>
        </p:sp>
        <p:pic>
          <p:nvPicPr>
            <p:cNvPr id="26" name="Image 3" descr="preencoded.png"/>
            <p:cNvPicPr>
              <a:picLocks noChangeAspect="1"/>
            </p:cNvPicPr>
            <p:nvPr/>
          </p:nvPicPr>
          <p:blipFill>
            <a:blip r:embed="rId4"/>
            <a:stretch>
              <a:fillRect/>
            </a:stretch>
          </p:blipFill>
          <p:spPr>
            <a:xfrm>
              <a:off x="3678547" y="2616163"/>
              <a:ext cx="132858" cy="132858"/>
            </a:xfrm>
            <a:prstGeom prst="rect">
              <a:avLst/>
            </a:prstGeom>
          </p:spPr>
        </p:pic>
        <p:sp>
          <p:nvSpPr>
            <p:cNvPr id="27" name="Shape 18"/>
            <p:cNvSpPr/>
            <p:nvPr/>
          </p:nvSpPr>
          <p:spPr>
            <a:xfrm>
              <a:off x="3856736" y="2013873"/>
              <a:ext cx="1430528" cy="1328579"/>
            </a:xfrm>
            <a:prstGeom prst="roundRect">
              <a:avLst>
                <a:gd name="adj" fmla="val 4818"/>
              </a:avLst>
            </a:prstGeom>
            <a:solidFill>
              <a:srgbClr val="F4F6F5"/>
            </a:solidFill>
            <a:ln w="9525">
              <a:solidFill>
                <a:srgbClr val="F4F6F5"/>
              </a:solidFill>
              <a:prstDash val="solid"/>
            </a:ln>
          </p:spPr>
          <p:txBody>
            <a:bodyPr/>
            <a:lstStyle/>
            <a:p>
              <a:endParaRPr lang="en-US"/>
            </a:p>
          </p:txBody>
        </p:sp>
        <p:sp>
          <p:nvSpPr>
            <p:cNvPr id="28" name="Shape 19"/>
            <p:cNvSpPr/>
            <p:nvPr/>
          </p:nvSpPr>
          <p:spPr>
            <a:xfrm>
              <a:off x="3965614" y="2120160"/>
              <a:ext cx="336573" cy="336573"/>
            </a:xfrm>
            <a:prstGeom prst="ellipse">
              <a:avLst/>
            </a:prstGeom>
            <a:solidFill>
              <a:srgbClr val="2E8B57"/>
            </a:solidFill>
            <a:ln w="12700">
              <a:solidFill>
                <a:srgbClr val="2E8B57"/>
              </a:solidFill>
              <a:prstDash val="solid"/>
            </a:ln>
          </p:spPr>
          <p:txBody>
            <a:bodyPr/>
            <a:lstStyle/>
            <a:p>
              <a:endParaRPr lang="en-US"/>
            </a:p>
          </p:txBody>
        </p:sp>
        <p:pic>
          <p:nvPicPr>
            <p:cNvPr id="29" name="Image 4" descr="preencoded.png"/>
            <p:cNvPicPr>
              <a:picLocks noChangeAspect="1"/>
            </p:cNvPicPr>
            <p:nvPr/>
          </p:nvPicPr>
          <p:blipFill>
            <a:blip r:embed="rId6"/>
            <a:stretch>
              <a:fillRect/>
            </a:stretch>
          </p:blipFill>
          <p:spPr>
            <a:xfrm>
              <a:off x="4053123" y="2207669"/>
              <a:ext cx="161555" cy="161555"/>
            </a:xfrm>
            <a:prstGeom prst="rect">
              <a:avLst/>
            </a:prstGeom>
          </p:spPr>
        </p:pic>
        <p:sp>
          <p:nvSpPr>
            <p:cNvPr id="30" name="Text 20"/>
            <p:cNvSpPr txBox="1"/>
            <p:nvPr/>
          </p:nvSpPr>
          <p:spPr>
            <a:xfrm>
              <a:off x="3964026" y="2501019"/>
              <a:ext cx="1251712"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3  Extract</a:t>
              </a:r>
              <a:endParaRPr lang="en-US" sz="1300" dirty="0"/>
            </a:p>
          </p:txBody>
        </p:sp>
        <p:sp>
          <p:nvSpPr>
            <p:cNvPr id="31" name="Text 21"/>
            <p:cNvSpPr txBox="1"/>
            <p:nvPr/>
          </p:nvSpPr>
          <p:spPr>
            <a:xfrm>
              <a:off x="3964026" y="2793306"/>
              <a:ext cx="1251712" cy="513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HRV, FFT, time–frequency features, PCA</a:t>
              </a:r>
              <a:endParaRPr lang="en-US" sz="1000" dirty="0"/>
            </a:p>
          </p:txBody>
        </p:sp>
        <p:pic>
          <p:nvPicPr>
            <p:cNvPr id="32" name="Image 5" descr="preencoded.png"/>
            <p:cNvPicPr>
              <a:picLocks noChangeAspect="1"/>
            </p:cNvPicPr>
            <p:nvPr/>
          </p:nvPicPr>
          <p:blipFill>
            <a:blip r:embed="rId4"/>
            <a:stretch>
              <a:fillRect/>
            </a:stretch>
          </p:blipFill>
          <p:spPr>
            <a:xfrm>
              <a:off x="5332595" y="2616163"/>
              <a:ext cx="132858" cy="132858"/>
            </a:xfrm>
            <a:prstGeom prst="rect">
              <a:avLst/>
            </a:prstGeom>
          </p:spPr>
        </p:pic>
        <p:sp>
          <p:nvSpPr>
            <p:cNvPr id="33" name="Shape 22"/>
            <p:cNvSpPr/>
            <p:nvPr/>
          </p:nvSpPr>
          <p:spPr>
            <a:xfrm>
              <a:off x="5510784" y="2013873"/>
              <a:ext cx="1430528" cy="1328579"/>
            </a:xfrm>
            <a:prstGeom prst="roundRect">
              <a:avLst>
                <a:gd name="adj" fmla="val 4818"/>
              </a:avLst>
            </a:prstGeom>
            <a:solidFill>
              <a:srgbClr val="F4F6F5"/>
            </a:solidFill>
            <a:ln w="9525">
              <a:solidFill>
                <a:srgbClr val="F4F6F5"/>
              </a:solidFill>
              <a:prstDash val="solid"/>
            </a:ln>
          </p:spPr>
          <p:txBody>
            <a:bodyPr/>
            <a:lstStyle/>
            <a:p>
              <a:endParaRPr lang="en-US"/>
            </a:p>
          </p:txBody>
        </p:sp>
        <p:sp>
          <p:nvSpPr>
            <p:cNvPr id="34" name="Shape 23"/>
            <p:cNvSpPr/>
            <p:nvPr/>
          </p:nvSpPr>
          <p:spPr>
            <a:xfrm>
              <a:off x="5619662" y="2120160"/>
              <a:ext cx="336573" cy="336573"/>
            </a:xfrm>
            <a:prstGeom prst="ellipse">
              <a:avLst/>
            </a:prstGeom>
            <a:solidFill>
              <a:srgbClr val="2E8B57"/>
            </a:solidFill>
            <a:ln w="12700">
              <a:solidFill>
                <a:srgbClr val="2E8B57"/>
              </a:solidFill>
              <a:prstDash val="solid"/>
            </a:ln>
          </p:spPr>
          <p:txBody>
            <a:bodyPr/>
            <a:lstStyle/>
            <a:p>
              <a:endParaRPr lang="en-US"/>
            </a:p>
          </p:txBody>
        </p:sp>
        <p:pic>
          <p:nvPicPr>
            <p:cNvPr id="35" name="Image 6" descr="preencoded.png"/>
            <p:cNvPicPr>
              <a:picLocks noChangeAspect="1"/>
            </p:cNvPicPr>
            <p:nvPr/>
          </p:nvPicPr>
          <p:blipFill>
            <a:blip r:embed="rId7"/>
            <a:stretch>
              <a:fillRect/>
            </a:stretch>
          </p:blipFill>
          <p:spPr>
            <a:xfrm>
              <a:off x="5707171" y="2207669"/>
              <a:ext cx="161555" cy="161555"/>
            </a:xfrm>
            <a:prstGeom prst="rect">
              <a:avLst/>
            </a:prstGeom>
          </p:spPr>
        </p:pic>
        <p:sp>
          <p:nvSpPr>
            <p:cNvPr id="36" name="Text 24"/>
            <p:cNvSpPr txBox="1"/>
            <p:nvPr/>
          </p:nvSpPr>
          <p:spPr>
            <a:xfrm>
              <a:off x="5618074" y="2501019"/>
              <a:ext cx="1251712"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4  Infer</a:t>
              </a:r>
              <a:endParaRPr lang="en-US" sz="1300" dirty="0"/>
            </a:p>
          </p:txBody>
        </p:sp>
        <p:sp>
          <p:nvSpPr>
            <p:cNvPr id="37" name="Text 25"/>
            <p:cNvSpPr txBox="1"/>
            <p:nvPr/>
          </p:nvSpPr>
          <p:spPr>
            <a:xfrm>
              <a:off x="5618074" y="2793306"/>
              <a:ext cx="1251712" cy="513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Classical ML, deep learning, reinforcement learning</a:t>
              </a:r>
              <a:endParaRPr lang="en-US" sz="1000" dirty="0"/>
            </a:p>
          </p:txBody>
        </p:sp>
        <p:pic>
          <p:nvPicPr>
            <p:cNvPr id="38" name="Image 7" descr="preencoded.png"/>
            <p:cNvPicPr>
              <a:picLocks noChangeAspect="1"/>
            </p:cNvPicPr>
            <p:nvPr/>
          </p:nvPicPr>
          <p:blipFill>
            <a:blip r:embed="rId4"/>
            <a:stretch>
              <a:fillRect/>
            </a:stretch>
          </p:blipFill>
          <p:spPr>
            <a:xfrm>
              <a:off x="6986643" y="2616163"/>
              <a:ext cx="132858" cy="132858"/>
            </a:xfrm>
            <a:prstGeom prst="rect">
              <a:avLst/>
            </a:prstGeom>
          </p:spPr>
        </p:pic>
        <p:sp>
          <p:nvSpPr>
            <p:cNvPr id="39" name="Shape 26"/>
            <p:cNvSpPr/>
            <p:nvPr/>
          </p:nvSpPr>
          <p:spPr>
            <a:xfrm>
              <a:off x="7164832" y="2013873"/>
              <a:ext cx="1430528" cy="1328579"/>
            </a:xfrm>
            <a:prstGeom prst="roundRect">
              <a:avLst>
                <a:gd name="adj" fmla="val 4818"/>
              </a:avLst>
            </a:prstGeom>
            <a:solidFill>
              <a:srgbClr val="F4F6F5"/>
            </a:solidFill>
            <a:ln w="9525">
              <a:solidFill>
                <a:srgbClr val="F4F6F5"/>
              </a:solidFill>
              <a:prstDash val="solid"/>
            </a:ln>
          </p:spPr>
          <p:txBody>
            <a:bodyPr/>
            <a:lstStyle/>
            <a:p>
              <a:endParaRPr lang="en-US"/>
            </a:p>
          </p:txBody>
        </p:sp>
        <p:sp>
          <p:nvSpPr>
            <p:cNvPr id="40" name="Shape 27"/>
            <p:cNvSpPr/>
            <p:nvPr/>
          </p:nvSpPr>
          <p:spPr>
            <a:xfrm>
              <a:off x="7273710" y="2120160"/>
              <a:ext cx="336573" cy="336573"/>
            </a:xfrm>
            <a:prstGeom prst="ellipse">
              <a:avLst/>
            </a:prstGeom>
            <a:solidFill>
              <a:srgbClr val="2E8B57"/>
            </a:solidFill>
            <a:ln w="12700">
              <a:solidFill>
                <a:srgbClr val="2E8B57"/>
              </a:solidFill>
              <a:prstDash val="solid"/>
            </a:ln>
          </p:spPr>
          <p:txBody>
            <a:bodyPr/>
            <a:lstStyle/>
            <a:p>
              <a:endParaRPr lang="en-US"/>
            </a:p>
          </p:txBody>
        </p:sp>
        <p:pic>
          <p:nvPicPr>
            <p:cNvPr id="41" name="Image 8" descr="preencoded.png"/>
            <p:cNvPicPr>
              <a:picLocks noChangeAspect="1"/>
            </p:cNvPicPr>
            <p:nvPr/>
          </p:nvPicPr>
          <p:blipFill>
            <a:blip r:embed="rId8"/>
            <a:stretch>
              <a:fillRect/>
            </a:stretch>
          </p:blipFill>
          <p:spPr>
            <a:xfrm>
              <a:off x="7361219" y="2207669"/>
              <a:ext cx="161555" cy="161555"/>
            </a:xfrm>
            <a:prstGeom prst="rect">
              <a:avLst/>
            </a:prstGeom>
          </p:spPr>
        </p:pic>
        <p:sp>
          <p:nvSpPr>
            <p:cNvPr id="42" name="Text 28"/>
            <p:cNvSpPr txBox="1"/>
            <p:nvPr/>
          </p:nvSpPr>
          <p:spPr>
            <a:xfrm>
              <a:off x="7272122" y="2501019"/>
              <a:ext cx="1251712"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5  Act</a:t>
              </a:r>
              <a:endParaRPr lang="en-US" sz="1300" dirty="0"/>
            </a:p>
          </p:txBody>
        </p:sp>
        <p:sp>
          <p:nvSpPr>
            <p:cNvPr id="43" name="Text 29"/>
            <p:cNvSpPr txBox="1"/>
            <p:nvPr/>
          </p:nvSpPr>
          <p:spPr>
            <a:xfrm>
              <a:off x="7272122" y="2793306"/>
              <a:ext cx="1251712" cy="513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Edge alerts; closed-loop dosing &amp; stimulation</a:t>
              </a:r>
              <a:endParaRPr lang="en-US" sz="1000" dirty="0"/>
            </a:p>
          </p:txBody>
        </p:sp>
      </p:grpSp>
      <p:grpSp>
        <p:nvGrpSpPr>
          <p:cNvPr id="70" name="Group 69">
            <a:extLst>
              <a:ext uri="{FF2B5EF4-FFF2-40B4-BE49-F238E27FC236}">
                <a16:creationId xmlns:a16="http://schemas.microsoft.com/office/drawing/2014/main" id="{5376DA88-EE80-B666-6691-C64D4742D607}"/>
              </a:ext>
            </a:extLst>
          </p:cNvPr>
          <p:cNvGrpSpPr/>
          <p:nvPr/>
        </p:nvGrpSpPr>
        <p:grpSpPr>
          <a:xfrm>
            <a:off x="548640" y="3484168"/>
            <a:ext cx="8046720" cy="2444586"/>
            <a:chOff x="548640" y="3484168"/>
            <a:chExt cx="8046720" cy="2444586"/>
          </a:xfrm>
        </p:grpSpPr>
        <p:sp>
          <p:nvSpPr>
            <p:cNvPr id="44" name="Text 30"/>
            <p:cNvSpPr txBox="1"/>
            <p:nvPr/>
          </p:nvSpPr>
          <p:spPr>
            <a:xfrm>
              <a:off x="548640" y="3484168"/>
              <a:ext cx="5096256" cy="301145"/>
            </a:xfrm>
            <a:prstGeom prst="rect">
              <a:avLst/>
            </a:prstGeom>
            <a:noFill/>
            <a:ln/>
          </p:spPr>
          <p:txBody>
            <a:bodyPr wrap="square" lIns="0" tIns="0" rIns="0" bIns="0" rtlCol="0" anchor="ctr"/>
            <a:lstStyle/>
            <a:p>
              <a:pPr marL="0" indent="0">
                <a:buNone/>
              </a:pPr>
              <a:r>
                <a:rPr lang="en-US" sz="1400" b="1" dirty="0">
                  <a:solidFill>
                    <a:srgbClr val="154734"/>
                  </a:solidFill>
                  <a:latin typeface="Arial" pitchFamily="34" charset="0"/>
                  <a:ea typeface="Arial" pitchFamily="34" charset="-122"/>
                  <a:cs typeface="Arial" pitchFamily="34" charset="-120"/>
                </a:rPr>
                <a:t>§3.4 "AI–Biosensor Fusion Framework": four pillars</a:t>
              </a:r>
              <a:endParaRPr lang="en-US" sz="1400" dirty="0"/>
            </a:p>
          </p:txBody>
        </p:sp>
        <p:sp>
          <p:nvSpPr>
            <p:cNvPr id="45" name="Shape 31"/>
            <p:cNvSpPr/>
            <p:nvPr/>
          </p:nvSpPr>
          <p:spPr>
            <a:xfrm>
              <a:off x="5956036" y="3493025"/>
              <a:ext cx="2639324" cy="283430"/>
            </a:xfrm>
            <a:prstGeom prst="roundRect">
              <a:avLst>
                <a:gd name="adj" fmla="val 51619"/>
              </a:avLst>
            </a:prstGeom>
            <a:solidFill>
              <a:srgbClr val="FBEAE8"/>
            </a:solidFill>
            <a:ln w="12700">
              <a:solidFill>
                <a:srgbClr val="FBEAE8"/>
              </a:solidFill>
              <a:prstDash val="solid"/>
            </a:ln>
          </p:spPr>
          <p:txBody>
            <a:bodyPr/>
            <a:lstStyle/>
            <a:p>
              <a:endParaRPr lang="en-US"/>
            </a:p>
          </p:txBody>
        </p:sp>
        <p:sp>
          <p:nvSpPr>
            <p:cNvPr id="46" name="Text 32"/>
            <p:cNvSpPr txBox="1"/>
            <p:nvPr/>
          </p:nvSpPr>
          <p:spPr>
            <a:xfrm>
              <a:off x="5956036" y="3493025"/>
              <a:ext cx="2639324" cy="283430"/>
            </a:xfrm>
            <a:prstGeom prst="rect">
              <a:avLst/>
            </a:prstGeom>
            <a:noFill/>
            <a:ln/>
          </p:spPr>
          <p:txBody>
            <a:bodyPr wrap="square" lIns="0" tIns="0" rIns="0" bIns="0" rtlCol="0" anchor="ctr"/>
            <a:lstStyle/>
            <a:p>
              <a:pPr marL="0" indent="0" algn="ctr">
                <a:buNone/>
              </a:pPr>
              <a:r>
                <a:rPr lang="en-US" sz="1000" b="1" dirty="0">
                  <a:solidFill>
                    <a:srgbClr val="B3261E"/>
                  </a:solidFill>
                  <a:latin typeface="Calibri" pitchFamily="34" charset="0"/>
                  <a:ea typeface="Calibri" pitchFamily="34" charset="-122"/>
                  <a:cs typeface="Calibri" pitchFamily="34" charset="-120"/>
                </a:rPr>
                <a:t>Authors' figures; §3.4 cites no sources</a:t>
              </a:r>
              <a:endParaRPr lang="en-US" sz="1000" dirty="0"/>
            </a:p>
          </p:txBody>
        </p:sp>
        <p:sp>
          <p:nvSpPr>
            <p:cNvPr id="47" name="Shape 33"/>
            <p:cNvSpPr/>
            <p:nvPr/>
          </p:nvSpPr>
          <p:spPr>
            <a:xfrm>
              <a:off x="548640" y="3891599"/>
              <a:ext cx="1944624" cy="2037155"/>
            </a:xfrm>
            <a:prstGeom prst="roundRect">
              <a:avLst>
                <a:gd name="adj" fmla="val 3292"/>
              </a:avLst>
            </a:prstGeom>
            <a:solidFill>
              <a:srgbClr val="FFFFFF"/>
            </a:solidFill>
            <a:ln w="9525">
              <a:solidFill>
                <a:srgbClr val="D8DDDA"/>
              </a:solidFill>
              <a:prstDash val="solid"/>
            </a:ln>
          </p:spPr>
          <p:txBody>
            <a:bodyPr/>
            <a:lstStyle/>
            <a:p>
              <a:endParaRPr lang="en-US"/>
            </a:p>
          </p:txBody>
        </p:sp>
        <p:sp>
          <p:nvSpPr>
            <p:cNvPr id="48" name="Shape 34"/>
            <p:cNvSpPr/>
            <p:nvPr/>
          </p:nvSpPr>
          <p:spPr>
            <a:xfrm>
              <a:off x="639386" y="3997885"/>
              <a:ext cx="283430" cy="283430"/>
            </a:xfrm>
            <a:prstGeom prst="ellipse">
              <a:avLst/>
            </a:prstGeom>
            <a:solidFill>
              <a:srgbClr val="2E8B57"/>
            </a:solidFill>
            <a:ln w="12700">
              <a:solidFill>
                <a:srgbClr val="2E8B57"/>
              </a:solidFill>
              <a:prstDash val="solid"/>
            </a:ln>
          </p:spPr>
          <p:txBody>
            <a:bodyPr/>
            <a:lstStyle/>
            <a:p>
              <a:endParaRPr lang="en-US"/>
            </a:p>
          </p:txBody>
        </p:sp>
        <p:sp>
          <p:nvSpPr>
            <p:cNvPr id="49" name="Text 35"/>
            <p:cNvSpPr txBox="1"/>
            <p:nvPr/>
          </p:nvSpPr>
          <p:spPr>
            <a:xfrm>
              <a:off x="638048" y="3997885"/>
              <a:ext cx="286106" cy="28343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0" name="Text 36"/>
            <p:cNvSpPr txBox="1"/>
            <p:nvPr/>
          </p:nvSpPr>
          <p:spPr>
            <a:xfrm>
              <a:off x="995680" y="3962456"/>
              <a:ext cx="1426058" cy="372002"/>
            </a:xfrm>
            <a:prstGeom prst="rect">
              <a:avLst/>
            </a:prstGeom>
            <a:noFill/>
            <a:ln/>
          </p:spPr>
          <p:txBody>
            <a:bodyPr wrap="square" lIns="0" tIns="0" rIns="0" bIns="0" rtlCol="0" anchor="ctr"/>
            <a:lstStyle/>
            <a:p>
              <a:pPr marL="0" indent="0">
                <a:buNone/>
              </a:pPr>
              <a:r>
                <a:rPr lang="en-US" sz="1100" b="1" dirty="0">
                  <a:solidFill>
                    <a:srgbClr val="154734"/>
                  </a:solidFill>
                  <a:latin typeface="Calibri" pitchFamily="34" charset="0"/>
                  <a:ea typeface="Calibri" pitchFamily="34" charset="-122"/>
                  <a:cs typeface="Calibri" pitchFamily="34" charset="-120"/>
                </a:rPr>
                <a:t>AI-enhanced sensing</a:t>
              </a:r>
              <a:endParaRPr lang="en-US" sz="1100" dirty="0"/>
            </a:p>
          </p:txBody>
        </p:sp>
        <p:sp>
          <p:nvSpPr>
            <p:cNvPr id="51" name="Text 37"/>
            <p:cNvSpPr txBox="1"/>
            <p:nvPr/>
          </p:nvSpPr>
          <p:spPr>
            <a:xfrm>
              <a:off x="638048" y="4423030"/>
              <a:ext cx="1801571" cy="1452580"/>
            </a:xfrm>
            <a:prstGeom prst="rect">
              <a:avLst/>
            </a:prstGeom>
            <a:noFill/>
            <a:ln/>
          </p:spPr>
          <p:txBody>
            <a:bodyPr wrap="square" lIns="0" tIns="0" rIns="0" bIns="0" rtlCol="0" anchor="t"/>
            <a:lstStyle/>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1D-CNNs: &gt; 90% noise suppression</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Cross-attention transformers: +40–60% specificity</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RL adaptive sampling (0.1–100 Hz): −75% power</a:t>
              </a:r>
              <a:endParaRPr lang="en-US" sz="1050" dirty="0"/>
            </a:p>
          </p:txBody>
        </p:sp>
        <p:sp>
          <p:nvSpPr>
            <p:cNvPr id="52" name="Shape 38"/>
            <p:cNvSpPr/>
            <p:nvPr/>
          </p:nvSpPr>
          <p:spPr>
            <a:xfrm>
              <a:off x="2582672" y="3891599"/>
              <a:ext cx="1944624" cy="2037155"/>
            </a:xfrm>
            <a:prstGeom prst="roundRect">
              <a:avLst>
                <a:gd name="adj" fmla="val 3292"/>
              </a:avLst>
            </a:prstGeom>
            <a:solidFill>
              <a:srgbClr val="FFFFFF"/>
            </a:solidFill>
            <a:ln w="9525">
              <a:solidFill>
                <a:srgbClr val="D8DDDA"/>
              </a:solidFill>
              <a:prstDash val="solid"/>
            </a:ln>
          </p:spPr>
          <p:txBody>
            <a:bodyPr/>
            <a:lstStyle/>
            <a:p>
              <a:endParaRPr lang="en-US"/>
            </a:p>
          </p:txBody>
        </p:sp>
        <p:sp>
          <p:nvSpPr>
            <p:cNvPr id="53" name="Shape 39"/>
            <p:cNvSpPr/>
            <p:nvPr/>
          </p:nvSpPr>
          <p:spPr>
            <a:xfrm>
              <a:off x="2673418" y="3997885"/>
              <a:ext cx="283430" cy="283430"/>
            </a:xfrm>
            <a:prstGeom prst="ellipse">
              <a:avLst/>
            </a:prstGeom>
            <a:solidFill>
              <a:srgbClr val="2E8B57"/>
            </a:solidFill>
            <a:ln w="12700">
              <a:solidFill>
                <a:srgbClr val="2E8B57"/>
              </a:solidFill>
              <a:prstDash val="solid"/>
            </a:ln>
          </p:spPr>
          <p:txBody>
            <a:bodyPr/>
            <a:lstStyle/>
            <a:p>
              <a:endParaRPr lang="en-US"/>
            </a:p>
          </p:txBody>
        </p:sp>
        <p:sp>
          <p:nvSpPr>
            <p:cNvPr id="54" name="Text 40"/>
            <p:cNvSpPr txBox="1"/>
            <p:nvPr/>
          </p:nvSpPr>
          <p:spPr>
            <a:xfrm>
              <a:off x="2672080" y="3997885"/>
              <a:ext cx="286106" cy="28343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55" name="Text 41"/>
            <p:cNvSpPr txBox="1"/>
            <p:nvPr/>
          </p:nvSpPr>
          <p:spPr>
            <a:xfrm>
              <a:off x="3029712" y="3962456"/>
              <a:ext cx="1426058" cy="372002"/>
            </a:xfrm>
            <a:prstGeom prst="rect">
              <a:avLst/>
            </a:prstGeom>
            <a:noFill/>
            <a:ln/>
          </p:spPr>
          <p:txBody>
            <a:bodyPr wrap="square" lIns="0" tIns="0" rIns="0" bIns="0" rtlCol="0" anchor="ctr"/>
            <a:lstStyle/>
            <a:p>
              <a:pPr marL="0" indent="0">
                <a:buNone/>
              </a:pPr>
              <a:r>
                <a:rPr lang="en-US" sz="1100" b="1" dirty="0">
                  <a:solidFill>
                    <a:srgbClr val="154734"/>
                  </a:solidFill>
                  <a:latin typeface="Calibri" pitchFamily="34" charset="0"/>
                  <a:ea typeface="Calibri" pitchFamily="34" charset="-122"/>
                  <a:cs typeface="Calibri" pitchFamily="34" charset="-120"/>
                </a:rPr>
                <a:t>AI-guided sensor design</a:t>
              </a:r>
              <a:endParaRPr lang="en-US" sz="1100" dirty="0"/>
            </a:p>
          </p:txBody>
        </p:sp>
        <p:sp>
          <p:nvSpPr>
            <p:cNvPr id="56" name="Text 42"/>
            <p:cNvSpPr txBox="1"/>
            <p:nvPr/>
          </p:nvSpPr>
          <p:spPr>
            <a:xfrm>
              <a:off x="2672080" y="4423030"/>
              <a:ext cx="1801571" cy="1452580"/>
            </a:xfrm>
            <a:prstGeom prst="rect">
              <a:avLst/>
            </a:prstGeom>
            <a:noFill/>
            <a:ln/>
          </p:spPr>
          <p:txBody>
            <a:bodyPr wrap="square" lIns="0" tIns="0" rIns="0" bIns="0" rtlCol="0" anchor="t"/>
            <a:lstStyle/>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GNNs: 15 new sensing composites, 10× faster</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GANs: bioreceptors with +35% binding affinity</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NAS: &lt; 50 ms, pM detection, &lt; 1 mJ/measurement</a:t>
              </a:r>
              <a:endParaRPr lang="en-US" sz="1050" dirty="0"/>
            </a:p>
          </p:txBody>
        </p:sp>
        <p:sp>
          <p:nvSpPr>
            <p:cNvPr id="57" name="Shape 43"/>
            <p:cNvSpPr/>
            <p:nvPr/>
          </p:nvSpPr>
          <p:spPr>
            <a:xfrm>
              <a:off x="4616704" y="3891599"/>
              <a:ext cx="1944624" cy="2037155"/>
            </a:xfrm>
            <a:prstGeom prst="roundRect">
              <a:avLst>
                <a:gd name="adj" fmla="val 3292"/>
              </a:avLst>
            </a:prstGeom>
            <a:solidFill>
              <a:srgbClr val="FFFFFF"/>
            </a:solidFill>
            <a:ln w="9525">
              <a:solidFill>
                <a:srgbClr val="D8DDDA"/>
              </a:solidFill>
              <a:prstDash val="solid"/>
            </a:ln>
          </p:spPr>
          <p:txBody>
            <a:bodyPr/>
            <a:lstStyle/>
            <a:p>
              <a:endParaRPr lang="en-US"/>
            </a:p>
          </p:txBody>
        </p:sp>
        <p:sp>
          <p:nvSpPr>
            <p:cNvPr id="58" name="Shape 44"/>
            <p:cNvSpPr/>
            <p:nvPr/>
          </p:nvSpPr>
          <p:spPr>
            <a:xfrm>
              <a:off x="4707450" y="3997885"/>
              <a:ext cx="283430" cy="283430"/>
            </a:xfrm>
            <a:prstGeom prst="ellipse">
              <a:avLst/>
            </a:prstGeom>
            <a:solidFill>
              <a:srgbClr val="2E8B57"/>
            </a:solidFill>
            <a:ln w="12700">
              <a:solidFill>
                <a:srgbClr val="2E8B57"/>
              </a:solidFill>
              <a:prstDash val="solid"/>
            </a:ln>
          </p:spPr>
          <p:txBody>
            <a:bodyPr/>
            <a:lstStyle/>
            <a:p>
              <a:endParaRPr lang="en-US"/>
            </a:p>
          </p:txBody>
        </p:sp>
        <p:sp>
          <p:nvSpPr>
            <p:cNvPr id="59" name="Text 45"/>
            <p:cNvSpPr txBox="1"/>
            <p:nvPr/>
          </p:nvSpPr>
          <p:spPr>
            <a:xfrm>
              <a:off x="4706112" y="3997885"/>
              <a:ext cx="286106" cy="28343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60" name="Text 46"/>
            <p:cNvSpPr txBox="1"/>
            <p:nvPr/>
          </p:nvSpPr>
          <p:spPr>
            <a:xfrm>
              <a:off x="5063744" y="3962456"/>
              <a:ext cx="1426058" cy="372002"/>
            </a:xfrm>
            <a:prstGeom prst="rect">
              <a:avLst/>
            </a:prstGeom>
            <a:noFill/>
            <a:ln/>
          </p:spPr>
          <p:txBody>
            <a:bodyPr wrap="square" lIns="0" tIns="0" rIns="0" bIns="0" rtlCol="0" anchor="ctr"/>
            <a:lstStyle/>
            <a:p>
              <a:pPr marL="0" indent="0">
                <a:buNone/>
              </a:pPr>
              <a:r>
                <a:rPr lang="en-US" sz="1100" b="1" dirty="0">
                  <a:solidFill>
                    <a:srgbClr val="154734"/>
                  </a:solidFill>
                  <a:latin typeface="Calibri" pitchFamily="34" charset="0"/>
                  <a:ea typeface="Calibri" pitchFamily="34" charset="-122"/>
                  <a:cs typeface="Calibri" pitchFamily="34" charset="-120"/>
                </a:rPr>
                <a:t>Intelligent diagnostics</a:t>
              </a:r>
              <a:endParaRPr lang="en-US" sz="1100" dirty="0"/>
            </a:p>
          </p:txBody>
        </p:sp>
        <p:sp>
          <p:nvSpPr>
            <p:cNvPr id="61" name="Text 47"/>
            <p:cNvSpPr txBox="1"/>
            <p:nvPr/>
          </p:nvSpPr>
          <p:spPr>
            <a:xfrm>
              <a:off x="4706112" y="4423030"/>
              <a:ext cx="1801571" cy="1452580"/>
            </a:xfrm>
            <a:prstGeom prst="rect">
              <a:avLst/>
            </a:prstGeom>
            <a:noFill/>
            <a:ln/>
          </p:spPr>
          <p:txBody>
            <a:bodyPr wrap="square" lIns="0" tIns="0" rIns="0" bIns="0" rtlCol="0" anchor="t"/>
            <a:lstStyle/>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Federated learning on wearer-specific baselines</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LSTM forecasts drift (MAE &lt; 0.5%) → 3–5× stability</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Edge (&lt; 100 kB) + cloud; uncertainty flags</a:t>
              </a:r>
              <a:endParaRPr lang="en-US" sz="1050" dirty="0"/>
            </a:p>
          </p:txBody>
        </p:sp>
        <p:sp>
          <p:nvSpPr>
            <p:cNvPr id="62" name="Shape 48"/>
            <p:cNvSpPr/>
            <p:nvPr/>
          </p:nvSpPr>
          <p:spPr>
            <a:xfrm>
              <a:off x="6650736" y="3891599"/>
              <a:ext cx="1944624" cy="2037155"/>
            </a:xfrm>
            <a:prstGeom prst="roundRect">
              <a:avLst>
                <a:gd name="adj" fmla="val 3292"/>
              </a:avLst>
            </a:prstGeom>
            <a:solidFill>
              <a:srgbClr val="FFFFFF"/>
            </a:solidFill>
            <a:ln w="9525">
              <a:solidFill>
                <a:srgbClr val="D8DDDA"/>
              </a:solidFill>
              <a:prstDash val="solid"/>
            </a:ln>
          </p:spPr>
          <p:txBody>
            <a:bodyPr/>
            <a:lstStyle/>
            <a:p>
              <a:endParaRPr lang="en-US"/>
            </a:p>
          </p:txBody>
        </p:sp>
        <p:sp>
          <p:nvSpPr>
            <p:cNvPr id="63" name="Shape 49"/>
            <p:cNvSpPr/>
            <p:nvPr/>
          </p:nvSpPr>
          <p:spPr>
            <a:xfrm>
              <a:off x="6741482" y="3997885"/>
              <a:ext cx="283430" cy="283430"/>
            </a:xfrm>
            <a:prstGeom prst="ellipse">
              <a:avLst/>
            </a:prstGeom>
            <a:solidFill>
              <a:srgbClr val="2E8B57"/>
            </a:solidFill>
            <a:ln w="12700">
              <a:solidFill>
                <a:srgbClr val="2E8B57"/>
              </a:solidFill>
              <a:prstDash val="solid"/>
            </a:ln>
          </p:spPr>
          <p:txBody>
            <a:bodyPr/>
            <a:lstStyle/>
            <a:p>
              <a:endParaRPr lang="en-US"/>
            </a:p>
          </p:txBody>
        </p:sp>
        <p:sp>
          <p:nvSpPr>
            <p:cNvPr id="64" name="Text 50"/>
            <p:cNvSpPr txBox="1"/>
            <p:nvPr/>
          </p:nvSpPr>
          <p:spPr>
            <a:xfrm>
              <a:off x="6740144" y="3997885"/>
              <a:ext cx="286106" cy="28343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65" name="Text 51"/>
            <p:cNvSpPr txBox="1"/>
            <p:nvPr/>
          </p:nvSpPr>
          <p:spPr>
            <a:xfrm>
              <a:off x="7097776" y="3962456"/>
              <a:ext cx="1426058" cy="372002"/>
            </a:xfrm>
            <a:prstGeom prst="rect">
              <a:avLst/>
            </a:prstGeom>
            <a:noFill/>
            <a:ln/>
          </p:spPr>
          <p:txBody>
            <a:bodyPr wrap="square" lIns="0" tIns="0" rIns="0" bIns="0" rtlCol="0" anchor="ctr"/>
            <a:lstStyle/>
            <a:p>
              <a:pPr marL="0" indent="0">
                <a:buNone/>
              </a:pPr>
              <a:r>
                <a:rPr lang="en-US" sz="1100" b="1" dirty="0">
                  <a:solidFill>
                    <a:srgbClr val="154734"/>
                  </a:solidFill>
                  <a:latin typeface="Calibri" pitchFamily="34" charset="0"/>
                  <a:ea typeface="Calibri" pitchFamily="34" charset="-122"/>
                  <a:cs typeface="Calibri" pitchFamily="34" charset="-120"/>
                </a:rPr>
                <a:t>Deployment roadmap</a:t>
              </a:r>
              <a:endParaRPr lang="en-US" sz="1100" dirty="0"/>
            </a:p>
          </p:txBody>
        </p:sp>
        <p:sp>
          <p:nvSpPr>
            <p:cNvPr id="66" name="Text 52"/>
            <p:cNvSpPr txBox="1"/>
            <p:nvPr/>
          </p:nvSpPr>
          <p:spPr>
            <a:xfrm>
              <a:off x="6740144" y="4423030"/>
              <a:ext cx="1801571" cy="1452580"/>
            </a:xfrm>
            <a:prstGeom prst="rect">
              <a:avLst/>
            </a:prstGeom>
            <a:noFill/>
            <a:ln/>
          </p:spPr>
          <p:txBody>
            <a:bodyPr wrap="square" lIns="0" tIns="0" rIns="0" bIns="0" rtlCol="0" anchor="t"/>
            <a:lstStyle/>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Phase 1: Python/PyTorch toolkits</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Phase 2: TensorFlow Lite on Cortex-M7/RISC-V</a:t>
              </a:r>
              <a:endParaRPr lang="en-US" sz="1050" dirty="0"/>
            </a:p>
            <a:p>
              <a:pPr marL="127000" indent="-127000">
                <a:spcAft>
                  <a:spcPts val="500"/>
                </a:spcAft>
                <a:buSzPct val="100000"/>
                <a:buChar char="•"/>
              </a:pPr>
              <a:r>
                <a:rPr lang="en-US" sz="1050" dirty="0">
                  <a:solidFill>
                    <a:srgbClr val="333333"/>
                  </a:solidFill>
                  <a:latin typeface="Calibri" pitchFamily="34" charset="0"/>
                  <a:ea typeface="Calibri" pitchFamily="34" charset="-122"/>
                  <a:cs typeface="Calibri" pitchFamily="34" charset="-120"/>
                </a:rPr>
                <a:t>Phase 3: FDA-aligned validation; ≥ 80% Sp at 99% Se</a:t>
              </a:r>
              <a:endParaRPr lang="en-US" sz="1050" dirty="0"/>
            </a:p>
          </p:txBody>
        </p:sp>
      </p:grpSp>
      <p:sp>
        <p:nvSpPr>
          <p:cNvPr id="67"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5</a:t>
            </a:fld>
            <a:endParaRPr lang="en-US">
              <a:solidFill>
                <a:srgbClr val="FFFFFF"/>
              </a:solidFill>
              <a:latin typeface="Arial" panose="020B0604020202020204"/>
            </a:endParaRPr>
          </a:p>
        </p:txBody>
      </p:sp>
      <p:sp>
        <p:nvSpPr>
          <p:cNvPr id="68"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D3433-0F29-ECCE-F03B-DF4CE2D36FBA}"/>
            </a:ext>
          </a:extLst>
        </p:cNvPr>
        <p:cNvGrpSpPr/>
        <p:nvPr/>
      </p:nvGrpSpPr>
      <p:grpSpPr>
        <a:xfrm>
          <a:off x="0" y="0"/>
          <a:ext cx="0" cy="0"/>
          <a:chOff x="0" y="0"/>
          <a:chExt cx="0" cy="0"/>
        </a:xfrm>
      </p:grpSpPr>
      <p:sp>
        <p:nvSpPr>
          <p:cNvPr id="3" name="Text: BACKGROUND · SIGNIFICANCE">
            <a:extLst>
              <a:ext uri="{FF2B5EF4-FFF2-40B4-BE49-F238E27FC236}">
                <a16:creationId xmlns:a16="http://schemas.microsoft.com/office/drawing/2014/main" id="{22CB817B-4F66-1454-D203-1C24610D62FF}"/>
              </a:ext>
            </a:extLst>
          </p:cNvPr>
          <p:cNvSpPr txBox="1"/>
          <p:nvPr/>
        </p:nvSpPr>
        <p:spPr>
          <a:xfrm>
            <a:off x="548640" y="355600"/>
            <a:ext cx="8046720" cy="165100"/>
          </a:xfrm>
          <a:prstGeom prst="rect">
            <a:avLst/>
          </a:prstGeom>
          <a:noFill/>
        </p:spPr>
        <p:txBody>
          <a:bodyPr wrap="square" lIns="0" tIns="0" rIns="0" bIns="0" anchor="t">
            <a:noAutofit/>
          </a:bodyPr>
          <a:lstStyle/>
          <a:p>
            <a:pPr>
              <a:lnSpc>
                <a:spcPts val="1264"/>
              </a:lnSpc>
            </a:pPr>
            <a:r>
              <a:rPr lang="en-US" sz="1100" b="1" spc="100" dirty="0">
                <a:solidFill>
                  <a:srgbClr val="A84D00"/>
                </a:solidFill>
              </a:rPr>
              <a:t>METHODS &amp; MATERIALS · HISTORICAL ADVANCES</a:t>
            </a:r>
          </a:p>
        </p:txBody>
      </p:sp>
      <p:sp>
        <p:nvSpPr>
          <p:cNvPr id="4" name="Title 1">
            <a:extLst>
              <a:ext uri="{FF2B5EF4-FFF2-40B4-BE49-F238E27FC236}">
                <a16:creationId xmlns:a16="http://schemas.microsoft.com/office/drawing/2014/main" id="{33B6CD04-EE16-F033-B01A-6A06F1D449FA}"/>
              </a:ext>
            </a:extLst>
          </p:cNvPr>
          <p:cNvSpPr>
            <a:spLocks noGrp="1"/>
          </p:cNvSpPr>
          <p:nvPr>
            <p:ph type="title"/>
          </p:nvPr>
        </p:nvSpPr>
        <p:spPr>
          <a:xfrm>
            <a:off x="548640" y="662071"/>
            <a:ext cx="8046720" cy="335280"/>
          </a:xfrm>
        </p:spPr>
        <p:txBody>
          <a:bodyPr wrap="square" lIns="0" tIns="0" rIns="0" bIns="0" anchor="t">
            <a:noAutofit/>
          </a:bodyPr>
          <a:lstStyle/>
          <a:p>
            <a:r>
              <a:rPr lang="en-US" sz="2100" b="1" dirty="0">
                <a:solidFill>
                  <a:schemeClr val="accent5"/>
                </a:solidFill>
                <a:ea typeface="Cambria" pitchFamily="34" charset="-122"/>
                <a:cs typeface="Cambria" pitchFamily="34" charset="-120"/>
              </a:rPr>
              <a:t>Wearable platforms: from Holter monitor to dissolving patch</a:t>
            </a:r>
            <a:endParaRPr lang="en-US" sz="2400" dirty="0">
              <a:solidFill>
                <a:schemeClr val="accent5"/>
              </a:solidFill>
            </a:endParaRPr>
          </a:p>
        </p:txBody>
      </p:sp>
      <p:sp>
        <p:nvSpPr>
          <p:cNvPr id="5" name="Shape 0">
            <a:extLst>
              <a:ext uri="{FF2B5EF4-FFF2-40B4-BE49-F238E27FC236}">
                <a16:creationId xmlns:a16="http://schemas.microsoft.com/office/drawing/2014/main" id="{4113EF69-608F-5A6B-5ADA-821F57D2768C}"/>
              </a:ext>
            </a:extLst>
          </p:cNvPr>
          <p:cNvSpPr/>
          <p:nvPr/>
        </p:nvSpPr>
        <p:spPr>
          <a:xfrm>
            <a:off x="548640" y="1138722"/>
            <a:ext cx="7830588" cy="4706493"/>
          </a:xfrm>
          <a:prstGeom prst="roundRect">
            <a:avLst>
              <a:gd name="adj" fmla="val 2758"/>
            </a:avLst>
          </a:prstGeom>
          <a:solidFill>
            <a:srgbClr val="F4F6F5"/>
          </a:solidFill>
          <a:ln w="9525">
            <a:solidFill>
              <a:srgbClr val="F4F6F5"/>
            </a:solidFill>
            <a:prstDash val="solid"/>
          </a:ln>
        </p:spPr>
        <p:txBody>
          <a:bodyPr/>
          <a:lstStyle/>
          <a:p>
            <a:endParaRPr lang="en-US"/>
          </a:p>
        </p:txBody>
      </p:sp>
      <p:pic>
        <p:nvPicPr>
          <p:cNvPr id="6" name="Image 0" descr="fig2">
            <a:extLst>
              <a:ext uri="{FF2B5EF4-FFF2-40B4-BE49-F238E27FC236}">
                <a16:creationId xmlns:a16="http://schemas.microsoft.com/office/drawing/2014/main" id="{1AE85B13-69F9-E4B8-BD2A-B3D34DAD0C93}"/>
              </a:ext>
            </a:extLst>
          </p:cNvPr>
          <p:cNvPicPr>
            <a:picLocks noChangeAspect="1"/>
          </p:cNvPicPr>
          <p:nvPr/>
        </p:nvPicPr>
        <p:blipFill>
          <a:blip r:embed="rId3"/>
          <a:stretch>
            <a:fillRect/>
          </a:stretch>
        </p:blipFill>
        <p:spPr>
          <a:xfrm>
            <a:off x="1442994" y="1601863"/>
            <a:ext cx="6041877" cy="3757387"/>
          </a:xfrm>
          <a:prstGeom prst="rect">
            <a:avLst/>
          </a:prstGeom>
        </p:spPr>
      </p:pic>
      <p:grpSp>
        <p:nvGrpSpPr>
          <p:cNvPr id="11" name="Group 10">
            <a:extLst>
              <a:ext uri="{FF2B5EF4-FFF2-40B4-BE49-F238E27FC236}">
                <a16:creationId xmlns:a16="http://schemas.microsoft.com/office/drawing/2014/main" id="{4683230A-D90F-1DBE-1A23-E00F2DED1181}"/>
              </a:ext>
            </a:extLst>
          </p:cNvPr>
          <p:cNvGrpSpPr/>
          <p:nvPr/>
        </p:nvGrpSpPr>
        <p:grpSpPr>
          <a:xfrm>
            <a:off x="2462830" y="1197508"/>
            <a:ext cx="4468912" cy="302714"/>
            <a:chOff x="2462830" y="1197508"/>
            <a:chExt cx="4468912" cy="302714"/>
          </a:xfrm>
        </p:grpSpPr>
        <p:grpSp>
          <p:nvGrpSpPr>
            <p:cNvPr id="2" name="Group 1">
              <a:extLst>
                <a:ext uri="{FF2B5EF4-FFF2-40B4-BE49-F238E27FC236}">
                  <a16:creationId xmlns:a16="http://schemas.microsoft.com/office/drawing/2014/main" id="{F56C8882-676B-3CA6-BF5B-462FB41C51CD}"/>
                </a:ext>
              </a:extLst>
            </p:cNvPr>
            <p:cNvGrpSpPr/>
            <p:nvPr/>
          </p:nvGrpSpPr>
          <p:grpSpPr>
            <a:xfrm>
              <a:off x="2462830" y="1197508"/>
              <a:ext cx="1362613" cy="302714"/>
              <a:chOff x="1972500" y="1187972"/>
              <a:chExt cx="1362613" cy="302714"/>
            </a:xfrm>
          </p:grpSpPr>
          <p:sp>
            <p:nvSpPr>
              <p:cNvPr id="7" name="Shape 1">
                <a:extLst>
                  <a:ext uri="{FF2B5EF4-FFF2-40B4-BE49-F238E27FC236}">
                    <a16:creationId xmlns:a16="http://schemas.microsoft.com/office/drawing/2014/main" id="{36CE6690-D692-C191-D1A4-3676C4AB33AE}"/>
                  </a:ext>
                </a:extLst>
              </p:cNvPr>
              <p:cNvSpPr/>
              <p:nvPr/>
            </p:nvSpPr>
            <p:spPr>
              <a:xfrm>
                <a:off x="1972500" y="1187972"/>
                <a:ext cx="1362613" cy="302714"/>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8" name="Text 2">
                <a:extLst>
                  <a:ext uri="{FF2B5EF4-FFF2-40B4-BE49-F238E27FC236}">
                    <a16:creationId xmlns:a16="http://schemas.microsoft.com/office/drawing/2014/main" id="{638053E7-F22B-AC1A-BCB8-DBB449270FCB}"/>
                  </a:ext>
                </a:extLst>
              </p:cNvPr>
              <p:cNvSpPr txBox="1"/>
              <p:nvPr/>
            </p:nvSpPr>
            <p:spPr>
              <a:xfrm>
                <a:off x="1972500" y="1187972"/>
                <a:ext cx="1362613" cy="30271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Fig. 2</a:t>
                </a:r>
                <a:endParaRPr lang="en-US" sz="1400" dirty="0"/>
              </a:p>
            </p:txBody>
          </p:sp>
        </p:grpSp>
        <p:sp>
          <p:nvSpPr>
            <p:cNvPr id="9" name="Text 3">
              <a:extLst>
                <a:ext uri="{FF2B5EF4-FFF2-40B4-BE49-F238E27FC236}">
                  <a16:creationId xmlns:a16="http://schemas.microsoft.com/office/drawing/2014/main" id="{6CE5758D-9B98-8250-D793-EFB8311A529A}"/>
                </a:ext>
              </a:extLst>
            </p:cNvPr>
            <p:cNvSpPr txBox="1"/>
            <p:nvPr/>
          </p:nvSpPr>
          <p:spPr>
            <a:xfrm>
              <a:off x="4020709" y="1229389"/>
              <a:ext cx="2911033" cy="241099"/>
            </a:xfrm>
            <a:prstGeom prst="rect">
              <a:avLst/>
            </a:prstGeom>
            <a:noFill/>
            <a:ln/>
          </p:spPr>
          <p:txBody>
            <a:bodyPr wrap="square" lIns="0" tIns="0" rIns="0" bIns="0" rtlCol="0" anchor="t"/>
            <a:lstStyle/>
            <a:p>
              <a:pPr marL="0" indent="0">
                <a:buNone/>
              </a:pPr>
              <a:r>
                <a:rPr lang="en-US" sz="1400" b="1" dirty="0">
                  <a:solidFill>
                    <a:srgbClr val="154734"/>
                  </a:solidFill>
                  <a:latin typeface="Calibri" pitchFamily="34" charset="0"/>
                  <a:ea typeface="Calibri" pitchFamily="34" charset="-122"/>
                  <a:cs typeface="Calibri" pitchFamily="34" charset="-120"/>
                </a:rPr>
                <a:t>60 years of wearable sensors</a:t>
              </a:r>
              <a:endParaRPr lang="en-US" sz="1400" dirty="0"/>
            </a:p>
          </p:txBody>
        </p:sp>
      </p:grpSp>
      <p:sp>
        <p:nvSpPr>
          <p:cNvPr id="10" name="Text 4">
            <a:extLst>
              <a:ext uri="{FF2B5EF4-FFF2-40B4-BE49-F238E27FC236}">
                <a16:creationId xmlns:a16="http://schemas.microsoft.com/office/drawing/2014/main" id="{4D359333-2F5E-4EA3-A78F-F3D789AE474F}"/>
              </a:ext>
            </a:extLst>
          </p:cNvPr>
          <p:cNvSpPr txBox="1"/>
          <p:nvPr/>
        </p:nvSpPr>
        <p:spPr>
          <a:xfrm>
            <a:off x="1638640" y="5419581"/>
            <a:ext cx="5650587" cy="372530"/>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Timeline from the 1962 Holter monitor to 2021 synthetic-biology sensors (a) and the building blocks: materials, sensing unit, power, decision unit (b).</a:t>
            </a:r>
            <a:endParaRPr lang="en-US" sz="1000" dirty="0"/>
          </a:p>
        </p:txBody>
      </p:sp>
      <p:sp>
        <p:nvSpPr>
          <p:cNvPr id="29" name="Slide Number Placeholder 25">
            <a:extLst>
              <a:ext uri="{FF2B5EF4-FFF2-40B4-BE49-F238E27FC236}">
                <a16:creationId xmlns:a16="http://schemas.microsoft.com/office/drawing/2014/main" id="{3A1FB04C-F9B6-2604-B0FB-03A1079E3CA1}"/>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6</a:t>
            </a:fld>
            <a:endParaRPr lang="en-US">
              <a:solidFill>
                <a:srgbClr val="FFFFFF"/>
              </a:solidFill>
              <a:latin typeface="Arial" panose="020B0604020202020204"/>
            </a:endParaRPr>
          </a:p>
        </p:txBody>
      </p:sp>
      <p:sp>
        <p:nvSpPr>
          <p:cNvPr id="30" name="Footer citation">
            <a:extLst>
              <a:ext uri="{FF2B5EF4-FFF2-40B4-BE49-F238E27FC236}">
                <a16:creationId xmlns:a16="http://schemas.microsoft.com/office/drawing/2014/main" id="{83F5398E-727A-336A-1FE3-9FC6C349997D}"/>
              </a:ext>
            </a:extLst>
          </p:cNvPr>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extLst>
      <p:ext uri="{BB962C8B-B14F-4D97-AF65-F5344CB8AC3E}">
        <p14:creationId xmlns:p14="http://schemas.microsoft.com/office/powerpoint/2010/main" val="8934815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nSpc>
                <a:spcPts val="1264"/>
              </a:lnSpc>
            </a:pPr>
            <a:r>
              <a:rPr lang="en-US" sz="1100" b="1" spc="100" dirty="0">
                <a:solidFill>
                  <a:srgbClr val="A84D00"/>
                </a:solidFill>
              </a:rPr>
              <a:t>METHODS &amp; MATERIALS · CONCURRENT FORMS OF WEARABLES</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100" b="1" dirty="0">
                <a:solidFill>
                  <a:schemeClr val="accent5"/>
                </a:solidFill>
                <a:ea typeface="Cambria" pitchFamily="34" charset="-122"/>
                <a:cs typeface="Cambria" pitchFamily="34" charset="-120"/>
              </a:rPr>
              <a:t>Wearable platforms: Dissolve, Conform, Weave</a:t>
            </a:r>
            <a:endParaRPr lang="en-US" sz="2400" dirty="0">
              <a:solidFill>
                <a:schemeClr val="accent5"/>
              </a:solidFill>
            </a:endParaRPr>
          </a:p>
        </p:txBody>
      </p:sp>
      <p:grpSp>
        <p:nvGrpSpPr>
          <p:cNvPr id="2" name="Group 1">
            <a:extLst>
              <a:ext uri="{FF2B5EF4-FFF2-40B4-BE49-F238E27FC236}">
                <a16:creationId xmlns:a16="http://schemas.microsoft.com/office/drawing/2014/main" id="{2395F15A-6678-08F7-EA30-588C138F0C1A}"/>
              </a:ext>
            </a:extLst>
          </p:cNvPr>
          <p:cNvGrpSpPr/>
          <p:nvPr/>
        </p:nvGrpSpPr>
        <p:grpSpPr>
          <a:xfrm>
            <a:off x="548640" y="1258104"/>
            <a:ext cx="3956304" cy="2320585"/>
            <a:chOff x="4639056" y="1252154"/>
            <a:chExt cx="3956304" cy="2320585"/>
          </a:xfrm>
        </p:grpSpPr>
        <p:sp>
          <p:nvSpPr>
            <p:cNvPr id="11" name="Shape 5"/>
            <p:cNvSpPr/>
            <p:nvPr/>
          </p:nvSpPr>
          <p:spPr>
            <a:xfrm>
              <a:off x="4639056" y="1252154"/>
              <a:ext cx="3956304" cy="2320585"/>
            </a:xfrm>
            <a:prstGeom prst="roundRect">
              <a:avLst>
                <a:gd name="adj" fmla="val 2758"/>
              </a:avLst>
            </a:prstGeom>
            <a:solidFill>
              <a:srgbClr val="F4F6F5"/>
            </a:solidFill>
            <a:ln w="9525">
              <a:solidFill>
                <a:srgbClr val="F4F6F5"/>
              </a:solidFill>
              <a:prstDash val="solid"/>
            </a:ln>
          </p:spPr>
          <p:txBody>
            <a:bodyPr/>
            <a:lstStyle/>
            <a:p>
              <a:endParaRPr lang="en-US"/>
            </a:p>
          </p:txBody>
        </p:sp>
        <p:pic>
          <p:nvPicPr>
            <p:cNvPr id="12" name="Image 1" descr="fig3a"/>
            <p:cNvPicPr>
              <a:picLocks noChangeAspect="1"/>
            </p:cNvPicPr>
            <p:nvPr/>
          </p:nvPicPr>
          <p:blipFill>
            <a:blip r:embed="rId3"/>
            <a:stretch>
              <a:fillRect/>
            </a:stretch>
          </p:blipFill>
          <p:spPr>
            <a:xfrm>
              <a:off x="4738706" y="1983251"/>
              <a:ext cx="2170013" cy="858391"/>
            </a:xfrm>
            <a:prstGeom prst="rect">
              <a:avLst/>
            </a:prstGeom>
          </p:spPr>
        </p:pic>
        <p:sp>
          <p:nvSpPr>
            <p:cNvPr id="13" name="Shape 6"/>
            <p:cNvSpPr/>
            <p:nvPr/>
          </p:nvSpPr>
          <p:spPr>
            <a:xfrm>
              <a:off x="7035190" y="1393870"/>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14" name="Text 7"/>
            <p:cNvSpPr txBox="1"/>
            <p:nvPr/>
          </p:nvSpPr>
          <p:spPr>
            <a:xfrm>
              <a:off x="7035190" y="1393870"/>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3</a:t>
              </a:r>
              <a:endParaRPr lang="en-US" sz="1050" dirty="0"/>
            </a:p>
          </p:txBody>
        </p:sp>
        <p:sp>
          <p:nvSpPr>
            <p:cNvPr id="15" name="Text 8"/>
            <p:cNvSpPr txBox="1"/>
            <p:nvPr/>
          </p:nvSpPr>
          <p:spPr>
            <a:xfrm>
              <a:off x="7035190" y="1712729"/>
              <a:ext cx="1470762" cy="442860"/>
            </a:xfrm>
            <a:prstGeom prst="rect">
              <a:avLst/>
            </a:prstGeom>
            <a:noFill/>
            <a:ln/>
          </p:spPr>
          <p:txBody>
            <a:bodyPr wrap="square" lIns="0" tIns="0" rIns="0" bIns="0" rtlCol="0" anchor="t"/>
            <a:lstStyle/>
            <a:p>
              <a:pPr marL="0" indent="0">
                <a:buNone/>
              </a:pPr>
              <a:r>
                <a:rPr lang="en-US" sz="1200" b="1" dirty="0">
                  <a:solidFill>
                    <a:srgbClr val="154734"/>
                  </a:solidFill>
                  <a:latin typeface="Calibri" pitchFamily="34" charset="0"/>
                  <a:ea typeface="Calibri" pitchFamily="34" charset="-122"/>
                  <a:cs typeface="Calibri" pitchFamily="34" charset="-120"/>
                </a:rPr>
                <a:t>Bioresorbable electrotherapy patch</a:t>
              </a:r>
              <a:endParaRPr lang="en-US" sz="1200" dirty="0"/>
            </a:p>
          </p:txBody>
        </p:sp>
        <p:sp>
          <p:nvSpPr>
            <p:cNvPr id="16" name="Text 9"/>
            <p:cNvSpPr txBox="1"/>
            <p:nvPr/>
          </p:nvSpPr>
          <p:spPr>
            <a:xfrm>
              <a:off x="7035190" y="2173303"/>
              <a:ext cx="1470762" cy="1328579"/>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Wireless, battery-free: 13.56 MHz NFC powers the device; Mo electrodes dissolve in buffer (accelerated test at 75 °C, ~18 days).</a:t>
              </a:r>
              <a:endParaRPr lang="en-US" sz="1000" dirty="0"/>
            </a:p>
          </p:txBody>
        </p:sp>
      </p:grpSp>
      <p:grpSp>
        <p:nvGrpSpPr>
          <p:cNvPr id="31" name="Group 30">
            <a:extLst>
              <a:ext uri="{FF2B5EF4-FFF2-40B4-BE49-F238E27FC236}">
                <a16:creationId xmlns:a16="http://schemas.microsoft.com/office/drawing/2014/main" id="{535BEB3E-792C-47CB-B7DD-0B49A0C6B524}"/>
              </a:ext>
            </a:extLst>
          </p:cNvPr>
          <p:cNvGrpSpPr/>
          <p:nvPr/>
        </p:nvGrpSpPr>
        <p:grpSpPr>
          <a:xfrm>
            <a:off x="4639056" y="1258104"/>
            <a:ext cx="3956304" cy="2320585"/>
            <a:chOff x="548640" y="3679026"/>
            <a:chExt cx="3956304" cy="2320585"/>
          </a:xfrm>
        </p:grpSpPr>
        <p:sp>
          <p:nvSpPr>
            <p:cNvPr id="17" name="Shape 10"/>
            <p:cNvSpPr/>
            <p:nvPr/>
          </p:nvSpPr>
          <p:spPr>
            <a:xfrm>
              <a:off x="548640" y="3679026"/>
              <a:ext cx="3956304" cy="2320585"/>
            </a:xfrm>
            <a:prstGeom prst="roundRect">
              <a:avLst>
                <a:gd name="adj" fmla="val 2758"/>
              </a:avLst>
            </a:prstGeom>
            <a:solidFill>
              <a:srgbClr val="F4F6F5"/>
            </a:solidFill>
            <a:ln w="9525">
              <a:solidFill>
                <a:srgbClr val="F4F6F5"/>
              </a:solidFill>
              <a:prstDash val="solid"/>
            </a:ln>
          </p:spPr>
          <p:txBody>
            <a:bodyPr/>
            <a:lstStyle/>
            <a:p>
              <a:endParaRPr lang="en-US"/>
            </a:p>
          </p:txBody>
        </p:sp>
        <p:pic>
          <p:nvPicPr>
            <p:cNvPr id="18" name="Image 2" descr="fig4"/>
            <p:cNvPicPr>
              <a:picLocks noChangeAspect="1"/>
            </p:cNvPicPr>
            <p:nvPr/>
          </p:nvPicPr>
          <p:blipFill>
            <a:blip r:embed="rId4"/>
            <a:stretch>
              <a:fillRect/>
            </a:stretch>
          </p:blipFill>
          <p:spPr>
            <a:xfrm>
              <a:off x="648290" y="4009803"/>
              <a:ext cx="2170013" cy="1659031"/>
            </a:xfrm>
            <a:prstGeom prst="rect">
              <a:avLst/>
            </a:prstGeom>
          </p:spPr>
        </p:pic>
        <p:sp>
          <p:nvSpPr>
            <p:cNvPr id="19" name="Shape 11"/>
            <p:cNvSpPr/>
            <p:nvPr/>
          </p:nvSpPr>
          <p:spPr>
            <a:xfrm>
              <a:off x="2944774" y="3820741"/>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20" name="Text 12"/>
            <p:cNvSpPr txBox="1"/>
            <p:nvPr/>
          </p:nvSpPr>
          <p:spPr>
            <a:xfrm>
              <a:off x="2944774" y="3820741"/>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4</a:t>
              </a:r>
              <a:endParaRPr lang="en-US" sz="1050" dirty="0"/>
            </a:p>
          </p:txBody>
        </p:sp>
        <p:sp>
          <p:nvSpPr>
            <p:cNvPr id="21" name="Text 13"/>
            <p:cNvSpPr txBox="1"/>
            <p:nvPr/>
          </p:nvSpPr>
          <p:spPr>
            <a:xfrm>
              <a:off x="2944774" y="4139600"/>
              <a:ext cx="1470762" cy="442860"/>
            </a:xfrm>
            <a:prstGeom prst="rect">
              <a:avLst/>
            </a:prstGeom>
            <a:noFill/>
            <a:ln/>
          </p:spPr>
          <p:txBody>
            <a:bodyPr wrap="square" lIns="0" tIns="0" rIns="0" bIns="0" rtlCol="0" anchor="t"/>
            <a:lstStyle/>
            <a:p>
              <a:pPr marL="0" indent="0">
                <a:buNone/>
              </a:pPr>
              <a:r>
                <a:rPr lang="en-US" sz="1200" b="1" dirty="0">
                  <a:solidFill>
                    <a:srgbClr val="154734"/>
                  </a:solidFill>
                  <a:latin typeface="Calibri" pitchFamily="34" charset="0"/>
                  <a:ea typeface="Calibri" pitchFamily="34" charset="-122"/>
                  <a:cs typeface="Calibri" pitchFamily="34" charset="-120"/>
                </a:rPr>
                <a:t>Stretchable graphene–hydrogel</a:t>
              </a:r>
              <a:endParaRPr lang="en-US" sz="1200" dirty="0"/>
            </a:p>
          </p:txBody>
        </p:sp>
        <p:sp>
          <p:nvSpPr>
            <p:cNvPr id="22" name="Text 14"/>
            <p:cNvSpPr txBox="1"/>
            <p:nvPr/>
          </p:nvSpPr>
          <p:spPr>
            <a:xfrm>
              <a:off x="2944774" y="4600174"/>
              <a:ext cx="1470762" cy="1328579"/>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Laser-induced graphene sensors and liquid-metal electrodes in PDMS with an antibacterial hydrogel; for skin or heart surface.</a:t>
              </a:r>
              <a:endParaRPr lang="en-US" sz="1000" dirty="0"/>
            </a:p>
          </p:txBody>
        </p:sp>
      </p:grpSp>
      <p:grpSp>
        <p:nvGrpSpPr>
          <p:cNvPr id="32" name="Group 31">
            <a:extLst>
              <a:ext uri="{FF2B5EF4-FFF2-40B4-BE49-F238E27FC236}">
                <a16:creationId xmlns:a16="http://schemas.microsoft.com/office/drawing/2014/main" id="{C95E7E1D-888D-441B-09DF-6E5A75FC28F9}"/>
              </a:ext>
            </a:extLst>
          </p:cNvPr>
          <p:cNvGrpSpPr/>
          <p:nvPr/>
        </p:nvGrpSpPr>
        <p:grpSpPr>
          <a:xfrm>
            <a:off x="2593848" y="3708487"/>
            <a:ext cx="3956304" cy="2320585"/>
            <a:chOff x="4639056" y="3679026"/>
            <a:chExt cx="3956304" cy="2320585"/>
          </a:xfrm>
        </p:grpSpPr>
        <p:sp>
          <p:nvSpPr>
            <p:cNvPr id="23" name="Shape 15"/>
            <p:cNvSpPr/>
            <p:nvPr/>
          </p:nvSpPr>
          <p:spPr>
            <a:xfrm>
              <a:off x="4639056" y="3679026"/>
              <a:ext cx="3956304" cy="2320585"/>
            </a:xfrm>
            <a:prstGeom prst="roundRect">
              <a:avLst>
                <a:gd name="adj" fmla="val 2758"/>
              </a:avLst>
            </a:prstGeom>
            <a:solidFill>
              <a:srgbClr val="F4F6F5"/>
            </a:solidFill>
            <a:ln w="9525">
              <a:solidFill>
                <a:srgbClr val="F4F6F5"/>
              </a:solidFill>
              <a:prstDash val="solid"/>
            </a:ln>
          </p:spPr>
          <p:txBody>
            <a:bodyPr/>
            <a:lstStyle/>
            <a:p>
              <a:endParaRPr lang="en-US"/>
            </a:p>
          </p:txBody>
        </p:sp>
        <p:pic>
          <p:nvPicPr>
            <p:cNvPr id="24" name="Image 3" descr="fig5"/>
            <p:cNvPicPr>
              <a:picLocks noChangeAspect="1"/>
            </p:cNvPicPr>
            <p:nvPr/>
          </p:nvPicPr>
          <p:blipFill>
            <a:blip r:embed="rId5"/>
            <a:stretch>
              <a:fillRect/>
            </a:stretch>
          </p:blipFill>
          <p:spPr>
            <a:xfrm>
              <a:off x="4738706" y="4190003"/>
              <a:ext cx="2170013" cy="1298631"/>
            </a:xfrm>
            <a:prstGeom prst="rect">
              <a:avLst/>
            </a:prstGeom>
          </p:spPr>
        </p:pic>
        <p:sp>
          <p:nvSpPr>
            <p:cNvPr id="25" name="Shape 16"/>
            <p:cNvSpPr/>
            <p:nvPr/>
          </p:nvSpPr>
          <p:spPr>
            <a:xfrm>
              <a:off x="7035190" y="3820741"/>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26" name="Text 17"/>
            <p:cNvSpPr txBox="1"/>
            <p:nvPr/>
          </p:nvSpPr>
          <p:spPr>
            <a:xfrm>
              <a:off x="7035190" y="3820741"/>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5</a:t>
              </a:r>
              <a:endParaRPr lang="en-US" sz="1050" dirty="0"/>
            </a:p>
          </p:txBody>
        </p:sp>
        <p:sp>
          <p:nvSpPr>
            <p:cNvPr id="27" name="Text 18"/>
            <p:cNvSpPr txBox="1"/>
            <p:nvPr/>
          </p:nvSpPr>
          <p:spPr>
            <a:xfrm>
              <a:off x="7035190" y="4139600"/>
              <a:ext cx="1470762" cy="442860"/>
            </a:xfrm>
            <a:prstGeom prst="rect">
              <a:avLst/>
            </a:prstGeom>
            <a:noFill/>
            <a:ln/>
          </p:spPr>
          <p:txBody>
            <a:bodyPr wrap="square" lIns="0" tIns="0" rIns="0" bIns="0" rtlCol="0" anchor="t"/>
            <a:lstStyle/>
            <a:p>
              <a:pPr marL="0" indent="0">
                <a:buNone/>
              </a:pPr>
              <a:r>
                <a:rPr lang="en-US" sz="1200" b="1" dirty="0">
                  <a:solidFill>
                    <a:srgbClr val="154734"/>
                  </a:solidFill>
                  <a:latin typeface="Calibri" pitchFamily="34" charset="0"/>
                  <a:ea typeface="Calibri" pitchFamily="34" charset="-122"/>
                  <a:cs typeface="Calibri" pitchFamily="34" charset="-120"/>
                </a:rPr>
                <a:t>In-textile sweat K⁺ wristband</a:t>
              </a:r>
              <a:endParaRPr lang="en-US" sz="1200" dirty="0"/>
            </a:p>
          </p:txBody>
        </p:sp>
        <p:sp>
          <p:nvSpPr>
            <p:cNvPr id="28" name="Text 19"/>
            <p:cNvSpPr txBox="1"/>
            <p:nvPr/>
          </p:nvSpPr>
          <p:spPr>
            <a:xfrm>
              <a:off x="7035190" y="4600174"/>
              <a:ext cx="1470762" cy="1328579"/>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Ion-selective electrode → amplify &amp; filter → ADC → Bluetooth to phone; the full signal chain woven into fabric.</a:t>
              </a:r>
              <a:endParaRPr lang="en-US" sz="1000" dirty="0"/>
            </a:p>
          </p:txBody>
        </p:sp>
      </p:grpSp>
      <p:sp>
        <p:nvSpPr>
          <p:cNvPr id="29"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7</a:t>
            </a:fld>
            <a:endParaRPr lang="en-US">
              <a:solidFill>
                <a:srgbClr val="FFFFFF"/>
              </a:solidFill>
              <a:latin typeface="Arial" panose="020B0604020202020204"/>
            </a:endParaRPr>
          </a:p>
        </p:txBody>
      </p:sp>
      <p:sp>
        <p:nvSpPr>
          <p:cNvPr id="30"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&amp; MATERIALS · DESCRIPTION OF DATA</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Data: what is measured, from where, and how well</a:t>
            </a:r>
            <a:endParaRPr lang="en-US" sz="2400" dirty="0">
              <a:solidFill>
                <a:schemeClr val="accent5"/>
              </a:solidFill>
            </a:endParaRPr>
          </a:p>
        </p:txBody>
      </p:sp>
      <p:grpSp>
        <p:nvGrpSpPr>
          <p:cNvPr id="2" name="Group 1">
            <a:extLst>
              <a:ext uri="{FF2B5EF4-FFF2-40B4-BE49-F238E27FC236}">
                <a16:creationId xmlns:a16="http://schemas.microsoft.com/office/drawing/2014/main" id="{0874972D-8669-63DE-059B-F33BEA5183CA}"/>
              </a:ext>
            </a:extLst>
          </p:cNvPr>
          <p:cNvGrpSpPr/>
          <p:nvPr/>
        </p:nvGrpSpPr>
        <p:grpSpPr>
          <a:xfrm>
            <a:off x="548640" y="1252154"/>
            <a:ext cx="3933952" cy="4747457"/>
            <a:chOff x="548640" y="1252154"/>
            <a:chExt cx="3933952" cy="4747457"/>
          </a:xfrm>
        </p:grpSpPr>
        <p:sp>
          <p:nvSpPr>
            <p:cNvPr id="5" name="Shape 0"/>
            <p:cNvSpPr/>
            <p:nvPr/>
          </p:nvSpPr>
          <p:spPr>
            <a:xfrm>
              <a:off x="548640" y="1252154"/>
              <a:ext cx="3933952" cy="992006"/>
            </a:xfrm>
            <a:prstGeom prst="roundRect">
              <a:avLst>
                <a:gd name="adj" fmla="val 6452"/>
              </a:avLst>
            </a:prstGeom>
            <a:solidFill>
              <a:srgbClr val="F4F6F5"/>
            </a:solidFill>
            <a:ln w="9525">
              <a:solidFill>
                <a:srgbClr val="F4F6F5"/>
              </a:solidFill>
              <a:prstDash val="solid"/>
            </a:ln>
          </p:spPr>
          <p:txBody>
            <a:bodyPr/>
            <a:lstStyle/>
            <a:p>
              <a:endParaRPr lang="en-US"/>
            </a:p>
          </p:txBody>
        </p:sp>
        <p:sp>
          <p:nvSpPr>
            <p:cNvPr id="6" name="Shape 1"/>
            <p:cNvSpPr/>
            <p:nvPr/>
          </p:nvSpPr>
          <p:spPr>
            <a:xfrm>
              <a:off x="675901" y="1517870"/>
              <a:ext cx="442860" cy="442860"/>
            </a:xfrm>
            <a:prstGeom prst="ellipse">
              <a:avLst/>
            </a:prstGeom>
            <a:solidFill>
              <a:srgbClr val="2E8B57"/>
            </a:solidFill>
            <a:ln w="12700">
              <a:solidFill>
                <a:srgbClr val="2E8B57"/>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791045" y="1633014"/>
              <a:ext cx="212573" cy="212573"/>
            </a:xfrm>
            <a:prstGeom prst="rect">
              <a:avLst/>
            </a:prstGeom>
          </p:spPr>
        </p:pic>
        <p:sp>
          <p:nvSpPr>
            <p:cNvPr id="8" name="Text 2"/>
            <p:cNvSpPr txBox="1"/>
            <p:nvPr/>
          </p:nvSpPr>
          <p:spPr>
            <a:xfrm>
              <a:off x="1246022" y="1323012"/>
              <a:ext cx="3129280"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Physiological signals</a:t>
              </a:r>
              <a:endParaRPr lang="en-US" sz="1300" dirty="0"/>
            </a:p>
          </p:txBody>
        </p:sp>
        <p:sp>
          <p:nvSpPr>
            <p:cNvPr id="9" name="Text 3"/>
            <p:cNvSpPr txBox="1"/>
            <p:nvPr/>
          </p:nvSpPr>
          <p:spPr>
            <a:xfrm>
              <a:off x="1246022" y="1606442"/>
              <a:ext cx="3129280" cy="602289"/>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ECG · PPG / heart rate · SpO₂ · blood pressure · temperature · respiration · IMU / gait · EDA &amp; HRV · sleep</a:t>
              </a:r>
              <a:endParaRPr lang="en-US" sz="1050" dirty="0"/>
            </a:p>
          </p:txBody>
        </p:sp>
        <p:sp>
          <p:nvSpPr>
            <p:cNvPr id="10" name="Shape 4"/>
            <p:cNvSpPr/>
            <p:nvPr/>
          </p:nvSpPr>
          <p:spPr>
            <a:xfrm>
              <a:off x="548640" y="2332732"/>
              <a:ext cx="3933952" cy="992006"/>
            </a:xfrm>
            <a:prstGeom prst="roundRect">
              <a:avLst>
                <a:gd name="adj" fmla="val 6452"/>
              </a:avLst>
            </a:prstGeom>
            <a:solidFill>
              <a:srgbClr val="F4F6F5"/>
            </a:solidFill>
            <a:ln w="9525">
              <a:solidFill>
                <a:srgbClr val="F4F6F5"/>
              </a:solidFill>
              <a:prstDash val="solid"/>
            </a:ln>
          </p:spPr>
          <p:txBody>
            <a:bodyPr/>
            <a:lstStyle/>
            <a:p>
              <a:endParaRPr lang="en-US"/>
            </a:p>
          </p:txBody>
        </p:sp>
        <p:sp>
          <p:nvSpPr>
            <p:cNvPr id="11" name="Shape 5"/>
            <p:cNvSpPr/>
            <p:nvPr/>
          </p:nvSpPr>
          <p:spPr>
            <a:xfrm>
              <a:off x="675901" y="2598448"/>
              <a:ext cx="442860" cy="442860"/>
            </a:xfrm>
            <a:prstGeom prst="ellipse">
              <a:avLst/>
            </a:prstGeom>
            <a:solidFill>
              <a:srgbClr val="2E8B57"/>
            </a:solidFill>
            <a:ln w="12700">
              <a:solidFill>
                <a:srgbClr val="2E8B57"/>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791045" y="2713592"/>
              <a:ext cx="212573" cy="212573"/>
            </a:xfrm>
            <a:prstGeom prst="rect">
              <a:avLst/>
            </a:prstGeom>
          </p:spPr>
        </p:pic>
        <p:sp>
          <p:nvSpPr>
            <p:cNvPr id="13" name="Text 6"/>
            <p:cNvSpPr txBox="1"/>
            <p:nvPr/>
          </p:nvSpPr>
          <p:spPr>
            <a:xfrm>
              <a:off x="1246022" y="2403590"/>
              <a:ext cx="3129280"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Biochemical (biofluids)</a:t>
              </a:r>
              <a:endParaRPr lang="en-US" sz="1300" dirty="0"/>
            </a:p>
          </p:txBody>
        </p:sp>
        <p:sp>
          <p:nvSpPr>
            <p:cNvPr id="14" name="Text 7"/>
            <p:cNvSpPr txBox="1"/>
            <p:nvPr/>
          </p:nvSpPr>
          <p:spPr>
            <a:xfrm>
              <a:off x="1246022" y="2687020"/>
              <a:ext cx="3129280" cy="602289"/>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Sweat · interstitial fluid · saliva · tears · breath → glucose, lactate, cortisol, K⁺/Na⁺, uric acid, CRP</a:t>
              </a:r>
              <a:endParaRPr lang="en-US" sz="1050" dirty="0"/>
            </a:p>
          </p:txBody>
        </p:sp>
        <p:sp>
          <p:nvSpPr>
            <p:cNvPr id="15" name="Shape 8"/>
            <p:cNvSpPr/>
            <p:nvPr/>
          </p:nvSpPr>
          <p:spPr>
            <a:xfrm>
              <a:off x="548640" y="3413310"/>
              <a:ext cx="3933952" cy="992006"/>
            </a:xfrm>
            <a:prstGeom prst="roundRect">
              <a:avLst>
                <a:gd name="adj" fmla="val 6452"/>
              </a:avLst>
            </a:prstGeom>
            <a:solidFill>
              <a:srgbClr val="F4F6F5"/>
            </a:solidFill>
            <a:ln w="9525">
              <a:solidFill>
                <a:srgbClr val="F4F6F5"/>
              </a:solidFill>
              <a:prstDash val="solid"/>
            </a:ln>
          </p:spPr>
          <p:txBody>
            <a:bodyPr/>
            <a:lstStyle/>
            <a:p>
              <a:endParaRPr lang="en-US"/>
            </a:p>
          </p:txBody>
        </p:sp>
        <p:sp>
          <p:nvSpPr>
            <p:cNvPr id="16" name="Shape 9"/>
            <p:cNvSpPr/>
            <p:nvPr/>
          </p:nvSpPr>
          <p:spPr>
            <a:xfrm>
              <a:off x="675901" y="3679026"/>
              <a:ext cx="442860" cy="442860"/>
            </a:xfrm>
            <a:prstGeom prst="ellipse">
              <a:avLst/>
            </a:prstGeom>
            <a:solidFill>
              <a:srgbClr val="2E8B57"/>
            </a:solidFill>
            <a:ln w="12700">
              <a:solidFill>
                <a:srgbClr val="2E8B57"/>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791045" y="3794170"/>
              <a:ext cx="212573" cy="212573"/>
            </a:xfrm>
            <a:prstGeom prst="rect">
              <a:avLst/>
            </a:prstGeom>
          </p:spPr>
        </p:pic>
        <p:sp>
          <p:nvSpPr>
            <p:cNvPr id="18" name="Text 10"/>
            <p:cNvSpPr txBox="1"/>
            <p:nvPr/>
          </p:nvSpPr>
          <p:spPr>
            <a:xfrm>
              <a:off x="1246022" y="3484168"/>
              <a:ext cx="3129280"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Context &amp; records</a:t>
              </a:r>
              <a:endParaRPr lang="en-US" sz="1300" dirty="0"/>
            </a:p>
          </p:txBody>
        </p:sp>
        <p:sp>
          <p:nvSpPr>
            <p:cNvPr id="19" name="Text 11"/>
            <p:cNvSpPr txBox="1"/>
            <p:nvPr/>
          </p:nvSpPr>
          <p:spPr>
            <a:xfrm>
              <a:off x="1246022" y="3767598"/>
              <a:ext cx="3129280" cy="602289"/>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Activity, environment and behaviour; EHR integration via FHIR, Apple HealthKit, Google Fit</a:t>
              </a:r>
              <a:endParaRPr lang="en-US" sz="1050" dirty="0"/>
            </a:p>
          </p:txBody>
        </p:sp>
        <p:sp>
          <p:nvSpPr>
            <p:cNvPr id="20" name="Text 12"/>
            <p:cNvSpPr txBox="1"/>
            <p:nvPr/>
          </p:nvSpPr>
          <p:spPr>
            <a:xfrm>
              <a:off x="548640" y="4511602"/>
              <a:ext cx="1072896" cy="265716"/>
            </a:xfrm>
            <a:prstGeom prst="rect">
              <a:avLst/>
            </a:prstGeom>
            <a:noFill/>
            <a:ln/>
          </p:spPr>
          <p:txBody>
            <a:bodyPr wrap="square" lIns="0" tIns="0" rIns="0" bIns="0" rtlCol="0" anchor="ctr"/>
            <a:lstStyle/>
            <a:p>
              <a:pPr marL="0" indent="0">
                <a:buNone/>
              </a:pPr>
              <a:r>
                <a:rPr lang="en-US" sz="1150" b="1" dirty="0">
                  <a:solidFill>
                    <a:srgbClr val="154734"/>
                  </a:solidFill>
                  <a:latin typeface="Calibri" pitchFamily="34" charset="0"/>
                  <a:ea typeface="Calibri" pitchFamily="34" charset="-122"/>
                  <a:cs typeface="Calibri" pitchFamily="34" charset="-120"/>
                </a:rPr>
                <a:t>Form factors:</a:t>
              </a:r>
              <a:endParaRPr lang="en-US" sz="1150" dirty="0"/>
            </a:p>
          </p:txBody>
        </p:sp>
        <p:sp>
          <p:nvSpPr>
            <p:cNvPr id="21" name="Shape 13"/>
            <p:cNvSpPr/>
            <p:nvPr/>
          </p:nvSpPr>
          <p:spPr>
            <a:xfrm>
              <a:off x="548640" y="4812747"/>
              <a:ext cx="894080" cy="265716"/>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22" name="Text 14"/>
            <p:cNvSpPr txBox="1"/>
            <p:nvPr/>
          </p:nvSpPr>
          <p:spPr>
            <a:xfrm>
              <a:off x="548640" y="4812747"/>
              <a:ext cx="894080" cy="265716"/>
            </a:xfrm>
            <a:prstGeom prst="rect">
              <a:avLst/>
            </a:prstGeom>
            <a:noFill/>
            <a:ln/>
          </p:spPr>
          <p:txBody>
            <a:bodyPr wrap="square" lIns="0" tIns="0" rIns="0" bIns="0" rtlCol="0" anchor="ctr"/>
            <a:lstStyle/>
            <a:p>
              <a:pPr marL="0" indent="0" algn="ctr">
                <a:buNone/>
              </a:pPr>
              <a:r>
                <a:rPr lang="en-US" sz="1050" dirty="0">
                  <a:solidFill>
                    <a:srgbClr val="154734"/>
                  </a:solidFill>
                  <a:latin typeface="Calibri" pitchFamily="34" charset="0"/>
                  <a:ea typeface="Calibri" pitchFamily="34" charset="-122"/>
                  <a:cs typeface="Calibri" pitchFamily="34" charset="-120"/>
                </a:rPr>
                <a:t>Smartwatch</a:t>
              </a:r>
              <a:endParaRPr lang="en-US" sz="1050" dirty="0"/>
            </a:p>
          </p:txBody>
        </p:sp>
        <p:sp>
          <p:nvSpPr>
            <p:cNvPr id="23" name="Shape 15"/>
            <p:cNvSpPr/>
            <p:nvPr/>
          </p:nvSpPr>
          <p:spPr>
            <a:xfrm>
              <a:off x="1532128" y="4812747"/>
              <a:ext cx="607974" cy="265716"/>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24" name="Text 16"/>
            <p:cNvSpPr txBox="1"/>
            <p:nvPr/>
          </p:nvSpPr>
          <p:spPr>
            <a:xfrm>
              <a:off x="1532128" y="4812747"/>
              <a:ext cx="607974" cy="265716"/>
            </a:xfrm>
            <a:prstGeom prst="rect">
              <a:avLst/>
            </a:prstGeom>
            <a:noFill/>
            <a:ln/>
          </p:spPr>
          <p:txBody>
            <a:bodyPr wrap="square" lIns="0" tIns="0" rIns="0" bIns="0" rtlCol="0" anchor="ctr"/>
            <a:lstStyle/>
            <a:p>
              <a:pPr marL="0" indent="0" algn="ctr">
                <a:buNone/>
              </a:pPr>
              <a:r>
                <a:rPr lang="en-US" sz="1050" dirty="0">
                  <a:solidFill>
                    <a:srgbClr val="154734"/>
                  </a:solidFill>
                  <a:latin typeface="Calibri" pitchFamily="34" charset="0"/>
                  <a:ea typeface="Calibri" pitchFamily="34" charset="-122"/>
                  <a:cs typeface="Calibri" pitchFamily="34" charset="-120"/>
                </a:rPr>
                <a:t>Patch</a:t>
              </a:r>
              <a:endParaRPr lang="en-US" sz="1050" dirty="0"/>
            </a:p>
          </p:txBody>
        </p:sp>
        <p:sp>
          <p:nvSpPr>
            <p:cNvPr id="25" name="Shape 17"/>
            <p:cNvSpPr/>
            <p:nvPr/>
          </p:nvSpPr>
          <p:spPr>
            <a:xfrm>
              <a:off x="2229510" y="4812747"/>
              <a:ext cx="697382" cy="265716"/>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26" name="Text 18"/>
            <p:cNvSpPr txBox="1"/>
            <p:nvPr/>
          </p:nvSpPr>
          <p:spPr>
            <a:xfrm>
              <a:off x="2229510" y="4812747"/>
              <a:ext cx="697382" cy="265716"/>
            </a:xfrm>
            <a:prstGeom prst="rect">
              <a:avLst/>
            </a:prstGeom>
            <a:noFill/>
            <a:ln/>
          </p:spPr>
          <p:txBody>
            <a:bodyPr wrap="square" lIns="0" tIns="0" rIns="0" bIns="0" rtlCol="0" anchor="ctr"/>
            <a:lstStyle/>
            <a:p>
              <a:pPr marL="0" indent="0" algn="ctr">
                <a:buNone/>
              </a:pPr>
              <a:r>
                <a:rPr lang="en-US" sz="1050" dirty="0">
                  <a:solidFill>
                    <a:srgbClr val="154734"/>
                  </a:solidFill>
                  <a:latin typeface="Calibri" pitchFamily="34" charset="0"/>
                  <a:ea typeface="Calibri" pitchFamily="34" charset="-122"/>
                  <a:cs typeface="Calibri" pitchFamily="34" charset="-120"/>
                </a:rPr>
                <a:t>Implant</a:t>
              </a:r>
              <a:endParaRPr lang="en-US" sz="1050" dirty="0"/>
            </a:p>
          </p:txBody>
        </p:sp>
        <p:sp>
          <p:nvSpPr>
            <p:cNvPr id="27" name="Shape 19"/>
            <p:cNvSpPr/>
            <p:nvPr/>
          </p:nvSpPr>
          <p:spPr>
            <a:xfrm>
              <a:off x="3016301" y="4812747"/>
              <a:ext cx="938784" cy="265716"/>
            </a:xfrm>
            <a:prstGeom prst="roundRect">
              <a:avLst>
                <a:gd name="adj" fmla="val 51619"/>
              </a:avLst>
            </a:prstGeom>
            <a:solidFill>
              <a:srgbClr val="E7F0EB"/>
            </a:solidFill>
            <a:ln w="12700">
              <a:solidFill>
                <a:srgbClr val="E7F0EB"/>
              </a:solidFill>
              <a:prstDash val="solid"/>
            </a:ln>
          </p:spPr>
          <p:txBody>
            <a:bodyPr/>
            <a:lstStyle/>
            <a:p>
              <a:endParaRPr lang="en-US"/>
            </a:p>
          </p:txBody>
        </p:sp>
        <p:sp>
          <p:nvSpPr>
            <p:cNvPr id="28" name="Text 20"/>
            <p:cNvSpPr txBox="1"/>
            <p:nvPr/>
          </p:nvSpPr>
          <p:spPr>
            <a:xfrm>
              <a:off x="3016301" y="4812747"/>
              <a:ext cx="938784" cy="265716"/>
            </a:xfrm>
            <a:prstGeom prst="rect">
              <a:avLst/>
            </a:prstGeom>
            <a:noFill/>
            <a:ln/>
          </p:spPr>
          <p:txBody>
            <a:bodyPr wrap="square" lIns="0" tIns="0" rIns="0" bIns="0" rtlCol="0" anchor="ctr"/>
            <a:lstStyle/>
            <a:p>
              <a:pPr marL="0" indent="0" algn="ctr">
                <a:buNone/>
              </a:pPr>
              <a:r>
                <a:rPr lang="en-US" sz="1050" dirty="0">
                  <a:solidFill>
                    <a:srgbClr val="154734"/>
                  </a:solidFill>
                  <a:latin typeface="Calibri" pitchFamily="34" charset="0"/>
                  <a:ea typeface="Calibri" pitchFamily="34" charset="-122"/>
                  <a:cs typeface="Calibri" pitchFamily="34" charset="-120"/>
                </a:rPr>
                <a:t>Smart textile</a:t>
              </a:r>
              <a:endParaRPr lang="en-US" sz="1050" dirty="0"/>
            </a:p>
          </p:txBody>
        </p:sp>
        <p:sp>
          <p:nvSpPr>
            <p:cNvPr id="29" name="Shape 21"/>
            <p:cNvSpPr/>
            <p:nvPr/>
          </p:nvSpPr>
          <p:spPr>
            <a:xfrm>
              <a:off x="548640" y="5184749"/>
              <a:ext cx="3933952" cy="814862"/>
            </a:xfrm>
            <a:prstGeom prst="roundRect">
              <a:avLst>
                <a:gd name="adj" fmla="val 7855"/>
              </a:avLst>
            </a:prstGeom>
            <a:solidFill>
              <a:srgbClr val="FBEAE8"/>
            </a:solidFill>
            <a:ln w="9525">
              <a:solidFill>
                <a:srgbClr val="FBEAE8"/>
              </a:solidFill>
              <a:prstDash val="solid"/>
            </a:ln>
          </p:spPr>
          <p:txBody>
            <a:bodyPr/>
            <a:lstStyle/>
            <a:p>
              <a:endParaRPr lang="en-US"/>
            </a:p>
          </p:txBody>
        </p:sp>
        <p:sp>
          <p:nvSpPr>
            <p:cNvPr id="30" name="Text 22"/>
            <p:cNvSpPr txBox="1"/>
            <p:nvPr/>
          </p:nvSpPr>
          <p:spPr>
            <a:xfrm>
              <a:off x="673811" y="5220178"/>
              <a:ext cx="3701491" cy="744004"/>
            </a:xfrm>
            <a:prstGeom prst="rect">
              <a:avLst/>
            </a:prstGeom>
            <a:noFill/>
            <a:ln/>
          </p:spPr>
          <p:txBody>
            <a:bodyPr wrap="square" lIns="0" tIns="0" rIns="0" bIns="0" rtlCol="0" anchor="ctr"/>
            <a:lstStyle/>
            <a:p>
              <a:pPr marL="0" indent="0">
                <a:buNone/>
              </a:pPr>
              <a:r>
                <a:rPr lang="en-US" sz="1050" b="1" dirty="0">
                  <a:solidFill>
                    <a:srgbClr val="B3261E"/>
                  </a:solidFill>
                  <a:latin typeface="Calibri" pitchFamily="34" charset="0"/>
                  <a:ea typeface="Calibri" pitchFamily="34" charset="-122"/>
                  <a:cs typeface="Calibri" pitchFamily="34" charset="-120"/>
                </a:rPr>
                <a:t>No primary dataset. </a:t>
              </a:r>
              <a:r>
                <a:rPr lang="en-US" sz="1050" dirty="0">
                  <a:solidFill>
                    <a:srgbClr val="333333"/>
                  </a:solidFill>
                  <a:latin typeface="Calibri" pitchFamily="34" charset="0"/>
                  <a:ea typeface="Calibri" pitchFamily="34" charset="-122"/>
                  <a:cs typeface="Calibri" pitchFamily="34" charset="-120"/>
                </a:rPr>
                <a:t>The review compiles metrics from heterogeneous studies — different cohorts, reference standards and units — so rows in its tables are not like-for-like comparisons.</a:t>
              </a:r>
              <a:endParaRPr lang="en-US" sz="1050" dirty="0"/>
            </a:p>
          </p:txBody>
        </p:sp>
      </p:grpSp>
      <p:grpSp>
        <p:nvGrpSpPr>
          <p:cNvPr id="41" name="Group 40">
            <a:extLst>
              <a:ext uri="{FF2B5EF4-FFF2-40B4-BE49-F238E27FC236}">
                <a16:creationId xmlns:a16="http://schemas.microsoft.com/office/drawing/2014/main" id="{9A8B9F95-309E-1257-837C-BD1DFA966B54}"/>
              </a:ext>
            </a:extLst>
          </p:cNvPr>
          <p:cNvGrpSpPr/>
          <p:nvPr/>
        </p:nvGrpSpPr>
        <p:grpSpPr>
          <a:xfrm>
            <a:off x="4661408" y="1252154"/>
            <a:ext cx="3933952" cy="318859"/>
            <a:chOff x="4661408" y="1252154"/>
            <a:chExt cx="3933952" cy="318859"/>
          </a:xfrm>
        </p:grpSpPr>
        <p:sp>
          <p:nvSpPr>
            <p:cNvPr id="31" name="Shape 23"/>
            <p:cNvSpPr/>
            <p:nvPr/>
          </p:nvSpPr>
          <p:spPr>
            <a:xfrm>
              <a:off x="4661408" y="1287583"/>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32" name="Text 24"/>
            <p:cNvSpPr txBox="1"/>
            <p:nvPr/>
          </p:nvSpPr>
          <p:spPr>
            <a:xfrm>
              <a:off x="4661408" y="1287583"/>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Table 1</a:t>
              </a:r>
              <a:endParaRPr lang="en-US" sz="1050" dirty="0"/>
            </a:p>
          </p:txBody>
        </p:sp>
        <p:sp>
          <p:nvSpPr>
            <p:cNvPr id="33" name="Text 25"/>
            <p:cNvSpPr txBox="1"/>
            <p:nvPr/>
          </p:nvSpPr>
          <p:spPr>
            <a:xfrm>
              <a:off x="5515254" y="1252154"/>
              <a:ext cx="3080106" cy="318859"/>
            </a:xfrm>
            <a:prstGeom prst="rect">
              <a:avLst/>
            </a:prstGeom>
            <a:noFill/>
            <a:ln/>
          </p:spPr>
          <p:txBody>
            <a:bodyPr wrap="square" lIns="0" tIns="0" rIns="0" bIns="0" rtlCol="0" anchor="ctr"/>
            <a:lstStyle/>
            <a:p>
              <a:pPr marL="0" indent="0">
                <a:buNone/>
              </a:pPr>
              <a:r>
                <a:rPr lang="en-US" sz="1250" b="1" dirty="0">
                  <a:solidFill>
                    <a:srgbClr val="154734"/>
                  </a:solidFill>
                  <a:latin typeface="Calibri" pitchFamily="34" charset="0"/>
                  <a:ea typeface="Calibri" pitchFamily="34" charset="-122"/>
                  <a:cs typeface="Calibri" pitchFamily="34" charset="-120"/>
                </a:rPr>
                <a:t>Biosensor performance by generation</a:t>
              </a:r>
              <a:endParaRPr lang="en-US" sz="1250" dirty="0"/>
            </a:p>
          </p:txBody>
        </p:sp>
      </p:gr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661408" y="1677300"/>
          <a:ext cx="3933953" cy="1629724"/>
        </p:xfrm>
        <a:graphic>
          <a:graphicData uri="http://schemas.openxmlformats.org/drawingml/2006/table">
            <a:tbl>
              <a:tblPr/>
              <a:tblGrid>
                <a:gridCol w="822554">
                  <a:extLst>
                    <a:ext uri="{9D8B030D-6E8A-4147-A177-3AD203B41FA5}">
                      <a16:colId xmlns:a16="http://schemas.microsoft.com/office/drawing/2014/main" val="20000"/>
                    </a:ext>
                  </a:extLst>
                </a:gridCol>
                <a:gridCol w="679501">
                  <a:extLst>
                    <a:ext uri="{9D8B030D-6E8A-4147-A177-3AD203B41FA5}">
                      <a16:colId xmlns:a16="http://schemas.microsoft.com/office/drawing/2014/main" val="20001"/>
                    </a:ext>
                  </a:extLst>
                </a:gridCol>
                <a:gridCol w="751027">
                  <a:extLst>
                    <a:ext uri="{9D8B030D-6E8A-4147-A177-3AD203B41FA5}">
                      <a16:colId xmlns:a16="http://schemas.microsoft.com/office/drawing/2014/main" val="20002"/>
                    </a:ext>
                  </a:extLst>
                </a:gridCol>
                <a:gridCol w="768909">
                  <a:extLst>
                    <a:ext uri="{9D8B030D-6E8A-4147-A177-3AD203B41FA5}">
                      <a16:colId xmlns:a16="http://schemas.microsoft.com/office/drawing/2014/main" val="20003"/>
                    </a:ext>
                  </a:extLst>
                </a:gridCol>
                <a:gridCol w="911962">
                  <a:extLst>
                    <a:ext uri="{9D8B030D-6E8A-4147-A177-3AD203B41FA5}">
                      <a16:colId xmlns:a16="http://schemas.microsoft.com/office/drawing/2014/main" val="20004"/>
                    </a:ext>
                  </a:extLst>
                </a:gridCol>
              </a:tblGrid>
              <a:tr h="407431">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Generation</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Response</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Sensitivity</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Stability</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Selectivity</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extLst>
                  <a:ext uri="{0D108BD9-81ED-4DB2-BD59-A6C34878D82A}">
                    <a16:rowId xmlns:a16="http://schemas.microsoft.com/office/drawing/2014/main" val="10000"/>
                  </a:ext>
                </a:extLst>
              </a:tr>
              <a:tr h="407431">
                <a:tc>
                  <a:txBody>
                    <a:bodyPr/>
                    <a:lstStyle/>
                    <a:p>
                      <a:pPr marL="0" indent="0">
                        <a:buNone/>
                      </a:pPr>
                      <a:r>
                        <a:rPr lang="en-US" sz="1000" b="1" dirty="0">
                          <a:solidFill>
                            <a:srgbClr val="333333"/>
                          </a:solidFill>
                          <a:latin typeface="Calibri" pitchFamily="34" charset="0"/>
                          <a:ea typeface="Calibri" pitchFamily="34" charset="-122"/>
                          <a:cs typeface="Calibri" pitchFamily="34" charset="-120"/>
                        </a:rPr>
                        <a:t>2000–2010</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&gt; 30 s</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µM–mM</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Hours–days</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Antibody</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extLst>
                  <a:ext uri="{0D108BD9-81ED-4DB2-BD59-A6C34878D82A}">
                    <a16:rowId xmlns:a16="http://schemas.microsoft.com/office/drawing/2014/main" val="10001"/>
                  </a:ext>
                </a:extLst>
              </a:tr>
              <a:tr h="407431">
                <a:tc>
                  <a:txBody>
                    <a:bodyPr/>
                    <a:lstStyle/>
                    <a:p>
                      <a:pPr marL="0" indent="0">
                        <a:buNone/>
                      </a:pPr>
                      <a:r>
                        <a:rPr lang="en-US" sz="1000" b="1" dirty="0">
                          <a:solidFill>
                            <a:srgbClr val="333333"/>
                          </a:solidFill>
                          <a:latin typeface="Calibri" pitchFamily="34" charset="0"/>
                          <a:ea typeface="Calibri" pitchFamily="34" charset="-122"/>
                          <a:cs typeface="Calibri" pitchFamily="34" charset="-120"/>
                        </a:rPr>
                        <a:t>2010–2020</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2–10 s</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nM–µM</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Weeks</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Aptamer / MIP</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7431">
                <a:tc>
                  <a:txBody>
                    <a:bodyPr/>
                    <a:lstStyle/>
                    <a:p>
                      <a:pPr marL="0" indent="0">
                        <a:buNone/>
                      </a:pPr>
                      <a:r>
                        <a:rPr lang="en-US" sz="1000" b="1" dirty="0">
                          <a:solidFill>
                            <a:srgbClr val="333333"/>
                          </a:solidFill>
                          <a:latin typeface="Calibri" pitchFamily="34" charset="0"/>
                          <a:ea typeface="Calibri" pitchFamily="34" charset="-122"/>
                          <a:cs typeface="Calibri" pitchFamily="34" charset="-120"/>
                        </a:rPr>
                        <a:t>2020–now</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&lt; 1 s</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pM–nM</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B3261E"/>
                          </a:solidFill>
                          <a:latin typeface="Calibri" pitchFamily="34" charset="0"/>
                          <a:ea typeface="Calibri" pitchFamily="34" charset="-122"/>
                          <a:cs typeface="Calibri" pitchFamily="34" charset="-120"/>
                        </a:rPr>
                        <a:t>Months</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1000" dirty="0">
                          <a:solidFill>
                            <a:srgbClr val="333333"/>
                          </a:solidFill>
                          <a:latin typeface="Calibri" pitchFamily="34" charset="0"/>
                          <a:ea typeface="Calibri" pitchFamily="34" charset="-122"/>
                          <a:cs typeface="Calibri" pitchFamily="34" charset="-120"/>
                        </a:rPr>
                        <a:t>AI multimodal</a:t>
                      </a:r>
                      <a:endParaRPr lang="en-US" sz="1000" dirty="0">
                        <a:latin typeface="Calibri" charset="0"/>
                        <a:ea typeface="Calibri" charset="0"/>
                        <a:cs typeface="Calibri" charset="0"/>
                      </a:endParaRPr>
                    </a:p>
                  </a:txBody>
                  <a:tcPr marL="54864" marR="54864" marT="27432" marB="27432"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extLst>
                  <a:ext uri="{0D108BD9-81ED-4DB2-BD59-A6C34878D82A}">
                    <a16:rowId xmlns:a16="http://schemas.microsoft.com/office/drawing/2014/main" val="10003"/>
                  </a:ext>
                </a:extLst>
              </a:tr>
            </a:tbl>
          </a:graphicData>
        </a:graphic>
      </p:graphicFrame>
      <p:grpSp>
        <p:nvGrpSpPr>
          <p:cNvPr id="40" name="Group 39">
            <a:extLst>
              <a:ext uri="{FF2B5EF4-FFF2-40B4-BE49-F238E27FC236}">
                <a16:creationId xmlns:a16="http://schemas.microsoft.com/office/drawing/2014/main" id="{BCCC17FC-4CDF-B3C3-6984-42673641AE73}"/>
              </a:ext>
            </a:extLst>
          </p:cNvPr>
          <p:cNvGrpSpPr/>
          <p:nvPr/>
        </p:nvGrpSpPr>
        <p:grpSpPr>
          <a:xfrm>
            <a:off x="4661408" y="3448739"/>
            <a:ext cx="3933952" cy="2550873"/>
            <a:chOff x="4661408" y="3448739"/>
            <a:chExt cx="3933952" cy="2550873"/>
          </a:xfrm>
        </p:grpSpPr>
        <p:sp>
          <p:nvSpPr>
            <p:cNvPr id="35" name="Text 26"/>
            <p:cNvSpPr txBox="1"/>
            <p:nvPr/>
          </p:nvSpPr>
          <p:spPr>
            <a:xfrm>
              <a:off x="4661408" y="3448739"/>
              <a:ext cx="3933952" cy="620004"/>
            </a:xfrm>
            <a:prstGeom prst="rect">
              <a:avLst/>
            </a:prstGeom>
            <a:noFill/>
            <a:ln/>
          </p:spPr>
          <p:txBody>
            <a:bodyPr wrap="square" lIns="0" tIns="0" rIns="0" bIns="0" rtlCol="0" anchor="t"/>
            <a:lstStyle/>
            <a:p>
              <a:pPr marL="0" indent="0">
                <a:buNone/>
              </a:pPr>
              <a:r>
                <a:rPr lang="en-US" sz="1100" dirty="0">
                  <a:solidFill>
                    <a:srgbClr val="333333"/>
                  </a:solidFill>
                  <a:latin typeface="Calibri" pitchFamily="34" charset="0"/>
                  <a:ea typeface="Calibri" pitchFamily="34" charset="-122"/>
                  <a:cs typeface="Calibri" pitchFamily="34" charset="-120"/>
                </a:rPr>
                <a:t>Authors' takeaway: speed, detection limit and stability improve together only when materials, interface and AI are co-designed.</a:t>
              </a:r>
              <a:endParaRPr lang="en-US" sz="1100" dirty="0"/>
            </a:p>
          </p:txBody>
        </p:sp>
        <p:sp>
          <p:nvSpPr>
            <p:cNvPr id="36" name="Shape 27"/>
            <p:cNvSpPr/>
            <p:nvPr/>
          </p:nvSpPr>
          <p:spPr>
            <a:xfrm>
              <a:off x="4661408" y="4157315"/>
              <a:ext cx="3933952" cy="1842297"/>
            </a:xfrm>
            <a:prstGeom prst="roundRect">
              <a:avLst>
                <a:gd name="adj" fmla="val 3474"/>
              </a:avLst>
            </a:prstGeom>
            <a:solidFill>
              <a:srgbClr val="FBEAE8"/>
            </a:solidFill>
            <a:ln w="9525">
              <a:solidFill>
                <a:srgbClr val="FBEAE8"/>
              </a:solidFill>
              <a:prstDash val="solid"/>
            </a:ln>
          </p:spPr>
          <p:txBody>
            <a:bodyPr/>
            <a:lstStyle/>
            <a:p>
              <a:endParaRPr lang="en-US"/>
            </a:p>
          </p:txBody>
        </p:sp>
        <p:sp>
          <p:nvSpPr>
            <p:cNvPr id="37" name="Text 28"/>
            <p:cNvSpPr txBox="1"/>
            <p:nvPr/>
          </p:nvSpPr>
          <p:spPr>
            <a:xfrm>
              <a:off x="4795520" y="4210458"/>
              <a:ext cx="3683610" cy="1736010"/>
            </a:xfrm>
            <a:prstGeom prst="rect">
              <a:avLst/>
            </a:prstGeom>
            <a:noFill/>
            <a:ln/>
          </p:spPr>
          <p:txBody>
            <a:bodyPr wrap="square" lIns="0" tIns="0" rIns="0" bIns="0" rtlCol="0" anchor="ctr"/>
            <a:lstStyle/>
            <a:p>
              <a:pPr marL="0" indent="0" algn="just">
                <a:buNone/>
              </a:pPr>
              <a:r>
                <a:rPr lang="en-US" sz="1400" b="1" dirty="0">
                  <a:solidFill>
                    <a:srgbClr val="B3261E"/>
                  </a:solidFill>
                  <a:latin typeface="Calibri" pitchFamily="34" charset="0"/>
                  <a:ea typeface="Calibri" pitchFamily="34" charset="-122"/>
                  <a:cs typeface="Calibri" pitchFamily="34" charset="-120"/>
                </a:rPr>
                <a:t>My check: </a:t>
              </a:r>
              <a:r>
                <a:rPr lang="en-US" sz="1400" dirty="0">
                  <a:solidFill>
                    <a:srgbClr val="333333"/>
                  </a:solidFill>
                  <a:latin typeface="Calibri" pitchFamily="34" charset="0"/>
                  <a:ea typeface="Calibri" pitchFamily="34" charset="-122"/>
                  <a:cs typeface="Calibri" pitchFamily="34" charset="-120"/>
                </a:rPr>
                <a:t>Table 1 is uncited. Stability of months fits implants (Eversense 365 CGM lasts 1 year; FDA-cleared Sept 2024), not typical epidermal sweat sensors, which are validated over hours to days. The text gives &lt; 5 s for gen 2, but the table says 2–10 s.</a:t>
              </a:r>
              <a:endParaRPr lang="en-US" sz="1400" dirty="0"/>
            </a:p>
          </p:txBody>
        </p:sp>
      </p:grpSp>
      <p:sp>
        <p:nvSpPr>
          <p:cNvPr id="38"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8</a:t>
            </a:fld>
            <a:endParaRPr lang="en-US">
              <a:solidFill>
                <a:srgbClr val="FFFFFF"/>
              </a:solidFill>
              <a:latin typeface="Arial" panose="020B0604020202020204"/>
            </a:endParaRPr>
          </a:p>
        </p:txBody>
      </p:sp>
      <p:sp>
        <p:nvSpPr>
          <p:cNvPr id="39"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TABLE 2 · FIGURE 6</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Materials and power set the performance ceiling</a:t>
            </a:r>
            <a:endParaRPr lang="en-US" sz="2400" dirty="0">
              <a:solidFill>
                <a:schemeClr val="accent5"/>
              </a:solidFill>
            </a:endParaRPr>
          </a:p>
        </p:txBody>
      </p:sp>
      <p:sp>
        <p:nvSpPr>
          <p:cNvPr id="5" name="Shape 0"/>
          <p:cNvSpPr/>
          <p:nvPr/>
        </p:nvSpPr>
        <p:spPr>
          <a:xfrm>
            <a:off x="548640" y="1287583"/>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grpSp>
        <p:nvGrpSpPr>
          <p:cNvPr id="20" name="Group 19">
            <a:extLst>
              <a:ext uri="{FF2B5EF4-FFF2-40B4-BE49-F238E27FC236}">
                <a16:creationId xmlns:a16="http://schemas.microsoft.com/office/drawing/2014/main" id="{D7636FB6-6F03-8F61-2C85-9E76872CF015}"/>
              </a:ext>
            </a:extLst>
          </p:cNvPr>
          <p:cNvGrpSpPr/>
          <p:nvPr/>
        </p:nvGrpSpPr>
        <p:grpSpPr>
          <a:xfrm>
            <a:off x="548640" y="1234440"/>
            <a:ext cx="4738624" cy="354288"/>
            <a:chOff x="548640" y="1234440"/>
            <a:chExt cx="4738624" cy="354288"/>
          </a:xfrm>
        </p:grpSpPr>
        <p:sp>
          <p:nvSpPr>
            <p:cNvPr id="6" name="Text 1"/>
            <p:cNvSpPr txBox="1"/>
            <p:nvPr/>
          </p:nvSpPr>
          <p:spPr>
            <a:xfrm>
              <a:off x="548640" y="1287583"/>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Table 2</a:t>
              </a:r>
              <a:endParaRPr lang="en-US" sz="1050" dirty="0"/>
            </a:p>
          </p:txBody>
        </p:sp>
        <p:sp>
          <p:nvSpPr>
            <p:cNvPr id="7" name="Text 2"/>
            <p:cNvSpPr txBox="1"/>
            <p:nvPr/>
          </p:nvSpPr>
          <p:spPr>
            <a:xfrm>
              <a:off x="1402486" y="1234440"/>
              <a:ext cx="3884778" cy="354288"/>
            </a:xfrm>
            <a:prstGeom prst="rect">
              <a:avLst/>
            </a:prstGeom>
            <a:noFill/>
            <a:ln/>
          </p:spPr>
          <p:txBody>
            <a:bodyPr wrap="square" lIns="0" tIns="0" rIns="0" bIns="0" rtlCol="0" anchor="ctr"/>
            <a:lstStyle/>
            <a:p>
              <a:pPr marL="0" indent="0">
                <a:buNone/>
              </a:pPr>
              <a:r>
                <a:rPr lang="en-US" sz="1150" b="1" dirty="0">
                  <a:solidFill>
                    <a:srgbClr val="154734"/>
                  </a:solidFill>
                  <a:latin typeface="Calibri" pitchFamily="34" charset="0"/>
                  <a:ea typeface="Calibri" pitchFamily="34" charset="-122"/>
                  <a:cs typeface="Calibri" pitchFamily="34" charset="-120"/>
                </a:rPr>
                <a:t>Eight materials: key property, typical use, main limitation</a:t>
              </a:r>
              <a:endParaRPr lang="en-US" sz="1150" dirty="0"/>
            </a:p>
          </p:txBody>
        </p:sp>
      </p:gr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59585"/>
          <a:ext cx="4738624" cy="3507453"/>
        </p:xfrm>
        <a:graphic>
          <a:graphicData uri="http://schemas.openxmlformats.org/drawingml/2006/table">
            <a:tbl>
              <a:tblPr/>
              <a:tblGrid>
                <a:gridCol w="1001370">
                  <a:extLst>
                    <a:ext uri="{9D8B030D-6E8A-4147-A177-3AD203B41FA5}">
                      <a16:colId xmlns:a16="http://schemas.microsoft.com/office/drawing/2014/main" val="20000"/>
                    </a:ext>
                  </a:extLst>
                </a:gridCol>
                <a:gridCol w="1296416">
                  <a:extLst>
                    <a:ext uri="{9D8B030D-6E8A-4147-A177-3AD203B41FA5}">
                      <a16:colId xmlns:a16="http://schemas.microsoft.com/office/drawing/2014/main" val="20001"/>
                    </a:ext>
                  </a:extLst>
                </a:gridCol>
                <a:gridCol w="1296416">
                  <a:extLst>
                    <a:ext uri="{9D8B030D-6E8A-4147-A177-3AD203B41FA5}">
                      <a16:colId xmlns:a16="http://schemas.microsoft.com/office/drawing/2014/main" val="20002"/>
                    </a:ext>
                  </a:extLst>
                </a:gridCol>
                <a:gridCol w="1144422">
                  <a:extLst>
                    <a:ext uri="{9D8B030D-6E8A-4147-A177-3AD203B41FA5}">
                      <a16:colId xmlns:a16="http://schemas.microsoft.com/office/drawing/2014/main" val="20003"/>
                    </a:ext>
                  </a:extLst>
                </a:gridCol>
              </a:tblGrid>
              <a:tr h="389717">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Material</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Key property</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Typical use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Main limitation</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extLst>
                  <a:ext uri="{0D108BD9-81ED-4DB2-BD59-A6C34878D82A}">
                    <a16:rowId xmlns:a16="http://schemas.microsoft.com/office/drawing/2014/main" val="10000"/>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Graphene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High conductivity, ultrathin</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ECG, sweat, strain sensors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Costly, complex fabrication</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extLst>
                  <a:ext uri="{0D108BD9-81ED-4DB2-BD59-A6C34878D82A}">
                    <a16:rowId xmlns:a16="http://schemas.microsoft.com/office/drawing/2014/main" val="10001"/>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PDMS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Stretchable, inert</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Substrates, epidermal patches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Insulating; needs composites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PEDOT:PSS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100–1000 S/cm, printable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OECTs, neural interfaces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Humidity-sensitive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extLst>
                  <a:ext uri="{0D108BD9-81ED-4DB2-BD59-A6C34878D82A}">
                    <a16:rowId xmlns:a16="http://schemas.microsoft.com/office/drawing/2014/main" val="10003"/>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Hydrogels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Tissue-soft (kPa), self-healing</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Wounds, drug delivery</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Dehydrates over time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Ag nanowires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~10⁶ S/m, &gt;90% transparent</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Transparent electrodes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Oxidation, cytotoxicity</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extLst>
                  <a:ext uri="{0D108BD9-81ED-4DB2-BD59-A6C34878D82A}">
                    <a16:rowId xmlns:a16="http://schemas.microsoft.com/office/drawing/2014/main" val="10005"/>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Ecoflex</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Up to 900% strain</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Motion sensors, soft robotics</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Non-conductive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MXene (Ti₃C₂Tₓ)</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Metallic, hydrophilic</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Energy storage, multimodal</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Oxidation, scale-up</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4F6F5"/>
                    </a:solidFill>
                  </a:tcPr>
                </a:tc>
                <a:extLst>
                  <a:ext uri="{0D108BD9-81ED-4DB2-BD59-A6C34878D82A}">
                    <a16:rowId xmlns:a16="http://schemas.microsoft.com/office/drawing/2014/main" val="10007"/>
                  </a:ext>
                </a:extLst>
              </a:tr>
              <a:tr h="389717">
                <a:tc>
                  <a:txBody>
                    <a:bodyPr/>
                    <a:lstStyle/>
                    <a:p>
                      <a:pPr marL="0" indent="0">
                        <a:buNone/>
                      </a:pPr>
                      <a:r>
                        <a:rPr lang="en-US" sz="950" b="1" dirty="0">
                          <a:solidFill>
                            <a:srgbClr val="333333"/>
                          </a:solidFill>
                          <a:latin typeface="Calibri" pitchFamily="34" charset="0"/>
                          <a:ea typeface="Calibri" pitchFamily="34" charset="-122"/>
                          <a:cs typeface="Calibri" pitchFamily="34" charset="-120"/>
                        </a:rPr>
                        <a:t>Cellulose NF</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333333"/>
                          </a:solidFill>
                          <a:latin typeface="Calibri" pitchFamily="34" charset="0"/>
                          <a:ea typeface="Calibri" pitchFamily="34" charset="-122"/>
                          <a:cs typeface="Calibri" pitchFamily="34" charset="-120"/>
                        </a:rPr>
                        <a:t>Biodegradable, low cost</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B3261E"/>
                          </a:solidFill>
                          <a:latin typeface="Calibri" pitchFamily="34" charset="0"/>
                          <a:ea typeface="Calibri" pitchFamily="34" charset="-122"/>
                          <a:cs typeface="Calibri" pitchFamily="34" charset="-120"/>
                        </a:rPr>
                        <a:t>— (row incomplete)</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950" dirty="0">
                          <a:solidFill>
                            <a:srgbClr val="B3261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18288" marB="18288"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9" name="Text 3"/>
          <p:cNvSpPr txBox="1"/>
          <p:nvPr/>
        </p:nvSpPr>
        <p:spPr>
          <a:xfrm>
            <a:off x="548640" y="5308750"/>
            <a:ext cx="4738624" cy="664290"/>
          </a:xfrm>
          <a:prstGeom prst="rect">
            <a:avLst/>
          </a:prstGeom>
          <a:noFill/>
          <a:ln/>
        </p:spPr>
        <p:txBody>
          <a:bodyPr wrap="square" lIns="0" tIns="0" rIns="0" bIns="0" rtlCol="0" anchor="t"/>
          <a:lstStyle/>
          <a:p>
            <a:pPr marL="0" indent="0">
              <a:buNone/>
            </a:pPr>
            <a:r>
              <a:rPr lang="en-US" sz="1050" b="1" dirty="0">
                <a:solidFill>
                  <a:srgbClr val="B3261E"/>
                </a:solidFill>
                <a:latin typeface="Calibri" pitchFamily="34" charset="0"/>
                <a:ea typeface="Calibri" pitchFamily="34" charset="-122"/>
                <a:cs typeface="Calibri" pitchFamily="34" charset="-120"/>
              </a:rPr>
              <a:t>Technical note: </a:t>
            </a:r>
            <a:r>
              <a:rPr lang="en-US" sz="1050" dirty="0">
                <a:solidFill>
                  <a:srgbClr val="333333"/>
                </a:solidFill>
                <a:latin typeface="Calibri" pitchFamily="34" charset="0"/>
                <a:ea typeface="Calibri" pitchFamily="34" charset="-122"/>
                <a:cs typeface="Calibri" pitchFamily="34" charset="-120"/>
              </a:rPr>
              <a:t>Table 2 lists a glucose detection range (0.1–10 µM) as "sensitivity". Sensitivity is the calibration slope (e.g., µA·mM⁻¹·cm⁻²), not a range.</a:t>
            </a:r>
            <a:endParaRPr lang="en-US" sz="1050" dirty="0"/>
          </a:p>
        </p:txBody>
      </p:sp>
      <p:grpSp>
        <p:nvGrpSpPr>
          <p:cNvPr id="18" name="Group 17">
            <a:extLst>
              <a:ext uri="{FF2B5EF4-FFF2-40B4-BE49-F238E27FC236}">
                <a16:creationId xmlns:a16="http://schemas.microsoft.com/office/drawing/2014/main" id="{032D5268-9FED-7BB4-543F-CE29E7BD0D03}"/>
              </a:ext>
            </a:extLst>
          </p:cNvPr>
          <p:cNvGrpSpPr/>
          <p:nvPr/>
        </p:nvGrpSpPr>
        <p:grpSpPr>
          <a:xfrm>
            <a:off x="5466080" y="1252154"/>
            <a:ext cx="3129280" cy="4340026"/>
            <a:chOff x="5466080" y="1252154"/>
            <a:chExt cx="3129280" cy="4340026"/>
          </a:xfrm>
        </p:grpSpPr>
        <p:sp>
          <p:nvSpPr>
            <p:cNvPr id="10" name="Shape 4"/>
            <p:cNvSpPr/>
            <p:nvPr/>
          </p:nvSpPr>
          <p:spPr>
            <a:xfrm>
              <a:off x="5466080" y="1252154"/>
              <a:ext cx="3129280" cy="4340026"/>
            </a:xfrm>
            <a:prstGeom prst="roundRect">
              <a:avLst>
                <a:gd name="adj" fmla="val 2045"/>
              </a:avLst>
            </a:prstGeom>
            <a:solidFill>
              <a:srgbClr val="F4F6F5"/>
            </a:solidFill>
            <a:ln w="9525">
              <a:solidFill>
                <a:srgbClr val="F4F6F5"/>
              </a:solidFill>
              <a:prstDash val="solid"/>
            </a:ln>
          </p:spPr>
          <p:txBody>
            <a:bodyPr/>
            <a:lstStyle/>
            <a:p>
              <a:endParaRPr lang="en-US"/>
            </a:p>
          </p:txBody>
        </p:sp>
        <p:sp>
          <p:nvSpPr>
            <p:cNvPr id="11" name="Shape 5"/>
            <p:cNvSpPr/>
            <p:nvPr/>
          </p:nvSpPr>
          <p:spPr>
            <a:xfrm>
              <a:off x="5573370" y="1358441"/>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12" name="Text 6"/>
            <p:cNvSpPr txBox="1"/>
            <p:nvPr/>
          </p:nvSpPr>
          <p:spPr>
            <a:xfrm>
              <a:off x="5573370" y="1358441"/>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6</a:t>
              </a:r>
              <a:endParaRPr lang="en-US" sz="1050" dirty="0"/>
            </a:p>
          </p:txBody>
        </p:sp>
        <p:pic>
          <p:nvPicPr>
            <p:cNvPr id="13" name="Image 0" descr="fig6"/>
            <p:cNvPicPr>
              <a:picLocks noChangeAspect="1"/>
            </p:cNvPicPr>
            <p:nvPr/>
          </p:nvPicPr>
          <p:blipFill>
            <a:blip r:embed="rId3"/>
            <a:stretch>
              <a:fillRect/>
            </a:stretch>
          </p:blipFill>
          <p:spPr>
            <a:xfrm>
              <a:off x="5586997" y="1838625"/>
              <a:ext cx="2887446" cy="1661361"/>
            </a:xfrm>
            <a:prstGeom prst="rect">
              <a:avLst/>
            </a:prstGeom>
          </p:spPr>
        </p:pic>
        <p:sp>
          <p:nvSpPr>
            <p:cNvPr id="14" name="Text 7"/>
            <p:cNvSpPr txBox="1"/>
            <p:nvPr/>
          </p:nvSpPr>
          <p:spPr>
            <a:xfrm>
              <a:off x="5600192" y="3537311"/>
              <a:ext cx="2861056" cy="26571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Self-powering chain</a:t>
              </a:r>
              <a:endParaRPr lang="en-US" sz="1300" dirty="0"/>
            </a:p>
          </p:txBody>
        </p:sp>
        <p:sp>
          <p:nvSpPr>
            <p:cNvPr id="15" name="Text 8"/>
            <p:cNvSpPr txBox="1"/>
            <p:nvPr/>
          </p:nvSpPr>
          <p:spPr>
            <a:xfrm>
              <a:off x="5600192" y="3847313"/>
              <a:ext cx="2861056" cy="1682867"/>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Harvest (photovoltaic, biofuel cell, thermoelectric, piezo- and triboelectric nanogenerators, RF, electromagnetic, and hybrids) → convert → store (supercapacitor or battery) → power the sensor. Harvested power is small, so on-device AI must fit a milliwatt budget.</a:t>
              </a:r>
              <a:endParaRPr lang="en-US" sz="1050" dirty="0"/>
            </a:p>
          </p:txBody>
        </p:sp>
      </p:grpSp>
      <p:sp>
        <p:nvSpPr>
          <p:cNvPr id="1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9</a:t>
            </a:fld>
            <a:endParaRPr lang="en-US">
              <a:solidFill>
                <a:srgbClr val="FFFFFF"/>
              </a:solidFill>
              <a:latin typeface="Arial" panose="020B0604020202020204"/>
            </a:endParaRPr>
          </a:p>
        </p:txBody>
      </p:sp>
      <p:sp>
        <p:nvSpPr>
          <p:cNvPr id="1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&amp; MATERIALS · METHODS &amp; ALGORITHMS · TABLE 3</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Table 3: which algorithm for which task?</a:t>
            </a:r>
            <a:endParaRPr lang="en-US" sz="2400" dirty="0">
              <a:solidFill>
                <a:schemeClr val="accent5"/>
              </a:solidFill>
            </a:endParaRPr>
          </a:p>
        </p:txBody>
      </p:sp>
      <p:grpSp>
        <p:nvGrpSpPr>
          <p:cNvPr id="36" name="Group 35">
            <a:extLst>
              <a:ext uri="{FF2B5EF4-FFF2-40B4-BE49-F238E27FC236}">
                <a16:creationId xmlns:a16="http://schemas.microsoft.com/office/drawing/2014/main" id="{F3143C07-E457-B72C-5EC7-FF966BD1EE75}"/>
              </a:ext>
            </a:extLst>
          </p:cNvPr>
          <p:cNvGrpSpPr/>
          <p:nvPr/>
        </p:nvGrpSpPr>
        <p:grpSpPr>
          <a:xfrm>
            <a:off x="548640" y="1057296"/>
            <a:ext cx="8046720" cy="318859"/>
            <a:chOff x="548640" y="1057296"/>
            <a:chExt cx="8046720" cy="318859"/>
          </a:xfrm>
        </p:grpSpPr>
        <p:sp>
          <p:nvSpPr>
            <p:cNvPr id="5" name="Shape 0"/>
            <p:cNvSpPr/>
            <p:nvPr/>
          </p:nvSpPr>
          <p:spPr>
            <a:xfrm>
              <a:off x="548640" y="1092725"/>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6" name="Text 1"/>
            <p:cNvSpPr txBox="1"/>
            <p:nvPr/>
          </p:nvSpPr>
          <p:spPr>
            <a:xfrm>
              <a:off x="548640" y="1092725"/>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Table 3</a:t>
              </a:r>
              <a:endParaRPr lang="en-US" sz="1050" dirty="0"/>
            </a:p>
          </p:txBody>
        </p:sp>
        <p:sp>
          <p:nvSpPr>
            <p:cNvPr id="7" name="Text 2"/>
            <p:cNvSpPr txBox="1"/>
            <p:nvPr/>
          </p:nvSpPr>
          <p:spPr>
            <a:xfrm>
              <a:off x="1402486" y="1057296"/>
              <a:ext cx="1788160" cy="318859"/>
            </a:xfrm>
            <a:prstGeom prst="rect">
              <a:avLst/>
            </a:prstGeom>
            <a:noFill/>
            <a:ln/>
          </p:spPr>
          <p:txBody>
            <a:bodyPr wrap="square" lIns="0" tIns="0" rIns="0" bIns="0" rtlCol="0" anchor="ctr"/>
            <a:lstStyle/>
            <a:p>
              <a:pPr marL="0" indent="0">
                <a:buNone/>
              </a:pPr>
              <a:r>
                <a:rPr lang="en-US" sz="1150" b="1" dirty="0">
                  <a:solidFill>
                    <a:srgbClr val="154734"/>
                  </a:solidFill>
                  <a:latin typeface="Calibri" pitchFamily="34" charset="0"/>
                  <a:ea typeface="Calibri" pitchFamily="34" charset="-122"/>
                  <a:cs typeface="Calibri" pitchFamily="34" charset="-120"/>
                </a:rPr>
                <a:t>13 algorithms compared</a:t>
              </a:r>
              <a:endParaRPr lang="en-US" sz="1150" dirty="0"/>
            </a:p>
          </p:txBody>
        </p:sp>
        <p:sp>
          <p:nvSpPr>
            <p:cNvPr id="8" name="Shape 3"/>
            <p:cNvSpPr/>
            <p:nvPr/>
          </p:nvSpPr>
          <p:spPr>
            <a:xfrm>
              <a:off x="4616704" y="1101582"/>
              <a:ext cx="919114" cy="230287"/>
            </a:xfrm>
            <a:prstGeom prst="roundRect">
              <a:avLst>
                <a:gd name="adj" fmla="val 51619"/>
              </a:avLst>
            </a:prstGeom>
            <a:solidFill>
              <a:srgbClr val="E7F0EB"/>
            </a:solidFill>
            <a:ln w="6350">
              <a:solidFill>
                <a:srgbClr val="C9D3DB"/>
              </a:solidFill>
              <a:prstDash val="solid"/>
            </a:ln>
          </p:spPr>
          <p:txBody>
            <a:bodyPr/>
            <a:lstStyle/>
            <a:p>
              <a:endParaRPr lang="en-US"/>
            </a:p>
          </p:txBody>
        </p:sp>
        <p:sp>
          <p:nvSpPr>
            <p:cNvPr id="9" name="Text 4"/>
            <p:cNvSpPr txBox="1"/>
            <p:nvPr/>
          </p:nvSpPr>
          <p:spPr>
            <a:xfrm>
              <a:off x="4616704" y="1101582"/>
              <a:ext cx="919114" cy="230287"/>
            </a:xfrm>
            <a:prstGeom prst="rect">
              <a:avLst/>
            </a:prstGeom>
            <a:noFill/>
            <a:ln/>
          </p:spPr>
          <p:txBody>
            <a:bodyPr wrap="square" lIns="0" tIns="0" rIns="0" bIns="0" rtlCol="0" anchor="ctr"/>
            <a:lstStyle/>
            <a:p>
              <a:pPr marL="0" indent="0" algn="ctr">
                <a:buNone/>
              </a:pPr>
              <a:r>
                <a:rPr lang="en-US" sz="900" b="1" dirty="0">
                  <a:solidFill>
                    <a:srgbClr val="154734"/>
                  </a:solidFill>
                  <a:latin typeface="Calibri" pitchFamily="34" charset="0"/>
                  <a:ea typeface="Calibri" pitchFamily="34" charset="-122"/>
                  <a:cs typeface="Calibri" pitchFamily="34" charset="-120"/>
                </a:rPr>
                <a:t>Classical ML</a:t>
              </a:r>
              <a:endParaRPr lang="en-US" sz="900" dirty="0"/>
            </a:p>
          </p:txBody>
        </p:sp>
        <p:sp>
          <p:nvSpPr>
            <p:cNvPr id="10" name="Shape 5"/>
            <p:cNvSpPr/>
            <p:nvPr/>
          </p:nvSpPr>
          <p:spPr>
            <a:xfrm>
              <a:off x="5598404" y="1101582"/>
              <a:ext cx="976335" cy="230287"/>
            </a:xfrm>
            <a:prstGeom prst="roundRect">
              <a:avLst>
                <a:gd name="adj" fmla="val 51619"/>
              </a:avLst>
            </a:prstGeom>
            <a:solidFill>
              <a:srgbClr val="E1EEF6"/>
            </a:solidFill>
            <a:ln w="6350">
              <a:solidFill>
                <a:srgbClr val="C9D3DB"/>
              </a:solidFill>
              <a:prstDash val="solid"/>
            </a:ln>
          </p:spPr>
          <p:txBody>
            <a:bodyPr/>
            <a:lstStyle/>
            <a:p>
              <a:endParaRPr lang="en-US"/>
            </a:p>
          </p:txBody>
        </p:sp>
        <p:sp>
          <p:nvSpPr>
            <p:cNvPr id="11" name="Text 6"/>
            <p:cNvSpPr txBox="1"/>
            <p:nvPr/>
          </p:nvSpPr>
          <p:spPr>
            <a:xfrm>
              <a:off x="5598404" y="1101582"/>
              <a:ext cx="976335" cy="230287"/>
            </a:xfrm>
            <a:prstGeom prst="rect">
              <a:avLst/>
            </a:prstGeom>
            <a:noFill/>
            <a:ln/>
          </p:spPr>
          <p:txBody>
            <a:bodyPr wrap="square" lIns="0" tIns="0" rIns="0" bIns="0" rtlCol="0" anchor="ctr"/>
            <a:lstStyle/>
            <a:p>
              <a:pPr marL="0" indent="0" algn="ctr">
                <a:buNone/>
              </a:pPr>
              <a:r>
                <a:rPr lang="en-US" sz="900" b="1" dirty="0">
                  <a:solidFill>
                    <a:srgbClr val="154734"/>
                  </a:solidFill>
                  <a:latin typeface="Calibri" pitchFamily="34" charset="0"/>
                  <a:ea typeface="Calibri" pitchFamily="34" charset="-122"/>
                  <a:cs typeface="Calibri" pitchFamily="34" charset="-120"/>
                </a:rPr>
                <a:t>Deep learning</a:t>
              </a:r>
              <a:endParaRPr lang="en-US" sz="900" dirty="0"/>
            </a:p>
          </p:txBody>
        </p:sp>
        <p:sp>
          <p:nvSpPr>
            <p:cNvPr id="12" name="Shape 7"/>
            <p:cNvSpPr/>
            <p:nvPr/>
          </p:nvSpPr>
          <p:spPr>
            <a:xfrm>
              <a:off x="6637325" y="1101582"/>
              <a:ext cx="919114" cy="230287"/>
            </a:xfrm>
            <a:prstGeom prst="roundRect">
              <a:avLst>
                <a:gd name="adj" fmla="val 51619"/>
              </a:avLst>
            </a:prstGeom>
            <a:solidFill>
              <a:srgbClr val="FFF4D6"/>
            </a:solidFill>
            <a:ln w="6350">
              <a:solidFill>
                <a:srgbClr val="C9D3DB"/>
              </a:solidFill>
              <a:prstDash val="solid"/>
            </a:ln>
          </p:spPr>
          <p:txBody>
            <a:bodyPr/>
            <a:lstStyle/>
            <a:p>
              <a:endParaRPr lang="en-US"/>
            </a:p>
          </p:txBody>
        </p:sp>
        <p:sp>
          <p:nvSpPr>
            <p:cNvPr id="13" name="Text 8"/>
            <p:cNvSpPr txBox="1"/>
            <p:nvPr/>
          </p:nvSpPr>
          <p:spPr>
            <a:xfrm>
              <a:off x="6637325" y="1101582"/>
              <a:ext cx="919114" cy="230287"/>
            </a:xfrm>
            <a:prstGeom prst="rect">
              <a:avLst/>
            </a:prstGeom>
            <a:noFill/>
            <a:ln/>
          </p:spPr>
          <p:txBody>
            <a:bodyPr wrap="square" lIns="0" tIns="0" rIns="0" bIns="0" rtlCol="0" anchor="ctr"/>
            <a:lstStyle/>
            <a:p>
              <a:pPr marL="0" indent="0" algn="ctr">
                <a:buNone/>
              </a:pPr>
              <a:r>
                <a:rPr lang="en-US" sz="900" b="1" dirty="0">
                  <a:solidFill>
                    <a:srgbClr val="154734"/>
                  </a:solidFill>
                  <a:latin typeface="Calibri" pitchFamily="34" charset="0"/>
                  <a:ea typeface="Calibri" pitchFamily="34" charset="-122"/>
                  <a:cs typeface="Calibri" pitchFamily="34" charset="-120"/>
                </a:rPr>
                <a:t>Unsupervised</a:t>
              </a:r>
              <a:endParaRPr lang="en-US" sz="900" dirty="0"/>
            </a:p>
          </p:txBody>
        </p:sp>
        <p:sp>
          <p:nvSpPr>
            <p:cNvPr id="14" name="Shape 9"/>
            <p:cNvSpPr/>
            <p:nvPr/>
          </p:nvSpPr>
          <p:spPr>
            <a:xfrm>
              <a:off x="7619025" y="1101582"/>
              <a:ext cx="976335" cy="230287"/>
            </a:xfrm>
            <a:prstGeom prst="roundRect">
              <a:avLst>
                <a:gd name="adj" fmla="val 51619"/>
              </a:avLst>
            </a:prstGeom>
            <a:solidFill>
              <a:srgbClr val="FDEFE2"/>
            </a:solidFill>
            <a:ln w="6350">
              <a:solidFill>
                <a:srgbClr val="C9D3DB"/>
              </a:solidFill>
              <a:prstDash val="solid"/>
            </a:ln>
          </p:spPr>
          <p:txBody>
            <a:bodyPr/>
            <a:lstStyle/>
            <a:p>
              <a:endParaRPr lang="en-US"/>
            </a:p>
          </p:txBody>
        </p:sp>
        <p:sp>
          <p:nvSpPr>
            <p:cNvPr id="15" name="Text 10"/>
            <p:cNvSpPr txBox="1"/>
            <p:nvPr/>
          </p:nvSpPr>
          <p:spPr>
            <a:xfrm>
              <a:off x="7619025" y="1101582"/>
              <a:ext cx="976335" cy="230287"/>
            </a:xfrm>
            <a:prstGeom prst="rect">
              <a:avLst/>
            </a:prstGeom>
            <a:noFill/>
            <a:ln/>
          </p:spPr>
          <p:txBody>
            <a:bodyPr wrap="square" lIns="0" tIns="0" rIns="0" bIns="0" rtlCol="0" anchor="ctr"/>
            <a:lstStyle/>
            <a:p>
              <a:pPr marL="0" indent="0" algn="ctr">
                <a:buNone/>
              </a:pPr>
              <a:r>
                <a:rPr lang="en-US" sz="900" b="1" dirty="0">
                  <a:solidFill>
                    <a:srgbClr val="154734"/>
                  </a:solidFill>
                  <a:latin typeface="Calibri" pitchFamily="34" charset="0"/>
                  <a:ea typeface="Calibri" pitchFamily="34" charset="-122"/>
                  <a:cs typeface="Calibri" pitchFamily="34" charset="-120"/>
                </a:rPr>
                <a:t>Reinforcement</a:t>
              </a:r>
              <a:endParaRPr lang="en-US" sz="900" dirty="0"/>
            </a:p>
          </p:txBody>
        </p:sp>
      </p:gr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6155"/>
          <a:ext cx="8046720" cy="3632682"/>
        </p:xfrm>
        <a:graphic>
          <a:graphicData uri="http://schemas.openxmlformats.org/drawingml/2006/table">
            <a:tbl>
              <a:tblPr/>
              <a:tblGrid>
                <a:gridCol w="1430528">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2145792">
                  <a:extLst>
                    <a:ext uri="{9D8B030D-6E8A-4147-A177-3AD203B41FA5}">
                      <a16:colId xmlns:a16="http://schemas.microsoft.com/office/drawing/2014/main" val="20002"/>
                    </a:ext>
                  </a:extLst>
                </a:gridCol>
                <a:gridCol w="2145792">
                  <a:extLst>
                    <a:ext uri="{9D8B030D-6E8A-4147-A177-3AD203B41FA5}">
                      <a16:colId xmlns:a16="http://schemas.microsoft.com/office/drawing/2014/main" val="20003"/>
                    </a:ext>
                  </a:extLst>
                </a:gridCol>
              </a:tblGrid>
              <a:tr h="230287">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AI algorithm</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Healthcare applications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Advantages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tc>
                  <a:txBody>
                    <a:bodyPr/>
                    <a:lstStyle/>
                    <a:p>
                      <a:pPr marL="0" indent="0">
                        <a:buNone/>
                      </a:pPr>
                      <a:r>
                        <a:rPr lang="en-US" sz="800" b="1" dirty="0">
                          <a:solidFill>
                            <a:srgbClr val="FFFFFF"/>
                          </a:solidFill>
                          <a:latin typeface="Calibri" pitchFamily="34" charset="0"/>
                          <a:ea typeface="Calibri" pitchFamily="34" charset="-122"/>
                          <a:cs typeface="Calibri" pitchFamily="34" charset="-120"/>
                        </a:rPr>
                        <a:t>Limitations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154734"/>
                    </a:solidFill>
                  </a:tcPr>
                </a:tc>
                <a:extLst>
                  <a:ext uri="{0D108BD9-81ED-4DB2-BD59-A6C34878D82A}">
                    <a16:rowId xmlns:a16="http://schemas.microsoft.com/office/drawing/2014/main" val="10000"/>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Logistic Regression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7F0EB"/>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Disease prediction (e.g., diabetes, cancer risk); binary classification tasks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Simple, interpretable, fast training</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Limited to linear relationships; less accurate on complex data</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01"/>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Decision Trees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7F0EB"/>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Diagnostic support, triage systems, patient outcome prediction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Easy to interpret, handles categorical data well</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Prone to overfitting, less stable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Random Forest</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7F0EB"/>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Predictive modeling (e.g., ICU mortality, sepsis detection)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Robust, handles high-dimensional data, reduces overfitting</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Less interpretable than single trees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03"/>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Support Vector Machine (SVM)</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7F0EB"/>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Image classification (e.g., tumor detection), genomics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Effective in high-dimensional spaces, good for classification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Computationally intensive, less interpretable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K-Nearest Neighbors (KNN)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7F0EB"/>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Disease classification, patient similarity search</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Simple, non-parametric, intuitive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Slow with large datasets, sensitive to noise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05"/>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Naïve Bayes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7F0EB"/>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Medical text classification (e.g., clinical notes), disease diagnosis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Fast, handles missing data well, works with small datasets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Assumes feature independence (often unrealistic)</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Neural Networks (MLP)</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1EEF6"/>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Medical diagnosis, electronic health record (EHR) modeling</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Learns complex patterns, flexible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Requires large data, hard to interpret</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07"/>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Convolutional Neural Networks (CNN)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1EEF6"/>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Medical imaging (e.g., radiology, pathology), dermatology</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High accuracy for image data, automatic feature extraction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Needs large, labeled datasets, less interpretable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Recurrent Neural Networks (RNN), LSTM</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1EEF6"/>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Sequence data (e.g., EHR time-series, patient monitoring)</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Captures temporal dependencies, useful for time-series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Difficult to train, vanishing gradient issues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09"/>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Transformers (e.g., BERT, GPT)</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E1EEF6"/>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Clinical NLP, medical coding, chatbot assistants, summarizing medical records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State-of-the-art in language understanding, pre-trained models available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High computational cost, requires fine-tuning for domain-specific tasks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Reinforcement Learning</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DEFE2"/>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Treatment recommendation, personalized medicine, drug dosing optimization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Learns optimal policy, adapts to dynamic environments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Complex to design, needs reward modeling, safety concerns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11"/>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Clustering (e.g., K-means)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4D6"/>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Patient stratification, phenotype discovery, cohort analysis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Unsupervised learning, finds hidden structures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Sensitive to initialization, assumes spherical clusters</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859">
                <a:tc>
                  <a:txBody>
                    <a:bodyPr/>
                    <a:lstStyle/>
                    <a:p>
                      <a:pPr marL="0" indent="0">
                        <a:buNone/>
                      </a:pPr>
                      <a:r>
                        <a:rPr lang="en-US" sz="800" b="1" dirty="0">
                          <a:solidFill>
                            <a:srgbClr val="154734"/>
                          </a:solidFill>
                          <a:latin typeface="Calibri" pitchFamily="34" charset="0"/>
                          <a:ea typeface="Calibri" pitchFamily="34" charset="-122"/>
                          <a:cs typeface="Calibri" pitchFamily="34" charset="-120"/>
                        </a:rPr>
                        <a:t>Dimensionality Reduction (e.g., PCA, t-SNE)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FF4D6"/>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Genomic data analysis, visualization, feature selection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Reduces noise, aids visualization</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tc>
                  <a:txBody>
                    <a:bodyPr/>
                    <a:lstStyle/>
                    <a:p>
                      <a:pPr marL="0" indent="0">
                        <a:buNone/>
                      </a:pPr>
                      <a:r>
                        <a:rPr lang="en-US" sz="800" dirty="0">
                          <a:solidFill>
                            <a:srgbClr val="333333"/>
                          </a:solidFill>
                          <a:latin typeface="Calibri" pitchFamily="34" charset="0"/>
                          <a:ea typeface="Calibri" pitchFamily="34" charset="-122"/>
                          <a:cs typeface="Calibri" pitchFamily="34" charset="-120"/>
                        </a:rPr>
                        <a:t>May lose interpretability, not always preserves global structure</a:t>
                      </a:r>
                      <a:endParaRPr lang="en-US" sz="800" dirty="0">
                        <a:latin typeface="Calibri" charset="0"/>
                        <a:ea typeface="Calibri" charset="0"/>
                        <a:cs typeface="Calibri" charset="0"/>
                      </a:endParaRPr>
                    </a:p>
                  </a:txBody>
                  <a:tcPr marL="45720" marR="45720" marT="9144" marB="9144" anchor="ctr">
                    <a:lnL w="6350" cap="flat" cmpd="sng" algn="ctr">
                      <a:solidFill>
                        <a:srgbClr val="D8DDDA"/>
                      </a:solidFill>
                      <a:prstDash val="solid"/>
                      <a:round/>
                      <a:headEnd type="none" w="med" len="med"/>
                      <a:tailEnd type="none" w="med" len="med"/>
                    </a:lnL>
                    <a:lnR w="6350" cap="flat" cmpd="sng" algn="ctr">
                      <a:solidFill>
                        <a:srgbClr val="D8DDDA"/>
                      </a:solidFill>
                      <a:prstDash val="solid"/>
                      <a:round/>
                      <a:headEnd type="none" w="med" len="med"/>
                      <a:tailEnd type="none" w="med" len="med"/>
                    </a:lnR>
                    <a:lnT w="6350" cap="flat" cmpd="sng" algn="ctr">
                      <a:solidFill>
                        <a:srgbClr val="D8DDDA"/>
                      </a:solidFill>
                      <a:prstDash val="solid"/>
                      <a:round/>
                      <a:headEnd type="none" w="med" len="med"/>
                      <a:tailEnd type="none" w="med" len="med"/>
                    </a:lnT>
                    <a:lnB w="6350" cap="flat" cmpd="sng" algn="ctr">
                      <a:solidFill>
                        <a:srgbClr val="D8DDDA"/>
                      </a:solidFill>
                      <a:prstDash val="solid"/>
                      <a:round/>
                      <a:headEnd type="none" w="med" len="med"/>
                      <a:tailEnd type="none" w="med" len="med"/>
                    </a:lnB>
                    <a:solidFill>
                      <a:srgbClr val="F7F9FA"/>
                    </a:solidFill>
                  </a:tcPr>
                </a:tc>
                <a:extLst>
                  <a:ext uri="{0D108BD9-81ED-4DB2-BD59-A6C34878D82A}">
                    <a16:rowId xmlns:a16="http://schemas.microsoft.com/office/drawing/2014/main" val="10013"/>
                  </a:ext>
                </a:extLst>
              </a:tr>
            </a:tbl>
          </a:graphicData>
        </a:graphic>
      </p:graphicFrame>
      <p:grpSp>
        <p:nvGrpSpPr>
          <p:cNvPr id="37" name="Group 36">
            <a:extLst>
              <a:ext uri="{FF2B5EF4-FFF2-40B4-BE49-F238E27FC236}">
                <a16:creationId xmlns:a16="http://schemas.microsoft.com/office/drawing/2014/main" id="{13B1803C-AFF9-EC26-9F54-85CD42CAF3E5}"/>
              </a:ext>
            </a:extLst>
          </p:cNvPr>
          <p:cNvGrpSpPr/>
          <p:nvPr/>
        </p:nvGrpSpPr>
        <p:grpSpPr>
          <a:xfrm>
            <a:off x="548640" y="5147916"/>
            <a:ext cx="8046720" cy="859148"/>
            <a:chOff x="548640" y="5202464"/>
            <a:chExt cx="8046720" cy="859148"/>
          </a:xfrm>
        </p:grpSpPr>
        <p:sp>
          <p:nvSpPr>
            <p:cNvPr id="17" name="Shape 11"/>
            <p:cNvSpPr/>
            <p:nvPr/>
          </p:nvSpPr>
          <p:spPr>
            <a:xfrm>
              <a:off x="548640" y="5202464"/>
              <a:ext cx="8046720" cy="859148"/>
            </a:xfrm>
            <a:prstGeom prst="roundRect">
              <a:avLst>
                <a:gd name="adj" fmla="val 7450"/>
              </a:avLst>
            </a:prstGeom>
            <a:solidFill>
              <a:srgbClr val="F4F6F5"/>
            </a:solidFill>
            <a:ln w="9525">
              <a:solidFill>
                <a:srgbClr val="F4F6F5"/>
              </a:solidFill>
              <a:prstDash val="solid"/>
            </a:ln>
          </p:spPr>
          <p:txBody>
            <a:bodyPr/>
            <a:lstStyle/>
            <a:p>
              <a:endParaRPr lang="en-US"/>
            </a:p>
          </p:txBody>
        </p:sp>
        <p:sp>
          <p:nvSpPr>
            <p:cNvPr id="18" name="Text 12"/>
            <p:cNvSpPr txBox="1"/>
            <p:nvPr/>
          </p:nvSpPr>
          <p:spPr>
            <a:xfrm>
              <a:off x="655930" y="5202464"/>
              <a:ext cx="894080" cy="859148"/>
            </a:xfrm>
            <a:prstGeom prst="rect">
              <a:avLst/>
            </a:prstGeom>
            <a:noFill/>
            <a:ln/>
          </p:spPr>
          <p:txBody>
            <a:bodyPr wrap="square" lIns="0" tIns="0" rIns="0" bIns="0" rtlCol="0" anchor="ctr"/>
            <a:lstStyle/>
            <a:p>
              <a:pPr marL="0" indent="0">
                <a:buNone/>
              </a:pPr>
              <a:r>
                <a:rPr lang="en-US" sz="1200" b="1" dirty="0">
                  <a:solidFill>
                    <a:srgbClr val="154734"/>
                  </a:solidFill>
                  <a:latin typeface="Arial" pitchFamily="34" charset="0"/>
                  <a:ea typeface="Arial" pitchFamily="34" charset="-122"/>
                  <a:cs typeface="Arial" pitchFamily="34" charset="-120"/>
                </a:rPr>
                <a:t>Our insights</a:t>
              </a:r>
              <a:endParaRPr lang="en-US" sz="1200" dirty="0"/>
            </a:p>
          </p:txBody>
        </p:sp>
        <p:sp>
          <p:nvSpPr>
            <p:cNvPr id="19" name="Shape 13"/>
            <p:cNvSpPr/>
            <p:nvPr/>
          </p:nvSpPr>
          <p:spPr>
            <a:xfrm>
              <a:off x="1603989" y="5295464"/>
              <a:ext cx="70858" cy="70858"/>
            </a:xfrm>
            <a:prstGeom prst="ellipse">
              <a:avLst/>
            </a:prstGeom>
            <a:solidFill>
              <a:srgbClr val="154734"/>
            </a:solidFill>
            <a:ln w="12700">
              <a:solidFill>
                <a:srgbClr val="154734"/>
              </a:solidFill>
              <a:prstDash val="solid"/>
            </a:ln>
          </p:spPr>
          <p:txBody>
            <a:bodyPr/>
            <a:lstStyle/>
            <a:p>
              <a:endParaRPr lang="en-US"/>
            </a:p>
          </p:txBody>
        </p:sp>
        <p:sp>
          <p:nvSpPr>
            <p:cNvPr id="20" name="Text 14"/>
            <p:cNvSpPr txBox="1"/>
            <p:nvPr/>
          </p:nvSpPr>
          <p:spPr>
            <a:xfrm>
              <a:off x="1728826" y="5246750"/>
              <a:ext cx="1591462" cy="168287"/>
            </a:xfrm>
            <a:prstGeom prst="rect">
              <a:avLst/>
            </a:prstGeom>
            <a:noFill/>
            <a:ln/>
          </p:spPr>
          <p:txBody>
            <a:bodyPr wrap="square" lIns="0" tIns="0" rIns="0" bIns="0" rtlCol="0" anchor="ctr"/>
            <a:lstStyle/>
            <a:p>
              <a:pPr marL="0" indent="0">
                <a:buNone/>
              </a:pPr>
              <a:r>
                <a:rPr lang="en-US" sz="850" b="1" dirty="0">
                  <a:solidFill>
                    <a:srgbClr val="154734"/>
                  </a:solidFill>
                  <a:latin typeface="Calibri" pitchFamily="34" charset="0"/>
                  <a:ea typeface="Calibri" pitchFamily="34" charset="-122"/>
                  <a:cs typeface="Calibri" pitchFamily="34" charset="-120"/>
                </a:rPr>
                <a:t>Interpretability ↔ capacity</a:t>
              </a:r>
              <a:endParaRPr lang="en-US" sz="850" dirty="0"/>
            </a:p>
          </p:txBody>
        </p:sp>
        <p:sp>
          <p:nvSpPr>
            <p:cNvPr id="21" name="Text 15"/>
            <p:cNvSpPr txBox="1"/>
            <p:nvPr/>
          </p:nvSpPr>
          <p:spPr>
            <a:xfrm>
              <a:off x="3338170" y="5246750"/>
              <a:ext cx="5185664" cy="168287"/>
            </a:xfrm>
            <a:prstGeom prst="rect">
              <a:avLst/>
            </a:prstGeom>
            <a:noFill/>
            <a:ln/>
          </p:spPr>
          <p:txBody>
            <a:bodyPr wrap="square" lIns="0" tIns="0" rIns="0" bIns="0" rtlCol="0" anchor="ctr"/>
            <a:lstStyle/>
            <a:p>
              <a:pPr marL="0" indent="0">
                <a:buNone/>
              </a:pPr>
              <a:r>
                <a:rPr lang="en-US" sz="850" dirty="0">
                  <a:solidFill>
                    <a:srgbClr val="333333"/>
                  </a:solidFill>
                  <a:latin typeface="Calibri" pitchFamily="34" charset="0"/>
                  <a:ea typeface="Calibri" pitchFamily="34" charset="-122"/>
                  <a:cs typeface="Calibri" pitchFamily="34" charset="-120"/>
                </a:rPr>
                <a:t>From LR to Transformers, models gain expressiveness but lose interpretability and data efficiency.</a:t>
              </a:r>
              <a:endParaRPr lang="en-US" sz="850" dirty="0"/>
            </a:p>
          </p:txBody>
        </p:sp>
        <p:sp>
          <p:nvSpPr>
            <p:cNvPr id="22" name="Shape 16"/>
            <p:cNvSpPr/>
            <p:nvPr/>
          </p:nvSpPr>
          <p:spPr>
            <a:xfrm>
              <a:off x="1603989" y="5454894"/>
              <a:ext cx="70858" cy="70858"/>
            </a:xfrm>
            <a:prstGeom prst="ellipse">
              <a:avLst/>
            </a:prstGeom>
            <a:solidFill>
              <a:srgbClr val="2E8B57"/>
            </a:solidFill>
            <a:ln w="12700">
              <a:solidFill>
                <a:srgbClr val="2E8B57"/>
              </a:solidFill>
              <a:prstDash val="solid"/>
            </a:ln>
          </p:spPr>
          <p:txBody>
            <a:bodyPr/>
            <a:lstStyle/>
            <a:p>
              <a:endParaRPr lang="en-US"/>
            </a:p>
          </p:txBody>
        </p:sp>
        <p:sp>
          <p:nvSpPr>
            <p:cNvPr id="23" name="Text 17"/>
            <p:cNvSpPr txBox="1"/>
            <p:nvPr/>
          </p:nvSpPr>
          <p:spPr>
            <a:xfrm>
              <a:off x="1728826" y="5406179"/>
              <a:ext cx="1591462" cy="168287"/>
            </a:xfrm>
            <a:prstGeom prst="rect">
              <a:avLst/>
            </a:prstGeom>
            <a:noFill/>
            <a:ln/>
          </p:spPr>
          <p:txBody>
            <a:bodyPr wrap="square" lIns="0" tIns="0" rIns="0" bIns="0" rtlCol="0" anchor="ctr"/>
            <a:lstStyle/>
            <a:p>
              <a:pPr marL="0" indent="0">
                <a:buNone/>
              </a:pPr>
              <a:r>
                <a:rPr lang="en-US" sz="850" b="1" dirty="0">
                  <a:solidFill>
                    <a:srgbClr val="2E8B57"/>
                  </a:solidFill>
                  <a:latin typeface="Calibri" pitchFamily="34" charset="0"/>
                  <a:ea typeface="Calibri" pitchFamily="34" charset="-122"/>
                  <a:cs typeface="Calibri" pitchFamily="34" charset="-120"/>
                </a:rPr>
                <a:t>Missing: deployability</a:t>
              </a:r>
              <a:endParaRPr lang="en-US" sz="850" dirty="0"/>
            </a:p>
          </p:txBody>
        </p:sp>
        <p:sp>
          <p:nvSpPr>
            <p:cNvPr id="24" name="Text 18"/>
            <p:cNvSpPr txBox="1"/>
            <p:nvPr/>
          </p:nvSpPr>
          <p:spPr>
            <a:xfrm>
              <a:off x="3338170" y="5406179"/>
              <a:ext cx="5185664" cy="168287"/>
            </a:xfrm>
            <a:prstGeom prst="rect">
              <a:avLst/>
            </a:prstGeom>
            <a:noFill/>
            <a:ln/>
          </p:spPr>
          <p:txBody>
            <a:bodyPr wrap="square" lIns="0" tIns="0" rIns="0" bIns="0" rtlCol="0" anchor="ctr"/>
            <a:lstStyle/>
            <a:p>
              <a:pPr marL="0" indent="0">
                <a:buNone/>
              </a:pPr>
              <a:r>
                <a:rPr lang="en-US" sz="850" dirty="0">
                  <a:solidFill>
                    <a:srgbClr val="333333"/>
                  </a:solidFill>
                  <a:latin typeface="Calibri" pitchFamily="34" charset="0"/>
                  <a:ea typeface="Calibri" pitchFamily="34" charset="-122"/>
                  <a:cs typeface="Calibri" pitchFamily="34" charset="-120"/>
                </a:rPr>
                <a:t>No memory/latency/power data: trees fit MCUs, CNN/LSTM need quantization, Transformers mostly run off-device.</a:t>
              </a:r>
              <a:endParaRPr lang="en-US" sz="850" dirty="0"/>
            </a:p>
          </p:txBody>
        </p:sp>
        <p:sp>
          <p:nvSpPr>
            <p:cNvPr id="25" name="Shape 19"/>
            <p:cNvSpPr/>
            <p:nvPr/>
          </p:nvSpPr>
          <p:spPr>
            <a:xfrm>
              <a:off x="1603989" y="5614323"/>
              <a:ext cx="70858" cy="70858"/>
            </a:xfrm>
            <a:prstGeom prst="ellipse">
              <a:avLst/>
            </a:prstGeom>
            <a:solidFill>
              <a:srgbClr val="B3261E"/>
            </a:solidFill>
            <a:ln w="12700">
              <a:solidFill>
                <a:srgbClr val="B3261E"/>
              </a:solidFill>
              <a:prstDash val="solid"/>
            </a:ln>
          </p:spPr>
          <p:txBody>
            <a:bodyPr/>
            <a:lstStyle/>
            <a:p>
              <a:endParaRPr lang="en-US"/>
            </a:p>
          </p:txBody>
        </p:sp>
        <p:sp>
          <p:nvSpPr>
            <p:cNvPr id="26" name="Text 20"/>
            <p:cNvSpPr txBox="1"/>
            <p:nvPr/>
          </p:nvSpPr>
          <p:spPr>
            <a:xfrm>
              <a:off x="1728826" y="5565609"/>
              <a:ext cx="1591462" cy="168287"/>
            </a:xfrm>
            <a:prstGeom prst="rect">
              <a:avLst/>
            </a:prstGeom>
            <a:noFill/>
            <a:ln/>
          </p:spPr>
          <p:txBody>
            <a:bodyPr wrap="square" lIns="0" tIns="0" rIns="0" bIns="0" rtlCol="0" anchor="ctr"/>
            <a:lstStyle/>
            <a:p>
              <a:pPr marL="0" indent="0">
                <a:buNone/>
              </a:pPr>
              <a:r>
                <a:rPr lang="en-US" sz="850" b="1" dirty="0">
                  <a:solidFill>
                    <a:srgbClr val="B3261E"/>
                  </a:solidFill>
                  <a:latin typeface="Calibri" pitchFamily="34" charset="0"/>
                  <a:ea typeface="Calibri" pitchFamily="34" charset="-122"/>
                  <a:cs typeface="Calibri" pitchFamily="34" charset="-120"/>
                </a:rPr>
                <a:t>Generic, not wearable-specific</a:t>
              </a:r>
              <a:endParaRPr lang="en-US" sz="850" dirty="0"/>
            </a:p>
          </p:txBody>
        </p:sp>
        <p:sp>
          <p:nvSpPr>
            <p:cNvPr id="27" name="Text 21"/>
            <p:cNvSpPr txBox="1"/>
            <p:nvPr/>
          </p:nvSpPr>
          <p:spPr>
            <a:xfrm>
              <a:off x="3338170" y="5565609"/>
              <a:ext cx="5185664" cy="168287"/>
            </a:xfrm>
            <a:prstGeom prst="rect">
              <a:avLst/>
            </a:prstGeom>
            <a:noFill/>
            <a:ln/>
          </p:spPr>
          <p:txBody>
            <a:bodyPr wrap="square" lIns="0" tIns="0" rIns="0" bIns="0" rtlCol="0" anchor="ctr"/>
            <a:lstStyle/>
            <a:p>
              <a:pPr marL="0" indent="0">
                <a:buNone/>
              </a:pPr>
              <a:r>
                <a:rPr lang="en-US" sz="850" dirty="0">
                  <a:solidFill>
                    <a:srgbClr val="333333"/>
                  </a:solidFill>
                  <a:latin typeface="Calibri" pitchFamily="34" charset="0"/>
                  <a:ea typeface="Calibri" pitchFamily="34" charset="-122"/>
                  <a:cs typeface="Calibri" pitchFamily="34" charset="-120"/>
                </a:rPr>
                <a:t>Many listed uses are imaging, genomics or NLP (tumor detection, medical coding), not body-worn sensing.</a:t>
              </a:r>
              <a:endParaRPr lang="en-US" sz="850" dirty="0"/>
            </a:p>
          </p:txBody>
        </p:sp>
        <p:sp>
          <p:nvSpPr>
            <p:cNvPr id="28" name="Shape 22"/>
            <p:cNvSpPr/>
            <p:nvPr/>
          </p:nvSpPr>
          <p:spPr>
            <a:xfrm>
              <a:off x="1603989" y="5773753"/>
              <a:ext cx="70858" cy="70858"/>
            </a:xfrm>
            <a:prstGeom prst="ellipse">
              <a:avLst/>
            </a:prstGeom>
            <a:solidFill>
              <a:srgbClr val="B3261E"/>
            </a:solidFill>
            <a:ln w="12700">
              <a:solidFill>
                <a:srgbClr val="B3261E"/>
              </a:solidFill>
              <a:prstDash val="solid"/>
            </a:ln>
          </p:spPr>
          <p:txBody>
            <a:bodyPr/>
            <a:lstStyle/>
            <a:p>
              <a:endParaRPr lang="en-US"/>
            </a:p>
          </p:txBody>
        </p:sp>
        <p:sp>
          <p:nvSpPr>
            <p:cNvPr id="29" name="Text 23"/>
            <p:cNvSpPr txBox="1"/>
            <p:nvPr/>
          </p:nvSpPr>
          <p:spPr>
            <a:xfrm>
              <a:off x="1728826" y="5725038"/>
              <a:ext cx="1591462" cy="168287"/>
            </a:xfrm>
            <a:prstGeom prst="rect">
              <a:avLst/>
            </a:prstGeom>
            <a:noFill/>
            <a:ln/>
          </p:spPr>
          <p:txBody>
            <a:bodyPr wrap="square" lIns="0" tIns="0" rIns="0" bIns="0" rtlCol="0" anchor="ctr"/>
            <a:lstStyle/>
            <a:p>
              <a:pPr marL="0" indent="0">
                <a:buNone/>
              </a:pPr>
              <a:r>
                <a:rPr lang="en-US" sz="850" b="1" dirty="0">
                  <a:solidFill>
                    <a:srgbClr val="B3261E"/>
                  </a:solidFill>
                  <a:latin typeface="Calibri" pitchFamily="34" charset="0"/>
                  <a:ea typeface="Calibri" pitchFamily="34" charset="-122"/>
                  <a:cs typeface="Calibri" pitchFamily="34" charset="-120"/>
                </a:rPr>
                <a:t>Metric errors in §3.1</a:t>
              </a:r>
              <a:endParaRPr lang="en-US" sz="850" dirty="0"/>
            </a:p>
          </p:txBody>
        </p:sp>
        <p:sp>
          <p:nvSpPr>
            <p:cNvPr id="30" name="Text 24"/>
            <p:cNvSpPr txBox="1"/>
            <p:nvPr/>
          </p:nvSpPr>
          <p:spPr>
            <a:xfrm>
              <a:off x="3338170" y="5725038"/>
              <a:ext cx="5185664" cy="168287"/>
            </a:xfrm>
            <a:prstGeom prst="rect">
              <a:avLst/>
            </a:prstGeom>
            <a:noFill/>
            <a:ln/>
          </p:spPr>
          <p:txBody>
            <a:bodyPr wrap="square" lIns="0" tIns="0" rIns="0" bIns="0" rtlCol="0" anchor="ctr"/>
            <a:lstStyle/>
            <a:p>
              <a:pPr marL="0" indent="0">
                <a:buNone/>
              </a:pPr>
              <a:r>
                <a:rPr lang="en-US" sz="850" dirty="0">
                  <a:solidFill>
                    <a:srgbClr val="333333"/>
                  </a:solidFill>
                  <a:latin typeface="Calibri" pitchFamily="34" charset="0"/>
                  <a:ea typeface="Calibri" pitchFamily="34" charset="-122"/>
                  <a:cs typeface="Calibri" pitchFamily="34" charset="-120"/>
                </a:rPr>
                <a:t>Clustering 'sensitivity up to 98%' and RL 'selectivity up to 93%' lack specific sources; VAEs filed under RL.</a:t>
              </a:r>
              <a:endParaRPr lang="en-US" sz="850" dirty="0"/>
            </a:p>
          </p:txBody>
        </p:sp>
        <p:sp>
          <p:nvSpPr>
            <p:cNvPr id="31" name="Shape 25"/>
            <p:cNvSpPr/>
            <p:nvPr/>
          </p:nvSpPr>
          <p:spPr>
            <a:xfrm>
              <a:off x="1603989" y="5933182"/>
              <a:ext cx="70858" cy="70858"/>
            </a:xfrm>
            <a:prstGeom prst="ellipse">
              <a:avLst/>
            </a:prstGeom>
            <a:solidFill>
              <a:srgbClr val="2E8B57"/>
            </a:solidFill>
            <a:ln w="12700">
              <a:solidFill>
                <a:srgbClr val="2E8B57"/>
              </a:solidFill>
              <a:prstDash val="solid"/>
            </a:ln>
          </p:spPr>
          <p:txBody>
            <a:bodyPr/>
            <a:lstStyle/>
            <a:p>
              <a:endParaRPr lang="en-US"/>
            </a:p>
          </p:txBody>
        </p:sp>
        <p:sp>
          <p:nvSpPr>
            <p:cNvPr id="32" name="Text 26"/>
            <p:cNvSpPr txBox="1"/>
            <p:nvPr/>
          </p:nvSpPr>
          <p:spPr>
            <a:xfrm>
              <a:off x="1728826" y="5884468"/>
              <a:ext cx="1591462" cy="168287"/>
            </a:xfrm>
            <a:prstGeom prst="rect">
              <a:avLst/>
            </a:prstGeom>
            <a:noFill/>
            <a:ln/>
          </p:spPr>
          <p:txBody>
            <a:bodyPr wrap="square" lIns="0" tIns="0" rIns="0" bIns="0" rtlCol="0" anchor="ctr"/>
            <a:lstStyle/>
            <a:p>
              <a:pPr marL="0" indent="0">
                <a:buNone/>
              </a:pPr>
              <a:r>
                <a:rPr lang="en-US" sz="850" b="1" dirty="0">
                  <a:solidFill>
                    <a:srgbClr val="2E8B57"/>
                  </a:solidFill>
                  <a:latin typeface="Calibri" pitchFamily="34" charset="0"/>
                  <a:ea typeface="Calibri" pitchFamily="34" charset="-122"/>
                  <a:cs typeface="Calibri" pitchFamily="34" charset="-120"/>
                </a:rPr>
                <a:t>Not covered</a:t>
              </a:r>
              <a:endParaRPr lang="en-US" sz="850" dirty="0"/>
            </a:p>
          </p:txBody>
        </p:sp>
        <p:sp>
          <p:nvSpPr>
            <p:cNvPr id="33" name="Text 27"/>
            <p:cNvSpPr txBox="1"/>
            <p:nvPr/>
          </p:nvSpPr>
          <p:spPr>
            <a:xfrm>
              <a:off x="3338170" y="5884468"/>
              <a:ext cx="5185664" cy="168287"/>
            </a:xfrm>
            <a:prstGeom prst="rect">
              <a:avLst/>
            </a:prstGeom>
            <a:noFill/>
            <a:ln/>
          </p:spPr>
          <p:txBody>
            <a:bodyPr wrap="square" lIns="0" tIns="0" rIns="0" bIns="0" rtlCol="0" anchor="ctr"/>
            <a:lstStyle/>
            <a:p>
              <a:pPr marL="0" indent="0">
                <a:buNone/>
              </a:pPr>
              <a:r>
                <a:rPr lang="en-US" sz="850" dirty="0">
                  <a:solidFill>
                    <a:srgbClr val="333333"/>
                  </a:solidFill>
                  <a:latin typeface="Calibri" pitchFamily="34" charset="0"/>
                  <a:ea typeface="Calibri" pitchFamily="34" charset="-122"/>
                  <a:cs typeface="Calibri" pitchFamily="34" charset="-120"/>
                </a:rPr>
                <a:t>Spiking neural networks (§2, &lt; 5 mW) and self-supervised PPG/ECG foundation models (Abbaspourazad 2024).</a:t>
              </a:r>
              <a:endParaRPr lang="en-US" sz="850" dirty="0"/>
            </a:p>
          </p:txBody>
        </p:sp>
      </p:grpSp>
      <p:sp>
        <p:nvSpPr>
          <p:cNvPr id="34"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10</a:t>
            </a:fld>
            <a:endParaRPr lang="en-US">
              <a:solidFill>
                <a:srgbClr val="FFFFFF"/>
              </a:solidFill>
              <a:latin typeface="Arial" panose="020B0604020202020204"/>
            </a:endParaRPr>
          </a:p>
        </p:txBody>
      </p:sp>
      <p:sp>
        <p:nvSpPr>
          <p:cNvPr id="35"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&amp; MATERIALS · EVALUATION &amp; VALIDATION</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Evaluation: how the review measures performance</a:t>
            </a:r>
            <a:endParaRPr lang="en-US" sz="2400" dirty="0">
              <a:solidFill>
                <a:schemeClr val="accent5"/>
              </a:solidFill>
            </a:endParaRPr>
          </a:p>
        </p:txBody>
      </p:sp>
      <p:grpSp>
        <p:nvGrpSpPr>
          <p:cNvPr id="2" name="Group 1">
            <a:extLst>
              <a:ext uri="{FF2B5EF4-FFF2-40B4-BE49-F238E27FC236}">
                <a16:creationId xmlns:a16="http://schemas.microsoft.com/office/drawing/2014/main" id="{3C0F92C1-57D7-5403-2F68-3B3C6697408C}"/>
              </a:ext>
            </a:extLst>
          </p:cNvPr>
          <p:cNvGrpSpPr/>
          <p:nvPr/>
        </p:nvGrpSpPr>
        <p:grpSpPr>
          <a:xfrm>
            <a:off x="548640" y="1252154"/>
            <a:ext cx="8046720" cy="974292"/>
            <a:chOff x="548640" y="1252154"/>
            <a:chExt cx="8046720" cy="974292"/>
          </a:xfrm>
        </p:grpSpPr>
        <p:sp>
          <p:nvSpPr>
            <p:cNvPr id="5" name="Shape 0"/>
            <p:cNvSpPr/>
            <p:nvPr/>
          </p:nvSpPr>
          <p:spPr>
            <a:xfrm>
              <a:off x="548640" y="1252154"/>
              <a:ext cx="8046720" cy="974292"/>
            </a:xfrm>
            <a:prstGeom prst="roundRect">
              <a:avLst>
                <a:gd name="adj" fmla="val 6570"/>
              </a:avLst>
            </a:prstGeom>
            <a:solidFill>
              <a:srgbClr val="F4F6F5"/>
            </a:solidFill>
            <a:ln w="9525">
              <a:solidFill>
                <a:srgbClr val="F4F6F5"/>
              </a:solidFill>
              <a:prstDash val="solid"/>
            </a:ln>
          </p:spPr>
          <p:txBody>
            <a:bodyPr/>
            <a:lstStyle/>
            <a:p>
              <a:endParaRPr lang="en-US"/>
            </a:p>
          </p:txBody>
        </p:sp>
        <p:sp>
          <p:nvSpPr>
            <p:cNvPr id="6" name="Text 1"/>
            <p:cNvSpPr txBox="1"/>
            <p:nvPr/>
          </p:nvSpPr>
          <p:spPr>
            <a:xfrm>
              <a:off x="682752" y="1323012"/>
              <a:ext cx="1117600" cy="832576"/>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Metrics reported</a:t>
              </a:r>
              <a:endParaRPr lang="en-US" sz="1300" dirty="0"/>
            </a:p>
          </p:txBody>
        </p:sp>
        <p:sp>
          <p:nvSpPr>
            <p:cNvPr id="7" name="Text 2"/>
            <p:cNvSpPr txBox="1"/>
            <p:nvPr/>
          </p:nvSpPr>
          <p:spPr>
            <a:xfrm>
              <a:off x="1800352" y="1490951"/>
              <a:ext cx="1251712" cy="511839"/>
            </a:xfrm>
            <a:prstGeom prst="rect">
              <a:avLst/>
            </a:prstGeom>
            <a:noFill/>
            <a:ln/>
          </p:spPr>
          <p:txBody>
            <a:bodyPr wrap="square" lIns="0" tIns="0" rIns="0" bIns="0" rtlCol="0" anchor="t"/>
            <a:lstStyle/>
            <a:p>
              <a:pPr marL="0" indent="0">
                <a:buNone/>
              </a:pPr>
              <a:r>
                <a:rPr lang="en-US" sz="1000" b="1" dirty="0">
                  <a:solidFill>
                    <a:srgbClr val="2E8B57"/>
                  </a:solidFill>
                  <a:latin typeface="Calibri" pitchFamily="34" charset="0"/>
                  <a:ea typeface="Calibri" pitchFamily="34" charset="-122"/>
                  <a:cs typeface="Calibri" pitchFamily="34" charset="-120"/>
                </a:rPr>
                <a:t>Diagnostic</a:t>
              </a:r>
              <a:endParaRPr lang="en-US" sz="1000" dirty="0"/>
            </a:p>
            <a:p>
              <a:pPr marL="0" indent="0">
                <a:buNone/>
              </a:pPr>
              <a:r>
                <a:rPr lang="en-US" sz="1000" dirty="0">
                  <a:solidFill>
                    <a:srgbClr val="333333"/>
                  </a:solidFill>
                  <a:latin typeface="Calibri" pitchFamily="34" charset="0"/>
                  <a:ea typeface="Calibri" pitchFamily="34" charset="-122"/>
                  <a:cs typeface="Calibri" pitchFamily="34" charset="-120"/>
                </a:rPr>
                <a:t>sensitivity · specificity · accuracy · AUC-ROC</a:t>
              </a:r>
              <a:endParaRPr lang="en-US" sz="1000" dirty="0"/>
            </a:p>
          </p:txBody>
        </p:sp>
        <p:sp>
          <p:nvSpPr>
            <p:cNvPr id="8" name="Text 3"/>
            <p:cNvSpPr txBox="1"/>
            <p:nvPr/>
          </p:nvSpPr>
          <p:spPr>
            <a:xfrm>
              <a:off x="3230880" y="1501776"/>
              <a:ext cx="1251712" cy="490188"/>
            </a:xfrm>
            <a:prstGeom prst="rect">
              <a:avLst/>
            </a:prstGeom>
            <a:noFill/>
            <a:ln/>
          </p:spPr>
          <p:txBody>
            <a:bodyPr wrap="square" lIns="0" tIns="0" rIns="0" bIns="0" rtlCol="0" anchor="t"/>
            <a:lstStyle/>
            <a:p>
              <a:pPr marL="0" indent="0">
                <a:buNone/>
              </a:pPr>
              <a:r>
                <a:rPr lang="en-US" sz="1000" b="1" dirty="0">
                  <a:solidFill>
                    <a:srgbClr val="2E8B57"/>
                  </a:solidFill>
                  <a:latin typeface="Calibri" pitchFamily="34" charset="0"/>
                  <a:ea typeface="Calibri" pitchFamily="34" charset="-122"/>
                  <a:cs typeface="Calibri" pitchFamily="34" charset="-120"/>
                </a:rPr>
                <a:t>Speed</a:t>
              </a:r>
              <a:endParaRPr lang="en-US" sz="1000" dirty="0"/>
            </a:p>
            <a:p>
              <a:pPr marL="0" indent="0">
                <a:buNone/>
              </a:pPr>
              <a:r>
                <a:rPr lang="en-US" sz="1000" dirty="0">
                  <a:solidFill>
                    <a:srgbClr val="333333"/>
                  </a:solidFill>
                  <a:latin typeface="Calibri" pitchFamily="34" charset="0"/>
                  <a:ea typeface="Calibri" pitchFamily="34" charset="-122"/>
                  <a:cs typeface="Calibri" pitchFamily="34" charset="-120"/>
                </a:rPr>
                <a:t>latency (ms – s)</a:t>
              </a:r>
              <a:endParaRPr lang="en-US" sz="1000" dirty="0"/>
            </a:p>
          </p:txBody>
        </p:sp>
        <p:sp>
          <p:nvSpPr>
            <p:cNvPr id="9" name="Text 4"/>
            <p:cNvSpPr txBox="1"/>
            <p:nvPr/>
          </p:nvSpPr>
          <p:spPr>
            <a:xfrm>
              <a:off x="4482592" y="1490951"/>
              <a:ext cx="1251712" cy="490188"/>
            </a:xfrm>
            <a:prstGeom prst="rect">
              <a:avLst/>
            </a:prstGeom>
            <a:noFill/>
            <a:ln/>
          </p:spPr>
          <p:txBody>
            <a:bodyPr wrap="square" lIns="0" tIns="0" rIns="0" bIns="0" rtlCol="0" anchor="t"/>
            <a:lstStyle/>
            <a:p>
              <a:pPr marL="0" indent="0">
                <a:buNone/>
              </a:pPr>
              <a:r>
                <a:rPr lang="en-US" sz="1000" b="1" dirty="0">
                  <a:solidFill>
                    <a:srgbClr val="2E8B57"/>
                  </a:solidFill>
                  <a:latin typeface="Calibri" pitchFamily="34" charset="0"/>
                  <a:ea typeface="Calibri" pitchFamily="34" charset="-122"/>
                  <a:cs typeface="Calibri" pitchFamily="34" charset="-120"/>
                </a:rPr>
                <a:t>Energy</a:t>
              </a:r>
              <a:endParaRPr lang="en-US" sz="1000" dirty="0"/>
            </a:p>
            <a:p>
              <a:pPr marL="0" indent="0">
                <a:buNone/>
              </a:pPr>
              <a:r>
                <a:rPr lang="en-US" sz="1000" dirty="0">
                  <a:solidFill>
                    <a:srgbClr val="333333"/>
                  </a:solidFill>
                  <a:latin typeface="Calibri" pitchFamily="34" charset="0"/>
                  <a:ea typeface="Calibri" pitchFamily="34" charset="-122"/>
                  <a:cs typeface="Calibri" pitchFamily="34" charset="-120"/>
                </a:rPr>
                <a:t>power per inference (mW)</a:t>
              </a:r>
              <a:endParaRPr lang="en-US" sz="1000" dirty="0"/>
            </a:p>
          </p:txBody>
        </p:sp>
        <p:sp>
          <p:nvSpPr>
            <p:cNvPr id="10" name="Text 5"/>
            <p:cNvSpPr txBox="1"/>
            <p:nvPr/>
          </p:nvSpPr>
          <p:spPr>
            <a:xfrm>
              <a:off x="5823712" y="1490951"/>
              <a:ext cx="1251712" cy="508553"/>
            </a:xfrm>
            <a:prstGeom prst="rect">
              <a:avLst/>
            </a:prstGeom>
            <a:noFill/>
            <a:ln/>
          </p:spPr>
          <p:txBody>
            <a:bodyPr wrap="square" lIns="0" tIns="0" rIns="0" bIns="0" rtlCol="0" anchor="t"/>
            <a:lstStyle/>
            <a:p>
              <a:pPr marL="0" indent="0">
                <a:buNone/>
              </a:pPr>
              <a:r>
                <a:rPr lang="en-US" sz="1000" b="1" dirty="0">
                  <a:solidFill>
                    <a:srgbClr val="2E8B57"/>
                  </a:solidFill>
                  <a:latin typeface="Calibri" pitchFamily="34" charset="0"/>
                  <a:ea typeface="Calibri" pitchFamily="34" charset="-122"/>
                  <a:cs typeface="Calibri" pitchFamily="34" charset="-120"/>
                </a:rPr>
                <a:t>Reliability</a:t>
              </a:r>
              <a:endParaRPr lang="en-US" sz="1000" dirty="0"/>
            </a:p>
            <a:p>
              <a:pPr marL="0" indent="0">
                <a:buNone/>
              </a:pPr>
              <a:r>
                <a:rPr lang="en-US" sz="1000" dirty="0">
                  <a:solidFill>
                    <a:srgbClr val="333333"/>
                  </a:solidFill>
                  <a:latin typeface="Calibri" pitchFamily="34" charset="0"/>
                  <a:ea typeface="Calibri" pitchFamily="34" charset="-122"/>
                  <a:cs typeface="Calibri" pitchFamily="34" charset="-120"/>
                </a:rPr>
                <a:t>drift (%/week) · CV (%) · cycles</a:t>
              </a:r>
              <a:endParaRPr lang="en-US" sz="1000" dirty="0"/>
            </a:p>
          </p:txBody>
        </p:sp>
        <p:sp>
          <p:nvSpPr>
            <p:cNvPr id="11" name="Text 6"/>
            <p:cNvSpPr txBox="1"/>
            <p:nvPr/>
          </p:nvSpPr>
          <p:spPr>
            <a:xfrm>
              <a:off x="7227418" y="1500133"/>
              <a:ext cx="1251712" cy="490188"/>
            </a:xfrm>
            <a:prstGeom prst="rect">
              <a:avLst/>
            </a:prstGeom>
            <a:noFill/>
            <a:ln/>
          </p:spPr>
          <p:txBody>
            <a:bodyPr wrap="square" lIns="0" tIns="0" rIns="0" bIns="0" rtlCol="0" anchor="t"/>
            <a:lstStyle/>
            <a:p>
              <a:pPr marL="0" indent="0">
                <a:buNone/>
              </a:pPr>
              <a:r>
                <a:rPr lang="en-US" sz="1000" b="1" dirty="0">
                  <a:solidFill>
                    <a:srgbClr val="2E8B57"/>
                  </a:solidFill>
                  <a:latin typeface="Calibri" pitchFamily="34" charset="0"/>
                  <a:ea typeface="Calibri" pitchFamily="34" charset="-122"/>
                  <a:cs typeface="Calibri" pitchFamily="34" charset="-120"/>
                </a:rPr>
                <a:t>Capacity</a:t>
              </a:r>
              <a:endParaRPr lang="en-US" sz="1000" dirty="0"/>
            </a:p>
            <a:p>
              <a:pPr marL="0" indent="0">
                <a:buNone/>
              </a:pPr>
              <a:r>
                <a:rPr lang="en-US" sz="1000" dirty="0">
                  <a:solidFill>
                    <a:srgbClr val="333333"/>
                  </a:solidFill>
                  <a:latin typeface="Calibri" pitchFamily="34" charset="0"/>
                  <a:ea typeface="Calibri" pitchFamily="34" charset="-122"/>
                  <a:cs typeface="Calibri" pitchFamily="34" charset="-120"/>
                </a:rPr>
                <a:t>number of analytes</a:t>
              </a:r>
              <a:endParaRPr lang="en-US" sz="1000" dirty="0"/>
            </a:p>
          </p:txBody>
        </p:sp>
      </p:grpSp>
      <p:grpSp>
        <p:nvGrpSpPr>
          <p:cNvPr id="52" name="Group 51">
            <a:extLst>
              <a:ext uri="{FF2B5EF4-FFF2-40B4-BE49-F238E27FC236}">
                <a16:creationId xmlns:a16="http://schemas.microsoft.com/office/drawing/2014/main" id="{48D652A6-D89A-2B7E-1B2D-436FD286A05C}"/>
              </a:ext>
            </a:extLst>
          </p:cNvPr>
          <p:cNvGrpSpPr/>
          <p:nvPr/>
        </p:nvGrpSpPr>
        <p:grpSpPr>
          <a:xfrm>
            <a:off x="548640" y="2368161"/>
            <a:ext cx="8046720" cy="3631450"/>
            <a:chOff x="548640" y="2368161"/>
            <a:chExt cx="8046720" cy="3631450"/>
          </a:xfrm>
        </p:grpSpPr>
        <p:sp>
          <p:nvSpPr>
            <p:cNvPr id="12" name="Shape 7"/>
            <p:cNvSpPr/>
            <p:nvPr/>
          </p:nvSpPr>
          <p:spPr>
            <a:xfrm>
              <a:off x="548640" y="2403590"/>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13" name="Text 8"/>
            <p:cNvSpPr txBox="1"/>
            <p:nvPr/>
          </p:nvSpPr>
          <p:spPr>
            <a:xfrm>
              <a:off x="548640" y="2403590"/>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Table 4</a:t>
              </a:r>
              <a:endParaRPr lang="en-US" sz="1050" dirty="0"/>
            </a:p>
          </p:txBody>
        </p:sp>
        <p:sp>
          <p:nvSpPr>
            <p:cNvPr id="14" name="Text 9"/>
            <p:cNvSpPr txBox="1"/>
            <p:nvPr/>
          </p:nvSpPr>
          <p:spPr>
            <a:xfrm>
              <a:off x="1402486" y="2368161"/>
              <a:ext cx="4112768" cy="318859"/>
            </a:xfrm>
            <a:prstGeom prst="rect">
              <a:avLst/>
            </a:prstGeom>
            <a:noFill/>
            <a:ln/>
          </p:spPr>
          <p:txBody>
            <a:bodyPr wrap="square" lIns="0" tIns="0" rIns="0" bIns="0" rtlCol="0" anchor="ctr"/>
            <a:lstStyle/>
            <a:p>
              <a:pPr marL="0" indent="0">
                <a:buNone/>
              </a:pPr>
              <a:r>
                <a:rPr lang="en-US" sz="1200" b="1" dirty="0">
                  <a:solidFill>
                    <a:srgbClr val="154734"/>
                  </a:solidFill>
                  <a:latin typeface="Calibri" pitchFamily="34" charset="0"/>
                  <a:ea typeface="Calibri" pitchFamily="34" charset="-122"/>
                  <a:cs typeface="Calibri" pitchFamily="34" charset="-120"/>
                </a:rPr>
                <a:t>Traditional vs AI-enhanced (authors' summary)</a:t>
              </a:r>
              <a:endParaRPr lang="en-US" sz="1200" dirty="0"/>
            </a:p>
          </p:txBody>
        </p:sp>
        <p:sp>
          <p:nvSpPr>
            <p:cNvPr id="15" name="Shape 10"/>
            <p:cNvSpPr/>
            <p:nvPr/>
          </p:nvSpPr>
          <p:spPr>
            <a:xfrm>
              <a:off x="548640" y="2775592"/>
              <a:ext cx="2414016" cy="1541152"/>
            </a:xfrm>
            <a:prstGeom prst="roundRect">
              <a:avLst>
                <a:gd name="adj" fmla="val 4153"/>
              </a:avLst>
            </a:prstGeom>
            <a:solidFill>
              <a:srgbClr val="FFFFFF"/>
            </a:solidFill>
            <a:ln w="9525">
              <a:solidFill>
                <a:srgbClr val="D8DDDA"/>
              </a:solidFill>
              <a:prstDash val="solid"/>
            </a:ln>
          </p:spPr>
          <p:txBody>
            <a:bodyPr/>
            <a:lstStyle/>
            <a:p>
              <a:endParaRPr lang="en-US"/>
            </a:p>
          </p:txBody>
        </p:sp>
        <p:sp>
          <p:nvSpPr>
            <p:cNvPr id="16" name="Text 11"/>
            <p:cNvSpPr txBox="1"/>
            <p:nvPr/>
          </p:nvSpPr>
          <p:spPr>
            <a:xfrm>
              <a:off x="673811" y="2864164"/>
              <a:ext cx="2163674" cy="248001"/>
            </a:xfrm>
            <a:prstGeom prst="rect">
              <a:avLst/>
            </a:prstGeom>
            <a:noFill/>
            <a:ln/>
          </p:spPr>
          <p:txBody>
            <a:bodyPr wrap="square" lIns="0" tIns="0" rIns="0" bIns="0" rtlCol="0" anchor="ctr"/>
            <a:lstStyle/>
            <a:p>
              <a:pPr marL="0" indent="0">
                <a:buNone/>
              </a:pPr>
              <a:r>
                <a:rPr lang="en-US" sz="1050" b="1" dirty="0">
                  <a:solidFill>
                    <a:srgbClr val="5B6770"/>
                  </a:solidFill>
                  <a:latin typeface="Calibri" pitchFamily="34" charset="0"/>
                  <a:ea typeface="Calibri" pitchFamily="34" charset="-122"/>
                  <a:cs typeface="Calibri" pitchFamily="34" charset="-120"/>
                </a:rPr>
                <a:t>Diagnostic accuracy</a:t>
              </a:r>
              <a:endParaRPr lang="en-US" sz="1050" dirty="0"/>
            </a:p>
          </p:txBody>
        </p:sp>
        <p:sp>
          <p:nvSpPr>
            <p:cNvPr id="17" name="Text 12"/>
            <p:cNvSpPr txBox="1"/>
            <p:nvPr/>
          </p:nvSpPr>
          <p:spPr>
            <a:xfrm>
              <a:off x="673811" y="3129880"/>
              <a:ext cx="2163674" cy="425145"/>
            </a:xfrm>
            <a:prstGeom prst="rect">
              <a:avLst/>
            </a:prstGeom>
            <a:noFill/>
            <a:ln/>
          </p:spPr>
          <p:txBody>
            <a:bodyPr wrap="square" lIns="0" tIns="0" rIns="0" bIns="0" rtlCol="0" anchor="ctr"/>
            <a:lstStyle/>
            <a:p>
              <a:pPr marL="0" indent="0">
                <a:buNone/>
              </a:pPr>
              <a:r>
                <a:rPr lang="en-US" sz="1800" b="1" dirty="0">
                  <a:solidFill>
                    <a:srgbClr val="5B6770"/>
                  </a:solidFill>
                  <a:latin typeface="Arial" pitchFamily="34" charset="0"/>
                  <a:ea typeface="Arial" pitchFamily="34" charset="-122"/>
                  <a:cs typeface="Arial" pitchFamily="34" charset="-120"/>
                </a:rPr>
                <a:t>72.3%</a:t>
              </a:r>
              <a:r>
                <a:rPr lang="en-US" sz="1800" b="1" dirty="0">
                  <a:solidFill>
                    <a:srgbClr val="2E8B57"/>
                  </a:solidFill>
                  <a:latin typeface="Arial" pitchFamily="34" charset="0"/>
                  <a:ea typeface="Arial" pitchFamily="34" charset="-122"/>
                  <a:cs typeface="Arial" pitchFamily="34" charset="-120"/>
                </a:rPr>
                <a:t>  →  </a:t>
              </a:r>
              <a:r>
                <a:rPr lang="en-US" sz="1800" b="1" dirty="0">
                  <a:solidFill>
                    <a:srgbClr val="154734"/>
                  </a:solidFill>
                  <a:latin typeface="Arial" pitchFamily="34" charset="0"/>
                  <a:ea typeface="Arial" pitchFamily="34" charset="-122"/>
                  <a:cs typeface="Arial" pitchFamily="34" charset="-120"/>
                </a:rPr>
                <a:t>89.7%</a:t>
              </a:r>
              <a:endParaRPr lang="en-US" sz="1800" dirty="0"/>
            </a:p>
          </p:txBody>
        </p:sp>
        <p:sp>
          <p:nvSpPr>
            <p:cNvPr id="18" name="Text 13"/>
            <p:cNvSpPr txBox="1"/>
            <p:nvPr/>
          </p:nvSpPr>
          <p:spPr>
            <a:xfrm>
              <a:off x="673811" y="3590454"/>
              <a:ext cx="2163674" cy="265716"/>
            </a:xfrm>
            <a:prstGeom prst="rect">
              <a:avLst/>
            </a:prstGeom>
            <a:noFill/>
            <a:ln/>
          </p:spPr>
          <p:txBody>
            <a:bodyPr wrap="square" lIns="0" tIns="0" rIns="0" bIns="0" rtlCol="0" anchor="ctr"/>
            <a:lstStyle/>
            <a:p>
              <a:pPr marL="0" indent="0">
                <a:buNone/>
              </a:pPr>
              <a:r>
                <a:rPr lang="en-US" sz="1250" b="1" dirty="0">
                  <a:solidFill>
                    <a:srgbClr val="2E8B57"/>
                  </a:solidFill>
                  <a:latin typeface="Calibri" pitchFamily="34" charset="0"/>
                  <a:ea typeface="Calibri" pitchFamily="34" charset="-122"/>
                  <a:cs typeface="Calibri" pitchFamily="34" charset="-120"/>
                </a:rPr>
                <a:t>+24% relative</a:t>
              </a:r>
              <a:endParaRPr lang="en-US" sz="1250" dirty="0"/>
            </a:p>
          </p:txBody>
        </p:sp>
        <p:sp>
          <p:nvSpPr>
            <p:cNvPr id="19" name="Text 14"/>
            <p:cNvSpPr txBox="1"/>
            <p:nvPr/>
          </p:nvSpPr>
          <p:spPr>
            <a:xfrm>
              <a:off x="673811" y="3873884"/>
              <a:ext cx="2163674" cy="389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38% fewer false negatives</a:t>
              </a:r>
              <a:endParaRPr lang="en-US" sz="1000" dirty="0"/>
            </a:p>
          </p:txBody>
        </p:sp>
        <p:sp>
          <p:nvSpPr>
            <p:cNvPr id="20" name="Shape 15"/>
            <p:cNvSpPr/>
            <p:nvPr/>
          </p:nvSpPr>
          <p:spPr>
            <a:xfrm>
              <a:off x="3069946" y="2775592"/>
              <a:ext cx="2414016" cy="1541152"/>
            </a:xfrm>
            <a:prstGeom prst="roundRect">
              <a:avLst>
                <a:gd name="adj" fmla="val 4153"/>
              </a:avLst>
            </a:prstGeom>
            <a:solidFill>
              <a:srgbClr val="FFFFFF"/>
            </a:solidFill>
            <a:ln w="9525">
              <a:solidFill>
                <a:srgbClr val="D8DDDA"/>
              </a:solidFill>
              <a:prstDash val="solid"/>
            </a:ln>
          </p:spPr>
          <p:txBody>
            <a:bodyPr/>
            <a:lstStyle/>
            <a:p>
              <a:endParaRPr lang="en-US"/>
            </a:p>
          </p:txBody>
        </p:sp>
        <p:sp>
          <p:nvSpPr>
            <p:cNvPr id="21" name="Text 16"/>
            <p:cNvSpPr txBox="1"/>
            <p:nvPr/>
          </p:nvSpPr>
          <p:spPr>
            <a:xfrm>
              <a:off x="3195117" y="2864164"/>
              <a:ext cx="2163674" cy="248001"/>
            </a:xfrm>
            <a:prstGeom prst="rect">
              <a:avLst/>
            </a:prstGeom>
            <a:noFill/>
            <a:ln/>
          </p:spPr>
          <p:txBody>
            <a:bodyPr wrap="square" lIns="0" tIns="0" rIns="0" bIns="0" rtlCol="0" anchor="ctr"/>
            <a:lstStyle/>
            <a:p>
              <a:pPr marL="0" indent="0">
                <a:buNone/>
              </a:pPr>
              <a:r>
                <a:rPr lang="en-US" sz="1050" b="1" dirty="0">
                  <a:solidFill>
                    <a:srgbClr val="5B6770"/>
                  </a:solidFill>
                  <a:latin typeface="Calibri" pitchFamily="34" charset="0"/>
                  <a:ea typeface="Calibri" pitchFamily="34" charset="-122"/>
                  <a:cs typeface="Calibri" pitchFamily="34" charset="-120"/>
                </a:rPr>
                <a:t>Prediction latency</a:t>
              </a:r>
              <a:endParaRPr lang="en-US" sz="1050" dirty="0"/>
            </a:p>
          </p:txBody>
        </p:sp>
        <p:sp>
          <p:nvSpPr>
            <p:cNvPr id="22" name="Text 17"/>
            <p:cNvSpPr txBox="1"/>
            <p:nvPr/>
          </p:nvSpPr>
          <p:spPr>
            <a:xfrm>
              <a:off x="3195117" y="3129880"/>
              <a:ext cx="2163674" cy="425145"/>
            </a:xfrm>
            <a:prstGeom prst="rect">
              <a:avLst/>
            </a:prstGeom>
            <a:noFill/>
            <a:ln/>
          </p:spPr>
          <p:txBody>
            <a:bodyPr wrap="square" lIns="0" tIns="0" rIns="0" bIns="0" rtlCol="0" anchor="ctr"/>
            <a:lstStyle/>
            <a:p>
              <a:pPr marL="0" indent="0">
                <a:buNone/>
              </a:pPr>
              <a:r>
                <a:rPr lang="en-US" sz="1800" b="1" dirty="0">
                  <a:solidFill>
                    <a:srgbClr val="5B6770"/>
                  </a:solidFill>
                  <a:latin typeface="Arial" pitchFamily="34" charset="0"/>
                  <a:ea typeface="Arial" pitchFamily="34" charset="-122"/>
                  <a:cs typeface="Arial" pitchFamily="34" charset="-120"/>
                </a:rPr>
                <a:t>2.1 s</a:t>
              </a:r>
              <a:r>
                <a:rPr lang="en-US" sz="1800" b="1" dirty="0">
                  <a:solidFill>
                    <a:srgbClr val="2E8B57"/>
                  </a:solidFill>
                  <a:latin typeface="Arial" pitchFamily="34" charset="0"/>
                  <a:ea typeface="Arial" pitchFamily="34" charset="-122"/>
                  <a:cs typeface="Arial" pitchFamily="34" charset="-120"/>
                </a:rPr>
                <a:t>  →  </a:t>
              </a:r>
              <a:r>
                <a:rPr lang="en-US" sz="1800" b="1" dirty="0">
                  <a:solidFill>
                    <a:srgbClr val="154734"/>
                  </a:solidFill>
                  <a:latin typeface="Arial" pitchFamily="34" charset="0"/>
                  <a:ea typeface="Arial" pitchFamily="34" charset="-122"/>
                  <a:cs typeface="Arial" pitchFamily="34" charset="-120"/>
                </a:rPr>
                <a:t>0.4 s</a:t>
              </a:r>
              <a:endParaRPr lang="en-US" sz="1800" dirty="0"/>
            </a:p>
          </p:txBody>
        </p:sp>
        <p:sp>
          <p:nvSpPr>
            <p:cNvPr id="23" name="Text 18"/>
            <p:cNvSpPr txBox="1"/>
            <p:nvPr/>
          </p:nvSpPr>
          <p:spPr>
            <a:xfrm>
              <a:off x="3195117" y="3590454"/>
              <a:ext cx="2163674" cy="265716"/>
            </a:xfrm>
            <a:prstGeom prst="rect">
              <a:avLst/>
            </a:prstGeom>
            <a:noFill/>
            <a:ln/>
          </p:spPr>
          <p:txBody>
            <a:bodyPr wrap="square" lIns="0" tIns="0" rIns="0" bIns="0" rtlCol="0" anchor="ctr"/>
            <a:lstStyle/>
            <a:p>
              <a:pPr marL="0" indent="0">
                <a:buNone/>
              </a:pPr>
              <a:r>
                <a:rPr lang="en-US" sz="1250" b="1" dirty="0">
                  <a:solidFill>
                    <a:srgbClr val="2E8B57"/>
                  </a:solidFill>
                  <a:latin typeface="Calibri" pitchFamily="34" charset="0"/>
                  <a:ea typeface="Calibri" pitchFamily="34" charset="-122"/>
                  <a:cs typeface="Calibri" pitchFamily="34" charset="-120"/>
                </a:rPr>
                <a:t>5.2× faster</a:t>
              </a:r>
              <a:endParaRPr lang="en-US" sz="1250" dirty="0"/>
            </a:p>
          </p:txBody>
        </p:sp>
        <p:sp>
          <p:nvSpPr>
            <p:cNvPr id="24" name="Text 19"/>
            <p:cNvSpPr txBox="1"/>
            <p:nvPr/>
          </p:nvSpPr>
          <p:spPr>
            <a:xfrm>
              <a:off x="3195117" y="3873884"/>
              <a:ext cx="2163674" cy="389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enables real-time intervention</a:t>
              </a:r>
              <a:endParaRPr lang="en-US" sz="1000" dirty="0"/>
            </a:p>
          </p:txBody>
        </p:sp>
        <p:sp>
          <p:nvSpPr>
            <p:cNvPr id="25" name="Shape 20"/>
            <p:cNvSpPr/>
            <p:nvPr/>
          </p:nvSpPr>
          <p:spPr>
            <a:xfrm>
              <a:off x="548640" y="4405316"/>
              <a:ext cx="2414016" cy="1541152"/>
            </a:xfrm>
            <a:prstGeom prst="roundRect">
              <a:avLst>
                <a:gd name="adj" fmla="val 4153"/>
              </a:avLst>
            </a:prstGeom>
            <a:solidFill>
              <a:srgbClr val="FFFFFF"/>
            </a:solidFill>
            <a:ln w="9525">
              <a:solidFill>
                <a:srgbClr val="D8DDDA"/>
              </a:solidFill>
              <a:prstDash val="solid"/>
            </a:ln>
          </p:spPr>
          <p:txBody>
            <a:bodyPr/>
            <a:lstStyle/>
            <a:p>
              <a:endParaRPr lang="en-US"/>
            </a:p>
          </p:txBody>
        </p:sp>
        <p:sp>
          <p:nvSpPr>
            <p:cNvPr id="26" name="Text 21"/>
            <p:cNvSpPr txBox="1"/>
            <p:nvPr/>
          </p:nvSpPr>
          <p:spPr>
            <a:xfrm>
              <a:off x="673811" y="4493888"/>
              <a:ext cx="2163674" cy="248001"/>
            </a:xfrm>
            <a:prstGeom prst="rect">
              <a:avLst/>
            </a:prstGeom>
            <a:noFill/>
            <a:ln/>
          </p:spPr>
          <p:txBody>
            <a:bodyPr wrap="square" lIns="0" tIns="0" rIns="0" bIns="0" rtlCol="0" anchor="ctr"/>
            <a:lstStyle/>
            <a:p>
              <a:pPr marL="0" indent="0">
                <a:buNone/>
              </a:pPr>
              <a:r>
                <a:rPr lang="en-US" sz="1050" b="1" dirty="0">
                  <a:solidFill>
                    <a:srgbClr val="5B6770"/>
                  </a:solidFill>
                  <a:latin typeface="Calibri" pitchFamily="34" charset="0"/>
                  <a:ea typeface="Calibri" pitchFamily="34" charset="-122"/>
                  <a:cs typeface="Calibri" pitchFamily="34" charset="-120"/>
                </a:rPr>
                <a:t>Multi-analyte capacity</a:t>
              </a:r>
              <a:endParaRPr lang="en-US" sz="1050" dirty="0"/>
            </a:p>
          </p:txBody>
        </p:sp>
        <p:sp>
          <p:nvSpPr>
            <p:cNvPr id="27" name="Text 22"/>
            <p:cNvSpPr txBox="1"/>
            <p:nvPr/>
          </p:nvSpPr>
          <p:spPr>
            <a:xfrm>
              <a:off x="673811" y="4759604"/>
              <a:ext cx="2163674" cy="425145"/>
            </a:xfrm>
            <a:prstGeom prst="rect">
              <a:avLst/>
            </a:prstGeom>
            <a:noFill/>
            <a:ln/>
          </p:spPr>
          <p:txBody>
            <a:bodyPr wrap="square" lIns="0" tIns="0" rIns="0" bIns="0" rtlCol="0" anchor="ctr"/>
            <a:lstStyle/>
            <a:p>
              <a:pPr marL="0" indent="0">
                <a:buNone/>
              </a:pPr>
              <a:r>
                <a:rPr lang="en-US" sz="1800" b="1" dirty="0">
                  <a:solidFill>
                    <a:srgbClr val="5B6770"/>
                  </a:solidFill>
                  <a:latin typeface="Arial" pitchFamily="34" charset="0"/>
                  <a:ea typeface="Arial" pitchFamily="34" charset="-122"/>
                  <a:cs typeface="Arial" pitchFamily="34" charset="-120"/>
                </a:rPr>
                <a:t>3–5</a:t>
              </a:r>
              <a:r>
                <a:rPr lang="en-US" sz="1800" b="1" dirty="0">
                  <a:solidFill>
                    <a:srgbClr val="2E8B57"/>
                  </a:solidFill>
                  <a:latin typeface="Arial" pitchFamily="34" charset="0"/>
                  <a:ea typeface="Arial" pitchFamily="34" charset="-122"/>
                  <a:cs typeface="Arial" pitchFamily="34" charset="-120"/>
                </a:rPr>
                <a:t>  →  </a:t>
              </a:r>
              <a:r>
                <a:rPr lang="en-US" sz="1800" b="1" dirty="0">
                  <a:solidFill>
                    <a:srgbClr val="154734"/>
                  </a:solidFill>
                  <a:latin typeface="Arial" pitchFamily="34" charset="0"/>
                  <a:ea typeface="Arial" pitchFamily="34" charset="-122"/>
                  <a:cs typeface="Arial" pitchFamily="34" charset="-120"/>
                </a:rPr>
                <a:t>9–12</a:t>
              </a:r>
              <a:endParaRPr lang="en-US" sz="1800" dirty="0"/>
            </a:p>
          </p:txBody>
        </p:sp>
        <p:sp>
          <p:nvSpPr>
            <p:cNvPr id="28" name="Text 23"/>
            <p:cNvSpPr txBox="1"/>
            <p:nvPr/>
          </p:nvSpPr>
          <p:spPr>
            <a:xfrm>
              <a:off x="673811" y="5220178"/>
              <a:ext cx="2163674" cy="265716"/>
            </a:xfrm>
            <a:prstGeom prst="rect">
              <a:avLst/>
            </a:prstGeom>
            <a:noFill/>
            <a:ln/>
          </p:spPr>
          <p:txBody>
            <a:bodyPr wrap="square" lIns="0" tIns="0" rIns="0" bIns="0" rtlCol="0" anchor="ctr"/>
            <a:lstStyle/>
            <a:p>
              <a:pPr marL="0" indent="0">
                <a:buNone/>
              </a:pPr>
              <a:r>
                <a:rPr lang="en-US" sz="1250" b="1" dirty="0">
                  <a:solidFill>
                    <a:srgbClr val="2E8B57"/>
                  </a:solidFill>
                  <a:latin typeface="Calibri" pitchFamily="34" charset="0"/>
                  <a:ea typeface="Calibri" pitchFamily="34" charset="-122"/>
                  <a:cs typeface="Calibri" pitchFamily="34" charset="-120"/>
                </a:rPr>
                <a:t>≈3× more analytes</a:t>
              </a:r>
              <a:endParaRPr lang="en-US" sz="1250" dirty="0"/>
            </a:p>
          </p:txBody>
        </p:sp>
        <p:sp>
          <p:nvSpPr>
            <p:cNvPr id="29" name="Text 24"/>
            <p:cNvSpPr txBox="1"/>
            <p:nvPr/>
          </p:nvSpPr>
          <p:spPr>
            <a:xfrm>
              <a:off x="673811" y="5503608"/>
              <a:ext cx="2163674" cy="389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comprehensive profiling</a:t>
              </a:r>
              <a:endParaRPr lang="en-US" sz="1000" dirty="0"/>
            </a:p>
          </p:txBody>
        </p:sp>
        <p:sp>
          <p:nvSpPr>
            <p:cNvPr id="30" name="Shape 25"/>
            <p:cNvSpPr/>
            <p:nvPr/>
          </p:nvSpPr>
          <p:spPr>
            <a:xfrm>
              <a:off x="3069946" y="4405316"/>
              <a:ext cx="2414016" cy="1541152"/>
            </a:xfrm>
            <a:prstGeom prst="roundRect">
              <a:avLst>
                <a:gd name="adj" fmla="val 4153"/>
              </a:avLst>
            </a:prstGeom>
            <a:solidFill>
              <a:srgbClr val="FFFFFF"/>
            </a:solidFill>
            <a:ln w="9525">
              <a:solidFill>
                <a:srgbClr val="D8DDDA"/>
              </a:solidFill>
              <a:prstDash val="solid"/>
            </a:ln>
          </p:spPr>
          <p:txBody>
            <a:bodyPr/>
            <a:lstStyle/>
            <a:p>
              <a:endParaRPr lang="en-US"/>
            </a:p>
          </p:txBody>
        </p:sp>
        <p:sp>
          <p:nvSpPr>
            <p:cNvPr id="31" name="Text 26"/>
            <p:cNvSpPr txBox="1"/>
            <p:nvPr/>
          </p:nvSpPr>
          <p:spPr>
            <a:xfrm>
              <a:off x="3195117" y="4493888"/>
              <a:ext cx="2163674" cy="248001"/>
            </a:xfrm>
            <a:prstGeom prst="rect">
              <a:avLst/>
            </a:prstGeom>
            <a:noFill/>
            <a:ln/>
          </p:spPr>
          <p:txBody>
            <a:bodyPr wrap="square" lIns="0" tIns="0" rIns="0" bIns="0" rtlCol="0" anchor="ctr"/>
            <a:lstStyle/>
            <a:p>
              <a:pPr marL="0" indent="0">
                <a:buNone/>
              </a:pPr>
              <a:r>
                <a:rPr lang="en-US" sz="1050" b="1" dirty="0">
                  <a:solidFill>
                    <a:srgbClr val="5B6770"/>
                  </a:solidFill>
                  <a:latin typeface="Calibri" pitchFamily="34" charset="0"/>
                  <a:ea typeface="Calibri" pitchFamily="34" charset="-122"/>
                  <a:cs typeface="Calibri" pitchFamily="34" charset="-120"/>
                </a:rPr>
                <a:t>Signal drift per week</a:t>
              </a:r>
              <a:endParaRPr lang="en-US" sz="1050" dirty="0"/>
            </a:p>
          </p:txBody>
        </p:sp>
        <p:sp>
          <p:nvSpPr>
            <p:cNvPr id="32" name="Text 27"/>
            <p:cNvSpPr txBox="1"/>
            <p:nvPr/>
          </p:nvSpPr>
          <p:spPr>
            <a:xfrm>
              <a:off x="3195117" y="4759604"/>
              <a:ext cx="2163674" cy="425145"/>
            </a:xfrm>
            <a:prstGeom prst="rect">
              <a:avLst/>
            </a:prstGeom>
            <a:noFill/>
            <a:ln/>
          </p:spPr>
          <p:txBody>
            <a:bodyPr wrap="square" lIns="0" tIns="0" rIns="0" bIns="0" rtlCol="0" anchor="ctr"/>
            <a:lstStyle/>
            <a:p>
              <a:pPr marL="0" indent="0">
                <a:buNone/>
              </a:pPr>
              <a:r>
                <a:rPr lang="en-US" sz="1800" b="1" dirty="0">
                  <a:solidFill>
                    <a:srgbClr val="5B6770"/>
                  </a:solidFill>
                  <a:latin typeface="Arial" pitchFamily="34" charset="0"/>
                  <a:ea typeface="Arial" pitchFamily="34" charset="-122"/>
                  <a:cs typeface="Arial" pitchFamily="34" charset="-120"/>
                </a:rPr>
                <a:t>15%</a:t>
              </a:r>
              <a:r>
                <a:rPr lang="en-US" sz="1800" b="1" dirty="0">
                  <a:solidFill>
                    <a:srgbClr val="2E8B57"/>
                  </a:solidFill>
                  <a:latin typeface="Arial" pitchFamily="34" charset="0"/>
                  <a:ea typeface="Arial" pitchFamily="34" charset="-122"/>
                  <a:cs typeface="Arial" pitchFamily="34" charset="-120"/>
                </a:rPr>
                <a:t>  →  </a:t>
              </a:r>
              <a:r>
                <a:rPr lang="en-US" sz="1800" b="1" dirty="0">
                  <a:solidFill>
                    <a:srgbClr val="154734"/>
                  </a:solidFill>
                  <a:latin typeface="Arial" pitchFamily="34" charset="0"/>
                  <a:ea typeface="Arial" pitchFamily="34" charset="-122"/>
                  <a:cs typeface="Arial" pitchFamily="34" charset="-120"/>
                </a:rPr>
                <a:t>4%</a:t>
              </a:r>
              <a:endParaRPr lang="en-US" sz="1800" dirty="0"/>
            </a:p>
          </p:txBody>
        </p:sp>
        <p:sp>
          <p:nvSpPr>
            <p:cNvPr id="33" name="Text 28"/>
            <p:cNvSpPr txBox="1"/>
            <p:nvPr/>
          </p:nvSpPr>
          <p:spPr>
            <a:xfrm>
              <a:off x="3195117" y="5220178"/>
              <a:ext cx="2163674" cy="265716"/>
            </a:xfrm>
            <a:prstGeom prst="rect">
              <a:avLst/>
            </a:prstGeom>
            <a:noFill/>
            <a:ln/>
          </p:spPr>
          <p:txBody>
            <a:bodyPr wrap="square" lIns="0" tIns="0" rIns="0" bIns="0" rtlCol="0" anchor="ctr"/>
            <a:lstStyle/>
            <a:p>
              <a:pPr marL="0" indent="0">
                <a:buNone/>
              </a:pPr>
              <a:r>
                <a:rPr lang="en-US" sz="1250" b="1" dirty="0">
                  <a:solidFill>
                    <a:srgbClr val="2E8B57"/>
                  </a:solidFill>
                  <a:latin typeface="Calibri" pitchFamily="34" charset="0"/>
                  <a:ea typeface="Calibri" pitchFamily="34" charset="-122"/>
                  <a:cs typeface="Calibri" pitchFamily="34" charset="-120"/>
                </a:rPr>
                <a:t>73% lower</a:t>
              </a:r>
              <a:endParaRPr lang="en-US" sz="1250" dirty="0"/>
            </a:p>
          </p:txBody>
        </p:sp>
        <p:sp>
          <p:nvSpPr>
            <p:cNvPr id="34" name="Text 29"/>
            <p:cNvSpPr txBox="1"/>
            <p:nvPr/>
          </p:nvSpPr>
          <p:spPr>
            <a:xfrm>
              <a:off x="3195117" y="5503608"/>
              <a:ext cx="2163674" cy="389717"/>
            </a:xfrm>
            <a:prstGeom prst="rect">
              <a:avLst/>
            </a:prstGeom>
            <a:noFill/>
            <a:ln/>
          </p:spPr>
          <p:txBody>
            <a:bodyPr wrap="square" lIns="0" tIns="0" rIns="0" bIns="0" rtlCol="0" anchor="t"/>
            <a:lstStyle/>
            <a:p>
              <a:pPr marL="0" indent="0">
                <a:buNone/>
              </a:pPr>
              <a:r>
                <a:rPr lang="en-US" sz="1000" dirty="0">
                  <a:solidFill>
                    <a:srgbClr val="333333"/>
                  </a:solidFill>
                  <a:latin typeface="Calibri" pitchFamily="34" charset="0"/>
                  <a:ea typeface="Calibri" pitchFamily="34" charset="-122"/>
                  <a:cs typeface="Calibri" pitchFamily="34" charset="-120"/>
                </a:rPr>
                <a:t>with self-calibration</a:t>
              </a:r>
              <a:endParaRPr lang="en-US" sz="1000" dirty="0"/>
            </a:p>
          </p:txBody>
        </p:sp>
        <p:sp>
          <p:nvSpPr>
            <p:cNvPr id="35" name="Shape 30"/>
            <p:cNvSpPr/>
            <p:nvPr/>
          </p:nvSpPr>
          <p:spPr>
            <a:xfrm>
              <a:off x="5662778" y="2368161"/>
              <a:ext cx="2932582" cy="3631450"/>
            </a:xfrm>
            <a:prstGeom prst="roundRect">
              <a:avLst>
                <a:gd name="adj" fmla="val 2183"/>
              </a:avLst>
            </a:prstGeom>
            <a:solidFill>
              <a:srgbClr val="FBEAE8"/>
            </a:solidFill>
            <a:ln w="9525">
              <a:solidFill>
                <a:srgbClr val="FBEAE8"/>
              </a:solidFill>
              <a:prstDash val="solid"/>
            </a:ln>
          </p:spPr>
          <p:txBody>
            <a:bodyPr/>
            <a:lstStyle/>
            <a:p>
              <a:endParaRPr lang="en-US"/>
            </a:p>
          </p:txBody>
        </p:sp>
        <p:sp>
          <p:nvSpPr>
            <p:cNvPr id="36" name="Text 31"/>
            <p:cNvSpPr txBox="1"/>
            <p:nvPr/>
          </p:nvSpPr>
          <p:spPr>
            <a:xfrm>
              <a:off x="5796890" y="2456733"/>
              <a:ext cx="2664358" cy="283430"/>
            </a:xfrm>
            <a:prstGeom prst="rect">
              <a:avLst/>
            </a:prstGeom>
            <a:noFill/>
            <a:ln/>
          </p:spPr>
          <p:txBody>
            <a:bodyPr wrap="square" lIns="0" tIns="0" rIns="0" bIns="0" rtlCol="0" anchor="ctr"/>
            <a:lstStyle/>
            <a:p>
              <a:pPr marL="0" indent="0">
                <a:buNone/>
              </a:pPr>
              <a:r>
                <a:rPr lang="en-US" sz="1300" b="1" dirty="0">
                  <a:solidFill>
                    <a:srgbClr val="B3261E"/>
                  </a:solidFill>
                  <a:latin typeface="Calibri" pitchFamily="34" charset="0"/>
                  <a:ea typeface="Calibri" pitchFamily="34" charset="-122"/>
                  <a:cs typeface="Calibri" pitchFamily="34" charset="-120"/>
                </a:rPr>
                <a:t>Validation: our read</a:t>
              </a:r>
              <a:endParaRPr lang="en-US" sz="1300" dirty="0"/>
            </a:p>
          </p:txBody>
        </p:sp>
        <p:sp>
          <p:nvSpPr>
            <p:cNvPr id="37" name="Shape 32"/>
            <p:cNvSpPr/>
            <p:nvPr/>
          </p:nvSpPr>
          <p:spPr>
            <a:xfrm>
              <a:off x="5798144" y="2864164"/>
              <a:ext cx="265716" cy="265716"/>
            </a:xfrm>
            <a:prstGeom prst="ellipse">
              <a:avLst/>
            </a:prstGeom>
            <a:solidFill>
              <a:srgbClr val="2E8B57"/>
            </a:solidFill>
            <a:ln w="12700">
              <a:solidFill>
                <a:srgbClr val="2E8B57"/>
              </a:solidFill>
              <a:prstDash val="solid"/>
            </a:ln>
          </p:spPr>
          <p:txBody>
            <a:bodyPr/>
            <a:lstStyle/>
            <a:p>
              <a:endParaRPr lang="en-US"/>
            </a:p>
          </p:txBody>
        </p:sp>
        <p:pic>
          <p:nvPicPr>
            <p:cNvPr id="38" name="Image 0" descr="preencoded.png"/>
            <p:cNvPicPr>
              <a:picLocks noChangeAspect="1"/>
            </p:cNvPicPr>
            <p:nvPr/>
          </p:nvPicPr>
          <p:blipFill>
            <a:blip r:embed="rId3"/>
            <a:stretch>
              <a:fillRect/>
            </a:stretch>
          </p:blipFill>
          <p:spPr>
            <a:xfrm>
              <a:off x="5867230" y="2933250"/>
              <a:ext cx="127544" cy="127544"/>
            </a:xfrm>
            <a:prstGeom prst="rect">
              <a:avLst/>
            </a:prstGeom>
          </p:spPr>
        </p:pic>
        <p:sp>
          <p:nvSpPr>
            <p:cNvPr id="39" name="Text 33"/>
            <p:cNvSpPr txBox="1"/>
            <p:nvPr/>
          </p:nvSpPr>
          <p:spPr>
            <a:xfrm>
              <a:off x="6154522" y="2846450"/>
              <a:ext cx="2324608" cy="584575"/>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Table 4 arithmetic is internally consistent</a:t>
              </a:r>
              <a:endParaRPr lang="en-US" sz="1050" dirty="0"/>
            </a:p>
          </p:txBody>
        </p:sp>
        <p:sp>
          <p:nvSpPr>
            <p:cNvPr id="40" name="Shape 34"/>
            <p:cNvSpPr/>
            <p:nvPr/>
          </p:nvSpPr>
          <p:spPr>
            <a:xfrm>
              <a:off x="5798144" y="3501882"/>
              <a:ext cx="265716" cy="265716"/>
            </a:xfrm>
            <a:prstGeom prst="ellipse">
              <a:avLst/>
            </a:prstGeom>
            <a:solidFill>
              <a:srgbClr val="B3261E"/>
            </a:solidFill>
            <a:ln w="12700">
              <a:solidFill>
                <a:srgbClr val="B3261E"/>
              </a:solidFill>
              <a:prstDash val="solid"/>
            </a:ln>
          </p:spPr>
          <p:txBody>
            <a:bodyPr/>
            <a:lstStyle/>
            <a:p>
              <a:endParaRPr lang="en-US"/>
            </a:p>
          </p:txBody>
        </p:sp>
        <p:pic>
          <p:nvPicPr>
            <p:cNvPr id="41" name="Image 1" descr="preencoded.png"/>
            <p:cNvPicPr>
              <a:picLocks noChangeAspect="1"/>
            </p:cNvPicPr>
            <p:nvPr/>
          </p:nvPicPr>
          <p:blipFill>
            <a:blip r:embed="rId4"/>
            <a:stretch>
              <a:fillRect/>
            </a:stretch>
          </p:blipFill>
          <p:spPr>
            <a:xfrm>
              <a:off x="5867230" y="3570968"/>
              <a:ext cx="127544" cy="127544"/>
            </a:xfrm>
            <a:prstGeom prst="rect">
              <a:avLst/>
            </a:prstGeom>
          </p:spPr>
        </p:pic>
        <p:sp>
          <p:nvSpPr>
            <p:cNvPr id="42" name="Text 35"/>
            <p:cNvSpPr txBox="1"/>
            <p:nvPr/>
          </p:nvSpPr>
          <p:spPr>
            <a:xfrm>
              <a:off x="6154522" y="3484168"/>
              <a:ext cx="2324608" cy="584575"/>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No source, dataset, n or confidence interval for any value</a:t>
              </a:r>
              <a:endParaRPr lang="en-US" sz="1050" dirty="0"/>
            </a:p>
          </p:txBody>
        </p:sp>
        <p:sp>
          <p:nvSpPr>
            <p:cNvPr id="43" name="Shape 36"/>
            <p:cNvSpPr/>
            <p:nvPr/>
          </p:nvSpPr>
          <p:spPr>
            <a:xfrm>
              <a:off x="5798144" y="4139600"/>
              <a:ext cx="265716" cy="265716"/>
            </a:xfrm>
            <a:prstGeom prst="ellipse">
              <a:avLst/>
            </a:prstGeom>
            <a:solidFill>
              <a:srgbClr val="B3261E"/>
            </a:solidFill>
            <a:ln w="12700">
              <a:solidFill>
                <a:srgbClr val="B3261E"/>
              </a:solidFill>
              <a:prstDash val="solid"/>
            </a:ln>
          </p:spPr>
          <p:txBody>
            <a:bodyPr/>
            <a:lstStyle/>
            <a:p>
              <a:endParaRPr lang="en-US"/>
            </a:p>
          </p:txBody>
        </p:sp>
        <p:pic>
          <p:nvPicPr>
            <p:cNvPr id="44" name="Image 2" descr="preencoded.png"/>
            <p:cNvPicPr>
              <a:picLocks noChangeAspect="1"/>
            </p:cNvPicPr>
            <p:nvPr/>
          </p:nvPicPr>
          <p:blipFill>
            <a:blip r:embed="rId4"/>
            <a:stretch>
              <a:fillRect/>
            </a:stretch>
          </p:blipFill>
          <p:spPr>
            <a:xfrm>
              <a:off x="5867230" y="4208686"/>
              <a:ext cx="127544" cy="127544"/>
            </a:xfrm>
            <a:prstGeom prst="rect">
              <a:avLst/>
            </a:prstGeom>
          </p:spPr>
        </p:pic>
        <p:sp>
          <p:nvSpPr>
            <p:cNvPr id="45" name="Text 37"/>
            <p:cNvSpPr txBox="1"/>
            <p:nvPr/>
          </p:nvSpPr>
          <p:spPr>
            <a:xfrm>
              <a:off x="6154522" y="4121886"/>
              <a:ext cx="2324608" cy="584575"/>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§3.4, including Table 4, has no citations</a:t>
              </a:r>
              <a:endParaRPr lang="en-US" sz="1050" dirty="0"/>
            </a:p>
          </p:txBody>
        </p:sp>
        <p:sp>
          <p:nvSpPr>
            <p:cNvPr id="46" name="Shape 38"/>
            <p:cNvSpPr/>
            <p:nvPr/>
          </p:nvSpPr>
          <p:spPr>
            <a:xfrm>
              <a:off x="5798144" y="4777318"/>
              <a:ext cx="265716" cy="265716"/>
            </a:xfrm>
            <a:prstGeom prst="ellipse">
              <a:avLst/>
            </a:prstGeom>
            <a:solidFill>
              <a:srgbClr val="B3261E"/>
            </a:solidFill>
            <a:ln w="12700">
              <a:solidFill>
                <a:srgbClr val="B3261E"/>
              </a:solidFill>
              <a:prstDash val="solid"/>
            </a:ln>
          </p:spPr>
          <p:txBody>
            <a:bodyPr/>
            <a:lstStyle/>
            <a:p>
              <a:endParaRPr lang="en-US"/>
            </a:p>
          </p:txBody>
        </p:sp>
        <p:pic>
          <p:nvPicPr>
            <p:cNvPr id="47" name="Image 3" descr="preencoded.png"/>
            <p:cNvPicPr>
              <a:picLocks noChangeAspect="1"/>
            </p:cNvPicPr>
            <p:nvPr/>
          </p:nvPicPr>
          <p:blipFill>
            <a:blip r:embed="rId4"/>
            <a:stretch>
              <a:fillRect/>
            </a:stretch>
          </p:blipFill>
          <p:spPr>
            <a:xfrm>
              <a:off x="5867230" y="4846404"/>
              <a:ext cx="127544" cy="127544"/>
            </a:xfrm>
            <a:prstGeom prst="rect">
              <a:avLst/>
            </a:prstGeom>
          </p:spPr>
        </p:pic>
        <p:sp>
          <p:nvSpPr>
            <p:cNvPr id="48" name="Text 39"/>
            <p:cNvSpPr txBox="1"/>
            <p:nvPr/>
          </p:nvSpPr>
          <p:spPr>
            <a:xfrm>
              <a:off x="6154522" y="4759604"/>
              <a:ext cx="2324608" cy="584575"/>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No evidence grading (retrospective vs prospective vs RCT) or meta-analysis</a:t>
              </a:r>
              <a:endParaRPr lang="en-US" sz="1050" dirty="0"/>
            </a:p>
          </p:txBody>
        </p:sp>
        <p:sp>
          <p:nvSpPr>
            <p:cNvPr id="49" name="Text 40"/>
            <p:cNvSpPr txBox="1"/>
            <p:nvPr/>
          </p:nvSpPr>
          <p:spPr>
            <a:xfrm>
              <a:off x="5796890" y="5397322"/>
              <a:ext cx="2664358" cy="531432"/>
            </a:xfrm>
            <a:prstGeom prst="rect">
              <a:avLst/>
            </a:prstGeom>
            <a:noFill/>
            <a:ln/>
          </p:spPr>
          <p:txBody>
            <a:bodyPr wrap="square" lIns="0" tIns="0" rIns="0" bIns="0" rtlCol="0" anchor="ctr"/>
            <a:lstStyle/>
            <a:p>
              <a:pPr marL="0" indent="0">
                <a:buNone/>
              </a:pPr>
              <a:r>
                <a:rPr lang="en-US" sz="1100" b="1" dirty="0">
                  <a:solidFill>
                    <a:srgbClr val="B3261E"/>
                  </a:solidFill>
                  <a:latin typeface="Calibri" pitchFamily="34" charset="0"/>
                  <a:ea typeface="Calibri" pitchFamily="34" charset="-122"/>
                  <a:cs typeface="Calibri" pitchFamily="34" charset="-120"/>
                </a:rPr>
                <a:t>→ Table 4 should be read as illustrative, not as pooled evidence.</a:t>
              </a:r>
              <a:endParaRPr lang="en-US" sz="1100" dirty="0"/>
            </a:p>
          </p:txBody>
        </p:sp>
      </p:grpSp>
      <p:sp>
        <p:nvSpPr>
          <p:cNvPr id="50"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11</a:t>
            </a:fld>
            <a:endParaRPr lang="en-US">
              <a:solidFill>
                <a:srgbClr val="FFFFFF"/>
              </a:solidFill>
              <a:latin typeface="Arial" panose="020B0604020202020204"/>
            </a:endParaRPr>
          </a:p>
        </p:txBody>
      </p:sp>
      <p:sp>
        <p:nvSpPr>
          <p:cNvPr id="51"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FIGURES 7–8</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The AI layer: from cloud analytics to edge inference</a:t>
            </a:r>
            <a:endParaRPr lang="en-US" sz="2400" dirty="0">
              <a:solidFill>
                <a:schemeClr val="accent5"/>
              </a:solidFill>
            </a:endParaRPr>
          </a:p>
        </p:txBody>
      </p:sp>
      <p:grpSp>
        <p:nvGrpSpPr>
          <p:cNvPr id="2" name="Group 1">
            <a:extLst>
              <a:ext uri="{FF2B5EF4-FFF2-40B4-BE49-F238E27FC236}">
                <a16:creationId xmlns:a16="http://schemas.microsoft.com/office/drawing/2014/main" id="{202B34AE-B000-0A5F-6944-167622B5030C}"/>
              </a:ext>
            </a:extLst>
          </p:cNvPr>
          <p:cNvGrpSpPr/>
          <p:nvPr/>
        </p:nvGrpSpPr>
        <p:grpSpPr>
          <a:xfrm>
            <a:off x="548640" y="1252154"/>
            <a:ext cx="2950464" cy="4747457"/>
            <a:chOff x="548640" y="1252154"/>
            <a:chExt cx="2950464" cy="4747457"/>
          </a:xfrm>
        </p:grpSpPr>
        <p:sp>
          <p:nvSpPr>
            <p:cNvPr id="5" name="Shape 0"/>
            <p:cNvSpPr/>
            <p:nvPr/>
          </p:nvSpPr>
          <p:spPr>
            <a:xfrm>
              <a:off x="548640" y="1252154"/>
              <a:ext cx="2950464" cy="4747457"/>
            </a:xfrm>
            <a:prstGeom prst="roundRect">
              <a:avLst>
                <a:gd name="adj" fmla="val 2169"/>
              </a:avLst>
            </a:prstGeom>
            <a:solidFill>
              <a:srgbClr val="F4F6F5"/>
            </a:solidFill>
            <a:ln w="9525">
              <a:solidFill>
                <a:srgbClr val="F4F6F5"/>
              </a:solidFill>
              <a:prstDash val="solid"/>
            </a:ln>
          </p:spPr>
          <p:txBody>
            <a:bodyPr/>
            <a:lstStyle/>
            <a:p>
              <a:endParaRPr lang="en-US"/>
            </a:p>
          </p:txBody>
        </p:sp>
        <p:sp>
          <p:nvSpPr>
            <p:cNvPr id="6" name="Shape 1"/>
            <p:cNvSpPr/>
            <p:nvPr/>
          </p:nvSpPr>
          <p:spPr>
            <a:xfrm>
              <a:off x="655930" y="1358441"/>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7" name="Text 2"/>
            <p:cNvSpPr txBox="1"/>
            <p:nvPr/>
          </p:nvSpPr>
          <p:spPr>
            <a:xfrm>
              <a:off x="655930" y="1358441"/>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7</a:t>
              </a:r>
              <a:endParaRPr lang="en-US" sz="1050" dirty="0"/>
            </a:p>
          </p:txBody>
        </p:sp>
        <p:pic>
          <p:nvPicPr>
            <p:cNvPr id="8" name="Image 0" descr="fig7"/>
            <p:cNvPicPr>
              <a:picLocks noChangeAspect="1"/>
            </p:cNvPicPr>
            <p:nvPr/>
          </p:nvPicPr>
          <p:blipFill>
            <a:blip r:embed="rId3"/>
            <a:stretch>
              <a:fillRect/>
            </a:stretch>
          </p:blipFill>
          <p:spPr>
            <a:xfrm>
              <a:off x="689646" y="1677300"/>
              <a:ext cx="2668452" cy="2878589"/>
            </a:xfrm>
            <a:prstGeom prst="rect">
              <a:avLst/>
            </a:prstGeom>
          </p:spPr>
        </p:pic>
        <p:sp>
          <p:nvSpPr>
            <p:cNvPr id="9" name="Text 3"/>
            <p:cNvSpPr txBox="1"/>
            <p:nvPr/>
          </p:nvSpPr>
          <p:spPr>
            <a:xfrm>
              <a:off x="682752" y="4688746"/>
              <a:ext cx="2682240" cy="1240007"/>
            </a:xfrm>
            <a:prstGeom prst="rect">
              <a:avLst/>
            </a:prstGeom>
            <a:noFill/>
            <a:ln/>
          </p:spPr>
          <p:txBody>
            <a:bodyPr wrap="square" lIns="0" tIns="0" rIns="0" bIns="0" rtlCol="0" anchor="t"/>
            <a:lstStyle/>
            <a:p>
              <a:pPr marL="0" indent="0">
                <a:buNone/>
              </a:pPr>
              <a:r>
                <a:rPr lang="en-US" sz="1400" dirty="0">
                  <a:solidFill>
                    <a:srgbClr val="333333"/>
                  </a:solidFill>
                  <a:latin typeface="Calibri" pitchFamily="34" charset="0"/>
                  <a:ea typeface="Calibri" pitchFamily="34" charset="-122"/>
                  <a:cs typeface="Calibri" pitchFamily="34" charset="-120"/>
                </a:rPr>
                <a:t>AI across healthcare: diagnosis, EHRs, robotic surgery, virtual assistants. Broad context, but most items are not specific to wearables.</a:t>
              </a:r>
              <a:endParaRPr lang="en-US" sz="1400" dirty="0"/>
            </a:p>
          </p:txBody>
        </p:sp>
      </p:grpSp>
      <p:grpSp>
        <p:nvGrpSpPr>
          <p:cNvPr id="29" name="Group 28">
            <a:extLst>
              <a:ext uri="{FF2B5EF4-FFF2-40B4-BE49-F238E27FC236}">
                <a16:creationId xmlns:a16="http://schemas.microsoft.com/office/drawing/2014/main" id="{D9C2BD62-E041-B0B7-ECE7-F972FBCD4A2D}"/>
              </a:ext>
            </a:extLst>
          </p:cNvPr>
          <p:cNvGrpSpPr/>
          <p:nvPr/>
        </p:nvGrpSpPr>
        <p:grpSpPr>
          <a:xfrm>
            <a:off x="3633216" y="1252154"/>
            <a:ext cx="4962144" cy="4747457"/>
            <a:chOff x="3633216" y="1252154"/>
            <a:chExt cx="4962144" cy="4747457"/>
          </a:xfrm>
        </p:grpSpPr>
        <p:sp>
          <p:nvSpPr>
            <p:cNvPr id="10" name="Shape 4"/>
            <p:cNvSpPr/>
            <p:nvPr/>
          </p:nvSpPr>
          <p:spPr>
            <a:xfrm>
              <a:off x="3633216" y="1252154"/>
              <a:ext cx="4962144" cy="4747457"/>
            </a:xfrm>
            <a:prstGeom prst="roundRect">
              <a:avLst>
                <a:gd name="adj" fmla="val 1348"/>
              </a:avLst>
            </a:prstGeom>
            <a:solidFill>
              <a:srgbClr val="F4F6F5"/>
            </a:solidFill>
            <a:ln w="9525">
              <a:solidFill>
                <a:srgbClr val="F4F6F5"/>
              </a:solidFill>
              <a:prstDash val="solid"/>
            </a:ln>
          </p:spPr>
          <p:txBody>
            <a:bodyPr/>
            <a:lstStyle/>
            <a:p>
              <a:endParaRPr lang="en-US"/>
            </a:p>
          </p:txBody>
        </p:sp>
        <p:sp>
          <p:nvSpPr>
            <p:cNvPr id="11" name="Shape 5"/>
            <p:cNvSpPr/>
            <p:nvPr/>
          </p:nvSpPr>
          <p:spPr>
            <a:xfrm>
              <a:off x="3740506" y="1358441"/>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12" name="Text 6"/>
            <p:cNvSpPr txBox="1"/>
            <p:nvPr/>
          </p:nvSpPr>
          <p:spPr>
            <a:xfrm>
              <a:off x="3740506" y="1358441"/>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8</a:t>
              </a:r>
              <a:endParaRPr lang="en-US" sz="1050" dirty="0"/>
            </a:p>
          </p:txBody>
        </p:sp>
        <p:pic>
          <p:nvPicPr>
            <p:cNvPr id="13" name="Image 1" descr="fig8"/>
            <p:cNvPicPr>
              <a:picLocks noChangeAspect="1"/>
            </p:cNvPicPr>
            <p:nvPr/>
          </p:nvPicPr>
          <p:blipFill>
            <a:blip r:embed="rId4"/>
            <a:stretch>
              <a:fillRect/>
            </a:stretch>
          </p:blipFill>
          <p:spPr>
            <a:xfrm>
              <a:off x="3774926" y="1677300"/>
              <a:ext cx="4678725" cy="2745731"/>
            </a:xfrm>
            <a:prstGeom prst="rect">
              <a:avLst/>
            </a:prstGeom>
          </p:spPr>
        </p:pic>
        <p:sp>
          <p:nvSpPr>
            <p:cNvPr id="14" name="Shape 7"/>
            <p:cNvSpPr/>
            <p:nvPr/>
          </p:nvSpPr>
          <p:spPr>
            <a:xfrm>
              <a:off x="3740506" y="4511602"/>
              <a:ext cx="1133246" cy="885720"/>
            </a:xfrm>
            <a:prstGeom prst="roundRect">
              <a:avLst>
                <a:gd name="adj" fmla="val 7227"/>
              </a:avLst>
            </a:prstGeom>
            <a:solidFill>
              <a:srgbClr val="FFFFFF"/>
            </a:solidFill>
            <a:ln w="9525">
              <a:solidFill>
                <a:srgbClr val="D8DDDA"/>
              </a:solidFill>
              <a:prstDash val="solid"/>
            </a:ln>
          </p:spPr>
          <p:txBody>
            <a:bodyPr/>
            <a:lstStyle/>
            <a:p>
              <a:endParaRPr lang="en-US"/>
            </a:p>
          </p:txBody>
        </p:sp>
        <p:sp>
          <p:nvSpPr>
            <p:cNvPr id="15" name="Text 8"/>
            <p:cNvSpPr txBox="1"/>
            <p:nvPr/>
          </p:nvSpPr>
          <p:spPr>
            <a:xfrm>
              <a:off x="3785210" y="4555888"/>
              <a:ext cx="1043838" cy="336573"/>
            </a:xfrm>
            <a:prstGeom prst="rect">
              <a:avLst/>
            </a:prstGeom>
            <a:noFill/>
            <a:ln/>
          </p:spPr>
          <p:txBody>
            <a:bodyPr wrap="square" lIns="0" tIns="0" rIns="0" bIns="0" rtlCol="0" anchor="ctr"/>
            <a:lstStyle/>
            <a:p>
              <a:pPr marL="0" indent="0" algn="ctr">
                <a:buNone/>
              </a:pPr>
              <a:r>
                <a:rPr lang="en-US" sz="1500" b="1" dirty="0">
                  <a:solidFill>
                    <a:srgbClr val="2E8B57"/>
                  </a:solidFill>
                  <a:latin typeface="Arial" pitchFamily="34" charset="0"/>
                  <a:ea typeface="Arial" pitchFamily="34" charset="-122"/>
                  <a:cs typeface="Arial" pitchFamily="34" charset="-120"/>
                </a:rPr>
                <a:t>&lt; 100 ms</a:t>
              </a:r>
              <a:endParaRPr lang="en-US" sz="1500" dirty="0"/>
            </a:p>
          </p:txBody>
        </p:sp>
        <p:sp>
          <p:nvSpPr>
            <p:cNvPr id="16" name="Text 9"/>
            <p:cNvSpPr txBox="1"/>
            <p:nvPr/>
          </p:nvSpPr>
          <p:spPr>
            <a:xfrm>
              <a:off x="3785210" y="4901319"/>
              <a:ext cx="1043838" cy="460574"/>
            </a:xfrm>
            <a:prstGeom prst="rect">
              <a:avLst/>
            </a:prstGeom>
            <a:noFill/>
            <a:ln/>
          </p:spPr>
          <p:txBody>
            <a:bodyPr wrap="square" lIns="0" tIns="0" rIns="0" bIns="0" rtlCol="0" anchor="t"/>
            <a:lstStyle/>
            <a:p>
              <a:pPr marL="0" indent="0" algn="ctr">
                <a:buNone/>
              </a:pPr>
              <a:r>
                <a:rPr lang="en-US" sz="900" dirty="0">
                  <a:solidFill>
                    <a:srgbClr val="333333"/>
                  </a:solidFill>
                  <a:latin typeface="Calibri" pitchFamily="34" charset="0"/>
                  <a:ea typeface="Calibri" pitchFamily="34" charset="-122"/>
                  <a:cs typeface="Calibri" pitchFamily="34" charset="-120"/>
                </a:rPr>
                <a:t>latency for fall and arrhythmia alerts</a:t>
              </a:r>
              <a:endParaRPr lang="en-US" sz="900" dirty="0"/>
            </a:p>
          </p:txBody>
        </p:sp>
        <p:sp>
          <p:nvSpPr>
            <p:cNvPr id="17" name="Shape 10"/>
            <p:cNvSpPr/>
            <p:nvPr/>
          </p:nvSpPr>
          <p:spPr>
            <a:xfrm>
              <a:off x="4945278" y="4511602"/>
              <a:ext cx="1133246" cy="885720"/>
            </a:xfrm>
            <a:prstGeom prst="roundRect">
              <a:avLst>
                <a:gd name="adj" fmla="val 7227"/>
              </a:avLst>
            </a:prstGeom>
            <a:solidFill>
              <a:srgbClr val="FFFFFF"/>
            </a:solidFill>
            <a:ln w="9525">
              <a:solidFill>
                <a:srgbClr val="D8DDDA"/>
              </a:solidFill>
              <a:prstDash val="solid"/>
            </a:ln>
          </p:spPr>
          <p:txBody>
            <a:bodyPr/>
            <a:lstStyle/>
            <a:p>
              <a:endParaRPr lang="en-US"/>
            </a:p>
          </p:txBody>
        </p:sp>
        <p:sp>
          <p:nvSpPr>
            <p:cNvPr id="18" name="Text 11"/>
            <p:cNvSpPr txBox="1"/>
            <p:nvPr/>
          </p:nvSpPr>
          <p:spPr>
            <a:xfrm>
              <a:off x="4989982" y="4555888"/>
              <a:ext cx="1043838" cy="336573"/>
            </a:xfrm>
            <a:prstGeom prst="rect">
              <a:avLst/>
            </a:prstGeom>
            <a:noFill/>
            <a:ln/>
          </p:spPr>
          <p:txBody>
            <a:bodyPr wrap="square" lIns="0" tIns="0" rIns="0" bIns="0" rtlCol="0" anchor="ctr"/>
            <a:lstStyle/>
            <a:p>
              <a:pPr marL="0" indent="0" algn="ctr">
                <a:buNone/>
              </a:pPr>
              <a:r>
                <a:rPr lang="en-US" sz="1500" b="1" dirty="0">
                  <a:solidFill>
                    <a:srgbClr val="2E8B57"/>
                  </a:solidFill>
                  <a:latin typeface="Arial" pitchFamily="34" charset="0"/>
                  <a:ea typeface="Arial" pitchFamily="34" charset="-122"/>
                  <a:cs typeface="Arial" pitchFamily="34" charset="-120"/>
                </a:rPr>
                <a:t>30–50%</a:t>
              </a:r>
              <a:endParaRPr lang="en-US" sz="1500" dirty="0"/>
            </a:p>
          </p:txBody>
        </p:sp>
        <p:sp>
          <p:nvSpPr>
            <p:cNvPr id="19" name="Text 12"/>
            <p:cNvSpPr txBox="1"/>
            <p:nvPr/>
          </p:nvSpPr>
          <p:spPr>
            <a:xfrm>
              <a:off x="4989982" y="4901319"/>
              <a:ext cx="1043838" cy="460574"/>
            </a:xfrm>
            <a:prstGeom prst="rect">
              <a:avLst/>
            </a:prstGeom>
            <a:noFill/>
            <a:ln/>
          </p:spPr>
          <p:txBody>
            <a:bodyPr wrap="square" lIns="0" tIns="0" rIns="0" bIns="0" rtlCol="0" anchor="t"/>
            <a:lstStyle/>
            <a:p>
              <a:pPr marL="0" indent="0" algn="ctr">
                <a:buNone/>
              </a:pPr>
              <a:r>
                <a:rPr lang="en-US" sz="900" dirty="0">
                  <a:solidFill>
                    <a:srgbClr val="333333"/>
                  </a:solidFill>
                  <a:latin typeface="Calibri" pitchFamily="34" charset="0"/>
                  <a:ea typeface="Calibri" pitchFamily="34" charset="-122"/>
                  <a:cs typeface="Calibri" pitchFamily="34" charset="-120"/>
                </a:rPr>
                <a:t>fewer cloud calls and false alarms</a:t>
              </a:r>
              <a:endParaRPr lang="en-US" sz="900" dirty="0"/>
            </a:p>
          </p:txBody>
        </p:sp>
        <p:sp>
          <p:nvSpPr>
            <p:cNvPr id="20" name="Shape 13"/>
            <p:cNvSpPr/>
            <p:nvPr/>
          </p:nvSpPr>
          <p:spPr>
            <a:xfrm>
              <a:off x="6150051" y="4511602"/>
              <a:ext cx="1133246" cy="885720"/>
            </a:xfrm>
            <a:prstGeom prst="roundRect">
              <a:avLst>
                <a:gd name="adj" fmla="val 7227"/>
              </a:avLst>
            </a:prstGeom>
            <a:solidFill>
              <a:srgbClr val="FFFFFF"/>
            </a:solidFill>
            <a:ln w="9525">
              <a:solidFill>
                <a:srgbClr val="D8DDDA"/>
              </a:solidFill>
              <a:prstDash val="solid"/>
            </a:ln>
          </p:spPr>
          <p:txBody>
            <a:bodyPr/>
            <a:lstStyle/>
            <a:p>
              <a:endParaRPr lang="en-US"/>
            </a:p>
          </p:txBody>
        </p:sp>
        <p:sp>
          <p:nvSpPr>
            <p:cNvPr id="21" name="Text 14"/>
            <p:cNvSpPr txBox="1"/>
            <p:nvPr/>
          </p:nvSpPr>
          <p:spPr>
            <a:xfrm>
              <a:off x="6194755" y="4555888"/>
              <a:ext cx="1043838" cy="336573"/>
            </a:xfrm>
            <a:prstGeom prst="rect">
              <a:avLst/>
            </a:prstGeom>
            <a:noFill/>
            <a:ln/>
          </p:spPr>
          <p:txBody>
            <a:bodyPr wrap="square" lIns="0" tIns="0" rIns="0" bIns="0" rtlCol="0" anchor="ctr"/>
            <a:lstStyle/>
            <a:p>
              <a:pPr marL="0" indent="0" algn="ctr">
                <a:buNone/>
              </a:pPr>
              <a:r>
                <a:rPr lang="en-US" sz="1500" b="1" dirty="0">
                  <a:solidFill>
                    <a:srgbClr val="2E8B57"/>
                  </a:solidFill>
                  <a:latin typeface="Arial" pitchFamily="34" charset="0"/>
                  <a:ea typeface="Arial" pitchFamily="34" charset="-122"/>
                  <a:cs typeface="Arial" pitchFamily="34" charset="-120"/>
                </a:rPr>
                <a:t>&lt; 5 mW</a:t>
              </a:r>
              <a:endParaRPr lang="en-US" sz="1500" dirty="0"/>
            </a:p>
          </p:txBody>
        </p:sp>
        <p:sp>
          <p:nvSpPr>
            <p:cNvPr id="22" name="Text 15"/>
            <p:cNvSpPr txBox="1"/>
            <p:nvPr/>
          </p:nvSpPr>
          <p:spPr>
            <a:xfrm>
              <a:off x="6194755" y="4901319"/>
              <a:ext cx="1043838" cy="460574"/>
            </a:xfrm>
            <a:prstGeom prst="rect">
              <a:avLst/>
            </a:prstGeom>
            <a:noFill/>
            <a:ln/>
          </p:spPr>
          <p:txBody>
            <a:bodyPr wrap="square" lIns="0" tIns="0" rIns="0" bIns="0" rtlCol="0" anchor="t"/>
            <a:lstStyle/>
            <a:p>
              <a:pPr marL="0" indent="0" algn="ctr">
                <a:buNone/>
              </a:pPr>
              <a:r>
                <a:rPr lang="en-US" sz="900" dirty="0">
                  <a:solidFill>
                    <a:srgbClr val="333333"/>
                  </a:solidFill>
                  <a:latin typeface="Calibri" pitchFamily="34" charset="0"/>
                  <a:ea typeface="Calibri" pitchFamily="34" charset="-122"/>
                  <a:cs typeface="Calibri" pitchFamily="34" charset="-120"/>
                </a:rPr>
                <a:t>TinyCNN arrhythmia detection</a:t>
              </a:r>
              <a:endParaRPr lang="en-US" sz="900" dirty="0"/>
            </a:p>
          </p:txBody>
        </p:sp>
        <p:sp>
          <p:nvSpPr>
            <p:cNvPr id="23" name="Shape 16"/>
            <p:cNvSpPr/>
            <p:nvPr/>
          </p:nvSpPr>
          <p:spPr>
            <a:xfrm>
              <a:off x="7354824" y="4511602"/>
              <a:ext cx="1133246" cy="885720"/>
            </a:xfrm>
            <a:prstGeom prst="roundRect">
              <a:avLst>
                <a:gd name="adj" fmla="val 7227"/>
              </a:avLst>
            </a:prstGeom>
            <a:solidFill>
              <a:srgbClr val="FFFFFF"/>
            </a:solidFill>
            <a:ln w="9525">
              <a:solidFill>
                <a:srgbClr val="D8DDDA"/>
              </a:solidFill>
              <a:prstDash val="solid"/>
            </a:ln>
          </p:spPr>
          <p:txBody>
            <a:bodyPr/>
            <a:lstStyle/>
            <a:p>
              <a:endParaRPr lang="en-US"/>
            </a:p>
          </p:txBody>
        </p:sp>
        <p:sp>
          <p:nvSpPr>
            <p:cNvPr id="24" name="Text 17"/>
            <p:cNvSpPr txBox="1"/>
            <p:nvPr/>
          </p:nvSpPr>
          <p:spPr>
            <a:xfrm>
              <a:off x="7399528" y="4555888"/>
              <a:ext cx="1043838" cy="336573"/>
            </a:xfrm>
            <a:prstGeom prst="rect">
              <a:avLst/>
            </a:prstGeom>
            <a:noFill/>
            <a:ln/>
          </p:spPr>
          <p:txBody>
            <a:bodyPr wrap="square" lIns="0" tIns="0" rIns="0" bIns="0" rtlCol="0" anchor="ctr"/>
            <a:lstStyle/>
            <a:p>
              <a:pPr marL="0" indent="0" algn="ctr">
                <a:buNone/>
              </a:pPr>
              <a:r>
                <a:rPr lang="en-US" sz="1500" b="1" dirty="0">
                  <a:solidFill>
                    <a:srgbClr val="2E8B57"/>
                  </a:solidFill>
                  <a:latin typeface="Arial" pitchFamily="34" charset="0"/>
                  <a:ea typeface="Arial" pitchFamily="34" charset="-122"/>
                  <a:cs typeface="Arial" pitchFamily="34" charset="-120"/>
                </a:rPr>
                <a:t>&lt; 200 kB</a:t>
              </a:r>
              <a:endParaRPr lang="en-US" sz="1500" dirty="0"/>
            </a:p>
          </p:txBody>
        </p:sp>
        <p:sp>
          <p:nvSpPr>
            <p:cNvPr id="25" name="Text 18"/>
            <p:cNvSpPr txBox="1"/>
            <p:nvPr/>
          </p:nvSpPr>
          <p:spPr>
            <a:xfrm>
              <a:off x="7399528" y="4901319"/>
              <a:ext cx="1043838" cy="460574"/>
            </a:xfrm>
            <a:prstGeom prst="rect">
              <a:avLst/>
            </a:prstGeom>
            <a:noFill/>
            <a:ln/>
          </p:spPr>
          <p:txBody>
            <a:bodyPr wrap="square" lIns="0" tIns="0" rIns="0" bIns="0" rtlCol="0" anchor="t"/>
            <a:lstStyle/>
            <a:p>
              <a:pPr marL="0" indent="0" algn="ctr">
                <a:buNone/>
              </a:pPr>
              <a:r>
                <a:rPr lang="en-US" sz="900" dirty="0">
                  <a:solidFill>
                    <a:srgbClr val="333333"/>
                  </a:solidFill>
                  <a:latin typeface="Calibri" pitchFamily="34" charset="0"/>
                  <a:ea typeface="Calibri" pitchFamily="34" charset="-122"/>
                  <a:cs typeface="Calibri" pitchFamily="34" charset="-120"/>
                </a:rPr>
                <a:t>quantized on-device models</a:t>
              </a:r>
              <a:endParaRPr lang="en-US" sz="900" dirty="0"/>
            </a:p>
          </p:txBody>
        </p:sp>
        <p:sp>
          <p:nvSpPr>
            <p:cNvPr id="26" name="Text 19"/>
            <p:cNvSpPr txBox="1"/>
            <p:nvPr/>
          </p:nvSpPr>
          <p:spPr>
            <a:xfrm>
              <a:off x="3740506" y="5485894"/>
              <a:ext cx="4747565" cy="442860"/>
            </a:xfrm>
            <a:prstGeom prst="rect">
              <a:avLst/>
            </a:prstGeom>
            <a:noFill/>
            <a:ln/>
          </p:spPr>
          <p:txBody>
            <a:bodyPr wrap="square" lIns="0" tIns="0" rIns="0" bIns="0" rtlCol="0" anchor="t"/>
            <a:lstStyle/>
            <a:p>
              <a:pPr marL="0" indent="0">
                <a:buNone/>
              </a:pPr>
              <a:r>
                <a:rPr lang="en-US" sz="950" i="1" dirty="0">
                  <a:solidFill>
                    <a:srgbClr val="5B6770"/>
                  </a:solidFill>
                  <a:latin typeface="Calibri" pitchFamily="34" charset="0"/>
                  <a:ea typeface="Calibri" pitchFamily="34" charset="-122"/>
                  <a:cs typeface="Calibri" pitchFamily="34" charset="-120"/>
                </a:rPr>
                <a:t>Benefits: real-time alerts · privacy · battery life · offline use. Values are the authors' claims, mostly uncited.</a:t>
              </a:r>
              <a:endParaRPr lang="en-US" sz="950" dirty="0"/>
            </a:p>
          </p:txBody>
        </p:sp>
      </p:grpSp>
      <p:sp>
        <p:nvSpPr>
          <p:cNvPr id="27"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12</a:t>
            </a:fld>
            <a:endParaRPr lang="en-US">
              <a:solidFill>
                <a:srgbClr val="FFFFFF"/>
              </a:solidFill>
              <a:latin typeface="Arial" panose="020B0604020202020204"/>
            </a:endParaRPr>
          </a:p>
        </p:txBody>
      </p:sp>
      <p:sp>
        <p:nvSpPr>
          <p:cNvPr id="28"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FIGURES 9–10</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300" b="1" dirty="0">
                <a:solidFill>
                  <a:schemeClr val="accent5"/>
                </a:solidFill>
                <a:ea typeface="Cambria" pitchFamily="34" charset="-122"/>
                <a:cs typeface="Cambria" pitchFamily="34" charset="-120"/>
              </a:rPr>
              <a:t>Applications: sweat inflammation and smart wound care</a:t>
            </a:r>
            <a:endParaRPr lang="en-US" sz="2400" dirty="0">
              <a:solidFill>
                <a:schemeClr val="accent5"/>
              </a:solidFill>
            </a:endParaRPr>
          </a:p>
        </p:txBody>
      </p:sp>
      <p:grpSp>
        <p:nvGrpSpPr>
          <p:cNvPr id="2" name="Group 1">
            <a:extLst>
              <a:ext uri="{FF2B5EF4-FFF2-40B4-BE49-F238E27FC236}">
                <a16:creationId xmlns:a16="http://schemas.microsoft.com/office/drawing/2014/main" id="{E83CA68A-03E7-577E-8DB6-2BAC6DB3C824}"/>
              </a:ext>
            </a:extLst>
          </p:cNvPr>
          <p:cNvGrpSpPr/>
          <p:nvPr/>
        </p:nvGrpSpPr>
        <p:grpSpPr>
          <a:xfrm>
            <a:off x="548640" y="1252154"/>
            <a:ext cx="3956304" cy="3985738"/>
            <a:chOff x="548640" y="1252154"/>
            <a:chExt cx="3956304" cy="3985738"/>
          </a:xfrm>
        </p:grpSpPr>
        <p:sp>
          <p:nvSpPr>
            <p:cNvPr id="5" name="Shape 0"/>
            <p:cNvSpPr/>
            <p:nvPr/>
          </p:nvSpPr>
          <p:spPr>
            <a:xfrm>
              <a:off x="548640" y="1252154"/>
              <a:ext cx="3956304" cy="3985738"/>
            </a:xfrm>
            <a:prstGeom prst="roundRect">
              <a:avLst>
                <a:gd name="adj" fmla="val 1618"/>
              </a:avLst>
            </a:prstGeom>
            <a:solidFill>
              <a:srgbClr val="F4F6F5"/>
            </a:solidFill>
            <a:ln w="9525">
              <a:solidFill>
                <a:srgbClr val="F4F6F5"/>
              </a:solidFill>
              <a:prstDash val="solid"/>
            </a:ln>
          </p:spPr>
          <p:txBody>
            <a:bodyPr/>
            <a:lstStyle/>
            <a:p>
              <a:endParaRPr lang="en-US"/>
            </a:p>
          </p:txBody>
        </p:sp>
        <p:pic>
          <p:nvPicPr>
            <p:cNvPr id="6" name="Image 0" descr="fig9"/>
            <p:cNvPicPr>
              <a:picLocks noChangeAspect="1"/>
            </p:cNvPicPr>
            <p:nvPr/>
          </p:nvPicPr>
          <p:blipFill>
            <a:blip r:embed="rId3"/>
            <a:stretch>
              <a:fillRect/>
            </a:stretch>
          </p:blipFill>
          <p:spPr>
            <a:xfrm>
              <a:off x="673424" y="1434978"/>
              <a:ext cx="3706736" cy="2238367"/>
            </a:xfrm>
            <a:prstGeom prst="rect">
              <a:avLst/>
            </a:prstGeom>
          </p:spPr>
        </p:pic>
        <p:sp>
          <p:nvSpPr>
            <p:cNvPr id="7" name="Shape 1"/>
            <p:cNvSpPr/>
            <p:nvPr/>
          </p:nvSpPr>
          <p:spPr>
            <a:xfrm>
              <a:off x="655930" y="3856170"/>
              <a:ext cx="688442"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8" name="Text 2"/>
            <p:cNvSpPr txBox="1"/>
            <p:nvPr/>
          </p:nvSpPr>
          <p:spPr>
            <a:xfrm>
              <a:off x="655930" y="3856170"/>
              <a:ext cx="688442"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9</a:t>
              </a:r>
              <a:endParaRPr lang="en-US" sz="1050" dirty="0"/>
            </a:p>
          </p:txBody>
        </p:sp>
        <p:sp>
          <p:nvSpPr>
            <p:cNvPr id="9" name="Text 3"/>
            <p:cNvSpPr txBox="1"/>
            <p:nvPr/>
          </p:nvSpPr>
          <p:spPr>
            <a:xfrm>
              <a:off x="1451661" y="3820741"/>
              <a:ext cx="2945994" cy="318859"/>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Wireless sweat CRP patch</a:t>
              </a:r>
              <a:endParaRPr lang="en-US" sz="1300" dirty="0"/>
            </a:p>
          </p:txBody>
        </p:sp>
        <p:sp>
          <p:nvSpPr>
            <p:cNvPr id="10" name="Text 4"/>
            <p:cNvSpPr txBox="1"/>
            <p:nvPr/>
          </p:nvSpPr>
          <p:spPr>
            <a:xfrm>
              <a:off x="655930" y="4228172"/>
              <a:ext cx="3741725" cy="956577"/>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Iontophoresis induces sweat; microfluidics reconstitute the reagents; a graphene immunosensor with AuNP labels reads CRP by square-wave voltammetry. Targets inflammation in COPD, heart failure and infection.</a:t>
              </a:r>
              <a:endParaRPr lang="en-US" sz="1050" dirty="0"/>
            </a:p>
          </p:txBody>
        </p:sp>
      </p:grpSp>
      <p:grpSp>
        <p:nvGrpSpPr>
          <p:cNvPr id="20" name="Group 19">
            <a:extLst>
              <a:ext uri="{FF2B5EF4-FFF2-40B4-BE49-F238E27FC236}">
                <a16:creationId xmlns:a16="http://schemas.microsoft.com/office/drawing/2014/main" id="{B41E8FE0-8DCB-EC74-2FD0-2D1F5A74BA93}"/>
              </a:ext>
            </a:extLst>
          </p:cNvPr>
          <p:cNvGrpSpPr/>
          <p:nvPr/>
        </p:nvGrpSpPr>
        <p:grpSpPr>
          <a:xfrm>
            <a:off x="4639056" y="1252154"/>
            <a:ext cx="3956304" cy="3985738"/>
            <a:chOff x="4639056" y="1252154"/>
            <a:chExt cx="3956304" cy="3985738"/>
          </a:xfrm>
        </p:grpSpPr>
        <p:sp>
          <p:nvSpPr>
            <p:cNvPr id="11" name="Shape 5"/>
            <p:cNvSpPr/>
            <p:nvPr/>
          </p:nvSpPr>
          <p:spPr>
            <a:xfrm>
              <a:off x="4639056" y="1252154"/>
              <a:ext cx="3956304" cy="3985738"/>
            </a:xfrm>
            <a:prstGeom prst="roundRect">
              <a:avLst>
                <a:gd name="adj" fmla="val 1618"/>
              </a:avLst>
            </a:prstGeom>
            <a:solidFill>
              <a:srgbClr val="F4F6F5"/>
            </a:solidFill>
            <a:ln w="9525">
              <a:solidFill>
                <a:srgbClr val="F4F6F5"/>
              </a:solidFill>
              <a:prstDash val="solid"/>
            </a:ln>
          </p:spPr>
          <p:txBody>
            <a:bodyPr/>
            <a:lstStyle/>
            <a:p>
              <a:endParaRPr lang="en-US"/>
            </a:p>
          </p:txBody>
        </p:sp>
        <p:pic>
          <p:nvPicPr>
            <p:cNvPr id="12" name="Image 1" descr="fig10"/>
            <p:cNvPicPr>
              <a:picLocks noChangeAspect="1"/>
            </p:cNvPicPr>
            <p:nvPr/>
          </p:nvPicPr>
          <p:blipFill>
            <a:blip r:embed="rId4"/>
            <a:stretch>
              <a:fillRect/>
            </a:stretch>
          </p:blipFill>
          <p:spPr>
            <a:xfrm>
              <a:off x="4763840" y="1407985"/>
              <a:ext cx="3706736" cy="2292354"/>
            </a:xfrm>
            <a:prstGeom prst="rect">
              <a:avLst/>
            </a:prstGeom>
          </p:spPr>
        </p:pic>
        <p:sp>
          <p:nvSpPr>
            <p:cNvPr id="13" name="Shape 6"/>
            <p:cNvSpPr/>
            <p:nvPr/>
          </p:nvSpPr>
          <p:spPr>
            <a:xfrm>
              <a:off x="4746346" y="3856170"/>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14" name="Text 7"/>
            <p:cNvSpPr txBox="1"/>
            <p:nvPr/>
          </p:nvSpPr>
          <p:spPr>
            <a:xfrm>
              <a:off x="4746346" y="3856170"/>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10</a:t>
              </a:r>
              <a:endParaRPr lang="en-US" sz="1050" dirty="0"/>
            </a:p>
          </p:txBody>
        </p:sp>
        <p:sp>
          <p:nvSpPr>
            <p:cNvPr id="15" name="Text 8"/>
            <p:cNvSpPr txBox="1"/>
            <p:nvPr/>
          </p:nvSpPr>
          <p:spPr>
            <a:xfrm>
              <a:off x="5618074" y="3820741"/>
              <a:ext cx="2869997" cy="318859"/>
            </a:xfrm>
            <a:prstGeom prst="rect">
              <a:avLst/>
            </a:prstGeom>
            <a:noFill/>
            <a:ln/>
          </p:spPr>
          <p:txBody>
            <a:bodyPr wrap="square" lIns="0" tIns="0" rIns="0" bIns="0" rtlCol="0" anchor="ctr"/>
            <a:lstStyle/>
            <a:p>
              <a:pPr marL="0" indent="0">
                <a:buNone/>
              </a:pPr>
              <a:r>
                <a:rPr lang="en-US" sz="1300" b="1" dirty="0">
                  <a:solidFill>
                    <a:srgbClr val="154734"/>
                  </a:solidFill>
                  <a:latin typeface="Calibri" pitchFamily="34" charset="0"/>
                  <a:ea typeface="Calibri" pitchFamily="34" charset="-122"/>
                  <a:cs typeface="Calibri" pitchFamily="34" charset="-120"/>
                </a:rPr>
                <a:t>iCares smart bandage</a:t>
              </a:r>
              <a:endParaRPr lang="en-US" sz="1300" dirty="0"/>
            </a:p>
          </p:txBody>
        </p:sp>
        <p:sp>
          <p:nvSpPr>
            <p:cNvPr id="16" name="Text 9"/>
            <p:cNvSpPr txBox="1"/>
            <p:nvPr/>
          </p:nvSpPr>
          <p:spPr>
            <a:xfrm>
              <a:off x="4746346" y="4228172"/>
              <a:ext cx="3741725" cy="956577"/>
            </a:xfrm>
            <a:prstGeom prst="rect">
              <a:avLst/>
            </a:prstGeom>
            <a:noFill/>
            <a:ln/>
          </p:spPr>
          <p:txBody>
            <a:bodyPr wrap="square" lIns="0" tIns="0" rIns="0" bIns="0" rtlCol="0" anchor="t"/>
            <a:lstStyle/>
            <a:p>
              <a:pPr marL="0" indent="0">
                <a:buNone/>
              </a:pPr>
              <a:r>
                <a:rPr lang="en-US" sz="1050" dirty="0">
                  <a:solidFill>
                    <a:srgbClr val="333333"/>
                  </a:solidFill>
                  <a:latin typeface="Calibri" pitchFamily="34" charset="0"/>
                  <a:ea typeface="Calibri" pitchFamily="34" charset="-122"/>
                  <a:cs typeface="Calibri" pitchFamily="34" charset="-120"/>
                </a:rPr>
                <a:t>Directional microfluidics remove wound exudate; multiplexed sensors track T, pH, O₂, H₂O₂ and NO; machine learning classifies the wound and predicts healing outcome.</a:t>
              </a:r>
              <a:endParaRPr lang="en-US" sz="1050" dirty="0"/>
            </a:p>
          </p:txBody>
        </p:sp>
      </p:grpSp>
      <p:sp>
        <p:nvSpPr>
          <p:cNvPr id="17" name="Text 10"/>
          <p:cNvSpPr txBox="1"/>
          <p:nvPr/>
        </p:nvSpPr>
        <p:spPr>
          <a:xfrm>
            <a:off x="615696" y="5450015"/>
            <a:ext cx="8046720" cy="442860"/>
          </a:xfrm>
          <a:prstGeom prst="rect">
            <a:avLst/>
          </a:prstGeom>
          <a:noFill/>
          <a:ln/>
        </p:spPr>
        <p:txBody>
          <a:bodyPr wrap="square" lIns="0" tIns="0" rIns="0" bIns="0" rtlCol="0" anchor="ctr"/>
          <a:lstStyle/>
          <a:p>
            <a:pPr marL="0" indent="0">
              <a:buNone/>
            </a:pPr>
            <a:r>
              <a:rPr lang="en-US" sz="1050" b="1" dirty="0">
                <a:solidFill>
                  <a:srgbClr val="154734"/>
                </a:solidFill>
                <a:latin typeface="Calibri" pitchFamily="34" charset="0"/>
                <a:ea typeface="Calibri" pitchFamily="34" charset="-122"/>
                <a:cs typeface="Calibri" pitchFamily="34" charset="-120"/>
              </a:rPr>
              <a:t>Also in §4:  </a:t>
            </a:r>
            <a:r>
              <a:rPr lang="en-US" sz="1050" dirty="0">
                <a:solidFill>
                  <a:srgbClr val="333333"/>
                </a:solidFill>
                <a:latin typeface="Calibri" pitchFamily="34" charset="0"/>
                <a:ea typeface="Calibri" pitchFamily="34" charset="-122"/>
                <a:cs typeface="Calibri" pitchFamily="34" charset="-120"/>
              </a:rPr>
              <a:t>vital signs  ·  AF and glycaemic early warning  ·  mental health (HRV, EDA, sleep)  ·  post-op monitoring  ·  EHR integration (FHIR)</a:t>
            </a:r>
            <a:endParaRPr lang="en-US" sz="1050" dirty="0"/>
          </a:p>
        </p:txBody>
      </p:sp>
      <p:sp>
        <p:nvSpPr>
          <p:cNvPr id="18"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13</a:t>
            </a:fld>
            <a:endParaRPr lang="en-US">
              <a:solidFill>
                <a:srgbClr val="FFFFFF"/>
              </a:solidFill>
              <a:latin typeface="Arial" panose="020B0604020202020204"/>
            </a:endParaRPr>
          </a:p>
        </p:txBody>
      </p:sp>
      <p:sp>
        <p:nvSpPr>
          <p:cNvPr id="19"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TABLE 5</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Table 5: strong AI benchmarks, but none are wearable</a:t>
            </a:r>
            <a:endParaRPr lang="en-US" sz="2400" dirty="0">
              <a:solidFill>
                <a:schemeClr val="accent5"/>
              </a:solidFill>
            </a:endParaRPr>
          </a:p>
        </p:txBody>
      </p:sp>
      <p:grpSp>
        <p:nvGrpSpPr>
          <p:cNvPr id="2" name="Group 1">
            <a:extLst>
              <a:ext uri="{FF2B5EF4-FFF2-40B4-BE49-F238E27FC236}">
                <a16:creationId xmlns:a16="http://schemas.microsoft.com/office/drawing/2014/main" id="{C57900D9-0E58-84A1-C6DB-42B9952DB620}"/>
              </a:ext>
            </a:extLst>
          </p:cNvPr>
          <p:cNvGrpSpPr/>
          <p:nvPr/>
        </p:nvGrpSpPr>
        <p:grpSpPr>
          <a:xfrm>
            <a:off x="503936" y="1234440"/>
            <a:ext cx="4783328" cy="4570313"/>
            <a:chOff x="503936" y="1234440"/>
            <a:chExt cx="4783328" cy="4570313"/>
          </a:xfrm>
        </p:grpSpPr>
        <p:sp>
          <p:nvSpPr>
            <p:cNvPr id="5" name="Shape 0"/>
            <p:cNvSpPr/>
            <p:nvPr/>
          </p:nvSpPr>
          <p:spPr>
            <a:xfrm>
              <a:off x="548640" y="1287583"/>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6" name="Text 1"/>
            <p:cNvSpPr txBox="1"/>
            <p:nvPr/>
          </p:nvSpPr>
          <p:spPr>
            <a:xfrm>
              <a:off x="548640" y="1287583"/>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Table 5</a:t>
              </a:r>
              <a:endParaRPr lang="en-US" sz="1050" dirty="0"/>
            </a:p>
          </p:txBody>
        </p:sp>
        <p:sp>
          <p:nvSpPr>
            <p:cNvPr id="7" name="Text 2"/>
            <p:cNvSpPr txBox="1"/>
            <p:nvPr/>
          </p:nvSpPr>
          <p:spPr>
            <a:xfrm>
              <a:off x="1402486" y="1234440"/>
              <a:ext cx="3884778" cy="372002"/>
            </a:xfrm>
            <a:prstGeom prst="rect">
              <a:avLst/>
            </a:prstGeom>
            <a:noFill/>
            <a:ln/>
          </p:spPr>
          <p:txBody>
            <a:bodyPr wrap="square" lIns="0" tIns="0" rIns="0" bIns="0" rtlCol="0" anchor="ctr"/>
            <a:lstStyle/>
            <a:p>
              <a:pPr marL="0" indent="0">
                <a:buNone/>
              </a:pPr>
              <a:r>
                <a:rPr lang="en-US" sz="1100" b="1" dirty="0">
                  <a:solidFill>
                    <a:srgbClr val="154734"/>
                  </a:solidFill>
                  <a:latin typeface="Calibri" pitchFamily="34" charset="0"/>
                  <a:ea typeface="Calibri" pitchFamily="34" charset="-122"/>
                  <a:cs typeface="Calibri" pitchFamily="34" charset="-120"/>
                </a:rPr>
                <a:t>Sensitivity, specificity, accuracy and AUC of 8 deployed AI systems</a:t>
              </a:r>
              <a:endParaRPr lang="en-US" sz="1100" dirty="0"/>
            </a:p>
          </p:txBody>
        </p:sp>
        <p:graphicFrame>
          <p:nvGraphicFramePr>
            <p:cNvPr id="8" name="Chart 0"/>
            <p:cNvGraphicFramePr/>
            <p:nvPr>
              <p:extLst>
                <p:ext uri="{D42A27DB-BD31-4B8C-83A1-F6EECF244321}">
                  <p14:modId xmlns:p14="http://schemas.microsoft.com/office/powerpoint/2010/main" val="3701106524"/>
                </p:ext>
              </p:extLst>
            </p:nvPr>
          </p:nvGraphicFramePr>
          <p:xfrm>
            <a:off x="503936" y="1606442"/>
            <a:ext cx="4783328" cy="4198311"/>
          </p:xfrm>
          <a:graphic>
            <a:graphicData uri="http://schemas.openxmlformats.org/drawingml/2006/chart">
              <c:chart xmlns:c="http://schemas.openxmlformats.org/drawingml/2006/chart" xmlns:r="http://schemas.openxmlformats.org/officeDocument/2006/relationships" r:id="rId3"/>
            </a:graphicData>
          </a:graphic>
        </p:graphicFrame>
      </p:grpSp>
      <p:sp>
        <p:nvSpPr>
          <p:cNvPr id="9" name="Text 3"/>
          <p:cNvSpPr txBox="1"/>
          <p:nvPr/>
        </p:nvSpPr>
        <p:spPr>
          <a:xfrm>
            <a:off x="548640" y="5822467"/>
            <a:ext cx="4738624" cy="248001"/>
          </a:xfrm>
          <a:prstGeom prst="rect">
            <a:avLst/>
          </a:prstGeom>
          <a:noFill/>
          <a:ln/>
        </p:spPr>
        <p:txBody>
          <a:bodyPr wrap="square" lIns="0" tIns="0" rIns="0" bIns="0" rtlCol="0" anchor="t"/>
          <a:lstStyle/>
          <a:p>
            <a:pPr marL="0" indent="0">
              <a:buNone/>
            </a:pPr>
            <a:r>
              <a:rPr lang="en-US" sz="850" i="1" dirty="0">
                <a:solidFill>
                  <a:srgbClr val="5B6770"/>
                </a:solidFill>
                <a:latin typeface="Calibri" pitchFamily="34" charset="0"/>
                <a:ea typeface="Calibri" pitchFamily="34" charset="-122"/>
                <a:cs typeface="Calibri" pitchFamily="34" charset="-120"/>
              </a:rPr>
              <a:t>AUC plotted ×100 (e.g., 96.3 = 0.963). Accuracy was reported for only 3 of 8 systems ("—" in Table 5).</a:t>
            </a:r>
            <a:endParaRPr lang="en-US" sz="850" dirty="0"/>
          </a:p>
        </p:txBody>
      </p:sp>
      <p:grpSp>
        <p:nvGrpSpPr>
          <p:cNvPr id="32" name="Group 31">
            <a:extLst>
              <a:ext uri="{FF2B5EF4-FFF2-40B4-BE49-F238E27FC236}">
                <a16:creationId xmlns:a16="http://schemas.microsoft.com/office/drawing/2014/main" id="{A88C7FC0-F13C-E9C4-BC33-71650BA677F9}"/>
              </a:ext>
            </a:extLst>
          </p:cNvPr>
          <p:cNvGrpSpPr/>
          <p:nvPr/>
        </p:nvGrpSpPr>
        <p:grpSpPr>
          <a:xfrm>
            <a:off x="5466080" y="1252154"/>
            <a:ext cx="3129280" cy="4765172"/>
            <a:chOff x="5466080" y="1252154"/>
            <a:chExt cx="3129280" cy="4765172"/>
          </a:xfrm>
        </p:grpSpPr>
        <p:sp>
          <p:nvSpPr>
            <p:cNvPr id="10" name="Shape 4"/>
            <p:cNvSpPr/>
            <p:nvPr/>
          </p:nvSpPr>
          <p:spPr>
            <a:xfrm>
              <a:off x="5466080" y="1252154"/>
              <a:ext cx="3129280" cy="1062863"/>
            </a:xfrm>
            <a:prstGeom prst="roundRect">
              <a:avLst>
                <a:gd name="adj" fmla="val 6022"/>
              </a:avLst>
            </a:prstGeom>
            <a:solidFill>
              <a:srgbClr val="FBEAE8"/>
            </a:solidFill>
            <a:ln w="9525">
              <a:solidFill>
                <a:srgbClr val="FBEAE8"/>
              </a:solidFill>
              <a:prstDash val="solid"/>
            </a:ln>
          </p:spPr>
          <p:txBody>
            <a:bodyPr/>
            <a:lstStyle/>
            <a:p>
              <a:endParaRPr lang="en-US"/>
            </a:p>
          </p:txBody>
        </p:sp>
        <p:sp>
          <p:nvSpPr>
            <p:cNvPr id="11" name="Shape 5"/>
            <p:cNvSpPr/>
            <p:nvPr/>
          </p:nvSpPr>
          <p:spPr>
            <a:xfrm>
              <a:off x="5574624" y="1340726"/>
              <a:ext cx="265716" cy="265716"/>
            </a:xfrm>
            <a:prstGeom prst="ellipse">
              <a:avLst/>
            </a:prstGeom>
            <a:solidFill>
              <a:srgbClr val="B3261E"/>
            </a:solidFill>
            <a:ln w="12700">
              <a:solidFill>
                <a:srgbClr val="B3261E"/>
              </a:solidFill>
              <a:prstDash val="solid"/>
            </a:ln>
          </p:spPr>
          <p:txBody>
            <a:bodyPr/>
            <a:lstStyle/>
            <a:p>
              <a:endParaRPr lang="en-US"/>
            </a:p>
          </p:txBody>
        </p:sp>
        <p:pic>
          <p:nvPicPr>
            <p:cNvPr id="12" name="Image 0" descr="preencoded.png"/>
            <p:cNvPicPr>
              <a:picLocks noChangeAspect="1"/>
            </p:cNvPicPr>
            <p:nvPr/>
          </p:nvPicPr>
          <p:blipFill>
            <a:blip r:embed="rId4"/>
            <a:stretch>
              <a:fillRect/>
            </a:stretch>
          </p:blipFill>
          <p:spPr>
            <a:xfrm>
              <a:off x="5643710" y="1409812"/>
              <a:ext cx="127544" cy="127544"/>
            </a:xfrm>
            <a:prstGeom prst="rect">
              <a:avLst/>
            </a:prstGeom>
          </p:spPr>
        </p:pic>
        <p:sp>
          <p:nvSpPr>
            <p:cNvPr id="13" name="Text 6"/>
            <p:cNvSpPr txBox="1"/>
            <p:nvPr/>
          </p:nvSpPr>
          <p:spPr>
            <a:xfrm>
              <a:off x="5913120" y="1323012"/>
              <a:ext cx="2592832" cy="301145"/>
            </a:xfrm>
            <a:prstGeom prst="rect">
              <a:avLst/>
            </a:prstGeom>
            <a:noFill/>
            <a:ln/>
          </p:spPr>
          <p:txBody>
            <a:bodyPr wrap="square" lIns="0" tIns="0" rIns="0" bIns="0" rtlCol="0" anchor="ctr"/>
            <a:lstStyle/>
            <a:p>
              <a:pPr marL="0" indent="0">
                <a:buNone/>
              </a:pPr>
              <a:r>
                <a:rPr lang="en-US" sz="1150" b="1" dirty="0">
                  <a:solidFill>
                    <a:srgbClr val="B3261E"/>
                  </a:solidFill>
                  <a:latin typeface="Calibri" pitchFamily="34" charset="0"/>
                  <a:ea typeface="Calibri" pitchFamily="34" charset="-122"/>
                  <a:cs typeface="Calibri" pitchFamily="34" charset="-120"/>
                </a:rPr>
                <a:t>Modality mismatch</a:t>
              </a:r>
              <a:endParaRPr lang="en-US" sz="1150" dirty="0"/>
            </a:p>
          </p:txBody>
        </p:sp>
        <p:sp>
          <p:nvSpPr>
            <p:cNvPr id="14" name="Text 7"/>
            <p:cNvSpPr txBox="1"/>
            <p:nvPr/>
          </p:nvSpPr>
          <p:spPr>
            <a:xfrm>
              <a:off x="5573370" y="1659585"/>
              <a:ext cx="2914701" cy="620004"/>
            </a:xfrm>
            <a:prstGeom prst="rect">
              <a:avLst/>
            </a:prstGeom>
            <a:noFill/>
            <a:ln/>
          </p:spPr>
          <p:txBody>
            <a:bodyPr wrap="square" lIns="0" tIns="0" rIns="0" bIns="0" rtlCol="0" anchor="t"/>
            <a:lstStyle/>
            <a:p>
              <a:pPr marL="0" indent="0">
                <a:buNone/>
              </a:pPr>
              <a:r>
                <a:rPr lang="en-US" sz="950" dirty="0">
                  <a:solidFill>
                    <a:srgbClr val="333333"/>
                  </a:solidFill>
                  <a:latin typeface="Calibri" pitchFamily="34" charset="0"/>
                  <a:ea typeface="Calibri" pitchFamily="34" charset="-122"/>
                  <a:cs typeface="Calibri" pitchFamily="34" charset="-120"/>
                </a:rPr>
                <a:t>6 of 8 systems use imaging or genomics; 0 of 8 are body-worn. Only 2 are point-of-care (stethoscope, smartphone).</a:t>
              </a:r>
              <a:endParaRPr lang="en-US" sz="950" dirty="0"/>
            </a:p>
          </p:txBody>
        </p:sp>
        <p:sp>
          <p:nvSpPr>
            <p:cNvPr id="15" name="Shape 8"/>
            <p:cNvSpPr/>
            <p:nvPr/>
          </p:nvSpPr>
          <p:spPr>
            <a:xfrm>
              <a:off x="5466080" y="2403590"/>
              <a:ext cx="3129280" cy="1204579"/>
            </a:xfrm>
            <a:prstGeom prst="roundRect">
              <a:avLst>
                <a:gd name="adj" fmla="val 5314"/>
              </a:avLst>
            </a:prstGeom>
            <a:solidFill>
              <a:srgbClr val="FBEAE8"/>
            </a:solidFill>
            <a:ln w="9525">
              <a:solidFill>
                <a:srgbClr val="FBEAE8"/>
              </a:solidFill>
              <a:prstDash val="solid"/>
            </a:ln>
          </p:spPr>
          <p:txBody>
            <a:bodyPr/>
            <a:lstStyle/>
            <a:p>
              <a:endParaRPr lang="en-US"/>
            </a:p>
          </p:txBody>
        </p:sp>
        <p:sp>
          <p:nvSpPr>
            <p:cNvPr id="16" name="Shape 9"/>
            <p:cNvSpPr/>
            <p:nvPr/>
          </p:nvSpPr>
          <p:spPr>
            <a:xfrm>
              <a:off x="5574624" y="2492162"/>
              <a:ext cx="265716" cy="265716"/>
            </a:xfrm>
            <a:prstGeom prst="ellipse">
              <a:avLst/>
            </a:prstGeom>
            <a:solidFill>
              <a:srgbClr val="B3261E"/>
            </a:solidFill>
            <a:ln w="12700">
              <a:solidFill>
                <a:srgbClr val="B3261E"/>
              </a:solidFill>
              <a:prstDash val="solid"/>
            </a:ln>
          </p:spPr>
          <p:txBody>
            <a:bodyPr/>
            <a:lstStyle/>
            <a:p>
              <a:endParaRPr lang="en-US"/>
            </a:p>
          </p:txBody>
        </p:sp>
        <p:pic>
          <p:nvPicPr>
            <p:cNvPr id="17" name="Image 1" descr="preencoded.png"/>
            <p:cNvPicPr>
              <a:picLocks noChangeAspect="1"/>
            </p:cNvPicPr>
            <p:nvPr/>
          </p:nvPicPr>
          <p:blipFill>
            <a:blip r:embed="rId5"/>
            <a:stretch>
              <a:fillRect/>
            </a:stretch>
          </p:blipFill>
          <p:spPr>
            <a:xfrm>
              <a:off x="5643710" y="2561248"/>
              <a:ext cx="127544" cy="127544"/>
            </a:xfrm>
            <a:prstGeom prst="rect">
              <a:avLst/>
            </a:prstGeom>
          </p:spPr>
        </p:pic>
        <p:sp>
          <p:nvSpPr>
            <p:cNvPr id="18" name="Text 10"/>
            <p:cNvSpPr txBox="1"/>
            <p:nvPr/>
          </p:nvSpPr>
          <p:spPr>
            <a:xfrm>
              <a:off x="5913120" y="2474447"/>
              <a:ext cx="2592832" cy="301145"/>
            </a:xfrm>
            <a:prstGeom prst="rect">
              <a:avLst/>
            </a:prstGeom>
            <a:noFill/>
            <a:ln/>
          </p:spPr>
          <p:txBody>
            <a:bodyPr wrap="square" lIns="0" tIns="0" rIns="0" bIns="0" rtlCol="0" anchor="ctr"/>
            <a:lstStyle/>
            <a:p>
              <a:pPr marL="0" indent="0">
                <a:buNone/>
              </a:pPr>
              <a:r>
                <a:rPr lang="en-US" sz="1150" b="1" dirty="0">
                  <a:solidFill>
                    <a:srgbClr val="B3261E"/>
                  </a:solidFill>
                  <a:latin typeface="Calibri" pitchFamily="34" charset="0"/>
                  <a:ea typeface="Calibri" pitchFamily="34" charset="-122"/>
                  <a:cs typeface="Calibri" pitchFamily="34" charset="-120"/>
                </a:rPr>
                <a:t>Transcription error</a:t>
              </a:r>
              <a:endParaRPr lang="en-US" sz="1150" dirty="0"/>
            </a:p>
          </p:txBody>
        </p:sp>
        <p:sp>
          <p:nvSpPr>
            <p:cNvPr id="19" name="Text 11"/>
            <p:cNvSpPr txBox="1"/>
            <p:nvPr/>
          </p:nvSpPr>
          <p:spPr>
            <a:xfrm>
              <a:off x="5573370" y="2811021"/>
              <a:ext cx="2914701" cy="761719"/>
            </a:xfrm>
            <a:prstGeom prst="rect">
              <a:avLst/>
            </a:prstGeom>
            <a:noFill/>
            <a:ln/>
          </p:spPr>
          <p:txBody>
            <a:bodyPr wrap="square" lIns="0" tIns="0" rIns="0" bIns="0" rtlCol="0" anchor="t"/>
            <a:lstStyle/>
            <a:p>
              <a:pPr marL="0" indent="0">
                <a:buNone/>
              </a:pPr>
              <a:r>
                <a:rPr lang="en-US" sz="950" dirty="0">
                  <a:solidFill>
                    <a:srgbClr val="333333"/>
                  </a:solidFill>
                  <a:latin typeface="Calibri" pitchFamily="34" charset="0"/>
                  <a:ea typeface="Calibri" pitchFamily="34" charset="-122"/>
                  <a:cs typeface="Calibri" pitchFamily="34" charset="-120"/>
                </a:rPr>
                <a:t>The retinopathy row matches Ting et al., JAMA 2017 (Se 90.5%, Sp 91.6%), but that study's AUC is 0.936, not 0.963. No row-level citations.</a:t>
              </a:r>
              <a:endParaRPr lang="en-US" sz="950" dirty="0"/>
            </a:p>
          </p:txBody>
        </p:sp>
        <p:sp>
          <p:nvSpPr>
            <p:cNvPr id="20" name="Shape 12"/>
            <p:cNvSpPr/>
            <p:nvPr/>
          </p:nvSpPr>
          <p:spPr>
            <a:xfrm>
              <a:off x="5466080" y="3696740"/>
              <a:ext cx="3129280" cy="885720"/>
            </a:xfrm>
            <a:prstGeom prst="roundRect">
              <a:avLst>
                <a:gd name="adj" fmla="val 7227"/>
              </a:avLst>
            </a:prstGeom>
            <a:solidFill>
              <a:srgbClr val="F4F6F5"/>
            </a:solidFill>
            <a:ln w="9525">
              <a:solidFill>
                <a:srgbClr val="F4F6F5"/>
              </a:solidFill>
              <a:prstDash val="solid"/>
            </a:ln>
          </p:spPr>
          <p:txBody>
            <a:bodyPr/>
            <a:lstStyle/>
            <a:p>
              <a:endParaRPr lang="en-US"/>
            </a:p>
          </p:txBody>
        </p:sp>
        <p:sp>
          <p:nvSpPr>
            <p:cNvPr id="21" name="Shape 13"/>
            <p:cNvSpPr/>
            <p:nvPr/>
          </p:nvSpPr>
          <p:spPr>
            <a:xfrm>
              <a:off x="5574624" y="3785312"/>
              <a:ext cx="265716" cy="265716"/>
            </a:xfrm>
            <a:prstGeom prst="ellipse">
              <a:avLst/>
            </a:prstGeom>
            <a:solidFill>
              <a:srgbClr val="154734"/>
            </a:solidFill>
            <a:ln w="12700">
              <a:solidFill>
                <a:srgbClr val="154734"/>
              </a:solidFill>
              <a:prstDash val="solid"/>
            </a:ln>
          </p:spPr>
          <p:txBody>
            <a:bodyPr/>
            <a:lstStyle/>
            <a:p>
              <a:endParaRPr lang="en-US"/>
            </a:p>
          </p:txBody>
        </p:sp>
        <p:pic>
          <p:nvPicPr>
            <p:cNvPr id="22" name="Image 2" descr="preencoded.png"/>
            <p:cNvPicPr>
              <a:picLocks noChangeAspect="1"/>
            </p:cNvPicPr>
            <p:nvPr/>
          </p:nvPicPr>
          <p:blipFill>
            <a:blip r:embed="rId6"/>
            <a:stretch>
              <a:fillRect/>
            </a:stretch>
          </p:blipFill>
          <p:spPr>
            <a:xfrm>
              <a:off x="5643710" y="3854398"/>
              <a:ext cx="127544" cy="127544"/>
            </a:xfrm>
            <a:prstGeom prst="rect">
              <a:avLst/>
            </a:prstGeom>
          </p:spPr>
        </p:pic>
        <p:sp>
          <p:nvSpPr>
            <p:cNvPr id="23" name="Text 14"/>
            <p:cNvSpPr txBox="1"/>
            <p:nvPr/>
          </p:nvSpPr>
          <p:spPr>
            <a:xfrm>
              <a:off x="5913120" y="3767598"/>
              <a:ext cx="2592832" cy="301145"/>
            </a:xfrm>
            <a:prstGeom prst="rect">
              <a:avLst/>
            </a:prstGeom>
            <a:noFill/>
            <a:ln/>
          </p:spPr>
          <p:txBody>
            <a:bodyPr wrap="square" lIns="0" tIns="0" rIns="0" bIns="0" rtlCol="0" anchor="ctr"/>
            <a:lstStyle/>
            <a:p>
              <a:pPr marL="0" indent="0">
                <a:buNone/>
              </a:pPr>
              <a:r>
                <a:rPr lang="en-US" sz="1150" b="1" dirty="0">
                  <a:solidFill>
                    <a:srgbClr val="154734"/>
                  </a:solidFill>
                  <a:latin typeface="Calibri" pitchFamily="34" charset="0"/>
                  <a:ea typeface="Calibri" pitchFamily="34" charset="-122"/>
                  <a:cs typeface="Calibri" pitchFamily="34" charset="-120"/>
                </a:rPr>
                <a:t>Context</a:t>
              </a:r>
              <a:endParaRPr lang="en-US" sz="1150" dirty="0"/>
            </a:p>
          </p:txBody>
        </p:sp>
        <p:sp>
          <p:nvSpPr>
            <p:cNvPr id="24" name="Text 15"/>
            <p:cNvSpPr txBox="1"/>
            <p:nvPr/>
          </p:nvSpPr>
          <p:spPr>
            <a:xfrm>
              <a:off x="5573370" y="4104171"/>
              <a:ext cx="2914701" cy="442860"/>
            </a:xfrm>
            <a:prstGeom prst="rect">
              <a:avLst/>
            </a:prstGeom>
            <a:noFill/>
            <a:ln/>
          </p:spPr>
          <p:txBody>
            <a:bodyPr wrap="square" lIns="0" tIns="0" rIns="0" bIns="0" rtlCol="0" anchor="t"/>
            <a:lstStyle/>
            <a:p>
              <a:pPr marL="0" indent="0">
                <a:buNone/>
              </a:pPr>
              <a:r>
                <a:rPr lang="en-US" sz="950" dirty="0">
                  <a:solidFill>
                    <a:srgbClr val="333333"/>
                  </a:solidFill>
                  <a:latin typeface="Calibri" pitchFamily="34" charset="0"/>
                  <a:ea typeface="Calibri" pitchFamily="34" charset="-122"/>
                  <a:cs typeface="Calibri" pitchFamily="34" charset="-120"/>
                </a:rPr>
                <a:t>Radiology accounts for 76.5% (1,094/1,430) of FDA AI/ML device authorizations, 1995–2025.</a:t>
              </a:r>
              <a:endParaRPr lang="en-US" sz="950" dirty="0"/>
            </a:p>
          </p:txBody>
        </p:sp>
        <p:sp>
          <p:nvSpPr>
            <p:cNvPr id="25" name="Shape 16"/>
            <p:cNvSpPr/>
            <p:nvPr/>
          </p:nvSpPr>
          <p:spPr>
            <a:xfrm>
              <a:off x="5466080" y="4671032"/>
              <a:ext cx="3129280" cy="1346294"/>
            </a:xfrm>
            <a:prstGeom prst="roundRect">
              <a:avLst>
                <a:gd name="adj" fmla="val 4754"/>
              </a:avLst>
            </a:prstGeom>
            <a:solidFill>
              <a:srgbClr val="E7F0EB"/>
            </a:solidFill>
            <a:ln w="9525">
              <a:solidFill>
                <a:srgbClr val="E7F0EB"/>
              </a:solidFill>
              <a:prstDash val="solid"/>
            </a:ln>
          </p:spPr>
          <p:txBody>
            <a:bodyPr/>
            <a:lstStyle/>
            <a:p>
              <a:endParaRPr lang="en-US"/>
            </a:p>
          </p:txBody>
        </p:sp>
        <p:sp>
          <p:nvSpPr>
            <p:cNvPr id="26" name="Shape 17"/>
            <p:cNvSpPr/>
            <p:nvPr/>
          </p:nvSpPr>
          <p:spPr>
            <a:xfrm>
              <a:off x="5574624" y="4759604"/>
              <a:ext cx="265716" cy="265716"/>
            </a:xfrm>
            <a:prstGeom prst="ellipse">
              <a:avLst/>
            </a:prstGeom>
            <a:solidFill>
              <a:srgbClr val="2E8B57"/>
            </a:solidFill>
            <a:ln w="12700">
              <a:solidFill>
                <a:srgbClr val="2E8B57"/>
              </a:solidFill>
              <a:prstDash val="solid"/>
            </a:ln>
          </p:spPr>
          <p:txBody>
            <a:bodyPr/>
            <a:lstStyle/>
            <a:p>
              <a:endParaRPr lang="en-US"/>
            </a:p>
          </p:txBody>
        </p:sp>
        <p:pic>
          <p:nvPicPr>
            <p:cNvPr id="27" name="Image 3" descr="preencoded.png"/>
            <p:cNvPicPr>
              <a:picLocks noChangeAspect="1"/>
            </p:cNvPicPr>
            <p:nvPr/>
          </p:nvPicPr>
          <p:blipFill>
            <a:blip r:embed="rId7"/>
            <a:stretch>
              <a:fillRect/>
            </a:stretch>
          </p:blipFill>
          <p:spPr>
            <a:xfrm>
              <a:off x="5643710" y="4828690"/>
              <a:ext cx="127544" cy="127544"/>
            </a:xfrm>
            <a:prstGeom prst="rect">
              <a:avLst/>
            </a:prstGeom>
          </p:spPr>
        </p:pic>
        <p:sp>
          <p:nvSpPr>
            <p:cNvPr id="28" name="Text 18"/>
            <p:cNvSpPr txBox="1"/>
            <p:nvPr/>
          </p:nvSpPr>
          <p:spPr>
            <a:xfrm>
              <a:off x="5913120" y="4741889"/>
              <a:ext cx="2592832" cy="301145"/>
            </a:xfrm>
            <a:prstGeom prst="rect">
              <a:avLst/>
            </a:prstGeom>
            <a:noFill/>
            <a:ln/>
          </p:spPr>
          <p:txBody>
            <a:bodyPr wrap="square" lIns="0" tIns="0" rIns="0" bIns="0" rtlCol="0" anchor="ctr"/>
            <a:lstStyle/>
            <a:p>
              <a:pPr marL="0" indent="0">
                <a:buNone/>
              </a:pPr>
              <a:r>
                <a:rPr lang="en-US" sz="1150" b="1" dirty="0">
                  <a:solidFill>
                    <a:srgbClr val="2E8B57"/>
                  </a:solidFill>
                  <a:latin typeface="Calibri" pitchFamily="34" charset="0"/>
                  <a:ea typeface="Calibri" pitchFamily="34" charset="-122"/>
                  <a:cs typeface="Calibri" pitchFamily="34" charset="-120"/>
                </a:rPr>
                <a:t>Better wearable evidence</a:t>
              </a:r>
              <a:endParaRPr lang="en-US" sz="1150" dirty="0"/>
            </a:p>
          </p:txBody>
        </p:sp>
        <p:sp>
          <p:nvSpPr>
            <p:cNvPr id="29" name="Text 19"/>
            <p:cNvSpPr txBox="1"/>
            <p:nvPr/>
          </p:nvSpPr>
          <p:spPr>
            <a:xfrm>
              <a:off x="5573370" y="5078463"/>
              <a:ext cx="2914701" cy="903434"/>
            </a:xfrm>
            <a:prstGeom prst="rect">
              <a:avLst/>
            </a:prstGeom>
            <a:noFill/>
            <a:ln/>
          </p:spPr>
          <p:txBody>
            <a:bodyPr wrap="square" lIns="0" tIns="0" rIns="0" bIns="0" rtlCol="0" anchor="t"/>
            <a:lstStyle/>
            <a:p>
              <a:pPr marL="0" indent="0">
                <a:buNone/>
              </a:pPr>
              <a:r>
                <a:rPr lang="en-US" sz="950" dirty="0">
                  <a:solidFill>
                    <a:srgbClr val="333333"/>
                  </a:solidFill>
                  <a:latin typeface="Calibri" pitchFamily="34" charset="0"/>
                  <a:ea typeface="Calibri" pitchFamily="34" charset="-122"/>
                  <a:cs typeface="Calibri" pitchFamily="34" charset="-120"/>
                </a:rPr>
                <a:t>Single-lead ambulatory ECG DNN: mean AUC 0.97, F1 0.837 vs 0.780 for cardiologists (Hannun 2019). Apple Heart Study: n = 419,297, PPV 0.84 (Perez 2019).</a:t>
              </a:r>
              <a:endParaRPr lang="en-US" sz="950" dirty="0"/>
            </a:p>
          </p:txBody>
        </p:sp>
      </p:grpSp>
      <p:sp>
        <p:nvSpPr>
          <p:cNvPr id="30"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14</a:t>
            </a:fld>
            <a:endParaRPr lang="en-US">
              <a:solidFill>
                <a:srgbClr val="FFFFFF"/>
              </a:solidFill>
              <a:latin typeface="Arial" panose="020B0604020202020204"/>
            </a:endParaRPr>
          </a:p>
        </p:txBody>
      </p:sp>
      <p:sp>
        <p:nvSpPr>
          <p:cNvPr id="31"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CONCLUSION &amp; DISCUSSION · FIGURES 11–12</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Conclusions and the road ahead</a:t>
            </a:r>
            <a:endParaRPr lang="en-US" sz="2400" dirty="0">
              <a:solidFill>
                <a:schemeClr val="accent5"/>
              </a:solidFill>
            </a:endParaRPr>
          </a:p>
        </p:txBody>
      </p:sp>
      <p:grpSp>
        <p:nvGrpSpPr>
          <p:cNvPr id="37" name="Group 36">
            <a:extLst>
              <a:ext uri="{FF2B5EF4-FFF2-40B4-BE49-F238E27FC236}">
                <a16:creationId xmlns:a16="http://schemas.microsoft.com/office/drawing/2014/main" id="{535631CD-B5BC-A867-7978-0575016DB570}"/>
              </a:ext>
            </a:extLst>
          </p:cNvPr>
          <p:cNvGrpSpPr/>
          <p:nvPr/>
        </p:nvGrpSpPr>
        <p:grpSpPr>
          <a:xfrm>
            <a:off x="548640" y="1234440"/>
            <a:ext cx="4783328" cy="3348020"/>
            <a:chOff x="548640" y="1234440"/>
            <a:chExt cx="4783328" cy="3348020"/>
          </a:xfrm>
        </p:grpSpPr>
        <p:sp>
          <p:nvSpPr>
            <p:cNvPr id="5" name="Text 0"/>
            <p:cNvSpPr txBox="1"/>
            <p:nvPr/>
          </p:nvSpPr>
          <p:spPr>
            <a:xfrm>
              <a:off x="548640" y="1234440"/>
              <a:ext cx="4783328" cy="301145"/>
            </a:xfrm>
            <a:prstGeom prst="rect">
              <a:avLst/>
            </a:prstGeom>
            <a:noFill/>
            <a:ln/>
          </p:spPr>
          <p:txBody>
            <a:bodyPr wrap="square" lIns="0" tIns="0" rIns="0" bIns="0" rtlCol="0" anchor="ctr"/>
            <a:lstStyle/>
            <a:p>
              <a:pPr marL="0" indent="0">
                <a:buNone/>
              </a:pPr>
              <a:r>
                <a:rPr lang="en-US" sz="1600" b="1" dirty="0">
                  <a:solidFill>
                    <a:srgbClr val="154734"/>
                  </a:solidFill>
                  <a:latin typeface="Arial" pitchFamily="34" charset="0"/>
                  <a:ea typeface="Arial" pitchFamily="34" charset="-122"/>
                  <a:cs typeface="Arial" pitchFamily="34" charset="-120"/>
                </a:rPr>
                <a:t>Authors' conclusions</a:t>
              </a:r>
              <a:endParaRPr lang="en-US" sz="1600" dirty="0"/>
            </a:p>
          </p:txBody>
        </p:sp>
        <p:sp>
          <p:nvSpPr>
            <p:cNvPr id="6" name="Text 1"/>
            <p:cNvSpPr txBox="1"/>
            <p:nvPr/>
          </p:nvSpPr>
          <p:spPr>
            <a:xfrm>
              <a:off x="548640" y="1571013"/>
              <a:ext cx="4783328" cy="1328579"/>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333333"/>
                  </a:solidFill>
                  <a:latin typeface="Calibri" pitchFamily="34" charset="0"/>
                  <a:ea typeface="Calibri" pitchFamily="34" charset="-122"/>
                  <a:cs typeface="Calibri" pitchFamily="34" charset="-120"/>
                </a:rPr>
                <a:t>AI + wearables move care from reactive to proactive, personalized and data-driven.</a:t>
              </a:r>
              <a:endParaRPr lang="en-US" sz="1150" dirty="0"/>
            </a:p>
            <a:p>
              <a:pPr marL="342900" indent="-342900">
                <a:spcAft>
                  <a:spcPts val="400"/>
                </a:spcAft>
                <a:buSzPct val="100000"/>
                <a:buChar char="•"/>
              </a:pPr>
              <a:r>
                <a:rPr lang="en-US" sz="1150" dirty="0">
                  <a:solidFill>
                    <a:srgbClr val="333333"/>
                  </a:solidFill>
                  <a:latin typeface="Calibri" pitchFamily="34" charset="0"/>
                  <a:ea typeface="Calibri" pitchFamily="34" charset="-122"/>
                  <a:cs typeface="Calibri" pitchFamily="34" charset="-120"/>
                </a:rPr>
                <a:t>The gains are systemic: chronic disease, ageing, access for remote and underserved patients.</a:t>
              </a:r>
              <a:endParaRPr lang="en-US" sz="1150" dirty="0"/>
            </a:p>
            <a:p>
              <a:pPr marL="342900" indent="-342900">
                <a:spcAft>
                  <a:spcPts val="400"/>
                </a:spcAft>
                <a:buSzPct val="100000"/>
                <a:buChar char="•"/>
              </a:pPr>
              <a:r>
                <a:rPr lang="en-US" sz="1150" dirty="0">
                  <a:solidFill>
                    <a:srgbClr val="333333"/>
                  </a:solidFill>
                  <a:latin typeface="Calibri" pitchFamily="34" charset="0"/>
                  <a:ea typeface="Calibri" pitchFamily="34" charset="-122"/>
                  <a:cs typeface="Calibri" pitchFamily="34" charset="-120"/>
                </a:rPr>
                <a:t>Adoption depends on interoperability, privacy, bias control and regulation (Fig. 11).</a:t>
              </a:r>
              <a:endParaRPr lang="en-US" sz="1150" dirty="0"/>
            </a:p>
          </p:txBody>
        </p:sp>
        <p:sp>
          <p:nvSpPr>
            <p:cNvPr id="7" name="Text 2"/>
            <p:cNvSpPr txBox="1"/>
            <p:nvPr/>
          </p:nvSpPr>
          <p:spPr>
            <a:xfrm>
              <a:off x="548640" y="2961593"/>
              <a:ext cx="4783328" cy="301145"/>
            </a:xfrm>
            <a:prstGeom prst="rect">
              <a:avLst/>
            </a:prstGeom>
            <a:noFill/>
            <a:ln/>
          </p:spPr>
          <p:txBody>
            <a:bodyPr wrap="square" lIns="0" tIns="0" rIns="0" bIns="0" rtlCol="0" anchor="ctr"/>
            <a:lstStyle/>
            <a:p>
              <a:pPr marL="0" indent="0">
                <a:buNone/>
              </a:pPr>
              <a:r>
                <a:rPr lang="en-US" sz="1600" b="1" dirty="0">
                  <a:solidFill>
                    <a:srgbClr val="154734"/>
                  </a:solidFill>
                  <a:latin typeface="Arial" pitchFamily="34" charset="0"/>
                  <a:ea typeface="Arial" pitchFamily="34" charset="-122"/>
                  <a:cs typeface="Arial" pitchFamily="34" charset="-120"/>
                </a:rPr>
                <a:t>Discussion &amp; future directions</a:t>
              </a:r>
              <a:endParaRPr lang="en-US" sz="1600" dirty="0"/>
            </a:p>
          </p:txBody>
        </p:sp>
        <p:sp>
          <p:nvSpPr>
            <p:cNvPr id="8" name="Text 3"/>
            <p:cNvSpPr txBox="1"/>
            <p:nvPr/>
          </p:nvSpPr>
          <p:spPr>
            <a:xfrm>
              <a:off x="548640" y="3298167"/>
              <a:ext cx="4783328" cy="1284293"/>
            </a:xfrm>
            <a:prstGeom prst="rect">
              <a:avLst/>
            </a:prstGeom>
            <a:noFill/>
            <a:ln/>
          </p:spPr>
          <p:txBody>
            <a:bodyPr wrap="square" lIns="0" tIns="0" rIns="0" bIns="0" rtlCol="0" anchor="t"/>
            <a:lstStyle/>
            <a:p>
              <a:pPr marL="342900" indent="-342900">
                <a:spcAft>
                  <a:spcPts val="400"/>
                </a:spcAft>
                <a:buSzPct val="100000"/>
                <a:buChar char="•"/>
              </a:pPr>
              <a:r>
                <a:rPr lang="en-US" sz="1100" b="1" dirty="0">
                  <a:solidFill>
                    <a:srgbClr val="2E8B57"/>
                  </a:solidFill>
                  <a:latin typeface="Calibri" pitchFamily="34" charset="0"/>
                  <a:ea typeface="Calibri" pitchFamily="34" charset="-122"/>
                  <a:cs typeface="Calibri" pitchFamily="34" charset="-120"/>
                </a:rPr>
                <a:t>Technology: </a:t>
              </a:r>
              <a:r>
                <a:rPr lang="en-US" sz="1100" dirty="0">
                  <a:solidFill>
                    <a:srgbClr val="333333"/>
                  </a:solidFill>
                  <a:latin typeface="Calibri" pitchFamily="34" charset="0"/>
                  <a:ea typeface="Calibri" pitchFamily="34" charset="-122"/>
                  <a:cs typeface="Calibri" pitchFamily="34" charset="-120"/>
                </a:rPr>
                <a:t>neuromorphic (&lt; 10 µW) inference, synthetic data, federated learning, 5G/IoT (Fig. 12)</a:t>
              </a:r>
              <a:endParaRPr lang="en-US" sz="1100" dirty="0"/>
            </a:p>
            <a:p>
              <a:pPr marL="342900" indent="-342900">
                <a:spcAft>
                  <a:spcPts val="400"/>
                </a:spcAft>
                <a:buSzPct val="100000"/>
                <a:buChar char="•"/>
              </a:pPr>
              <a:r>
                <a:rPr lang="en-US" sz="1100" b="1" dirty="0">
                  <a:solidFill>
                    <a:srgbClr val="2E8B57"/>
                  </a:solidFill>
                  <a:latin typeface="Calibri" pitchFamily="34" charset="0"/>
                  <a:ea typeface="Calibri" pitchFamily="34" charset="-122"/>
                  <a:cs typeface="Calibri" pitchFamily="34" charset="-120"/>
                </a:rPr>
                <a:t>Access: </a:t>
              </a:r>
              <a:r>
                <a:rPr lang="en-US" sz="1100" dirty="0">
                  <a:solidFill>
                    <a:srgbClr val="333333"/>
                  </a:solidFill>
                  <a:latin typeface="Calibri" pitchFamily="34" charset="0"/>
                  <a:ea typeface="Calibri" pitchFamily="34" charset="-122"/>
                  <a:cs typeface="Calibri" pitchFamily="34" charset="-120"/>
                </a:rPr>
                <a:t>roll-to-roll manufacturing, open-source hardware, tiered pricing</a:t>
              </a:r>
              <a:endParaRPr lang="en-US" sz="1100" dirty="0"/>
            </a:p>
            <a:p>
              <a:pPr marL="342900" indent="-342900">
                <a:spcAft>
                  <a:spcPts val="400"/>
                </a:spcAft>
                <a:buSzPct val="100000"/>
                <a:buChar char="•"/>
              </a:pPr>
              <a:r>
                <a:rPr lang="en-US" sz="1100" b="1" dirty="0">
                  <a:solidFill>
                    <a:srgbClr val="2E8B57"/>
                  </a:solidFill>
                  <a:latin typeface="Calibri" pitchFamily="34" charset="0"/>
                  <a:ea typeface="Calibri" pitchFamily="34" charset="-122"/>
                  <a:cs typeface="Calibri" pitchFamily="34" charset="-120"/>
                </a:rPr>
                <a:t>Policy: </a:t>
              </a:r>
              <a:r>
                <a:rPr lang="en-US" sz="1100" dirty="0">
                  <a:solidFill>
                    <a:srgbClr val="333333"/>
                  </a:solidFill>
                  <a:latin typeface="Calibri" pitchFamily="34" charset="0"/>
                  <a:ea typeface="Calibri" pitchFamily="34" charset="-122"/>
                  <a:cs typeface="Calibri" pitchFamily="34" charset="-120"/>
                </a:rPr>
                <a:t>pre-market algorithm validation, post-market monitoring, annual bias audits</a:t>
              </a:r>
              <a:endParaRPr lang="en-US" sz="1100" dirty="0"/>
            </a:p>
          </p:txBody>
        </p:sp>
      </p:grpSp>
      <p:grpSp>
        <p:nvGrpSpPr>
          <p:cNvPr id="38" name="Group 37">
            <a:extLst>
              <a:ext uri="{FF2B5EF4-FFF2-40B4-BE49-F238E27FC236}">
                <a16:creationId xmlns:a16="http://schemas.microsoft.com/office/drawing/2014/main" id="{A2236033-674D-AFB3-C10B-E27DB4B3CB0E}"/>
              </a:ext>
            </a:extLst>
          </p:cNvPr>
          <p:cNvGrpSpPr/>
          <p:nvPr/>
        </p:nvGrpSpPr>
        <p:grpSpPr>
          <a:xfrm>
            <a:off x="548640" y="4644460"/>
            <a:ext cx="4783328" cy="1302008"/>
            <a:chOff x="548640" y="4644460"/>
            <a:chExt cx="4783328" cy="1302008"/>
          </a:xfrm>
        </p:grpSpPr>
        <p:sp>
          <p:nvSpPr>
            <p:cNvPr id="9" name="Text 4"/>
            <p:cNvSpPr txBox="1"/>
            <p:nvPr/>
          </p:nvSpPr>
          <p:spPr>
            <a:xfrm>
              <a:off x="548640" y="4644460"/>
              <a:ext cx="4783328" cy="265716"/>
            </a:xfrm>
            <a:prstGeom prst="rect">
              <a:avLst/>
            </a:prstGeom>
            <a:noFill/>
            <a:ln/>
          </p:spPr>
          <p:txBody>
            <a:bodyPr wrap="square" lIns="0" tIns="0" rIns="0" bIns="0" rtlCol="0" anchor="ctr"/>
            <a:lstStyle/>
            <a:p>
              <a:pPr marL="0" indent="0">
                <a:buNone/>
              </a:pPr>
              <a:r>
                <a:rPr lang="en-US" sz="1150" b="1" dirty="0">
                  <a:solidFill>
                    <a:srgbClr val="154734"/>
                  </a:solidFill>
                  <a:latin typeface="Calibri" pitchFamily="34" charset="0"/>
                  <a:ea typeface="Calibri" pitchFamily="34" charset="-122"/>
                  <a:cs typeface="Calibri" pitchFamily="34" charset="-120"/>
                </a:rPr>
                <a:t>Proposed 5-phase adoption roadmap (§7.1)</a:t>
              </a:r>
              <a:endParaRPr lang="en-US" sz="1150" dirty="0"/>
            </a:p>
          </p:txBody>
        </p:sp>
        <p:sp>
          <p:nvSpPr>
            <p:cNvPr id="10" name="Shape 5"/>
            <p:cNvSpPr/>
            <p:nvPr/>
          </p:nvSpPr>
          <p:spPr>
            <a:xfrm>
              <a:off x="548640" y="4954462"/>
              <a:ext cx="899444" cy="992006"/>
            </a:xfrm>
            <a:prstGeom prst="roundRect">
              <a:avLst>
                <a:gd name="adj" fmla="val 7116"/>
              </a:avLst>
            </a:prstGeom>
            <a:solidFill>
              <a:srgbClr val="F4F6F5"/>
            </a:solidFill>
            <a:ln w="9525">
              <a:solidFill>
                <a:srgbClr val="F4F6F5"/>
              </a:solidFill>
              <a:prstDash val="solid"/>
            </a:ln>
          </p:spPr>
          <p:txBody>
            <a:bodyPr/>
            <a:lstStyle/>
            <a:p>
              <a:endParaRPr lang="en-US"/>
            </a:p>
          </p:txBody>
        </p:sp>
        <p:sp>
          <p:nvSpPr>
            <p:cNvPr id="11" name="Text 6"/>
            <p:cNvSpPr txBox="1"/>
            <p:nvPr/>
          </p:nvSpPr>
          <p:spPr>
            <a:xfrm>
              <a:off x="575462" y="5007605"/>
              <a:ext cx="845800" cy="301145"/>
            </a:xfrm>
            <a:prstGeom prst="rect">
              <a:avLst/>
            </a:prstGeom>
            <a:noFill/>
            <a:ln/>
          </p:spPr>
          <p:txBody>
            <a:bodyPr wrap="square" lIns="0" tIns="0" rIns="0" bIns="0" rtlCol="0" anchor="ctr"/>
            <a:lstStyle/>
            <a:p>
              <a:pPr marL="0" indent="0" algn="ctr">
                <a:buNone/>
              </a:pPr>
              <a:r>
                <a:rPr lang="en-US" sz="1200" b="1" dirty="0">
                  <a:solidFill>
                    <a:srgbClr val="2E8B57"/>
                  </a:solidFill>
                  <a:latin typeface="Arial" pitchFamily="34" charset="0"/>
                  <a:ea typeface="Arial" pitchFamily="34" charset="-122"/>
                  <a:cs typeface="Arial" pitchFamily="34" charset="-120"/>
                </a:rPr>
                <a:t>0–6 mo</a:t>
              </a:r>
              <a:endParaRPr lang="en-US" sz="1200" dirty="0"/>
            </a:p>
          </p:txBody>
        </p:sp>
        <p:sp>
          <p:nvSpPr>
            <p:cNvPr id="12" name="Text 7"/>
            <p:cNvSpPr txBox="1"/>
            <p:nvPr/>
          </p:nvSpPr>
          <p:spPr>
            <a:xfrm>
              <a:off x="584403" y="5326464"/>
              <a:ext cx="827918" cy="549146"/>
            </a:xfrm>
            <a:prstGeom prst="rect">
              <a:avLst/>
            </a:prstGeom>
            <a:noFill/>
            <a:ln/>
          </p:spPr>
          <p:txBody>
            <a:bodyPr wrap="square" lIns="0" tIns="0" rIns="0" bIns="0" rtlCol="0" anchor="t"/>
            <a:lstStyle/>
            <a:p>
              <a:pPr marL="0" indent="0" algn="ctr">
                <a:buNone/>
              </a:pPr>
              <a:r>
                <a:rPr lang="en-US" sz="950" dirty="0">
                  <a:solidFill>
                    <a:srgbClr val="333333"/>
                  </a:solidFill>
                  <a:latin typeface="Calibri" pitchFamily="34" charset="0"/>
                  <a:ea typeface="Calibri" pitchFamily="34" charset="-122"/>
                  <a:cs typeface="Calibri" pitchFamily="34" charset="-120"/>
                </a:rPr>
                <a:t>Readiness audit</a:t>
              </a:r>
              <a:endParaRPr lang="en-US" sz="950" dirty="0"/>
            </a:p>
          </p:txBody>
        </p:sp>
        <p:sp>
          <p:nvSpPr>
            <p:cNvPr id="13" name="Shape 8"/>
            <p:cNvSpPr/>
            <p:nvPr/>
          </p:nvSpPr>
          <p:spPr>
            <a:xfrm>
              <a:off x="1519611" y="4954462"/>
              <a:ext cx="899444" cy="992006"/>
            </a:xfrm>
            <a:prstGeom prst="roundRect">
              <a:avLst>
                <a:gd name="adj" fmla="val 7116"/>
              </a:avLst>
            </a:prstGeom>
            <a:solidFill>
              <a:srgbClr val="E7F0EB"/>
            </a:solidFill>
            <a:ln w="9525">
              <a:solidFill>
                <a:srgbClr val="E7F0EB"/>
              </a:solidFill>
              <a:prstDash val="solid"/>
            </a:ln>
          </p:spPr>
          <p:txBody>
            <a:bodyPr/>
            <a:lstStyle/>
            <a:p>
              <a:endParaRPr lang="en-US"/>
            </a:p>
          </p:txBody>
        </p:sp>
        <p:sp>
          <p:nvSpPr>
            <p:cNvPr id="14" name="Text 9"/>
            <p:cNvSpPr txBox="1"/>
            <p:nvPr/>
          </p:nvSpPr>
          <p:spPr>
            <a:xfrm>
              <a:off x="1546433" y="5007605"/>
              <a:ext cx="845800" cy="301145"/>
            </a:xfrm>
            <a:prstGeom prst="rect">
              <a:avLst/>
            </a:prstGeom>
            <a:noFill/>
            <a:ln/>
          </p:spPr>
          <p:txBody>
            <a:bodyPr wrap="square" lIns="0" tIns="0" rIns="0" bIns="0" rtlCol="0" anchor="ctr"/>
            <a:lstStyle/>
            <a:p>
              <a:pPr marL="0" indent="0" algn="ctr">
                <a:buNone/>
              </a:pPr>
              <a:r>
                <a:rPr lang="en-US" sz="1200" b="1" dirty="0">
                  <a:solidFill>
                    <a:srgbClr val="2E8B57"/>
                  </a:solidFill>
                  <a:latin typeface="Arial" pitchFamily="34" charset="0"/>
                  <a:ea typeface="Arial" pitchFamily="34" charset="-122"/>
                  <a:cs typeface="Arial" pitchFamily="34" charset="-120"/>
                </a:rPr>
                <a:t>6–18 mo</a:t>
              </a:r>
              <a:endParaRPr lang="en-US" sz="1200" dirty="0"/>
            </a:p>
          </p:txBody>
        </p:sp>
        <p:sp>
          <p:nvSpPr>
            <p:cNvPr id="15" name="Text 10"/>
            <p:cNvSpPr txBox="1"/>
            <p:nvPr/>
          </p:nvSpPr>
          <p:spPr>
            <a:xfrm>
              <a:off x="1555374" y="5326464"/>
              <a:ext cx="827918" cy="549146"/>
            </a:xfrm>
            <a:prstGeom prst="rect">
              <a:avLst/>
            </a:prstGeom>
            <a:noFill/>
            <a:ln/>
          </p:spPr>
          <p:txBody>
            <a:bodyPr wrap="square" lIns="0" tIns="0" rIns="0" bIns="0" rtlCol="0" anchor="t"/>
            <a:lstStyle/>
            <a:p>
              <a:pPr marL="0" indent="0" algn="ctr">
                <a:buNone/>
              </a:pPr>
              <a:r>
                <a:rPr lang="en-US" sz="950" dirty="0">
                  <a:solidFill>
                    <a:srgbClr val="333333"/>
                  </a:solidFill>
                  <a:latin typeface="Calibri" pitchFamily="34" charset="0"/>
                  <a:ea typeface="Calibri" pitchFamily="34" charset="-122"/>
                  <a:cs typeface="Calibri" pitchFamily="34" charset="-120"/>
                </a:rPr>
                <a:t>Clinical pilots</a:t>
              </a:r>
              <a:endParaRPr lang="en-US" sz="950" dirty="0"/>
            </a:p>
          </p:txBody>
        </p:sp>
        <p:sp>
          <p:nvSpPr>
            <p:cNvPr id="16" name="Shape 11"/>
            <p:cNvSpPr/>
            <p:nvPr/>
          </p:nvSpPr>
          <p:spPr>
            <a:xfrm>
              <a:off x="2490582" y="4954462"/>
              <a:ext cx="899444" cy="992006"/>
            </a:xfrm>
            <a:prstGeom prst="roundRect">
              <a:avLst>
                <a:gd name="adj" fmla="val 7116"/>
              </a:avLst>
            </a:prstGeom>
            <a:solidFill>
              <a:srgbClr val="F4F6F5"/>
            </a:solidFill>
            <a:ln w="9525">
              <a:solidFill>
                <a:srgbClr val="F4F6F5"/>
              </a:solidFill>
              <a:prstDash val="solid"/>
            </a:ln>
          </p:spPr>
          <p:txBody>
            <a:bodyPr/>
            <a:lstStyle/>
            <a:p>
              <a:endParaRPr lang="en-US"/>
            </a:p>
          </p:txBody>
        </p:sp>
        <p:sp>
          <p:nvSpPr>
            <p:cNvPr id="17" name="Text 12"/>
            <p:cNvSpPr txBox="1"/>
            <p:nvPr/>
          </p:nvSpPr>
          <p:spPr>
            <a:xfrm>
              <a:off x="2517404" y="5007605"/>
              <a:ext cx="845800" cy="301145"/>
            </a:xfrm>
            <a:prstGeom prst="rect">
              <a:avLst/>
            </a:prstGeom>
            <a:noFill/>
            <a:ln/>
          </p:spPr>
          <p:txBody>
            <a:bodyPr wrap="square" lIns="0" tIns="0" rIns="0" bIns="0" rtlCol="0" anchor="ctr"/>
            <a:lstStyle/>
            <a:p>
              <a:pPr marL="0" indent="0" algn="ctr">
                <a:buNone/>
              </a:pPr>
              <a:r>
                <a:rPr lang="en-US" sz="1200" b="1" dirty="0">
                  <a:solidFill>
                    <a:srgbClr val="2E8B57"/>
                  </a:solidFill>
                  <a:latin typeface="Arial" pitchFamily="34" charset="0"/>
                  <a:ea typeface="Arial" pitchFamily="34" charset="-122"/>
                  <a:cs typeface="Arial" pitchFamily="34" charset="-120"/>
                </a:rPr>
                <a:t>18–36 mo</a:t>
              </a:r>
              <a:endParaRPr lang="en-US" sz="1200" dirty="0"/>
            </a:p>
          </p:txBody>
        </p:sp>
        <p:sp>
          <p:nvSpPr>
            <p:cNvPr id="18" name="Text 13"/>
            <p:cNvSpPr txBox="1"/>
            <p:nvPr/>
          </p:nvSpPr>
          <p:spPr>
            <a:xfrm>
              <a:off x="2526345" y="5326464"/>
              <a:ext cx="827918" cy="549146"/>
            </a:xfrm>
            <a:prstGeom prst="rect">
              <a:avLst/>
            </a:prstGeom>
            <a:noFill/>
            <a:ln/>
          </p:spPr>
          <p:txBody>
            <a:bodyPr wrap="square" lIns="0" tIns="0" rIns="0" bIns="0" rtlCol="0" anchor="t"/>
            <a:lstStyle/>
            <a:p>
              <a:pPr marL="0" indent="0" algn="ctr">
                <a:buNone/>
              </a:pPr>
              <a:r>
                <a:rPr lang="en-US" sz="950" dirty="0">
                  <a:solidFill>
                    <a:srgbClr val="333333"/>
                  </a:solidFill>
                  <a:latin typeface="Calibri" pitchFamily="34" charset="0"/>
                  <a:ea typeface="Calibri" pitchFamily="34" charset="-122"/>
                  <a:cs typeface="Calibri" pitchFamily="34" charset="-120"/>
                </a:rPr>
                <a:t>Outcome-based pay</a:t>
              </a:r>
              <a:endParaRPr lang="en-US" sz="950" dirty="0"/>
            </a:p>
          </p:txBody>
        </p:sp>
        <p:sp>
          <p:nvSpPr>
            <p:cNvPr id="19" name="Shape 14"/>
            <p:cNvSpPr/>
            <p:nvPr/>
          </p:nvSpPr>
          <p:spPr>
            <a:xfrm>
              <a:off x="3461553" y="4954462"/>
              <a:ext cx="899444" cy="992006"/>
            </a:xfrm>
            <a:prstGeom prst="roundRect">
              <a:avLst>
                <a:gd name="adj" fmla="val 7116"/>
              </a:avLst>
            </a:prstGeom>
            <a:solidFill>
              <a:srgbClr val="E7F0EB"/>
            </a:solidFill>
            <a:ln w="9525">
              <a:solidFill>
                <a:srgbClr val="E7F0EB"/>
              </a:solidFill>
              <a:prstDash val="solid"/>
            </a:ln>
          </p:spPr>
          <p:txBody>
            <a:bodyPr/>
            <a:lstStyle/>
            <a:p>
              <a:endParaRPr lang="en-US"/>
            </a:p>
          </p:txBody>
        </p:sp>
        <p:sp>
          <p:nvSpPr>
            <p:cNvPr id="20" name="Text 15"/>
            <p:cNvSpPr txBox="1"/>
            <p:nvPr/>
          </p:nvSpPr>
          <p:spPr>
            <a:xfrm>
              <a:off x="3488375" y="5007605"/>
              <a:ext cx="845800" cy="301145"/>
            </a:xfrm>
            <a:prstGeom prst="rect">
              <a:avLst/>
            </a:prstGeom>
            <a:noFill/>
            <a:ln/>
          </p:spPr>
          <p:txBody>
            <a:bodyPr wrap="square" lIns="0" tIns="0" rIns="0" bIns="0" rtlCol="0" anchor="ctr"/>
            <a:lstStyle/>
            <a:p>
              <a:pPr marL="0" indent="0" algn="ctr">
                <a:buNone/>
              </a:pPr>
              <a:r>
                <a:rPr lang="en-US" sz="1200" b="1" dirty="0">
                  <a:solidFill>
                    <a:srgbClr val="2E8B57"/>
                  </a:solidFill>
                  <a:latin typeface="Arial" pitchFamily="34" charset="0"/>
                  <a:ea typeface="Arial" pitchFamily="34" charset="-122"/>
                  <a:cs typeface="Arial" pitchFamily="34" charset="-120"/>
                </a:rPr>
                <a:t>3–5 yr</a:t>
              </a:r>
              <a:endParaRPr lang="en-US" sz="1200" dirty="0"/>
            </a:p>
          </p:txBody>
        </p:sp>
        <p:sp>
          <p:nvSpPr>
            <p:cNvPr id="21" name="Text 16"/>
            <p:cNvSpPr txBox="1"/>
            <p:nvPr/>
          </p:nvSpPr>
          <p:spPr>
            <a:xfrm>
              <a:off x="3497316" y="5326464"/>
              <a:ext cx="827918" cy="549146"/>
            </a:xfrm>
            <a:prstGeom prst="rect">
              <a:avLst/>
            </a:prstGeom>
            <a:noFill/>
            <a:ln/>
          </p:spPr>
          <p:txBody>
            <a:bodyPr wrap="square" lIns="0" tIns="0" rIns="0" bIns="0" rtlCol="0" anchor="t"/>
            <a:lstStyle/>
            <a:p>
              <a:pPr marL="0" indent="0" algn="ctr">
                <a:buNone/>
              </a:pPr>
              <a:r>
                <a:rPr lang="en-US" sz="950" dirty="0">
                  <a:solidFill>
                    <a:srgbClr val="333333"/>
                  </a:solidFill>
                  <a:latin typeface="Calibri" pitchFamily="34" charset="0"/>
                  <a:ea typeface="Calibri" pitchFamily="34" charset="-122"/>
                  <a:cs typeface="Calibri" pitchFamily="34" charset="-120"/>
                </a:rPr>
                <a:t>EHR integration</a:t>
              </a:r>
              <a:endParaRPr lang="en-US" sz="950" dirty="0"/>
            </a:p>
          </p:txBody>
        </p:sp>
        <p:sp>
          <p:nvSpPr>
            <p:cNvPr id="22" name="Shape 17"/>
            <p:cNvSpPr/>
            <p:nvPr/>
          </p:nvSpPr>
          <p:spPr>
            <a:xfrm>
              <a:off x="4432524" y="4954462"/>
              <a:ext cx="899444" cy="992006"/>
            </a:xfrm>
            <a:prstGeom prst="roundRect">
              <a:avLst>
                <a:gd name="adj" fmla="val 7116"/>
              </a:avLst>
            </a:prstGeom>
            <a:solidFill>
              <a:srgbClr val="F4F6F5"/>
            </a:solidFill>
            <a:ln w="9525">
              <a:solidFill>
                <a:srgbClr val="F4F6F5"/>
              </a:solidFill>
              <a:prstDash val="solid"/>
            </a:ln>
          </p:spPr>
          <p:txBody>
            <a:bodyPr/>
            <a:lstStyle/>
            <a:p>
              <a:endParaRPr lang="en-US"/>
            </a:p>
          </p:txBody>
        </p:sp>
        <p:sp>
          <p:nvSpPr>
            <p:cNvPr id="23" name="Text 18"/>
            <p:cNvSpPr txBox="1"/>
            <p:nvPr/>
          </p:nvSpPr>
          <p:spPr>
            <a:xfrm>
              <a:off x="4459346" y="5007605"/>
              <a:ext cx="845800" cy="301145"/>
            </a:xfrm>
            <a:prstGeom prst="rect">
              <a:avLst/>
            </a:prstGeom>
            <a:noFill/>
            <a:ln/>
          </p:spPr>
          <p:txBody>
            <a:bodyPr wrap="square" lIns="0" tIns="0" rIns="0" bIns="0" rtlCol="0" anchor="ctr"/>
            <a:lstStyle/>
            <a:p>
              <a:pPr marL="0" indent="0" algn="ctr">
                <a:buNone/>
              </a:pPr>
              <a:r>
                <a:rPr lang="en-US" sz="1200" b="1" dirty="0">
                  <a:solidFill>
                    <a:srgbClr val="2E8B57"/>
                  </a:solidFill>
                  <a:latin typeface="Arial" pitchFamily="34" charset="0"/>
                  <a:ea typeface="Arial" pitchFamily="34" charset="-122"/>
                  <a:cs typeface="Arial" pitchFamily="34" charset="-120"/>
                </a:rPr>
                <a:t>5+ yr</a:t>
              </a:r>
              <a:endParaRPr lang="en-US" sz="1200" dirty="0"/>
            </a:p>
          </p:txBody>
        </p:sp>
        <p:sp>
          <p:nvSpPr>
            <p:cNvPr id="24" name="Text 19"/>
            <p:cNvSpPr txBox="1"/>
            <p:nvPr/>
          </p:nvSpPr>
          <p:spPr>
            <a:xfrm>
              <a:off x="4468287" y="5326464"/>
              <a:ext cx="827918" cy="549146"/>
            </a:xfrm>
            <a:prstGeom prst="rect">
              <a:avLst/>
            </a:prstGeom>
            <a:noFill/>
            <a:ln/>
          </p:spPr>
          <p:txBody>
            <a:bodyPr wrap="square" lIns="0" tIns="0" rIns="0" bIns="0" rtlCol="0" anchor="t"/>
            <a:lstStyle/>
            <a:p>
              <a:pPr marL="0" indent="0" algn="ctr">
                <a:buNone/>
              </a:pPr>
              <a:r>
                <a:rPr lang="en-US" sz="950" dirty="0">
                  <a:solidFill>
                    <a:srgbClr val="333333"/>
                  </a:solidFill>
                  <a:latin typeface="Calibri" pitchFamily="34" charset="0"/>
                  <a:ea typeface="Calibri" pitchFamily="34" charset="-122"/>
                  <a:cs typeface="Calibri" pitchFamily="34" charset="-120"/>
                </a:rPr>
                <a:t>Optimization</a:t>
              </a:r>
              <a:endParaRPr lang="en-US" sz="950" dirty="0"/>
            </a:p>
          </p:txBody>
        </p:sp>
      </p:grpSp>
      <p:grpSp>
        <p:nvGrpSpPr>
          <p:cNvPr id="2" name="Group 1">
            <a:extLst>
              <a:ext uri="{FF2B5EF4-FFF2-40B4-BE49-F238E27FC236}">
                <a16:creationId xmlns:a16="http://schemas.microsoft.com/office/drawing/2014/main" id="{94D04B08-5061-0FDA-15D3-A04BFEBB3DF9}"/>
              </a:ext>
            </a:extLst>
          </p:cNvPr>
          <p:cNvGrpSpPr/>
          <p:nvPr/>
        </p:nvGrpSpPr>
        <p:grpSpPr>
          <a:xfrm>
            <a:off x="5510784" y="1252154"/>
            <a:ext cx="3084576" cy="4694314"/>
            <a:chOff x="5510784" y="1252154"/>
            <a:chExt cx="3084576" cy="4694314"/>
          </a:xfrm>
        </p:grpSpPr>
        <p:sp>
          <p:nvSpPr>
            <p:cNvPr id="25" name="Shape 20"/>
            <p:cNvSpPr/>
            <p:nvPr/>
          </p:nvSpPr>
          <p:spPr>
            <a:xfrm>
              <a:off x="5510784" y="1252154"/>
              <a:ext cx="3084576" cy="2302871"/>
            </a:xfrm>
            <a:prstGeom prst="roundRect">
              <a:avLst>
                <a:gd name="adj" fmla="val 2779"/>
              </a:avLst>
            </a:prstGeom>
            <a:solidFill>
              <a:srgbClr val="F4F6F5"/>
            </a:solidFill>
            <a:ln w="9525">
              <a:solidFill>
                <a:srgbClr val="F4F6F5"/>
              </a:solidFill>
              <a:prstDash val="solid"/>
            </a:ln>
          </p:spPr>
          <p:txBody>
            <a:bodyPr/>
            <a:lstStyle/>
            <a:p>
              <a:endParaRPr lang="en-US"/>
            </a:p>
          </p:txBody>
        </p:sp>
        <p:sp>
          <p:nvSpPr>
            <p:cNvPr id="26" name="Shape 21"/>
            <p:cNvSpPr/>
            <p:nvPr/>
          </p:nvSpPr>
          <p:spPr>
            <a:xfrm>
              <a:off x="5600192" y="1340726"/>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27" name="Text 22"/>
            <p:cNvSpPr txBox="1"/>
            <p:nvPr/>
          </p:nvSpPr>
          <p:spPr>
            <a:xfrm>
              <a:off x="5600192" y="1340726"/>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11</a:t>
              </a:r>
              <a:endParaRPr lang="en-US" sz="1050" dirty="0"/>
            </a:p>
          </p:txBody>
        </p:sp>
        <p:sp>
          <p:nvSpPr>
            <p:cNvPr id="28" name="Text 23"/>
            <p:cNvSpPr txBox="1"/>
            <p:nvPr/>
          </p:nvSpPr>
          <p:spPr>
            <a:xfrm>
              <a:off x="6454038" y="1305298"/>
              <a:ext cx="2051914" cy="354288"/>
            </a:xfrm>
            <a:prstGeom prst="rect">
              <a:avLst/>
            </a:prstGeom>
            <a:noFill/>
            <a:ln/>
          </p:spPr>
          <p:txBody>
            <a:bodyPr wrap="square" lIns="0" tIns="0" rIns="0" bIns="0" rtlCol="0" anchor="ctr"/>
            <a:lstStyle/>
            <a:p>
              <a:pPr marL="0" indent="0">
                <a:buNone/>
              </a:pPr>
              <a:r>
                <a:rPr lang="en-US" sz="850" dirty="0">
                  <a:solidFill>
                    <a:srgbClr val="5B6770"/>
                  </a:solidFill>
                  <a:latin typeface="Calibri" pitchFamily="34" charset="0"/>
                  <a:ea typeface="Calibri" pitchFamily="34" charset="-122"/>
                  <a:cs typeface="Calibri" pitchFamily="34" charset="-120"/>
                </a:rPr>
                <a:t>Challenges: security, bias, consent, regulation, liability</a:t>
              </a:r>
              <a:endParaRPr lang="en-US" sz="850" dirty="0"/>
            </a:p>
          </p:txBody>
        </p:sp>
        <p:pic>
          <p:nvPicPr>
            <p:cNvPr id="29" name="Image 0" descr="fig11"/>
            <p:cNvPicPr>
              <a:picLocks noChangeAspect="1"/>
            </p:cNvPicPr>
            <p:nvPr/>
          </p:nvPicPr>
          <p:blipFill>
            <a:blip r:embed="rId3"/>
            <a:stretch>
              <a:fillRect/>
            </a:stretch>
          </p:blipFill>
          <p:spPr>
            <a:xfrm>
              <a:off x="5727150" y="1695014"/>
              <a:ext cx="2651844" cy="1771439"/>
            </a:xfrm>
            <a:prstGeom prst="rect">
              <a:avLst/>
            </a:prstGeom>
          </p:spPr>
        </p:pic>
        <p:sp>
          <p:nvSpPr>
            <p:cNvPr id="30" name="Shape 24"/>
            <p:cNvSpPr/>
            <p:nvPr/>
          </p:nvSpPr>
          <p:spPr>
            <a:xfrm>
              <a:off x="5510784" y="3643597"/>
              <a:ext cx="3084576" cy="2302871"/>
            </a:xfrm>
            <a:prstGeom prst="roundRect">
              <a:avLst>
                <a:gd name="adj" fmla="val 2779"/>
              </a:avLst>
            </a:prstGeom>
            <a:solidFill>
              <a:srgbClr val="F4F6F5"/>
            </a:solidFill>
            <a:ln w="9525">
              <a:solidFill>
                <a:srgbClr val="F4F6F5"/>
              </a:solidFill>
              <a:prstDash val="solid"/>
            </a:ln>
          </p:spPr>
          <p:txBody>
            <a:bodyPr/>
            <a:lstStyle/>
            <a:p>
              <a:endParaRPr lang="en-US"/>
            </a:p>
          </p:txBody>
        </p:sp>
        <p:sp>
          <p:nvSpPr>
            <p:cNvPr id="31" name="Shape 25"/>
            <p:cNvSpPr/>
            <p:nvPr/>
          </p:nvSpPr>
          <p:spPr>
            <a:xfrm>
              <a:off x="5600192" y="3732169"/>
              <a:ext cx="764438" cy="248001"/>
            </a:xfrm>
            <a:prstGeom prst="roundRect">
              <a:avLst>
                <a:gd name="adj" fmla="val 51619"/>
              </a:avLst>
            </a:prstGeom>
            <a:solidFill>
              <a:srgbClr val="2E8B57"/>
            </a:solidFill>
            <a:ln w="12700">
              <a:solidFill>
                <a:srgbClr val="2E8B57"/>
              </a:solidFill>
              <a:prstDash val="solid"/>
            </a:ln>
          </p:spPr>
          <p:txBody>
            <a:bodyPr/>
            <a:lstStyle/>
            <a:p>
              <a:endParaRPr lang="en-US"/>
            </a:p>
          </p:txBody>
        </p:sp>
        <p:sp>
          <p:nvSpPr>
            <p:cNvPr id="32" name="Text 26"/>
            <p:cNvSpPr txBox="1"/>
            <p:nvPr/>
          </p:nvSpPr>
          <p:spPr>
            <a:xfrm>
              <a:off x="5600192" y="3732169"/>
              <a:ext cx="764438" cy="248001"/>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Fig. 12</a:t>
              </a:r>
              <a:endParaRPr lang="en-US" sz="1050" dirty="0"/>
            </a:p>
          </p:txBody>
        </p:sp>
        <p:sp>
          <p:nvSpPr>
            <p:cNvPr id="33" name="Text 27"/>
            <p:cNvSpPr txBox="1"/>
            <p:nvPr/>
          </p:nvSpPr>
          <p:spPr>
            <a:xfrm>
              <a:off x="6454038" y="3696740"/>
              <a:ext cx="2051914" cy="354288"/>
            </a:xfrm>
            <a:prstGeom prst="rect">
              <a:avLst/>
            </a:prstGeom>
            <a:noFill/>
            <a:ln/>
          </p:spPr>
          <p:txBody>
            <a:bodyPr wrap="square" lIns="0" tIns="0" rIns="0" bIns="0" rtlCol="0" anchor="ctr"/>
            <a:lstStyle/>
            <a:p>
              <a:pPr marL="0" indent="0">
                <a:buNone/>
              </a:pPr>
              <a:r>
                <a:rPr lang="en-US" sz="850" dirty="0">
                  <a:solidFill>
                    <a:srgbClr val="5B6770"/>
                  </a:solidFill>
                  <a:latin typeface="Calibri" pitchFamily="34" charset="0"/>
                  <a:ea typeface="Calibri" pitchFamily="34" charset="-122"/>
                  <a:cs typeface="Calibri" pitchFamily="34" charset="-120"/>
                </a:rPr>
                <a:t>Future: AI evolution, sensor innovation, 5G/IoT connectivity</a:t>
              </a:r>
              <a:endParaRPr lang="en-US" sz="850" dirty="0"/>
            </a:p>
          </p:txBody>
        </p:sp>
        <p:pic>
          <p:nvPicPr>
            <p:cNvPr id="34" name="Image 1" descr="fig12"/>
            <p:cNvPicPr>
              <a:picLocks noChangeAspect="1"/>
            </p:cNvPicPr>
            <p:nvPr/>
          </p:nvPicPr>
          <p:blipFill>
            <a:blip r:embed="rId4"/>
            <a:stretch>
              <a:fillRect/>
            </a:stretch>
          </p:blipFill>
          <p:spPr>
            <a:xfrm>
              <a:off x="5720950" y="4086457"/>
              <a:ext cx="2664244" cy="1771439"/>
            </a:xfrm>
            <a:prstGeom prst="rect">
              <a:avLst/>
            </a:prstGeom>
          </p:spPr>
        </p:pic>
      </p:grpSp>
      <p:sp>
        <p:nvSpPr>
          <p:cNvPr id="35"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15</a:t>
            </a:fld>
            <a:endParaRPr lang="en-US">
              <a:solidFill>
                <a:srgbClr val="FFFFFF"/>
              </a:solidFill>
              <a:latin typeface="Arial" panose="020B0604020202020204"/>
            </a:endParaRPr>
          </a:p>
        </p:txBody>
      </p:sp>
      <p:sp>
        <p:nvSpPr>
          <p:cNvPr id="36"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dirty="0">
                <a:solidFill>
                  <a:srgbClr val="A84D00"/>
                </a:solidFill>
                <a:latin typeface="Arial"/>
              </a:rPr>
              <a:t>COMMENTS</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My assessment: a useful map with uneven evidence</a:t>
            </a:r>
            <a:endParaRPr lang="en-US" sz="2400" dirty="0">
              <a:solidFill>
                <a:schemeClr val="accent5"/>
              </a:solidFill>
            </a:endParaRPr>
          </a:p>
        </p:txBody>
      </p:sp>
      <p:grpSp>
        <p:nvGrpSpPr>
          <p:cNvPr id="2" name="Group 1">
            <a:extLst>
              <a:ext uri="{FF2B5EF4-FFF2-40B4-BE49-F238E27FC236}">
                <a16:creationId xmlns:a16="http://schemas.microsoft.com/office/drawing/2014/main" id="{618374DC-1299-3D73-64D7-CB80A9DA6B92}"/>
              </a:ext>
            </a:extLst>
          </p:cNvPr>
          <p:cNvGrpSpPr/>
          <p:nvPr/>
        </p:nvGrpSpPr>
        <p:grpSpPr>
          <a:xfrm>
            <a:off x="548640" y="1252154"/>
            <a:ext cx="2995168" cy="4233739"/>
            <a:chOff x="548640" y="1252154"/>
            <a:chExt cx="2995168" cy="4233739"/>
          </a:xfrm>
        </p:grpSpPr>
        <p:sp>
          <p:nvSpPr>
            <p:cNvPr id="5" name="Shape 0"/>
            <p:cNvSpPr/>
            <p:nvPr/>
          </p:nvSpPr>
          <p:spPr>
            <a:xfrm>
              <a:off x="548640" y="1252154"/>
              <a:ext cx="2995168" cy="4233739"/>
            </a:xfrm>
            <a:prstGeom prst="roundRect">
              <a:avLst>
                <a:gd name="adj" fmla="val 2137"/>
              </a:avLst>
            </a:prstGeom>
            <a:solidFill>
              <a:srgbClr val="E7F0EB"/>
            </a:solidFill>
            <a:ln w="9525">
              <a:solidFill>
                <a:srgbClr val="E7F0EB"/>
              </a:solidFill>
              <a:prstDash val="solid"/>
            </a:ln>
          </p:spPr>
          <p:txBody>
            <a:bodyPr/>
            <a:lstStyle/>
            <a:p>
              <a:endParaRPr lang="en-US"/>
            </a:p>
          </p:txBody>
        </p:sp>
        <p:sp>
          <p:nvSpPr>
            <p:cNvPr id="6" name="Text 1"/>
            <p:cNvSpPr txBox="1"/>
            <p:nvPr/>
          </p:nvSpPr>
          <p:spPr>
            <a:xfrm>
              <a:off x="709574" y="1340726"/>
              <a:ext cx="2726944" cy="318859"/>
            </a:xfrm>
            <a:prstGeom prst="rect">
              <a:avLst/>
            </a:prstGeom>
            <a:noFill/>
            <a:ln/>
          </p:spPr>
          <p:txBody>
            <a:bodyPr wrap="square" lIns="0" tIns="0" rIns="0" bIns="0" rtlCol="0" anchor="ctr"/>
            <a:lstStyle/>
            <a:p>
              <a:pPr marL="0" indent="0">
                <a:buNone/>
              </a:pPr>
              <a:r>
                <a:rPr lang="en-US" sz="1600" b="1" dirty="0">
                  <a:solidFill>
                    <a:srgbClr val="2E8B57"/>
                  </a:solidFill>
                  <a:latin typeface="Arial" pitchFamily="34" charset="0"/>
                  <a:ea typeface="Arial" pitchFamily="34" charset="-122"/>
                  <a:cs typeface="Arial" pitchFamily="34" charset="-120"/>
                </a:rPr>
                <a:t>Strengths</a:t>
              </a:r>
              <a:endParaRPr lang="en-US" sz="1600" dirty="0"/>
            </a:p>
          </p:txBody>
        </p:sp>
        <p:sp>
          <p:nvSpPr>
            <p:cNvPr id="7" name="Shape 2"/>
            <p:cNvSpPr/>
            <p:nvPr/>
          </p:nvSpPr>
          <p:spPr>
            <a:xfrm>
              <a:off x="710912" y="1810158"/>
              <a:ext cx="283430" cy="283430"/>
            </a:xfrm>
            <a:prstGeom prst="ellipse">
              <a:avLst/>
            </a:prstGeom>
            <a:solidFill>
              <a:srgbClr val="2E8B57"/>
            </a:solidFill>
            <a:ln w="12700">
              <a:solidFill>
                <a:srgbClr val="2E8B57"/>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784604" y="1883850"/>
              <a:ext cx="136047" cy="136047"/>
            </a:xfrm>
            <a:prstGeom prst="rect">
              <a:avLst/>
            </a:prstGeom>
          </p:spPr>
        </p:pic>
        <p:sp>
          <p:nvSpPr>
            <p:cNvPr id="9" name="Text 3"/>
            <p:cNvSpPr txBox="1"/>
            <p:nvPr/>
          </p:nvSpPr>
          <p:spPr>
            <a:xfrm>
              <a:off x="1102970" y="1783586"/>
              <a:ext cx="2297786" cy="797148"/>
            </a:xfrm>
            <a:prstGeom prst="rect">
              <a:avLst/>
            </a:prstGeom>
            <a:noFill/>
            <a:ln/>
          </p:spPr>
          <p:txBody>
            <a:bodyPr wrap="square" lIns="0" tIns="0" rIns="0" bIns="0" rtlCol="0" anchor="t"/>
            <a:lstStyle/>
            <a:p>
              <a:pPr marL="0" indent="0">
                <a:buNone/>
              </a:pPr>
              <a:r>
                <a:rPr lang="en-US" sz="1150" dirty="0">
                  <a:solidFill>
                    <a:srgbClr val="333333"/>
                  </a:solidFill>
                  <a:latin typeface="Calibri" pitchFamily="34" charset="0"/>
                  <a:ea typeface="Calibri" pitchFamily="34" charset="-122"/>
                  <a:cs typeface="Calibri" pitchFamily="34" charset="-120"/>
                </a:rPr>
                <a:t>Coherent end-to-end scope: materials → AI → clinic → policy</a:t>
              </a:r>
              <a:endParaRPr lang="en-US" sz="1150" dirty="0"/>
            </a:p>
          </p:txBody>
        </p:sp>
        <p:sp>
          <p:nvSpPr>
            <p:cNvPr id="10" name="Shape 4"/>
            <p:cNvSpPr/>
            <p:nvPr/>
          </p:nvSpPr>
          <p:spPr>
            <a:xfrm>
              <a:off x="710912" y="2713592"/>
              <a:ext cx="283430" cy="283430"/>
            </a:xfrm>
            <a:prstGeom prst="ellipse">
              <a:avLst/>
            </a:prstGeom>
            <a:solidFill>
              <a:srgbClr val="2E8B57"/>
            </a:solidFill>
            <a:ln w="12700">
              <a:solidFill>
                <a:srgbClr val="2E8B57"/>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784604" y="2787284"/>
              <a:ext cx="136047" cy="136047"/>
            </a:xfrm>
            <a:prstGeom prst="rect">
              <a:avLst/>
            </a:prstGeom>
          </p:spPr>
        </p:pic>
        <p:sp>
          <p:nvSpPr>
            <p:cNvPr id="12" name="Text 5"/>
            <p:cNvSpPr txBox="1"/>
            <p:nvPr/>
          </p:nvSpPr>
          <p:spPr>
            <a:xfrm>
              <a:off x="1102970" y="2687020"/>
              <a:ext cx="2297786" cy="797148"/>
            </a:xfrm>
            <a:prstGeom prst="rect">
              <a:avLst/>
            </a:prstGeom>
            <a:noFill/>
            <a:ln/>
          </p:spPr>
          <p:txBody>
            <a:bodyPr wrap="square" lIns="0" tIns="0" rIns="0" bIns="0" rtlCol="0" anchor="t"/>
            <a:lstStyle/>
            <a:p>
              <a:pPr marL="0" indent="0">
                <a:buNone/>
              </a:pPr>
              <a:r>
                <a:rPr lang="en-US" sz="1150" dirty="0">
                  <a:solidFill>
                    <a:srgbClr val="333333"/>
                  </a:solidFill>
                  <a:latin typeface="Calibri" pitchFamily="34" charset="0"/>
                  <a:ea typeface="Calibri" pitchFamily="34" charset="-122"/>
                  <a:cs typeface="Calibri" pitchFamily="34" charset="-120"/>
                </a:rPr>
                <a:t>Comparative tables (materials, algorithms) make good primers</a:t>
              </a:r>
              <a:endParaRPr lang="en-US" sz="1150" dirty="0"/>
            </a:p>
          </p:txBody>
        </p:sp>
        <p:sp>
          <p:nvSpPr>
            <p:cNvPr id="13" name="Shape 6"/>
            <p:cNvSpPr/>
            <p:nvPr/>
          </p:nvSpPr>
          <p:spPr>
            <a:xfrm>
              <a:off x="710912" y="3617026"/>
              <a:ext cx="283430" cy="283430"/>
            </a:xfrm>
            <a:prstGeom prst="ellipse">
              <a:avLst/>
            </a:prstGeom>
            <a:solidFill>
              <a:srgbClr val="2E8B57"/>
            </a:solidFill>
            <a:ln w="12700">
              <a:solidFill>
                <a:srgbClr val="2E8B57"/>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784604" y="3690717"/>
              <a:ext cx="136047" cy="136047"/>
            </a:xfrm>
            <a:prstGeom prst="rect">
              <a:avLst/>
            </a:prstGeom>
          </p:spPr>
        </p:pic>
        <p:sp>
          <p:nvSpPr>
            <p:cNvPr id="15" name="Text 7"/>
            <p:cNvSpPr txBox="1"/>
            <p:nvPr/>
          </p:nvSpPr>
          <p:spPr>
            <a:xfrm>
              <a:off x="1102970" y="3590454"/>
              <a:ext cx="2297786" cy="797148"/>
            </a:xfrm>
            <a:prstGeom prst="rect">
              <a:avLst/>
            </a:prstGeom>
            <a:noFill/>
            <a:ln/>
          </p:spPr>
          <p:txBody>
            <a:bodyPr wrap="square" lIns="0" tIns="0" rIns="0" bIns="0" rtlCol="0" anchor="t"/>
            <a:lstStyle/>
            <a:p>
              <a:pPr marL="0" indent="0">
                <a:buNone/>
              </a:pPr>
              <a:r>
                <a:rPr lang="en-US" sz="1150" dirty="0">
                  <a:solidFill>
                    <a:srgbClr val="333333"/>
                  </a:solidFill>
                  <a:latin typeface="Calibri" pitchFamily="34" charset="0"/>
                  <a:ea typeface="Calibri" pitchFamily="34" charset="-122"/>
                  <a:cs typeface="Calibri" pitchFamily="34" charset="-120"/>
                </a:rPr>
                <a:t>Treats power–compute co-design as the core engineering constraint</a:t>
              </a:r>
              <a:endParaRPr lang="en-US" sz="1150" dirty="0"/>
            </a:p>
          </p:txBody>
        </p:sp>
        <p:sp>
          <p:nvSpPr>
            <p:cNvPr id="16" name="Shape 8"/>
            <p:cNvSpPr/>
            <p:nvPr/>
          </p:nvSpPr>
          <p:spPr>
            <a:xfrm>
              <a:off x="710912" y="4520460"/>
              <a:ext cx="283430" cy="283430"/>
            </a:xfrm>
            <a:prstGeom prst="ellipse">
              <a:avLst/>
            </a:prstGeom>
            <a:solidFill>
              <a:srgbClr val="2E8B57"/>
            </a:solidFill>
            <a:ln w="12700">
              <a:solidFill>
                <a:srgbClr val="2E8B57"/>
              </a:solidFill>
              <a:prstDash val="solid"/>
            </a:ln>
          </p:spPr>
          <p:txBody>
            <a:bodyPr/>
            <a:lstStyle/>
            <a:p>
              <a:endParaRPr lang="en-US"/>
            </a:p>
          </p:txBody>
        </p:sp>
        <p:pic>
          <p:nvPicPr>
            <p:cNvPr id="17" name="Image 3" descr="preencoded.png"/>
            <p:cNvPicPr>
              <a:picLocks noChangeAspect="1"/>
            </p:cNvPicPr>
            <p:nvPr/>
          </p:nvPicPr>
          <p:blipFill>
            <a:blip r:embed="rId3"/>
            <a:stretch>
              <a:fillRect/>
            </a:stretch>
          </p:blipFill>
          <p:spPr>
            <a:xfrm>
              <a:off x="784604" y="4594151"/>
              <a:ext cx="136047" cy="136047"/>
            </a:xfrm>
            <a:prstGeom prst="rect">
              <a:avLst/>
            </a:prstGeom>
          </p:spPr>
        </p:pic>
        <p:sp>
          <p:nvSpPr>
            <p:cNvPr id="18" name="Text 9"/>
            <p:cNvSpPr txBox="1"/>
            <p:nvPr/>
          </p:nvSpPr>
          <p:spPr>
            <a:xfrm>
              <a:off x="1102970" y="4493888"/>
              <a:ext cx="2297786" cy="797148"/>
            </a:xfrm>
            <a:prstGeom prst="rect">
              <a:avLst/>
            </a:prstGeom>
            <a:noFill/>
            <a:ln/>
          </p:spPr>
          <p:txBody>
            <a:bodyPr wrap="square" lIns="0" tIns="0" rIns="0" bIns="0" rtlCol="0" anchor="t"/>
            <a:lstStyle/>
            <a:p>
              <a:pPr marL="0" indent="0">
                <a:buNone/>
              </a:pPr>
              <a:r>
                <a:rPr lang="en-US" sz="1150" dirty="0">
                  <a:solidFill>
                    <a:srgbClr val="333333"/>
                  </a:solidFill>
                  <a:latin typeface="Calibri" pitchFamily="34" charset="0"/>
                  <a:ea typeface="Calibri" pitchFamily="34" charset="-122"/>
                  <a:cs typeface="Calibri" pitchFamily="34" charset="-120"/>
                </a:rPr>
                <a:t>Goes beyond technology: equity, cost and a concrete policy roadmap</a:t>
              </a:r>
              <a:endParaRPr lang="en-US" sz="1150" dirty="0"/>
            </a:p>
          </p:txBody>
        </p:sp>
      </p:grpSp>
      <p:grpSp>
        <p:nvGrpSpPr>
          <p:cNvPr id="34" name="Group 33">
            <a:extLst>
              <a:ext uri="{FF2B5EF4-FFF2-40B4-BE49-F238E27FC236}">
                <a16:creationId xmlns:a16="http://schemas.microsoft.com/office/drawing/2014/main" id="{9BF3D59F-1187-A380-2653-63E24569A7D2}"/>
              </a:ext>
            </a:extLst>
          </p:cNvPr>
          <p:cNvGrpSpPr/>
          <p:nvPr/>
        </p:nvGrpSpPr>
        <p:grpSpPr>
          <a:xfrm>
            <a:off x="3677920" y="1252154"/>
            <a:ext cx="4917440" cy="4233739"/>
            <a:chOff x="3677920" y="1252154"/>
            <a:chExt cx="4917440" cy="4233739"/>
          </a:xfrm>
        </p:grpSpPr>
        <p:sp>
          <p:nvSpPr>
            <p:cNvPr id="19" name="Shape 10"/>
            <p:cNvSpPr/>
            <p:nvPr/>
          </p:nvSpPr>
          <p:spPr>
            <a:xfrm>
              <a:off x="3677920" y="1252154"/>
              <a:ext cx="4917440" cy="4233739"/>
            </a:xfrm>
            <a:prstGeom prst="roundRect">
              <a:avLst>
                <a:gd name="adj" fmla="val 1512"/>
              </a:avLst>
            </a:prstGeom>
            <a:solidFill>
              <a:srgbClr val="FBEAE8"/>
            </a:solidFill>
            <a:ln w="9525">
              <a:solidFill>
                <a:srgbClr val="FBEAE8"/>
              </a:solidFill>
              <a:prstDash val="solid"/>
            </a:ln>
          </p:spPr>
          <p:txBody>
            <a:bodyPr/>
            <a:lstStyle/>
            <a:p>
              <a:endParaRPr lang="en-US"/>
            </a:p>
          </p:txBody>
        </p:sp>
        <p:sp>
          <p:nvSpPr>
            <p:cNvPr id="20" name="Text 11"/>
            <p:cNvSpPr txBox="1"/>
            <p:nvPr/>
          </p:nvSpPr>
          <p:spPr>
            <a:xfrm>
              <a:off x="3838854" y="1340726"/>
              <a:ext cx="4649216" cy="318859"/>
            </a:xfrm>
            <a:prstGeom prst="rect">
              <a:avLst/>
            </a:prstGeom>
            <a:noFill/>
            <a:ln/>
          </p:spPr>
          <p:txBody>
            <a:bodyPr wrap="square" lIns="0" tIns="0" rIns="0" bIns="0" rtlCol="0" anchor="ctr"/>
            <a:lstStyle/>
            <a:p>
              <a:pPr marL="0" indent="0">
                <a:buNone/>
              </a:pPr>
              <a:r>
                <a:rPr lang="en-US" sz="1600" b="1" dirty="0">
                  <a:solidFill>
                    <a:srgbClr val="B3261E"/>
                  </a:solidFill>
                  <a:latin typeface="Arial" pitchFamily="34" charset="0"/>
                  <a:ea typeface="Arial" pitchFamily="34" charset="-122"/>
                  <a:cs typeface="Arial" pitchFamily="34" charset="-120"/>
                </a:rPr>
                <a:t>Concerns we verified</a:t>
              </a:r>
              <a:endParaRPr lang="en-US" sz="1600" dirty="0"/>
            </a:p>
          </p:txBody>
        </p:sp>
        <p:sp>
          <p:nvSpPr>
            <p:cNvPr id="21" name="Text 12"/>
            <p:cNvSpPr txBox="1"/>
            <p:nvPr/>
          </p:nvSpPr>
          <p:spPr>
            <a:xfrm>
              <a:off x="3838854" y="1810158"/>
              <a:ext cx="223520" cy="248001"/>
            </a:xfrm>
            <a:prstGeom prst="rect">
              <a:avLst/>
            </a:prstGeom>
            <a:noFill/>
            <a:ln/>
          </p:spPr>
          <p:txBody>
            <a:bodyPr wrap="square" lIns="0" tIns="0" rIns="0" bIns="0" rtlCol="0" anchor="t"/>
            <a:lstStyle/>
            <a:p>
              <a:pPr marL="0" indent="0">
                <a:buNone/>
              </a:pPr>
              <a:r>
                <a:rPr lang="en-US" sz="1300" b="1" dirty="0">
                  <a:solidFill>
                    <a:srgbClr val="B3261E"/>
                  </a:solidFill>
                  <a:latin typeface="Arial" pitchFamily="34" charset="0"/>
                  <a:ea typeface="Arial" pitchFamily="34" charset="-122"/>
                  <a:cs typeface="Arial" pitchFamily="34" charset="-120"/>
                </a:rPr>
                <a:t>1</a:t>
              </a:r>
              <a:endParaRPr lang="en-US" sz="1300" dirty="0"/>
            </a:p>
          </p:txBody>
        </p:sp>
        <p:sp>
          <p:nvSpPr>
            <p:cNvPr id="22" name="Text 13"/>
            <p:cNvSpPr txBox="1"/>
            <p:nvPr/>
          </p:nvSpPr>
          <p:spPr>
            <a:xfrm>
              <a:off x="4080256" y="1810158"/>
              <a:ext cx="4380992" cy="389717"/>
            </a:xfrm>
            <a:prstGeom prst="rect">
              <a:avLst/>
            </a:prstGeom>
            <a:noFill/>
            <a:ln/>
          </p:spPr>
          <p:txBody>
            <a:bodyPr wrap="square" lIns="0" tIns="0" rIns="0" bIns="0" rtlCol="0" anchor="t"/>
            <a:lstStyle/>
            <a:p>
              <a:pPr marL="0" indent="0">
                <a:buNone/>
              </a:pPr>
              <a:r>
                <a:rPr lang="en-US" sz="1100" b="1" dirty="0">
                  <a:solidFill>
                    <a:srgbClr val="154734"/>
                  </a:solidFill>
                  <a:latin typeface="Calibri" pitchFamily="34" charset="0"/>
                  <a:ea typeface="Calibri" pitchFamily="34" charset="-122"/>
                  <a:cs typeface="Calibri" pitchFamily="34" charset="-120"/>
                </a:rPr>
                <a:t>Outdated statistics — </a:t>
              </a:r>
              <a:r>
                <a:rPr lang="en-US" sz="1100" dirty="0">
                  <a:solidFill>
                    <a:srgbClr val="333333"/>
                  </a:solidFill>
                  <a:latin typeface="Calibri" pitchFamily="34" charset="0"/>
                  <a:ea typeface="Calibri" pitchFamily="34" charset="-122"/>
                  <a:cs typeface="Calibri" pitchFamily="34" charset="-120"/>
                </a:rPr>
                <a:t>diabetes 422 M → 828 M; CVD deaths 17.9 M → 19.8 M (slide 2)</a:t>
              </a:r>
              <a:endParaRPr lang="en-US" sz="1100" dirty="0"/>
            </a:p>
          </p:txBody>
        </p:sp>
        <p:sp>
          <p:nvSpPr>
            <p:cNvPr id="23" name="Text 14"/>
            <p:cNvSpPr txBox="1"/>
            <p:nvPr/>
          </p:nvSpPr>
          <p:spPr>
            <a:xfrm>
              <a:off x="3838854" y="2518733"/>
              <a:ext cx="223520" cy="248001"/>
            </a:xfrm>
            <a:prstGeom prst="rect">
              <a:avLst/>
            </a:prstGeom>
            <a:noFill/>
            <a:ln/>
          </p:spPr>
          <p:txBody>
            <a:bodyPr wrap="square" lIns="0" tIns="0" rIns="0" bIns="0" rtlCol="0" anchor="t"/>
            <a:lstStyle/>
            <a:p>
              <a:pPr marL="0" indent="0">
                <a:buNone/>
              </a:pPr>
              <a:r>
                <a:rPr lang="en-US" sz="1300" b="1" dirty="0">
                  <a:solidFill>
                    <a:srgbClr val="B3261E"/>
                  </a:solidFill>
                  <a:latin typeface="Arial" pitchFamily="34" charset="0"/>
                  <a:ea typeface="Arial" pitchFamily="34" charset="-122"/>
                  <a:cs typeface="Arial" pitchFamily="34" charset="-120"/>
                </a:rPr>
                <a:t>2</a:t>
              </a:r>
              <a:endParaRPr lang="en-US" sz="1300" dirty="0"/>
            </a:p>
          </p:txBody>
        </p:sp>
        <p:sp>
          <p:nvSpPr>
            <p:cNvPr id="24" name="Text 15"/>
            <p:cNvSpPr txBox="1"/>
            <p:nvPr/>
          </p:nvSpPr>
          <p:spPr>
            <a:xfrm>
              <a:off x="4080256" y="2518733"/>
              <a:ext cx="4380992" cy="389717"/>
            </a:xfrm>
            <a:prstGeom prst="rect">
              <a:avLst/>
            </a:prstGeom>
            <a:noFill/>
            <a:ln/>
          </p:spPr>
          <p:txBody>
            <a:bodyPr wrap="square" lIns="0" tIns="0" rIns="0" bIns="0" rtlCol="0" anchor="t"/>
            <a:lstStyle/>
            <a:p>
              <a:pPr marL="0" indent="0">
                <a:buNone/>
              </a:pPr>
              <a:r>
                <a:rPr lang="en-US" sz="1100" b="1" dirty="0">
                  <a:solidFill>
                    <a:srgbClr val="154734"/>
                  </a:solidFill>
                  <a:latin typeface="Calibri" pitchFamily="34" charset="0"/>
                  <a:ea typeface="Calibri" pitchFamily="34" charset="-122"/>
                  <a:cs typeface="Calibri" pitchFamily="34" charset="-120"/>
                </a:rPr>
                <a:t>Numerical error — </a:t>
              </a:r>
              <a:r>
                <a:rPr lang="en-US" sz="1100" dirty="0">
                  <a:solidFill>
                    <a:srgbClr val="333333"/>
                  </a:solidFill>
                  <a:latin typeface="Calibri" pitchFamily="34" charset="0"/>
                  <a:ea typeface="Calibri" pitchFamily="34" charset="-122"/>
                  <a:cs typeface="Calibri" pitchFamily="34" charset="-120"/>
                </a:rPr>
                <a:t>Table 5 AUC 0.963 vs 0.936 in the matching source; no row citations (slide 12)</a:t>
              </a:r>
              <a:endParaRPr lang="en-US" sz="1100" dirty="0"/>
            </a:p>
          </p:txBody>
        </p:sp>
        <p:sp>
          <p:nvSpPr>
            <p:cNvPr id="25" name="Text 16"/>
            <p:cNvSpPr txBox="1"/>
            <p:nvPr/>
          </p:nvSpPr>
          <p:spPr>
            <a:xfrm>
              <a:off x="3838854" y="3227309"/>
              <a:ext cx="223520" cy="248001"/>
            </a:xfrm>
            <a:prstGeom prst="rect">
              <a:avLst/>
            </a:prstGeom>
            <a:noFill/>
            <a:ln/>
          </p:spPr>
          <p:txBody>
            <a:bodyPr wrap="square" lIns="0" tIns="0" rIns="0" bIns="0" rtlCol="0" anchor="t"/>
            <a:lstStyle/>
            <a:p>
              <a:pPr marL="0" indent="0">
                <a:buNone/>
              </a:pPr>
              <a:r>
                <a:rPr lang="en-US" sz="1300" b="1" dirty="0">
                  <a:solidFill>
                    <a:srgbClr val="B3261E"/>
                  </a:solidFill>
                  <a:latin typeface="Arial" pitchFamily="34" charset="0"/>
                  <a:ea typeface="Arial" pitchFamily="34" charset="-122"/>
                  <a:cs typeface="Arial" pitchFamily="34" charset="-120"/>
                </a:rPr>
                <a:t>3</a:t>
              </a:r>
              <a:endParaRPr lang="en-US" sz="1300" dirty="0"/>
            </a:p>
          </p:txBody>
        </p:sp>
        <p:sp>
          <p:nvSpPr>
            <p:cNvPr id="26" name="Text 17"/>
            <p:cNvSpPr txBox="1"/>
            <p:nvPr/>
          </p:nvSpPr>
          <p:spPr>
            <a:xfrm>
              <a:off x="4080256" y="3227309"/>
              <a:ext cx="4380992" cy="230287"/>
            </a:xfrm>
            <a:prstGeom prst="rect">
              <a:avLst/>
            </a:prstGeom>
            <a:noFill/>
            <a:ln/>
          </p:spPr>
          <p:txBody>
            <a:bodyPr wrap="square" lIns="0" tIns="0" rIns="0" bIns="0" rtlCol="0" anchor="t"/>
            <a:lstStyle/>
            <a:p>
              <a:pPr marL="0" indent="0">
                <a:buNone/>
              </a:pPr>
              <a:r>
                <a:rPr lang="en-US" sz="1100" b="1" dirty="0">
                  <a:solidFill>
                    <a:srgbClr val="154734"/>
                  </a:solidFill>
                  <a:latin typeface="Calibri" pitchFamily="34" charset="0"/>
                  <a:ea typeface="Calibri" pitchFamily="34" charset="-122"/>
                  <a:cs typeface="Calibri" pitchFamily="34" charset="-120"/>
                </a:rPr>
                <a:t>Scope drift — </a:t>
              </a:r>
              <a:r>
                <a:rPr lang="en-US" sz="1100" dirty="0">
                  <a:solidFill>
                    <a:srgbClr val="333333"/>
                  </a:solidFill>
                  <a:latin typeface="Calibri" pitchFamily="34" charset="0"/>
                  <a:ea typeface="Calibri" pitchFamily="34" charset="-122"/>
                  <a:cs typeface="Calibri" pitchFamily="34" charset="-120"/>
                </a:rPr>
                <a:t>Table 5 and Fig. 7 are mostly non-wearable, imaging-centric AI</a:t>
              </a:r>
              <a:endParaRPr lang="en-US" sz="1100" dirty="0"/>
            </a:p>
          </p:txBody>
        </p:sp>
        <p:sp>
          <p:nvSpPr>
            <p:cNvPr id="27" name="Text 18"/>
            <p:cNvSpPr txBox="1"/>
            <p:nvPr/>
          </p:nvSpPr>
          <p:spPr>
            <a:xfrm>
              <a:off x="3838854" y="3776455"/>
              <a:ext cx="223520" cy="248001"/>
            </a:xfrm>
            <a:prstGeom prst="rect">
              <a:avLst/>
            </a:prstGeom>
            <a:noFill/>
            <a:ln/>
          </p:spPr>
          <p:txBody>
            <a:bodyPr wrap="square" lIns="0" tIns="0" rIns="0" bIns="0" rtlCol="0" anchor="t"/>
            <a:lstStyle/>
            <a:p>
              <a:pPr marL="0" indent="0">
                <a:buNone/>
              </a:pPr>
              <a:r>
                <a:rPr lang="en-US" sz="1300" b="1" dirty="0">
                  <a:solidFill>
                    <a:srgbClr val="B3261E"/>
                  </a:solidFill>
                  <a:latin typeface="Arial" pitchFamily="34" charset="0"/>
                  <a:ea typeface="Arial" pitchFamily="34" charset="-122"/>
                  <a:cs typeface="Arial" pitchFamily="34" charset="-120"/>
                </a:rPr>
                <a:t>4</a:t>
              </a:r>
              <a:endParaRPr lang="en-US" sz="1300" dirty="0"/>
            </a:p>
          </p:txBody>
        </p:sp>
        <p:sp>
          <p:nvSpPr>
            <p:cNvPr id="28" name="Text 19"/>
            <p:cNvSpPr txBox="1"/>
            <p:nvPr/>
          </p:nvSpPr>
          <p:spPr>
            <a:xfrm>
              <a:off x="4080256" y="3776455"/>
              <a:ext cx="4380992" cy="566861"/>
            </a:xfrm>
            <a:prstGeom prst="rect">
              <a:avLst/>
            </a:prstGeom>
            <a:noFill/>
            <a:ln/>
          </p:spPr>
          <p:txBody>
            <a:bodyPr wrap="square" lIns="0" tIns="0" rIns="0" bIns="0" rtlCol="0" anchor="t"/>
            <a:lstStyle/>
            <a:p>
              <a:pPr marL="0" indent="0">
                <a:buNone/>
              </a:pPr>
              <a:r>
                <a:rPr lang="en-US" sz="1100" b="1" dirty="0">
                  <a:solidFill>
                    <a:srgbClr val="154734"/>
                  </a:solidFill>
                  <a:latin typeface="Calibri" pitchFamily="34" charset="0"/>
                  <a:ea typeface="Calibri" pitchFamily="34" charset="-122"/>
                  <a:cs typeface="Calibri" pitchFamily="34" charset="-120"/>
                </a:rPr>
                <a:t>Weak sourcing — </a:t>
              </a:r>
              <a:r>
                <a:rPr lang="en-US" sz="1100" dirty="0">
                  <a:solidFill>
                    <a:srgbClr val="333333"/>
                  </a:solidFill>
                  <a:latin typeface="Calibri" pitchFamily="34" charset="0"/>
                  <a:ea typeface="Calibri" pitchFamily="34" charset="-122"/>
                  <a:cs typeface="Calibri" pitchFamily="34" charset="-120"/>
                </a:rPr>
                <a:t>§3.4 (incl. Table 4) has no citations; §7 cites an EHR-privacy review [214] for a Singapore "Safer Wearables Initiative" we could not find; FDA Pre-Cert is presented as active, but the pilot ended in Sept 2022</a:t>
              </a:r>
              <a:endParaRPr lang="en-US" sz="1100" dirty="0"/>
            </a:p>
          </p:txBody>
        </p:sp>
        <p:sp>
          <p:nvSpPr>
            <p:cNvPr id="29" name="Text 20"/>
            <p:cNvSpPr txBox="1"/>
            <p:nvPr/>
          </p:nvSpPr>
          <p:spPr>
            <a:xfrm>
              <a:off x="3838854" y="4662175"/>
              <a:ext cx="223520" cy="248001"/>
            </a:xfrm>
            <a:prstGeom prst="rect">
              <a:avLst/>
            </a:prstGeom>
            <a:noFill/>
            <a:ln/>
          </p:spPr>
          <p:txBody>
            <a:bodyPr wrap="square" lIns="0" tIns="0" rIns="0" bIns="0" rtlCol="0" anchor="t"/>
            <a:lstStyle/>
            <a:p>
              <a:pPr marL="0" indent="0">
                <a:buNone/>
              </a:pPr>
              <a:r>
                <a:rPr lang="en-US" sz="1300" b="1" dirty="0">
                  <a:solidFill>
                    <a:srgbClr val="B3261E"/>
                  </a:solidFill>
                  <a:latin typeface="Arial" pitchFamily="34" charset="0"/>
                  <a:ea typeface="Arial" pitchFamily="34" charset="-122"/>
                  <a:cs typeface="Arial" pitchFamily="34" charset="-120"/>
                </a:rPr>
                <a:t>5</a:t>
              </a:r>
              <a:endParaRPr lang="en-US" sz="1300" dirty="0"/>
            </a:p>
          </p:txBody>
        </p:sp>
        <p:sp>
          <p:nvSpPr>
            <p:cNvPr id="30" name="Text 21"/>
            <p:cNvSpPr txBox="1"/>
            <p:nvPr/>
          </p:nvSpPr>
          <p:spPr>
            <a:xfrm>
              <a:off x="4080256" y="4662175"/>
              <a:ext cx="4380992" cy="389717"/>
            </a:xfrm>
            <a:prstGeom prst="rect">
              <a:avLst/>
            </a:prstGeom>
            <a:noFill/>
            <a:ln/>
          </p:spPr>
          <p:txBody>
            <a:bodyPr wrap="square" lIns="0" tIns="0" rIns="0" bIns="0" rtlCol="0" anchor="t"/>
            <a:lstStyle/>
            <a:p>
              <a:pPr marL="0" indent="0">
                <a:buNone/>
              </a:pPr>
              <a:r>
                <a:rPr lang="en-US" sz="1100" b="1" dirty="0">
                  <a:solidFill>
                    <a:srgbClr val="154734"/>
                  </a:solidFill>
                  <a:latin typeface="Calibri" pitchFamily="34" charset="0"/>
                  <a:ea typeface="Calibri" pitchFamily="34" charset="-122"/>
                  <a:cs typeface="Calibri" pitchFamily="34" charset="-120"/>
                </a:rPr>
                <a:t>Rigor &amp; QC — </a:t>
              </a:r>
              <a:r>
                <a:rPr lang="en-US" sz="1100" dirty="0">
                  <a:solidFill>
                    <a:srgbClr val="333333"/>
                  </a:solidFill>
                  <a:latin typeface="Calibri" pitchFamily="34" charset="0"/>
                  <a:ea typeface="Calibri" pitchFamily="34" charset="-122"/>
                  <a:cs typeface="Calibri" pitchFamily="34" charset="-120"/>
                </a:rPr>
                <a:t>no search protocol; the Intro's section map is wrong; typos in schematics ("Cennectivity", "Liablity")</a:t>
              </a:r>
              <a:endParaRPr lang="en-US" sz="1100" dirty="0"/>
            </a:p>
          </p:txBody>
        </p:sp>
      </p:grpSp>
      <p:sp>
        <p:nvSpPr>
          <p:cNvPr id="31" name="Text 22"/>
          <p:cNvSpPr txBox="1"/>
          <p:nvPr/>
        </p:nvSpPr>
        <p:spPr>
          <a:xfrm>
            <a:off x="548640" y="5583321"/>
            <a:ext cx="8046720" cy="487146"/>
          </a:xfrm>
          <a:prstGeom prst="rect">
            <a:avLst/>
          </a:prstGeom>
          <a:noFill/>
          <a:ln/>
        </p:spPr>
        <p:txBody>
          <a:bodyPr wrap="square" lIns="0" tIns="0" rIns="0" bIns="0" rtlCol="0" anchor="ctr"/>
          <a:lstStyle/>
          <a:p>
            <a:pPr marL="0" indent="0">
              <a:buNone/>
            </a:pPr>
            <a:r>
              <a:rPr lang="en-US" sz="1250" b="1" dirty="0">
                <a:solidFill>
                  <a:srgbClr val="154734"/>
                </a:solidFill>
                <a:latin typeface="Calibri" pitchFamily="34" charset="0"/>
                <a:ea typeface="Calibri" pitchFamily="34" charset="-122"/>
                <a:cs typeface="Calibri" pitchFamily="34" charset="-120"/>
              </a:rPr>
              <a:t>Verdict: </a:t>
            </a:r>
            <a:r>
              <a:rPr lang="en-US" sz="1250" dirty="0">
                <a:solidFill>
                  <a:srgbClr val="333333"/>
                </a:solidFill>
                <a:latin typeface="Calibri" pitchFamily="34" charset="0"/>
                <a:ea typeface="Calibri" pitchFamily="34" charset="-122"/>
                <a:cs typeface="Calibri" pitchFamily="34" charset="-120"/>
              </a:rPr>
              <a:t>Good overall qualitative review. The numbers and statistics needs update, further citations and verifications</a:t>
            </a:r>
            <a:endParaRPr lang="en-US" sz="1250" dirty="0"/>
          </a:p>
        </p:txBody>
      </p:sp>
      <p:sp>
        <p:nvSpPr>
          <p:cNvPr id="32"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16</a:t>
            </a:fld>
            <a:endParaRPr lang="en-US">
              <a:solidFill>
                <a:srgbClr val="FFFFFF"/>
              </a:solidFill>
              <a:latin typeface="Arial" panose="020B0604020202020204"/>
            </a:endParaRPr>
          </a:p>
        </p:txBody>
      </p:sp>
      <p:sp>
        <p:nvSpPr>
          <p:cNvPr id="33"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QUESTIONS TO THE AUTHORS</a:t>
            </a: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Four primary questions to the authors </a:t>
            </a:r>
            <a:endParaRPr lang="en-US" sz="2400" dirty="0">
              <a:solidFill>
                <a:schemeClr val="accent5"/>
              </a:solidFill>
            </a:endParaRPr>
          </a:p>
        </p:txBody>
      </p:sp>
      <p:grpSp>
        <p:nvGrpSpPr>
          <p:cNvPr id="2" name="Group 1">
            <a:extLst>
              <a:ext uri="{FF2B5EF4-FFF2-40B4-BE49-F238E27FC236}">
                <a16:creationId xmlns:a16="http://schemas.microsoft.com/office/drawing/2014/main" id="{76D62D89-1EAF-5609-3244-D32B6C00EBC5}"/>
              </a:ext>
            </a:extLst>
          </p:cNvPr>
          <p:cNvGrpSpPr/>
          <p:nvPr/>
        </p:nvGrpSpPr>
        <p:grpSpPr>
          <a:xfrm>
            <a:off x="548640" y="1278726"/>
            <a:ext cx="8046720" cy="3941452"/>
            <a:chOff x="548640" y="1278726"/>
            <a:chExt cx="8046720" cy="3941452"/>
          </a:xfrm>
        </p:grpSpPr>
        <p:sp>
          <p:nvSpPr>
            <p:cNvPr id="5" name="Shape 0"/>
            <p:cNvSpPr/>
            <p:nvPr/>
          </p:nvSpPr>
          <p:spPr>
            <a:xfrm>
              <a:off x="548640" y="1278726"/>
              <a:ext cx="3956304" cy="1904297"/>
            </a:xfrm>
            <a:prstGeom prst="roundRect">
              <a:avLst>
                <a:gd name="adj" fmla="val 3361"/>
              </a:avLst>
            </a:prstGeom>
            <a:solidFill>
              <a:srgbClr val="F4F6F5"/>
            </a:solidFill>
            <a:ln w="9525">
              <a:solidFill>
                <a:srgbClr val="D8DDDA"/>
              </a:solidFill>
              <a:prstDash val="solid"/>
            </a:ln>
          </p:spPr>
          <p:txBody>
            <a:bodyPr/>
            <a:lstStyle/>
            <a:p>
              <a:endParaRPr lang="en-US"/>
            </a:p>
          </p:txBody>
        </p:sp>
        <p:sp>
          <p:nvSpPr>
            <p:cNvPr id="6" name="Shape 1"/>
            <p:cNvSpPr/>
            <p:nvPr/>
          </p:nvSpPr>
          <p:spPr>
            <a:xfrm>
              <a:off x="711414" y="1438155"/>
              <a:ext cx="389717" cy="389717"/>
            </a:xfrm>
            <a:prstGeom prst="ellipse">
              <a:avLst/>
            </a:prstGeom>
            <a:solidFill>
              <a:srgbClr val="154734"/>
            </a:solidFill>
            <a:ln w="12700">
              <a:solidFill>
                <a:srgbClr val="154734"/>
              </a:solidFill>
              <a:prstDash val="solid"/>
            </a:ln>
          </p:spPr>
          <p:txBody>
            <a:bodyPr/>
            <a:lstStyle/>
            <a:p>
              <a:endParaRPr lang="en-US"/>
            </a:p>
          </p:txBody>
        </p:sp>
        <p:sp>
          <p:nvSpPr>
            <p:cNvPr id="7" name="Text 2"/>
            <p:cNvSpPr txBox="1"/>
            <p:nvPr/>
          </p:nvSpPr>
          <p:spPr>
            <a:xfrm>
              <a:off x="709574" y="1438155"/>
              <a:ext cx="393395" cy="389717"/>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nvSpPr>
          <p:spPr>
            <a:xfrm>
              <a:off x="1219200" y="1438155"/>
              <a:ext cx="3151632" cy="389717"/>
            </a:xfrm>
            <a:prstGeom prst="rect">
              <a:avLst/>
            </a:prstGeom>
            <a:noFill/>
            <a:ln/>
          </p:spPr>
          <p:txBody>
            <a:bodyPr wrap="square" lIns="0" tIns="0" rIns="0" bIns="0" rtlCol="0" anchor="ctr"/>
            <a:lstStyle/>
            <a:p>
              <a:pPr marL="0" indent="0">
                <a:buNone/>
              </a:pPr>
              <a:r>
                <a:rPr lang="en-US" sz="1400" b="1" dirty="0">
                  <a:solidFill>
                    <a:srgbClr val="154734"/>
                  </a:solidFill>
                  <a:latin typeface="Calibri" pitchFamily="34" charset="0"/>
                  <a:ea typeface="Calibri" pitchFamily="34" charset="-122"/>
                  <a:cs typeface="Calibri" pitchFamily="34" charset="-120"/>
                </a:rPr>
                <a:t>Evidence base</a:t>
              </a:r>
              <a:endParaRPr lang="en-US" sz="1400" dirty="0"/>
            </a:p>
          </p:txBody>
        </p:sp>
        <p:sp>
          <p:nvSpPr>
            <p:cNvPr id="9" name="Text 4"/>
            <p:cNvSpPr txBox="1"/>
            <p:nvPr/>
          </p:nvSpPr>
          <p:spPr>
            <a:xfrm>
              <a:off x="745338" y="1969587"/>
              <a:ext cx="3598672" cy="1151435"/>
            </a:xfrm>
            <a:prstGeom prst="rect">
              <a:avLst/>
            </a:prstGeom>
            <a:noFill/>
            <a:ln/>
          </p:spPr>
          <p:txBody>
            <a:bodyPr wrap="square" lIns="0" tIns="0" rIns="0" bIns="0" rtlCol="0" anchor="t"/>
            <a:lstStyle/>
            <a:p>
              <a:pPr marL="0" indent="0">
                <a:buNone/>
              </a:pPr>
              <a:r>
                <a:rPr lang="en-US" sz="1250" dirty="0">
                  <a:solidFill>
                    <a:srgbClr val="333333"/>
                  </a:solidFill>
                  <a:latin typeface="Calibri" pitchFamily="34" charset="0"/>
                  <a:ea typeface="Calibri" pitchFamily="34" charset="-122"/>
                  <a:cs typeface="Calibri" pitchFamily="34" charset="-120"/>
                </a:rPr>
                <a:t>Which studies, datasets and sample sizes underlie Table 4's 72.3% → 89.7% accuracy gain? Were the values pooled or taken from one study?</a:t>
              </a:r>
              <a:endParaRPr lang="en-US" sz="1250" dirty="0"/>
            </a:p>
          </p:txBody>
        </p:sp>
        <p:sp>
          <p:nvSpPr>
            <p:cNvPr id="10" name="Shape 5"/>
            <p:cNvSpPr/>
            <p:nvPr/>
          </p:nvSpPr>
          <p:spPr>
            <a:xfrm>
              <a:off x="4639056" y="1278726"/>
              <a:ext cx="3956304" cy="1904297"/>
            </a:xfrm>
            <a:prstGeom prst="roundRect">
              <a:avLst>
                <a:gd name="adj" fmla="val 3361"/>
              </a:avLst>
            </a:prstGeom>
            <a:solidFill>
              <a:srgbClr val="F4F6F5"/>
            </a:solidFill>
            <a:ln w="9525">
              <a:solidFill>
                <a:srgbClr val="D8DDDA"/>
              </a:solidFill>
              <a:prstDash val="solid"/>
            </a:ln>
          </p:spPr>
          <p:txBody>
            <a:bodyPr/>
            <a:lstStyle/>
            <a:p>
              <a:endParaRPr lang="en-US"/>
            </a:p>
          </p:txBody>
        </p:sp>
        <p:sp>
          <p:nvSpPr>
            <p:cNvPr id="11" name="Shape 6"/>
            <p:cNvSpPr/>
            <p:nvPr/>
          </p:nvSpPr>
          <p:spPr>
            <a:xfrm>
              <a:off x="4801830" y="1438155"/>
              <a:ext cx="389717" cy="389717"/>
            </a:xfrm>
            <a:prstGeom prst="ellipse">
              <a:avLst/>
            </a:prstGeom>
            <a:solidFill>
              <a:srgbClr val="154734"/>
            </a:solidFill>
            <a:ln w="12700">
              <a:solidFill>
                <a:srgbClr val="154734"/>
              </a:solidFill>
              <a:prstDash val="solid"/>
            </a:ln>
          </p:spPr>
          <p:txBody>
            <a:bodyPr/>
            <a:lstStyle/>
            <a:p>
              <a:endParaRPr lang="en-US"/>
            </a:p>
          </p:txBody>
        </p:sp>
        <p:sp>
          <p:nvSpPr>
            <p:cNvPr id="12" name="Text 7"/>
            <p:cNvSpPr txBox="1"/>
            <p:nvPr/>
          </p:nvSpPr>
          <p:spPr>
            <a:xfrm>
              <a:off x="4799990" y="1438155"/>
              <a:ext cx="393395" cy="389717"/>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8"/>
            <p:cNvSpPr txBox="1"/>
            <p:nvPr/>
          </p:nvSpPr>
          <p:spPr>
            <a:xfrm>
              <a:off x="5309616" y="1438155"/>
              <a:ext cx="3151632" cy="389717"/>
            </a:xfrm>
            <a:prstGeom prst="rect">
              <a:avLst/>
            </a:prstGeom>
            <a:noFill/>
            <a:ln/>
          </p:spPr>
          <p:txBody>
            <a:bodyPr wrap="square" lIns="0" tIns="0" rIns="0" bIns="0" rtlCol="0" anchor="ctr"/>
            <a:lstStyle/>
            <a:p>
              <a:pPr marL="0" indent="0">
                <a:buNone/>
              </a:pPr>
              <a:r>
                <a:rPr lang="en-US" sz="1400" b="1" dirty="0">
                  <a:solidFill>
                    <a:srgbClr val="154734"/>
                  </a:solidFill>
                  <a:latin typeface="Calibri" pitchFamily="34" charset="0"/>
                  <a:ea typeface="Calibri" pitchFamily="34" charset="-122"/>
                  <a:cs typeface="Calibri" pitchFamily="34" charset="-120"/>
                </a:rPr>
                <a:t>Transferability</a:t>
              </a:r>
              <a:endParaRPr lang="en-US" sz="1400" dirty="0"/>
            </a:p>
          </p:txBody>
        </p:sp>
        <p:sp>
          <p:nvSpPr>
            <p:cNvPr id="14" name="Text 9"/>
            <p:cNvSpPr txBox="1"/>
            <p:nvPr/>
          </p:nvSpPr>
          <p:spPr>
            <a:xfrm>
              <a:off x="4835754" y="1969587"/>
              <a:ext cx="3598672" cy="1151435"/>
            </a:xfrm>
            <a:prstGeom prst="rect">
              <a:avLst/>
            </a:prstGeom>
            <a:noFill/>
            <a:ln/>
          </p:spPr>
          <p:txBody>
            <a:bodyPr wrap="square" lIns="0" tIns="0" rIns="0" bIns="0" rtlCol="0" anchor="t"/>
            <a:lstStyle/>
            <a:p>
              <a:pPr marL="0" indent="0">
                <a:buNone/>
              </a:pPr>
              <a:r>
                <a:rPr lang="en-US" sz="1250" dirty="0">
                  <a:solidFill>
                    <a:srgbClr val="333333"/>
                  </a:solidFill>
                  <a:latin typeface="Calibri" pitchFamily="34" charset="0"/>
                  <a:ea typeface="Calibri" pitchFamily="34" charset="-122"/>
                  <a:cs typeface="Calibri" pitchFamily="34" charset="-120"/>
                </a:rPr>
                <a:t>No Table 5 system is body-worn. How should such models be re-validated on free-living wearable data with motion artifacts and missing segments?</a:t>
              </a:r>
              <a:endParaRPr lang="en-US" sz="1250" dirty="0"/>
            </a:p>
          </p:txBody>
        </p:sp>
        <p:sp>
          <p:nvSpPr>
            <p:cNvPr id="15" name="Shape 10"/>
            <p:cNvSpPr/>
            <p:nvPr/>
          </p:nvSpPr>
          <p:spPr>
            <a:xfrm>
              <a:off x="548640" y="3315881"/>
              <a:ext cx="3956304" cy="1904297"/>
            </a:xfrm>
            <a:prstGeom prst="roundRect">
              <a:avLst>
                <a:gd name="adj" fmla="val 3361"/>
              </a:avLst>
            </a:prstGeom>
            <a:solidFill>
              <a:srgbClr val="F4F6F5"/>
            </a:solidFill>
            <a:ln w="9525">
              <a:solidFill>
                <a:srgbClr val="D8DDDA"/>
              </a:solidFill>
              <a:prstDash val="solid"/>
            </a:ln>
          </p:spPr>
          <p:txBody>
            <a:bodyPr/>
            <a:lstStyle/>
            <a:p>
              <a:endParaRPr lang="en-US"/>
            </a:p>
          </p:txBody>
        </p:sp>
        <p:sp>
          <p:nvSpPr>
            <p:cNvPr id="16" name="Shape 11"/>
            <p:cNvSpPr/>
            <p:nvPr/>
          </p:nvSpPr>
          <p:spPr>
            <a:xfrm>
              <a:off x="711414" y="3475310"/>
              <a:ext cx="389717" cy="389717"/>
            </a:xfrm>
            <a:prstGeom prst="ellipse">
              <a:avLst/>
            </a:prstGeom>
            <a:solidFill>
              <a:srgbClr val="154734"/>
            </a:solidFill>
            <a:ln w="12700">
              <a:solidFill>
                <a:srgbClr val="154734"/>
              </a:solidFill>
              <a:prstDash val="solid"/>
            </a:ln>
          </p:spPr>
          <p:txBody>
            <a:bodyPr/>
            <a:lstStyle/>
            <a:p>
              <a:endParaRPr lang="en-US"/>
            </a:p>
          </p:txBody>
        </p:sp>
        <p:sp>
          <p:nvSpPr>
            <p:cNvPr id="17" name="Text 12"/>
            <p:cNvSpPr txBox="1"/>
            <p:nvPr/>
          </p:nvSpPr>
          <p:spPr>
            <a:xfrm>
              <a:off x="709574" y="3475310"/>
              <a:ext cx="393395" cy="389717"/>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3"/>
            <p:cNvSpPr txBox="1"/>
            <p:nvPr/>
          </p:nvSpPr>
          <p:spPr>
            <a:xfrm>
              <a:off x="1219200" y="3475310"/>
              <a:ext cx="3151632" cy="389717"/>
            </a:xfrm>
            <a:prstGeom prst="rect">
              <a:avLst/>
            </a:prstGeom>
            <a:noFill/>
            <a:ln/>
          </p:spPr>
          <p:txBody>
            <a:bodyPr wrap="square" lIns="0" tIns="0" rIns="0" bIns="0" rtlCol="0" anchor="ctr"/>
            <a:lstStyle/>
            <a:p>
              <a:pPr marL="0" indent="0">
                <a:buNone/>
              </a:pPr>
              <a:r>
                <a:rPr lang="en-US" sz="1400" b="1" dirty="0">
                  <a:solidFill>
                    <a:srgbClr val="154734"/>
                  </a:solidFill>
                  <a:latin typeface="Calibri" pitchFamily="34" charset="0"/>
                  <a:ea typeface="Calibri" pitchFamily="34" charset="-122"/>
                  <a:cs typeface="Calibri" pitchFamily="34" charset="-120"/>
                </a:rPr>
                <a:t>Closed-loop safety</a:t>
              </a:r>
              <a:endParaRPr lang="en-US" sz="1400" dirty="0"/>
            </a:p>
          </p:txBody>
        </p:sp>
        <p:sp>
          <p:nvSpPr>
            <p:cNvPr id="19" name="Text 14"/>
            <p:cNvSpPr txBox="1"/>
            <p:nvPr/>
          </p:nvSpPr>
          <p:spPr>
            <a:xfrm>
              <a:off x="745338" y="4006742"/>
              <a:ext cx="3598672" cy="1151435"/>
            </a:xfrm>
            <a:prstGeom prst="rect">
              <a:avLst/>
            </a:prstGeom>
            <a:noFill/>
            <a:ln/>
          </p:spPr>
          <p:txBody>
            <a:bodyPr wrap="square" lIns="0" tIns="0" rIns="0" bIns="0" rtlCol="0" anchor="t"/>
            <a:lstStyle/>
            <a:p>
              <a:pPr marL="0" indent="0">
                <a:buNone/>
              </a:pPr>
              <a:r>
                <a:rPr lang="en-US" sz="1250" dirty="0">
                  <a:solidFill>
                    <a:srgbClr val="333333"/>
                  </a:solidFill>
                  <a:latin typeface="Calibri" pitchFamily="34" charset="0"/>
                  <a:ea typeface="Calibri" pitchFamily="34" charset="-122"/>
                  <a:cs typeface="Calibri" pitchFamily="34" charset="-120"/>
                </a:rPr>
                <a:t>For RL-driven insulin dosing or neurostimulation, what safety constraints and formal verification would you require before clinical use?</a:t>
              </a:r>
              <a:endParaRPr lang="en-US" sz="1250" dirty="0"/>
            </a:p>
          </p:txBody>
        </p:sp>
        <p:sp>
          <p:nvSpPr>
            <p:cNvPr id="20" name="Shape 15"/>
            <p:cNvSpPr/>
            <p:nvPr/>
          </p:nvSpPr>
          <p:spPr>
            <a:xfrm>
              <a:off x="4639056" y="3315881"/>
              <a:ext cx="3956304" cy="1904297"/>
            </a:xfrm>
            <a:prstGeom prst="roundRect">
              <a:avLst>
                <a:gd name="adj" fmla="val 3361"/>
              </a:avLst>
            </a:prstGeom>
            <a:solidFill>
              <a:srgbClr val="F4F6F5"/>
            </a:solidFill>
            <a:ln w="9525">
              <a:solidFill>
                <a:srgbClr val="D8DDDA"/>
              </a:solidFill>
              <a:prstDash val="solid"/>
            </a:ln>
          </p:spPr>
          <p:txBody>
            <a:bodyPr/>
            <a:lstStyle/>
            <a:p>
              <a:endParaRPr lang="en-US"/>
            </a:p>
          </p:txBody>
        </p:sp>
        <p:sp>
          <p:nvSpPr>
            <p:cNvPr id="21" name="Shape 16"/>
            <p:cNvSpPr/>
            <p:nvPr/>
          </p:nvSpPr>
          <p:spPr>
            <a:xfrm>
              <a:off x="4801830" y="3475310"/>
              <a:ext cx="389717" cy="389717"/>
            </a:xfrm>
            <a:prstGeom prst="ellipse">
              <a:avLst/>
            </a:prstGeom>
            <a:solidFill>
              <a:srgbClr val="154734"/>
            </a:solidFill>
            <a:ln w="12700">
              <a:solidFill>
                <a:srgbClr val="154734"/>
              </a:solidFill>
              <a:prstDash val="solid"/>
            </a:ln>
          </p:spPr>
          <p:txBody>
            <a:bodyPr/>
            <a:lstStyle/>
            <a:p>
              <a:endParaRPr lang="en-US"/>
            </a:p>
          </p:txBody>
        </p:sp>
        <p:sp>
          <p:nvSpPr>
            <p:cNvPr id="22" name="Text 17"/>
            <p:cNvSpPr txBox="1"/>
            <p:nvPr/>
          </p:nvSpPr>
          <p:spPr>
            <a:xfrm>
              <a:off x="4799990" y="3475310"/>
              <a:ext cx="393395" cy="389717"/>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18"/>
            <p:cNvSpPr txBox="1"/>
            <p:nvPr/>
          </p:nvSpPr>
          <p:spPr>
            <a:xfrm>
              <a:off x="5309616" y="3475310"/>
              <a:ext cx="3151632" cy="389717"/>
            </a:xfrm>
            <a:prstGeom prst="rect">
              <a:avLst/>
            </a:prstGeom>
            <a:noFill/>
            <a:ln/>
          </p:spPr>
          <p:txBody>
            <a:bodyPr wrap="square" lIns="0" tIns="0" rIns="0" bIns="0" rtlCol="0" anchor="ctr"/>
            <a:lstStyle/>
            <a:p>
              <a:pPr marL="0" indent="0">
                <a:buNone/>
              </a:pPr>
              <a:r>
                <a:rPr lang="en-US" sz="1400" b="1" dirty="0">
                  <a:solidFill>
                    <a:srgbClr val="154734"/>
                  </a:solidFill>
                  <a:latin typeface="Calibri" pitchFamily="34" charset="0"/>
                  <a:ea typeface="Calibri" pitchFamily="34" charset="-122"/>
                  <a:cs typeface="Calibri" pitchFamily="34" charset="-120"/>
                </a:rPr>
                <a:t>Policy metrics</a:t>
              </a:r>
              <a:endParaRPr lang="en-US" sz="1400" dirty="0"/>
            </a:p>
          </p:txBody>
        </p:sp>
        <p:sp>
          <p:nvSpPr>
            <p:cNvPr id="24" name="Text 19"/>
            <p:cNvSpPr txBox="1"/>
            <p:nvPr/>
          </p:nvSpPr>
          <p:spPr>
            <a:xfrm>
              <a:off x="4835754" y="4006742"/>
              <a:ext cx="3598672" cy="1151435"/>
            </a:xfrm>
            <a:prstGeom prst="rect">
              <a:avLst/>
            </a:prstGeom>
            <a:noFill/>
            <a:ln/>
          </p:spPr>
          <p:txBody>
            <a:bodyPr wrap="square" lIns="0" tIns="0" rIns="0" bIns="0" rtlCol="0" anchor="t"/>
            <a:lstStyle/>
            <a:p>
              <a:pPr marL="0" indent="0">
                <a:buNone/>
              </a:pPr>
              <a:r>
                <a:rPr lang="en-US" sz="1250" dirty="0">
                  <a:solidFill>
                    <a:srgbClr val="333333"/>
                  </a:solidFill>
                  <a:latin typeface="Calibri" pitchFamily="34" charset="0"/>
                  <a:ea typeface="Calibri" pitchFamily="34" charset="-122"/>
                  <a:cs typeface="Calibri" pitchFamily="34" charset="-120"/>
                </a:rPr>
                <a:t>How was the Accessibility Index (cost &lt; 20% of median monthly income; ≥ 75% score for fast-track) derived, and has it been piloted?</a:t>
              </a:r>
              <a:endParaRPr lang="en-US" sz="1250" dirty="0"/>
            </a:p>
          </p:txBody>
        </p:sp>
      </p:grpSp>
      <p:pic>
        <p:nvPicPr>
          <p:cNvPr id="25" name="Image 0" descr="/home/claude/work/figs/ecg_green.png"/>
          <p:cNvPicPr>
            <a:picLocks noChangeAspect="1"/>
          </p:cNvPicPr>
          <p:nvPr/>
        </p:nvPicPr>
        <p:blipFill>
          <a:blip r:embed="rId3">
            <a:alphaModFix amt="70000"/>
          </a:blip>
          <a:stretch>
            <a:fillRect/>
          </a:stretch>
        </p:blipFill>
        <p:spPr>
          <a:xfrm>
            <a:off x="567033" y="5441608"/>
            <a:ext cx="3897166" cy="646575"/>
          </a:xfrm>
          <a:prstGeom prst="rect">
            <a:avLst/>
          </a:prstGeom>
        </p:spPr>
      </p:pic>
      <p:sp>
        <p:nvSpPr>
          <p:cNvPr id="26" name="Text 20"/>
          <p:cNvSpPr txBox="1"/>
          <p:nvPr/>
        </p:nvSpPr>
        <p:spPr>
          <a:xfrm>
            <a:off x="4750816" y="5530180"/>
            <a:ext cx="3844544" cy="487146"/>
          </a:xfrm>
          <a:prstGeom prst="rect">
            <a:avLst/>
          </a:prstGeom>
          <a:noFill/>
          <a:ln/>
        </p:spPr>
        <p:txBody>
          <a:bodyPr wrap="square" lIns="0" tIns="0" rIns="0" bIns="0" rtlCol="0" anchor="ctr"/>
          <a:lstStyle/>
          <a:p>
            <a:pPr marL="0" indent="0" algn="r">
              <a:buNone/>
            </a:pPr>
            <a:r>
              <a:rPr lang="en-US" sz="2000" b="1" dirty="0">
                <a:solidFill>
                  <a:srgbClr val="154734"/>
                </a:solidFill>
                <a:latin typeface="Arial" pitchFamily="34" charset="0"/>
                <a:ea typeface="Arial" pitchFamily="34" charset="-122"/>
                <a:cs typeface="Arial" pitchFamily="34" charset="-120"/>
              </a:rPr>
              <a:t>Thank you — questions?</a:t>
            </a:r>
            <a:endParaRPr lang="en-US" sz="2000" dirty="0"/>
          </a:p>
        </p:txBody>
      </p:sp>
      <p:sp>
        <p:nvSpPr>
          <p:cNvPr id="27"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17</a:t>
            </a:fld>
            <a:endParaRPr lang="en-US">
              <a:solidFill>
                <a:srgbClr val="FFFFFF"/>
              </a:solidFill>
              <a:latin typeface="Arial" panose="020B0604020202020204"/>
            </a:endParaRPr>
          </a:p>
        </p:txBody>
      </p:sp>
      <p:sp>
        <p:nvSpPr>
          <p:cNvPr id="28"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ACKGROUND · SIGNIFICANCE"/>
          <p:cNvSpPr txBox="1"/>
          <p:nvPr/>
        </p:nvSpPr>
        <p:spPr>
          <a:xfrm>
            <a:off x="548640" y="355600"/>
            <a:ext cx="8046720" cy="165100"/>
          </a:xfrm>
          <a:prstGeom prst="rect">
            <a:avLst/>
          </a:prstGeom>
          <a:noFill/>
        </p:spPr>
        <p:txBody>
          <a:bodyPr wrap="square" lIns="0" tIns="0" rIns="0" bIns="0" anchor="t">
            <a:noAutofit/>
          </a:bodyPr>
          <a:lstStyle/>
          <a:p>
            <a:pPr algn="l">
              <a:lnSpc>
                <a:spcPts val="1264"/>
              </a:lnSpc>
              <a:spcBef>
                <a:spcPts val="0"/>
              </a:spcBef>
              <a:spcAft>
                <a:spcPts val="0"/>
              </a:spcAft>
            </a:pPr>
            <a:r>
              <a:rPr lang="en-US" sz="1100" b="1" spc="100" dirty="0">
                <a:solidFill>
                  <a:srgbClr val="A84D00"/>
                </a:solidFill>
                <a:latin typeface="Arial"/>
              </a:rPr>
              <a:t>Additional References</a:t>
            </a:r>
            <a:endParaRPr sz="1100" b="1" i="0" spc="100" dirty="0">
              <a:solidFill>
                <a:srgbClr val="A84D00"/>
              </a:solidFill>
              <a:latin typeface="Arial"/>
            </a:endParaRPr>
          </a:p>
        </p:txBody>
      </p:sp>
      <p:sp>
        <p:nvSpPr>
          <p:cNvPr id="4" name="Title 1"/>
          <p:cNvSpPr>
            <a:spLocks noGrp="1"/>
          </p:cNvSpPr>
          <p:nvPr>
            <p:ph type="title"/>
          </p:nvPr>
        </p:nvSpPr>
        <p:spPr>
          <a:xfrm>
            <a:off x="548640" y="662071"/>
            <a:ext cx="8046720" cy="335280"/>
          </a:xfrm>
        </p:spPr>
        <p:txBody>
          <a:bodyPr wrap="square" lIns="0" tIns="0" rIns="0" bIns="0" anchor="t">
            <a:noAutofit/>
          </a:bodyPr>
          <a:lstStyle/>
          <a:p>
            <a:r>
              <a:rPr lang="en-US" sz="2400" b="1" dirty="0">
                <a:solidFill>
                  <a:schemeClr val="accent5"/>
                </a:solidFill>
                <a:ea typeface="Cambria" pitchFamily="34" charset="-122"/>
                <a:cs typeface="Cambria" pitchFamily="34" charset="-120"/>
              </a:rPr>
              <a:t>References </a:t>
            </a:r>
            <a:endParaRPr lang="en-US" sz="2400" dirty="0">
              <a:solidFill>
                <a:schemeClr val="accent5"/>
              </a:solidFill>
            </a:endParaRPr>
          </a:p>
        </p:txBody>
      </p:sp>
      <p:sp>
        <p:nvSpPr>
          <p:cNvPr id="5" name="Text 0"/>
          <p:cNvSpPr txBox="1"/>
          <p:nvPr/>
        </p:nvSpPr>
        <p:spPr>
          <a:xfrm>
            <a:off x="548640" y="1278726"/>
            <a:ext cx="8046720" cy="4694314"/>
          </a:xfrm>
          <a:prstGeom prst="rect">
            <a:avLst/>
          </a:prstGeom>
          <a:noFill/>
          <a:ln/>
        </p:spPr>
        <p:txBody>
          <a:bodyPr wrap="square" lIns="0" tIns="0" rIns="0" bIns="0" rtlCol="0" anchor="t"/>
          <a:lstStyle/>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Huang G, Chen X, Liao C. AI-driven wearable bioelectronics in digital healthcare. Biosensors. 2025;15(7):410. doi:10.3390/bios15070410</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NCD Risk Factor Collaboration. Worldwide trends in diabetes prevalence and treatment from 1990 to 2022. Lancet. 2024;404:2077–2093. doi:10.1016/S0140-6736(24)02317-1</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World Health Organization. Cardiovascular diseases (CVDs) fact sheet; updated 31 July 2025.  ·  WHO. Ageing and health fact sheet; updated 1 October 2025.</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Ting DSW, et al. Development and validation of a deep learning system for diabetic retinopathy… JAMA. 2017;318(22):2211–2223. doi:10.1001/jama.2017.18152</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Hannun AY, et al. Cardiologist-level arrhythmia detection and classification in ambulatory ECGs using a deep neural network. Nat Med. 2019;25:65–69. doi:10.1038/s41591-018-0268-3</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Perez MV, et al. Large-scale assessment of a smartwatch to identify atrial fibrillation. N Engl J Med. 2019;381:1909–1917. doi:10.1056/NEJMoa1901183</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Joseph MS, et al. Three decades of FDA authorizations of AI/ML-enabled medical devices (1995–2025). Cureus. 2026. doi:10.7759/cureus.112583</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U.S. FDA. The Software Precertification (Pre-Cert) Pilot Program: Tailored Total Product Lifecycle Approaches and Key Findings. September 2022.</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Senseonics. Eversense 365 receives FDA clearance: the world's first one-year CGM. Press release, 17 September 2024.</a:t>
            </a:r>
            <a:endParaRPr lang="en-US" sz="1150" dirty="0"/>
          </a:p>
          <a:p>
            <a:pPr marL="342900" indent="-342900">
              <a:spcAft>
                <a:spcPts val="600"/>
              </a:spcAft>
              <a:buSzPct val="100000"/>
              <a:buFont typeface="+mj-lt"/>
              <a:buAutoNum type="arabicPeriod"/>
            </a:pPr>
            <a:r>
              <a:rPr lang="en-US" sz="1150" dirty="0">
                <a:solidFill>
                  <a:srgbClr val="333333"/>
                </a:solidFill>
                <a:latin typeface="Calibri" pitchFamily="34" charset="0"/>
                <a:ea typeface="Calibri" pitchFamily="34" charset="-122"/>
                <a:cs typeface="Calibri" pitchFamily="34" charset="-120"/>
              </a:rPr>
              <a:t>Abbaspourazad S, et al. Large-scale training of foundation models for wearable biosignals. ICLR 2024. arXiv:2312.05409</a:t>
            </a:r>
            <a:endParaRPr lang="en-US" sz="1150" dirty="0"/>
          </a:p>
        </p:txBody>
      </p:sp>
      <p:sp>
        <p:nvSpPr>
          <p:cNvPr id="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18</a:t>
            </a:fld>
            <a:endParaRPr lang="en-US">
              <a:solidFill>
                <a:srgbClr val="FFFFFF"/>
              </a:solidFill>
              <a:latin typeface="Arial" panose="020B0604020202020204"/>
            </a:endParaRPr>
          </a:p>
        </p:txBody>
      </p:sp>
      <p:sp>
        <p:nvSpPr>
          <p:cNvPr id="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ittik_Proposal" id="{990ABD52-F88A-F64F-A80B-8A9C7AE2C301}" vid="{6AF685EF-EB4A-A046-9BFD-F2CF961BFE86}"/>
    </a:ext>
  </a:extLst>
</a:theme>
</file>

<file path=ppt/theme/theme3.xml><?xml version="1.0" encoding="utf-8"?>
<a:theme xmlns:a="http://schemas.openxmlformats.org/drawingml/2006/main" name="2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5397</Words>
  <Application>Microsoft Macintosh PowerPoint</Application>
  <PresentationFormat>On-screen Show (4:3)</PresentationFormat>
  <Paragraphs>524</Paragraphs>
  <Slides>17</Slides>
  <Notes>17</Notes>
  <HiddenSlides>0</HiddenSlides>
  <MMClips>0</MMClips>
  <ScaleCrop>false</ScaleCrop>
  <HeadingPairs>
    <vt:vector size="6" baseType="variant">
      <vt:variant>
        <vt:lpstr>Fonts Used</vt:lpstr>
      </vt:variant>
      <vt:variant>
        <vt:i4>4</vt:i4>
      </vt:variant>
      <vt:variant>
        <vt:lpstr>Theme</vt:lpstr>
      </vt:variant>
      <vt:variant>
        <vt:i4>3</vt:i4>
      </vt:variant>
      <vt:variant>
        <vt:lpstr>Slide Titles</vt:lpstr>
      </vt:variant>
      <vt:variant>
        <vt:i4>17</vt:i4>
      </vt:variant>
    </vt:vector>
  </HeadingPairs>
  <TitlesOfParts>
    <vt:vector size="24" baseType="lpstr">
      <vt:lpstr>Aptos</vt:lpstr>
      <vt:lpstr>Arial</vt:lpstr>
      <vt:lpstr>Calibri</vt:lpstr>
      <vt:lpstr>Cambria</vt:lpstr>
      <vt:lpstr>Office Theme</vt:lpstr>
      <vt:lpstr>1_Office Theme</vt:lpstr>
      <vt:lpstr>2_Office Theme</vt:lpstr>
      <vt:lpstr>AI-Driven Wearable Bioelectronics  in  Digital Healthcare</vt:lpstr>
      <vt:lpstr>Chronic disease and ageing strain episodic care</vt:lpstr>
      <vt:lpstr>Problem statement and objectives</vt:lpstr>
      <vt:lpstr>Methods: a narrative review around an AI–sensor pipeline</vt:lpstr>
      <vt:lpstr>Wearable platforms: from Holter monitor to dissolving patch</vt:lpstr>
      <vt:lpstr>Wearable platforms: Dissolve, Conform, Weave</vt:lpstr>
      <vt:lpstr>Data: what is measured, from where, and how well</vt:lpstr>
      <vt:lpstr>Materials and power set the performance ceiling</vt:lpstr>
      <vt:lpstr>Table 3: which algorithm for which task?</vt:lpstr>
      <vt:lpstr>Evaluation: how the review measures performance</vt:lpstr>
      <vt:lpstr>The AI layer: from cloud analytics to edge inference</vt:lpstr>
      <vt:lpstr>Applications: sweat inflammation and smart wound care</vt:lpstr>
      <vt:lpstr>Table 5: strong AI benchmarks, but none are wearable</vt:lpstr>
      <vt:lpstr>Conclusions and the road ahead</vt:lpstr>
      <vt:lpstr>My assessment: a useful map with uneven evidence</vt:lpstr>
      <vt:lpstr>Four primary questions to the authors </vt:lpstr>
      <vt:lpstr>References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AI-Driven Wearable Bioelectronics in Digital Healthcare: paper presentation</dc:title>
  <dc:subject>BMEN 6367 paper presentation: Huang, Chen &amp; Liao, Biosensors 2025, 15(7), 410</dc:subject>
  <dc:creator>Rittik Patra</dc:creator>
  <cp:keywords/>
  <dc:description>generated using python-pptx</dc:description>
  <cp:lastModifiedBy>Patra, Rittik</cp:lastModifiedBy>
  <cp:revision>4</cp:revision>
  <dcterms:created xsi:type="dcterms:W3CDTF">2013-01-27T09:14:16Z</dcterms:created>
  <dcterms:modified xsi:type="dcterms:W3CDTF">2026-09-25T01:40:36Z</dcterms:modified>
  <cp:category/>
</cp:coreProperties>
</file>