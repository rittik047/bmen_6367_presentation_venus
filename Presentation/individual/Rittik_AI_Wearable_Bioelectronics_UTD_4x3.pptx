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charts/chart5.xml" ContentType="application/vnd.openxmlformats-officedocument.drawingml.chart+xml"/>
  <Override PartName="/ppt/notesSlides/notesSlide19.xml" ContentType="application/vnd.openxmlformats-officedocument.presentationml.notesSlide+xml"/>
  <Override PartName="/ppt/charts/chart6.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aveSubsetFonts="1" autoCompressPictures="0">
  <p:sldMasterIdLst>
    <p:sldMasterId id="2147483648" r:id="rId1"/>
    <p:sldMasterId id="2147483660" r:id="rId2"/>
    <p:sldMasterId id="2147483688" r:id="rId3"/>
  </p:sldMasterIdLst>
  <p:notesMasterIdLst>
    <p:notesMasterId r:id="rId30"/>
  </p:notesMasterIdLst>
  <p:sldIdLst>
    <p:sldId id="308" r:id="rId4"/>
    <p:sldId id="332" r:id="rId5"/>
    <p:sldId id="333" r:id="rId6"/>
    <p:sldId id="309" r:id="rId7"/>
    <p:sldId id="310" r:id="rId8"/>
    <p:sldId id="311" r:id="rId9"/>
    <p:sldId id="312" r:id="rId10"/>
    <p:sldId id="313" r:id="rId11"/>
    <p:sldId id="314" r:id="rId12"/>
    <p:sldId id="315" r:id="rId13"/>
    <p:sldId id="316" r:id="rId14"/>
    <p:sldId id="317" r:id="rId15"/>
    <p:sldId id="318" r:id="rId16"/>
    <p:sldId id="319" r:id="rId17"/>
    <p:sldId id="320" r:id="rId18"/>
    <p:sldId id="321" r:id="rId19"/>
    <p:sldId id="322" r:id="rId20"/>
    <p:sldId id="323" r:id="rId21"/>
    <p:sldId id="324" r:id="rId22"/>
    <p:sldId id="325" r:id="rId23"/>
    <p:sldId id="326" r:id="rId24"/>
    <p:sldId id="327" r:id="rId25"/>
    <p:sldId id="328" r:id="rId26"/>
    <p:sldId id="329" r:id="rId27"/>
    <p:sldId id="330" r:id="rId28"/>
    <p:sldId id="331"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9E7597-0484-7043-BAD5-FE547B6EB0D7}" v="55" dt="2026-09-22T18:14:39.8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26"/>
    <p:restoredTop sz="94678"/>
  </p:normalViewPr>
  <p:slideViewPr>
    <p:cSldViewPr snapToGrid="0" snapToObjects="1">
      <p:cViewPr>
        <p:scale>
          <a:sx n="100" d="100"/>
          <a:sy n="100" d="100"/>
        </p:scale>
        <p:origin x="3032" y="1256"/>
      </p:cViewPr>
      <p:guideLst>
        <p:guide orient="horz" pos="21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invertIfNegative val="1"/>
          <c:dPt>
            <c:idx val="0"/>
            <c:invertIfNegative val="1"/>
            <c:bubble3D val="0"/>
            <c:spPr>
              <a:solidFill>
                <a:srgbClr val="8A949C"/>
              </a:solidFill>
              <a:ln>
                <a:noFill/>
              </a:ln>
            </c:spPr>
            <c:extLst>
              <c:ext xmlns:c16="http://schemas.microsoft.com/office/drawing/2014/chart" uri="{C3380CC4-5D6E-409C-BE32-E72D297353CC}">
                <c16:uniqueId val="{00000001-BAA9-AF4A-8B20-855A034C80F2}"/>
              </c:ext>
            </c:extLst>
          </c:dPt>
          <c:dPt>
            <c:idx val="1"/>
            <c:invertIfNegative val="1"/>
            <c:bubble3D val="0"/>
            <c:spPr>
              <a:solidFill>
                <a:srgbClr val="2E8B57"/>
              </a:solidFill>
              <a:ln>
                <a:noFill/>
              </a:ln>
            </c:spPr>
            <c:extLst>
              <c:ext xmlns:c16="http://schemas.microsoft.com/office/drawing/2014/chart" uri="{C3380CC4-5D6E-409C-BE32-E72D297353CC}">
                <c16:uniqueId val="{00000003-BAA9-AF4A-8B20-855A034C80F2}"/>
              </c:ext>
            </c:extLst>
          </c:dPt>
          <c:dPt>
            <c:idx val="2"/>
            <c:invertIfNegative val="1"/>
            <c:bubble3D val="0"/>
            <c:spPr>
              <a:solidFill>
                <a:srgbClr val="B3261E"/>
              </a:solidFill>
              <a:ln>
                <a:noFill/>
              </a:ln>
            </c:spPr>
            <c:extLst>
              <c:ext xmlns:c16="http://schemas.microsoft.com/office/drawing/2014/chart" uri="{C3380CC4-5D6E-409C-BE32-E72D297353CC}">
                <c16:uniqueId val="{00000005-BAA9-AF4A-8B20-855A034C80F2}"/>
              </c:ext>
            </c:extLst>
          </c:dPt>
          <c:dPt>
            <c:idx val="3"/>
            <c:invertIfNegative val="1"/>
            <c:bubble3D val="0"/>
            <c:spPr>
              <a:solidFill>
                <a:srgbClr val="2E8B57"/>
              </a:solidFill>
              <a:ln>
                <a:noFill/>
              </a:ln>
            </c:spPr>
            <c:extLst>
              <c:ext xmlns:c16="http://schemas.microsoft.com/office/drawing/2014/chart" uri="{C3380CC4-5D6E-409C-BE32-E72D297353CC}">
                <c16:uniqueId val="{00000007-BAA9-AF4A-8B20-855A034C80F2}"/>
              </c:ext>
            </c:extLst>
          </c:dPt>
          <c:dPt>
            <c:idx val="4"/>
            <c:invertIfNegative val="1"/>
            <c:bubble3D val="0"/>
            <c:spPr>
              <a:solidFill>
                <a:srgbClr val="2E8B57"/>
              </a:solidFill>
              <a:ln>
                <a:noFill/>
              </a:ln>
            </c:spPr>
            <c:extLst>
              <c:ext xmlns:c16="http://schemas.microsoft.com/office/drawing/2014/chart" uri="{C3380CC4-5D6E-409C-BE32-E72D297353CC}">
                <c16:uniqueId val="{00000009-BAA9-AF4A-8B20-855A034C80F2}"/>
              </c:ext>
            </c:extLst>
          </c:dPt>
          <c:dPt>
            <c:idx val="5"/>
            <c:invertIfNegative val="1"/>
            <c:bubble3D val="0"/>
            <c:spPr>
              <a:solidFill>
                <a:srgbClr val="2E8B57"/>
              </a:solidFill>
              <a:ln>
                <a:noFill/>
              </a:ln>
            </c:spPr>
            <c:extLst>
              <c:ext xmlns:c16="http://schemas.microsoft.com/office/drawing/2014/chart" uri="{C3380CC4-5D6E-409C-BE32-E72D297353CC}">
                <c16:uniqueId val="{0000000B-BAA9-AF4A-8B20-855A034C80F2}"/>
              </c:ext>
            </c:extLst>
          </c:dPt>
          <c:dPt>
            <c:idx val="6"/>
            <c:invertIfNegative val="1"/>
            <c:bubble3D val="0"/>
            <c:spPr>
              <a:solidFill>
                <a:srgbClr val="2E8B57"/>
              </a:solidFill>
              <a:ln>
                <a:noFill/>
              </a:ln>
            </c:spPr>
            <c:extLst>
              <c:ext xmlns:c16="http://schemas.microsoft.com/office/drawing/2014/chart" uri="{C3380CC4-5D6E-409C-BE32-E72D297353CC}">
                <c16:uniqueId val="{0000000D-BAA9-AF4A-8B20-855A034C80F2}"/>
              </c:ext>
            </c:extLst>
          </c:dPt>
          <c:dPt>
            <c:idx val="7"/>
            <c:invertIfNegative val="1"/>
            <c:bubble3D val="0"/>
            <c:spPr>
              <a:solidFill>
                <a:srgbClr val="D46A00"/>
              </a:solidFill>
              <a:ln>
                <a:noFill/>
              </a:ln>
            </c:spPr>
            <c:extLst>
              <c:ext xmlns:c16="http://schemas.microsoft.com/office/drawing/2014/chart" uri="{C3380CC4-5D6E-409C-BE32-E72D297353CC}">
                <c16:uniqueId val="{0000000F-BAA9-AF4A-8B20-855A034C80F2}"/>
              </c:ext>
            </c:extLst>
          </c:dPt>
          <c:dPt>
            <c:idx val="8"/>
            <c:invertIfNegative val="1"/>
            <c:bubble3D val="0"/>
            <c:spPr>
              <a:solidFill>
                <a:srgbClr val="2E8B57"/>
              </a:solidFill>
              <a:ln>
                <a:noFill/>
              </a:ln>
            </c:spPr>
            <c:extLst>
              <c:ext xmlns:c16="http://schemas.microsoft.com/office/drawing/2014/chart" uri="{C3380CC4-5D6E-409C-BE32-E72D297353CC}">
                <c16:uniqueId val="{00000011-BAA9-AF4A-8B20-855A034C80F2}"/>
              </c:ext>
            </c:extLst>
          </c:dPt>
          <c:dLbls>
            <c:dLbl>
              <c:idx val="0"/>
              <c:tx>
                <c:rich>
                  <a:bodyPr/>
                  <a:lstStyle/>
                  <a:p>
                    <a:r>
                      <a:rPr lang="en-US" sz="1100" b="1">
                        <a:solidFill>
                          <a:srgbClr val="333333"/>
                        </a:solidFill>
                        <a:latin typeface="Arial"/>
                      </a:rPr>
                      <a:t>10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AA9-AF4A-8B20-855A034C80F2}"/>
                </c:ext>
              </c:extLst>
            </c:dLbl>
            <c:dLbl>
              <c:idx val="1"/>
              <c:tx>
                <c:rich>
                  <a:bodyPr/>
                  <a:lstStyle/>
                  <a:p>
                    <a:r>
                      <a:rPr lang="en-US" sz="1100" b="1">
                        <a:solidFill>
                          <a:srgbClr val="333333"/>
                        </a:solidFill>
                        <a:latin typeface="Arial"/>
                      </a:rPr>
                      <a:t>1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AA9-AF4A-8B20-855A034C80F2}"/>
                </c:ext>
              </c:extLst>
            </c:dLbl>
            <c:dLbl>
              <c:idx val="2"/>
              <c:tx>
                <c:rich>
                  <a:bodyPr/>
                  <a:lstStyle/>
                  <a:p>
                    <a:r>
                      <a:rPr lang="en-US" sz="1100" b="1">
                        <a:solidFill>
                          <a:srgbClr val="333333"/>
                        </a:solidFill>
                        <a:latin typeface="Arial"/>
                      </a:rPr>
                      <a:t>1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AA9-AF4A-8B20-855A034C80F2}"/>
                </c:ext>
              </c:extLst>
            </c:dLbl>
            <c:dLbl>
              <c:idx val="3"/>
              <c:tx>
                <c:rich>
                  <a:bodyPr/>
                  <a:lstStyle/>
                  <a:p>
                    <a:r>
                      <a:rPr lang="en-US" sz="1100" b="1">
                        <a:solidFill>
                          <a:srgbClr val="333333"/>
                        </a:solidFill>
                        <a:latin typeface="Arial"/>
                      </a:rPr>
                      <a:t>3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BAA9-AF4A-8B20-855A034C80F2}"/>
                </c:ext>
              </c:extLst>
            </c:dLbl>
            <c:dLbl>
              <c:idx val="4"/>
              <c:tx>
                <c:rich>
                  <a:bodyPr/>
                  <a:lstStyle/>
                  <a:p>
                    <a:r>
                      <a:rPr lang="en-US" sz="1100" b="1">
                        <a:solidFill>
                          <a:srgbClr val="333333"/>
                        </a:solidFill>
                        <a:latin typeface="Arial"/>
                      </a:rPr>
                      <a:t>3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BAA9-AF4A-8B20-855A034C80F2}"/>
                </c:ext>
              </c:extLst>
            </c:dLbl>
            <c:dLbl>
              <c:idx val="5"/>
              <c:tx>
                <c:rich>
                  <a:bodyPr/>
                  <a:lstStyle/>
                  <a:p>
                    <a:r>
                      <a:rPr lang="en-US" sz="1100" b="1">
                        <a:solidFill>
                          <a:srgbClr val="333333"/>
                        </a:solidFill>
                        <a:latin typeface="Arial"/>
                      </a:rPr>
                      <a:t>7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BAA9-AF4A-8B20-855A034C80F2}"/>
                </c:ext>
              </c:extLst>
            </c:dLbl>
            <c:dLbl>
              <c:idx val="6"/>
              <c:tx>
                <c:rich>
                  <a:bodyPr/>
                  <a:lstStyle/>
                  <a:p>
                    <a:r>
                      <a:rPr lang="en-US" sz="1100" b="1">
                        <a:solidFill>
                          <a:srgbClr val="333333"/>
                        </a:solidFill>
                        <a:latin typeface="Arial"/>
                      </a:rPr>
                      <a:t>7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BAA9-AF4A-8B20-855A034C80F2}"/>
                </c:ext>
              </c:extLst>
            </c:dLbl>
            <c:dLbl>
              <c:idx val="7"/>
              <c:tx>
                <c:rich>
                  <a:bodyPr/>
                  <a:lstStyle/>
                  <a:p>
                    <a:r>
                      <a:rPr lang="en-US" sz="1100" b="1">
                        <a:solidFill>
                          <a:srgbClr val="333333"/>
                        </a:solidFill>
                        <a:latin typeface="Arial"/>
                      </a:rPr>
                      <a:t>11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BAA9-AF4A-8B20-855A034C80F2}"/>
                </c:ext>
              </c:extLst>
            </c:dLbl>
            <c:dLbl>
              <c:idx val="8"/>
              <c:tx>
                <c:rich>
                  <a:bodyPr/>
                  <a:lstStyle/>
                  <a:p>
                    <a:r>
                      <a:rPr lang="en-US" sz="1100" b="1">
                        <a:solidFill>
                          <a:srgbClr val="333333"/>
                        </a:solidFill>
                        <a:latin typeface="Arial"/>
                      </a:rPr>
                      <a:t>3 pp</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BAA9-AF4A-8B20-855A034C80F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References</c:v>
                </c:pt>
                <c:pt idx="1">
                  <c:v>§8 Conclusions</c:v>
                </c:pt>
                <c:pt idx="2">
                  <c:v>§7 Policy framework</c:v>
                </c:pt>
                <c:pt idx="3">
                  <c:v>§6 Future directions</c:v>
                </c:pt>
                <c:pt idx="4">
                  <c:v>§5 Challenges</c:v>
                </c:pt>
                <c:pt idx="5">
                  <c:v>§4 Applications</c:v>
                </c:pt>
                <c:pt idx="6">
                  <c:v>§3 Artificial intelligence</c:v>
                </c:pt>
                <c:pt idx="7">
                  <c:v>§2 Wearable bioelectronics</c:v>
                </c:pt>
                <c:pt idx="8">
                  <c:v>§1 Introduction</c:v>
                </c:pt>
              </c:strCache>
            </c:strRef>
          </c:cat>
          <c:val>
            <c:numRef>
              <c:f>Sheet1!$B$2:$B$10</c:f>
              <c:numCache>
                <c:formatCode>General</c:formatCode>
                <c:ptCount val="9"/>
                <c:pt idx="0">
                  <c:v>10</c:v>
                </c:pt>
                <c:pt idx="1">
                  <c:v>1</c:v>
                </c:pt>
                <c:pt idx="2">
                  <c:v>1</c:v>
                </c:pt>
                <c:pt idx="3">
                  <c:v>3</c:v>
                </c:pt>
                <c:pt idx="4">
                  <c:v>3</c:v>
                </c:pt>
                <c:pt idx="5">
                  <c:v>7</c:v>
                </c:pt>
                <c:pt idx="6">
                  <c:v>7</c:v>
                </c:pt>
                <c:pt idx="7">
                  <c:v>11</c:v>
                </c:pt>
                <c:pt idx="8">
                  <c:v>3</c:v>
                </c:pt>
              </c:numCache>
            </c:numRef>
          </c:val>
          <c:extLst>
            <c:ext xmlns:c16="http://schemas.microsoft.com/office/drawing/2014/chart" uri="{C3380CC4-5D6E-409C-BE32-E72D297353CC}">
              <c16:uniqueId val="{00000012-BAA9-AF4A-8B20-855A034C80F2}"/>
            </c:ext>
          </c:extLst>
        </c:ser>
        <c:dLbls>
          <c:showLegendKey val="0"/>
          <c:showVal val="0"/>
          <c:showCatName val="0"/>
          <c:showSerName val="0"/>
          <c:showPercent val="0"/>
          <c:showBubbleSize val="0"/>
        </c:dLbls>
        <c:gapWidth val="3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9AA3A9"/>
            </a:solidFill>
          </a:ln>
        </c:spPr>
        <c:txPr>
          <a:bodyPr/>
          <a:lstStyle/>
          <a:p>
            <a:pPr>
              <a:defRPr sz="1100">
                <a:solidFill>
                  <a:srgbClr val="333333"/>
                </a:solidFill>
              </a:defRPr>
            </a:pPr>
            <a:endParaRPr lang="en-US"/>
          </a:p>
        </c:txPr>
        <c:crossAx val="-2113994440"/>
        <c:crosses val="autoZero"/>
        <c:auto val="1"/>
        <c:lblAlgn val="ctr"/>
        <c:lblOffset val="100"/>
        <c:noMultiLvlLbl val="0"/>
      </c:catAx>
      <c:valAx>
        <c:axId val="-2113994440"/>
        <c:scaling>
          <c:orientation val="minMax"/>
          <c:max val="12"/>
          <c:min val="0"/>
        </c:scaling>
        <c:delete val="1"/>
        <c:axPos val="b"/>
        <c:majorGridlines>
          <c:spPr>
            <a:ln w="9525">
              <a:solidFill>
                <a:srgbClr val="E3E7E4"/>
              </a:solidFill>
            </a:ln>
          </c:spPr>
        </c:majorGridlines>
        <c:numFmt formatCode="General" sourceLinked="0"/>
        <c:majorTickMark val="out"/>
        <c:minorTickMark val="none"/>
        <c:tickLblPos val="nextTo"/>
        <c:crossAx val="-2068027336"/>
        <c:crosses val="autoZero"/>
        <c:crossBetween val="between"/>
        <c:majorUnit val="2"/>
      </c:valAx>
    </c:plotArea>
    <c:plotVisOnly val="1"/>
    <c:dispBlanksAs val="gap"/>
    <c:showDLblsOverMax val="1"/>
  </c:chart>
  <c:txPr>
    <a:bodyPr/>
    <a:lstStyle/>
    <a:p>
      <a:pPr>
        <a:defRPr sz="1100">
          <a:solidFill>
            <a:srgbClr val="333333"/>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invertIfNegative val="1"/>
          <c:dPt>
            <c:idx val="0"/>
            <c:invertIfNegative val="1"/>
            <c:bubble3D val="0"/>
            <c:spPr>
              <a:solidFill>
                <a:srgbClr val="D46A00"/>
              </a:solidFill>
              <a:ln>
                <a:noFill/>
              </a:ln>
            </c:spPr>
            <c:extLst>
              <c:ext xmlns:c16="http://schemas.microsoft.com/office/drawing/2014/chart" uri="{C3380CC4-5D6E-409C-BE32-E72D297353CC}">
                <c16:uniqueId val="{00000001-BA7F-6440-9CA0-8736C0E0C142}"/>
              </c:ext>
            </c:extLst>
          </c:dPt>
          <c:dPt>
            <c:idx val="1"/>
            <c:invertIfNegative val="1"/>
            <c:bubble3D val="0"/>
            <c:spPr>
              <a:solidFill>
                <a:srgbClr val="D46A00"/>
              </a:solidFill>
              <a:ln>
                <a:noFill/>
              </a:ln>
            </c:spPr>
            <c:extLst>
              <c:ext xmlns:c16="http://schemas.microsoft.com/office/drawing/2014/chart" uri="{C3380CC4-5D6E-409C-BE32-E72D297353CC}">
                <c16:uniqueId val="{00000003-BA7F-6440-9CA0-8736C0E0C142}"/>
              </c:ext>
            </c:extLst>
          </c:dPt>
          <c:dPt>
            <c:idx val="2"/>
            <c:invertIfNegative val="1"/>
            <c:bubble3D val="0"/>
            <c:spPr>
              <a:solidFill>
                <a:srgbClr val="D46A00"/>
              </a:solidFill>
              <a:ln>
                <a:noFill/>
              </a:ln>
            </c:spPr>
            <c:extLst>
              <c:ext xmlns:c16="http://schemas.microsoft.com/office/drawing/2014/chart" uri="{C3380CC4-5D6E-409C-BE32-E72D297353CC}">
                <c16:uniqueId val="{00000005-BA7F-6440-9CA0-8736C0E0C142}"/>
              </c:ext>
            </c:extLst>
          </c:dPt>
          <c:dPt>
            <c:idx val="3"/>
            <c:invertIfNegative val="1"/>
            <c:bubble3D val="0"/>
            <c:spPr>
              <a:solidFill>
                <a:srgbClr val="8A949C"/>
              </a:solidFill>
              <a:ln>
                <a:noFill/>
              </a:ln>
            </c:spPr>
            <c:extLst>
              <c:ext xmlns:c16="http://schemas.microsoft.com/office/drawing/2014/chart" uri="{C3380CC4-5D6E-409C-BE32-E72D297353CC}">
                <c16:uniqueId val="{00000007-BA7F-6440-9CA0-8736C0E0C142}"/>
              </c:ext>
            </c:extLst>
          </c:dPt>
          <c:dLbls>
            <c:dLbl>
              <c:idx val="0"/>
              <c:tx>
                <c:rich>
                  <a:bodyPr/>
                  <a:lstStyle/>
                  <a:p>
                    <a:r>
                      <a:rPr lang="en-US" sz="1100" b="1">
                        <a:solidFill>
                          <a:srgbClr val="333333"/>
                        </a:solidFill>
                        <a:latin typeface="Arial"/>
                      </a:rPr>
                      <a:t>8.4 yr</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A7F-6440-9CA0-8736C0E0C142}"/>
                </c:ext>
              </c:extLst>
            </c:dLbl>
            <c:dLbl>
              <c:idx val="1"/>
              <c:tx>
                <c:rich>
                  <a:bodyPr/>
                  <a:lstStyle/>
                  <a:p>
                    <a:r>
                      <a:rPr lang="en-US" sz="1100" b="1">
                        <a:solidFill>
                          <a:srgbClr val="333333"/>
                        </a:solidFill>
                        <a:latin typeface="Arial"/>
                      </a:rPr>
                      <a:t>31 d</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A7F-6440-9CA0-8736C0E0C142}"/>
                </c:ext>
              </c:extLst>
            </c:dLbl>
            <c:dLbl>
              <c:idx val="2"/>
              <c:tx>
                <c:rich>
                  <a:bodyPr/>
                  <a:lstStyle/>
                  <a:p>
                    <a:r>
                      <a:rPr lang="en-US" sz="1100" b="1">
                        <a:solidFill>
                          <a:srgbClr val="333333"/>
                        </a:solidFill>
                        <a:latin typeface="Arial"/>
                      </a:rPr>
                      <a:t>6.2 d</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A7F-6440-9CA0-8736C0E0C142}"/>
                </c:ext>
              </c:extLst>
            </c:dLbl>
            <c:dLbl>
              <c:idx val="3"/>
              <c:tx>
                <c:rich>
                  <a:bodyPr/>
                  <a:lstStyle/>
                  <a:p>
                    <a:r>
                      <a:rPr lang="en-US" sz="1100" b="1">
                        <a:solidFill>
                          <a:srgbClr val="333333"/>
                        </a:solidFill>
                        <a:latin typeface="Arial"/>
                      </a:rPr>
                      <a:t>7.4 h</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BA7F-6440-9CA0-8736C0E0C14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10 µW (neuromorphic)</c:v>
                </c:pt>
                <c:pt idx="1">
                  <c:v>1 mW (multi-analyte)</c:v>
                </c:pt>
                <c:pt idx="2">
                  <c:v>5 mW (TinyML)</c:v>
                </c:pt>
                <c:pt idx="3">
                  <c:v>100 mW (cloud era)</c:v>
                </c:pt>
              </c:strCache>
            </c:strRef>
          </c:cat>
          <c:val>
            <c:numRef>
              <c:f>Sheet1!$B$2:$B$5</c:f>
              <c:numCache>
                <c:formatCode>General</c:formatCode>
                <c:ptCount val="4"/>
                <c:pt idx="0">
                  <c:v>74000</c:v>
                </c:pt>
                <c:pt idx="1">
                  <c:v>740.00000000000011</c:v>
                </c:pt>
                <c:pt idx="2">
                  <c:v>148.00000000000003</c:v>
                </c:pt>
                <c:pt idx="3">
                  <c:v>7.4</c:v>
                </c:pt>
              </c:numCache>
            </c:numRef>
          </c:val>
          <c:extLst>
            <c:ext xmlns:c16="http://schemas.microsoft.com/office/drawing/2014/chart" uri="{C3380CC4-5D6E-409C-BE32-E72D297353CC}">
              <c16:uniqueId val="{00000008-BA7F-6440-9CA0-8736C0E0C142}"/>
            </c:ext>
          </c:extLst>
        </c:ser>
        <c:dLbls>
          <c:showLegendKey val="0"/>
          <c:showVal val="0"/>
          <c:showCatName val="0"/>
          <c:showSerName val="0"/>
          <c:showPercent val="0"/>
          <c:showBubbleSize val="0"/>
        </c:dLbls>
        <c:gapWidth val="4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9AA3A9"/>
            </a:solidFill>
          </a:ln>
        </c:spPr>
        <c:txPr>
          <a:bodyPr/>
          <a:lstStyle/>
          <a:p>
            <a:pPr>
              <a:defRPr sz="1100">
                <a:solidFill>
                  <a:srgbClr val="333333"/>
                </a:solidFill>
              </a:defRPr>
            </a:pPr>
            <a:endParaRPr lang="en-US"/>
          </a:p>
        </c:txPr>
        <c:crossAx val="-2113994440"/>
        <c:crosses val="autoZero"/>
        <c:auto val="1"/>
        <c:lblAlgn val="ctr"/>
        <c:lblOffset val="100"/>
        <c:noMultiLvlLbl val="0"/>
      </c:catAx>
      <c:valAx>
        <c:axId val="-2113994440"/>
        <c:scaling>
          <c:logBase val="10"/>
          <c:orientation val="minMax"/>
          <c:max val="100000"/>
          <c:min val="1"/>
        </c:scaling>
        <c:delete val="0"/>
        <c:axPos val="b"/>
        <c:majorGridlines>
          <c:spPr>
            <a:ln w="9525">
              <a:solidFill>
                <a:srgbClr val="E3E7E4"/>
              </a:solidFill>
            </a:ln>
          </c:spPr>
        </c:majorGridlines>
        <c:title>
          <c:tx>
            <c:rich>
              <a:bodyPr/>
              <a:lstStyle/>
              <a:p>
                <a:r>
                  <a:rPr lang="en-US" sz="1100" b="0">
                    <a:solidFill>
                      <a:srgbClr val="5B6770"/>
                    </a:solidFill>
                    <a:latin typeface="Arial"/>
                  </a:rPr>
                  <a:t>hours on one charge, log scale (1 day = 24 h, 1 year = 8,760 h)</a:t>
                </a:r>
              </a:p>
            </c:rich>
          </c:tx>
          <c:overlay val="0"/>
        </c:title>
        <c:numFmt formatCode="#,##0" sourceLinked="0"/>
        <c:majorTickMark val="out"/>
        <c:minorTickMark val="none"/>
        <c:tickLblPos val="nextTo"/>
        <c:spPr>
          <a:ln>
            <a:solidFill>
              <a:srgbClr val="C9D0CC"/>
            </a:solidFill>
          </a:ln>
        </c:spPr>
        <c:txPr>
          <a:bodyPr/>
          <a:lstStyle/>
          <a:p>
            <a:pPr>
              <a:defRPr sz="1100">
                <a:solidFill>
                  <a:srgbClr val="5B6770"/>
                </a:solidFill>
              </a:defRPr>
            </a:pPr>
            <a:endParaRPr lang="en-US"/>
          </a:p>
        </c:txPr>
        <c:crossAx val="-2068027336"/>
        <c:crosses val="autoZero"/>
        <c:crossBetween val="between"/>
      </c:valAx>
    </c:plotArea>
    <c:plotVisOnly val="1"/>
    <c:dispBlanksAs val="gap"/>
    <c:showDLblsOverMax val="1"/>
  </c:chart>
  <c:txPr>
    <a:bodyPr/>
    <a:lstStyle/>
    <a:p>
      <a:pPr>
        <a:defRPr sz="1100">
          <a:solidFill>
            <a:srgbClr val="333333"/>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invertIfNegative val="1"/>
          <c:dPt>
            <c:idx val="0"/>
            <c:invertIfNegative val="1"/>
            <c:bubble3D val="0"/>
            <c:spPr>
              <a:solidFill>
                <a:srgbClr val="2E8B57"/>
              </a:solidFill>
              <a:ln>
                <a:noFill/>
              </a:ln>
            </c:spPr>
            <c:extLst>
              <c:ext xmlns:c16="http://schemas.microsoft.com/office/drawing/2014/chart" uri="{C3380CC4-5D6E-409C-BE32-E72D297353CC}">
                <c16:uniqueId val="{00000001-1D94-4942-9133-966CE3619331}"/>
              </c:ext>
            </c:extLst>
          </c:dPt>
          <c:dPt>
            <c:idx val="1"/>
            <c:invertIfNegative val="1"/>
            <c:bubble3D val="0"/>
            <c:spPr>
              <a:solidFill>
                <a:srgbClr val="E87500"/>
              </a:solidFill>
              <a:ln>
                <a:noFill/>
              </a:ln>
            </c:spPr>
            <c:extLst>
              <c:ext xmlns:c16="http://schemas.microsoft.com/office/drawing/2014/chart" uri="{C3380CC4-5D6E-409C-BE32-E72D297353CC}">
                <c16:uniqueId val="{00000003-1D94-4942-9133-966CE3619331}"/>
              </c:ext>
            </c:extLst>
          </c:dPt>
          <c:dPt>
            <c:idx val="2"/>
            <c:invertIfNegative val="1"/>
            <c:bubble3D val="0"/>
            <c:spPr>
              <a:solidFill>
                <a:srgbClr val="8A949C"/>
              </a:solidFill>
              <a:ln>
                <a:noFill/>
              </a:ln>
            </c:spPr>
            <c:extLst>
              <c:ext xmlns:c16="http://schemas.microsoft.com/office/drawing/2014/chart" uri="{C3380CC4-5D6E-409C-BE32-E72D297353CC}">
                <c16:uniqueId val="{00000005-1D94-4942-9133-966CE3619331}"/>
              </c:ext>
            </c:extLst>
          </c:dPt>
          <c:dLbls>
            <c:dLbl>
              <c:idx val="0"/>
              <c:tx>
                <c:rich>
                  <a:bodyPr/>
                  <a:lstStyle/>
                  <a:p>
                    <a:r>
                      <a:rPr lang="en-US" sz="1100" b="1">
                        <a:solidFill>
                          <a:srgbClr val="333333"/>
                        </a:solidFill>
                        <a:latin typeface="Arial"/>
                      </a:rPr>
                      <a:t>&lt;20 ms</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D94-4942-9133-966CE3619331}"/>
                </c:ext>
              </c:extLst>
            </c:dLbl>
            <c:dLbl>
              <c:idx val="1"/>
              <c:tx>
                <c:rich>
                  <a:bodyPr/>
                  <a:lstStyle/>
                  <a:p>
                    <a:r>
                      <a:rPr lang="en-US" sz="1100" b="1">
                        <a:solidFill>
                          <a:srgbClr val="333333"/>
                        </a:solidFill>
                        <a:latin typeface="Arial"/>
                      </a:rPr>
                      <a:t>100 ms</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D94-4942-9133-966CE3619331}"/>
                </c:ext>
              </c:extLst>
            </c:dLbl>
            <c:dLbl>
              <c:idx val="2"/>
              <c:tx>
                <c:rich>
                  <a:bodyPr/>
                  <a:lstStyle/>
                  <a:p>
                    <a:r>
                      <a:rPr lang="en-US" sz="1100" b="1">
                        <a:solidFill>
                          <a:srgbClr val="333333"/>
                        </a:solidFill>
                        <a:latin typeface="Arial"/>
                      </a:rPr>
                      <a:t>≈500 ms</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D94-4942-9133-966CE361933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On-device TinyML</c:v>
                </c:pt>
                <c:pt idx="1">
                  <c:v>Alert budget (falls, arrhythmia)</c:v>
                </c:pt>
                <c:pt idx="2">
                  <c:v>Cloud round trip</c:v>
                </c:pt>
              </c:strCache>
            </c:strRef>
          </c:cat>
          <c:val>
            <c:numRef>
              <c:f>Sheet1!$B$2:$B$4</c:f>
              <c:numCache>
                <c:formatCode>General</c:formatCode>
                <c:ptCount val="3"/>
                <c:pt idx="0">
                  <c:v>20</c:v>
                </c:pt>
                <c:pt idx="1">
                  <c:v>100</c:v>
                </c:pt>
                <c:pt idx="2">
                  <c:v>500</c:v>
                </c:pt>
              </c:numCache>
            </c:numRef>
          </c:val>
          <c:extLst>
            <c:ext xmlns:c16="http://schemas.microsoft.com/office/drawing/2014/chart" uri="{C3380CC4-5D6E-409C-BE32-E72D297353CC}">
              <c16:uniqueId val="{00000006-1D94-4942-9133-966CE3619331}"/>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9AA3A9"/>
            </a:solidFill>
          </a:ln>
        </c:spPr>
        <c:txPr>
          <a:bodyPr/>
          <a:lstStyle/>
          <a:p>
            <a:pPr>
              <a:defRPr sz="1100">
                <a:solidFill>
                  <a:srgbClr val="333333"/>
                </a:solidFill>
              </a:defRPr>
            </a:pPr>
            <a:endParaRPr lang="en-US"/>
          </a:p>
        </c:txPr>
        <c:crossAx val="-2113994440"/>
        <c:crosses val="autoZero"/>
        <c:auto val="1"/>
        <c:lblAlgn val="ctr"/>
        <c:lblOffset val="100"/>
        <c:noMultiLvlLbl val="0"/>
      </c:catAx>
      <c:valAx>
        <c:axId val="-2113994440"/>
        <c:scaling>
          <c:orientation val="minMax"/>
          <c:max val="600"/>
          <c:min val="0"/>
        </c:scaling>
        <c:delete val="0"/>
        <c:axPos val="b"/>
        <c:majorGridlines>
          <c:spPr>
            <a:ln w="9525">
              <a:solidFill>
                <a:srgbClr val="E3E7E4"/>
              </a:solidFill>
            </a:ln>
          </c:spPr>
        </c:majorGridlines>
        <c:title>
          <c:tx>
            <c:rich>
              <a:bodyPr/>
              <a:lstStyle/>
              <a:p>
                <a:r>
                  <a:rPr lang="en-US" sz="1100" b="0">
                    <a:solidFill>
                      <a:srgbClr val="5B6770"/>
                    </a:solidFill>
                    <a:latin typeface="Arial"/>
                  </a:rPr>
                  <a:t>milliseconds</a:t>
                </a:r>
              </a:p>
            </c:rich>
          </c:tx>
          <c:overlay val="0"/>
        </c:title>
        <c:numFmt formatCode="General" sourceLinked="0"/>
        <c:majorTickMark val="out"/>
        <c:minorTickMark val="none"/>
        <c:tickLblPos val="nextTo"/>
        <c:spPr>
          <a:ln>
            <a:solidFill>
              <a:srgbClr val="C9D0CC"/>
            </a:solidFill>
          </a:ln>
        </c:spPr>
        <c:txPr>
          <a:bodyPr/>
          <a:lstStyle/>
          <a:p>
            <a:pPr>
              <a:defRPr sz="1100">
                <a:solidFill>
                  <a:srgbClr val="5B6770"/>
                </a:solidFill>
              </a:defRPr>
            </a:pPr>
            <a:endParaRPr lang="en-US"/>
          </a:p>
        </c:txPr>
        <c:crossAx val="-2068027336"/>
        <c:crosses val="autoZero"/>
        <c:crossBetween val="between"/>
        <c:majorUnit val="200"/>
      </c:valAx>
    </c:plotArea>
    <c:plotVisOnly val="1"/>
    <c:dispBlanksAs val="gap"/>
    <c:showDLblsOverMax val="1"/>
  </c:chart>
  <c:txPr>
    <a:bodyPr/>
    <a:lstStyle/>
    <a:p>
      <a:pPr>
        <a:defRPr sz="1100">
          <a:solidFill>
            <a:srgbClr val="333333"/>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Value</c:v>
                </c:pt>
              </c:strCache>
            </c:strRef>
          </c:tx>
          <c:invertIfNegative val="1"/>
          <c:dPt>
            <c:idx val="0"/>
            <c:invertIfNegative val="1"/>
            <c:bubble3D val="0"/>
            <c:spPr>
              <a:solidFill>
                <a:srgbClr val="0077A8"/>
              </a:solidFill>
              <a:ln>
                <a:noFill/>
              </a:ln>
            </c:spPr>
            <c:extLst>
              <c:ext xmlns:c16="http://schemas.microsoft.com/office/drawing/2014/chart" uri="{C3380CC4-5D6E-409C-BE32-E72D297353CC}">
                <c16:uniqueId val="{00000001-9222-3D4A-86AB-C0FE0D273733}"/>
              </c:ext>
            </c:extLst>
          </c:dPt>
          <c:dPt>
            <c:idx val="1"/>
            <c:invertIfNegative val="1"/>
            <c:bubble3D val="0"/>
            <c:spPr>
              <a:solidFill>
                <a:srgbClr val="0077A8"/>
              </a:solidFill>
              <a:ln>
                <a:noFill/>
              </a:ln>
            </c:spPr>
            <c:extLst>
              <c:ext xmlns:c16="http://schemas.microsoft.com/office/drawing/2014/chart" uri="{C3380CC4-5D6E-409C-BE32-E72D297353CC}">
                <c16:uniqueId val="{00000003-9222-3D4A-86AB-C0FE0D273733}"/>
              </c:ext>
            </c:extLst>
          </c:dPt>
          <c:dPt>
            <c:idx val="2"/>
            <c:invertIfNegative val="1"/>
            <c:bubble3D val="0"/>
            <c:spPr>
              <a:solidFill>
                <a:srgbClr val="0077A8"/>
              </a:solidFill>
              <a:ln>
                <a:noFill/>
              </a:ln>
            </c:spPr>
            <c:extLst>
              <c:ext xmlns:c16="http://schemas.microsoft.com/office/drawing/2014/chart" uri="{C3380CC4-5D6E-409C-BE32-E72D297353CC}">
                <c16:uniqueId val="{00000005-9222-3D4A-86AB-C0FE0D273733}"/>
              </c:ext>
            </c:extLst>
          </c:dPt>
          <c:dPt>
            <c:idx val="3"/>
            <c:invertIfNegative val="1"/>
            <c:bubble3D val="0"/>
            <c:spPr>
              <a:solidFill>
                <a:srgbClr val="0077A8"/>
              </a:solidFill>
              <a:ln>
                <a:noFill/>
              </a:ln>
            </c:spPr>
            <c:extLst>
              <c:ext xmlns:c16="http://schemas.microsoft.com/office/drawing/2014/chart" uri="{C3380CC4-5D6E-409C-BE32-E72D297353CC}">
                <c16:uniqueId val="{00000007-9222-3D4A-86AB-C0FE0D273733}"/>
              </c:ext>
            </c:extLst>
          </c:dPt>
          <c:dLbls>
            <c:dLbl>
              <c:idx val="0"/>
              <c:tx>
                <c:rich>
                  <a:bodyPr/>
                  <a:lstStyle/>
                  <a:p>
                    <a:r>
                      <a:rPr lang="en-US" sz="1100" b="1">
                        <a:solidFill>
                          <a:srgbClr val="333333"/>
                        </a:solidFill>
                        <a:latin typeface="Arial"/>
                      </a:rPr>
                      <a:t>3.75×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222-3D4A-86AB-C0FE0D273733}"/>
                </c:ext>
              </c:extLst>
            </c:dLbl>
            <c:dLbl>
              <c:idx val="1"/>
              <c:tx>
                <c:rich>
                  <a:bodyPr/>
                  <a:lstStyle/>
                  <a:p>
                    <a:r>
                      <a:rPr lang="en-US" sz="1100" b="1">
                        <a:solidFill>
                          <a:srgbClr val="333333"/>
                        </a:solidFill>
                        <a:latin typeface="Arial"/>
                      </a:rPr>
                      <a:t>~3×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222-3D4A-86AB-C0FE0D273733}"/>
                </c:ext>
              </c:extLst>
            </c:dLbl>
            <c:dLbl>
              <c:idx val="2"/>
              <c:tx>
                <c:rich>
                  <a:bodyPr/>
                  <a:lstStyle/>
                  <a:p>
                    <a:r>
                      <a:rPr lang="en-US" sz="1100" b="1">
                        <a:solidFill>
                          <a:srgbClr val="333333"/>
                        </a:solidFill>
                        <a:latin typeface="Arial"/>
                      </a:rPr>
                      <a:t>5.25×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222-3D4A-86AB-C0FE0D273733}"/>
                </c:ext>
              </c:extLst>
            </c:dLbl>
            <c:dLbl>
              <c:idx val="3"/>
              <c:tx>
                <c:rich>
                  <a:bodyPr/>
                  <a:lstStyle/>
                  <a:p>
                    <a:r>
                      <a:rPr lang="en-US" sz="1100" b="1">
                        <a:solidFill>
                          <a:srgbClr val="333333"/>
                        </a:solidFill>
                        <a:latin typeface="Arial"/>
                      </a:rPr>
                      <a:t>1.24×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222-3D4A-86AB-C0FE0D27373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Drift per week (lower)</c:v>
                </c:pt>
                <c:pt idx="1">
                  <c:v>Multi-analyte capacity</c:v>
                </c:pt>
                <c:pt idx="2">
                  <c:v>Prediction latency (faster)</c:v>
                </c:pt>
                <c:pt idx="3">
                  <c:v>Diagnostic accuracy</c:v>
                </c:pt>
              </c:strCache>
            </c:strRef>
          </c:cat>
          <c:val>
            <c:numRef>
              <c:f>Sheet1!$B$2:$B$5</c:f>
              <c:numCache>
                <c:formatCode>General</c:formatCode>
                <c:ptCount val="4"/>
                <c:pt idx="0">
                  <c:v>3.75</c:v>
                </c:pt>
                <c:pt idx="1">
                  <c:v>3</c:v>
                </c:pt>
                <c:pt idx="2">
                  <c:v>5.25</c:v>
                </c:pt>
                <c:pt idx="3">
                  <c:v>1.2406639004149378</c:v>
                </c:pt>
              </c:numCache>
            </c:numRef>
          </c:val>
          <c:extLst>
            <c:ext xmlns:c16="http://schemas.microsoft.com/office/drawing/2014/chart" uri="{C3380CC4-5D6E-409C-BE32-E72D297353CC}">
              <c16:uniqueId val="{00000008-9222-3D4A-86AB-C0FE0D273733}"/>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9AA3A9"/>
            </a:solidFill>
          </a:ln>
        </c:spPr>
        <c:txPr>
          <a:bodyPr/>
          <a:lstStyle/>
          <a:p>
            <a:pPr>
              <a:defRPr sz="1100">
                <a:solidFill>
                  <a:srgbClr val="333333"/>
                </a:solidFill>
              </a:defRPr>
            </a:pPr>
            <a:endParaRPr lang="en-US"/>
          </a:p>
        </c:txPr>
        <c:crossAx val="-2113994440"/>
        <c:crosses val="autoZero"/>
        <c:auto val="1"/>
        <c:lblAlgn val="ctr"/>
        <c:lblOffset val="100"/>
        <c:noMultiLvlLbl val="0"/>
      </c:catAx>
      <c:valAx>
        <c:axId val="-2113994440"/>
        <c:scaling>
          <c:orientation val="minMax"/>
          <c:max val="6"/>
          <c:min val="0"/>
        </c:scaling>
        <c:delete val="0"/>
        <c:axPos val="b"/>
        <c:majorGridlines>
          <c:spPr>
            <a:ln w="9525">
              <a:solidFill>
                <a:srgbClr val="E3E7E4"/>
              </a:solidFill>
            </a:ln>
          </c:spPr>
        </c:majorGridlines>
        <c:numFmt formatCode="0&quot;×&quot;" sourceLinked="0"/>
        <c:majorTickMark val="out"/>
        <c:minorTickMark val="none"/>
        <c:tickLblPos val="nextTo"/>
        <c:spPr>
          <a:ln>
            <a:solidFill>
              <a:srgbClr val="C9D0CC"/>
            </a:solidFill>
          </a:ln>
        </c:spPr>
        <c:txPr>
          <a:bodyPr/>
          <a:lstStyle/>
          <a:p>
            <a:pPr>
              <a:defRPr sz="1100">
                <a:solidFill>
                  <a:srgbClr val="5B6770"/>
                </a:solidFill>
              </a:defRPr>
            </a:pPr>
            <a:endParaRPr lang="en-US"/>
          </a:p>
        </c:txPr>
        <c:crossAx val="-2068027336"/>
        <c:crosses val="autoZero"/>
        <c:crossBetween val="between"/>
        <c:majorUnit val="1"/>
      </c:valAx>
    </c:plotArea>
    <c:plotVisOnly val="1"/>
    <c:dispBlanksAs val="gap"/>
    <c:showDLblsOverMax val="1"/>
  </c:chart>
  <c:txPr>
    <a:bodyPr/>
    <a:lstStyle/>
    <a:p>
      <a:pPr>
        <a:defRPr sz="1100">
          <a:solidFill>
            <a:srgbClr val="333333"/>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Imaging / genomics AI</c:v>
                </c:pt>
              </c:strCache>
            </c:strRef>
          </c:tx>
          <c:spPr>
            <a:ln w="47625">
              <a:noFill/>
            </a:ln>
          </c:spPr>
          <c:marker>
            <c:symbol val="circle"/>
            <c:size val="11"/>
            <c:spPr>
              <a:solidFill>
                <a:srgbClr val="0077A8"/>
              </a:solidFill>
              <a:ln>
                <a:solidFill>
                  <a:srgbClr val="FFFFFF"/>
                </a:solidFill>
              </a:ln>
            </c:spPr>
          </c:marker>
          <c:dLbls>
            <c:dLbl>
              <c:idx val="0"/>
              <c:tx>
                <c:rich>
                  <a:bodyPr/>
                  <a:lstStyle/>
                  <a:p>
                    <a:r>
                      <a:rPr lang="en-US" sz="1000" b="1">
                        <a:solidFill>
                          <a:srgbClr val="333333"/>
                        </a:solidFill>
                        <a:latin typeface="Arial"/>
                      </a:rPr>
                      <a:t>Retinopathy</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2D9-C341-85E0-526F88856130}"/>
                </c:ext>
              </c:extLst>
            </c:dLbl>
            <c:dLbl>
              <c:idx val="1"/>
              <c:tx>
                <c:rich>
                  <a:bodyPr/>
                  <a:lstStyle/>
                  <a:p>
                    <a:r>
                      <a:rPr lang="en-US" sz="1000" b="1">
                        <a:solidFill>
                          <a:srgbClr val="333333"/>
                        </a:solidFill>
                        <a:latin typeface="Arial"/>
                      </a:rPr>
                      <a:t>Lung CT</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2D9-C341-85E0-526F88856130}"/>
                </c:ext>
              </c:extLst>
            </c:dLbl>
            <c:dLbl>
              <c:idx val="2"/>
              <c:layout>
                <c:manualLayout>
                  <c:x val="0"/>
                  <c:y val="-3.5000000000000003E-2"/>
                </c:manualLayout>
              </c:layout>
              <c:tx>
                <c:rich>
                  <a:bodyPr/>
                  <a:lstStyle/>
                  <a:p>
                    <a:r>
                      <a:rPr lang="en-US" sz="1000" b="1">
                        <a:solidFill>
                          <a:srgbClr val="333333"/>
                        </a:solidFill>
                        <a:latin typeface="Arial"/>
                      </a:rPr>
                      <a:t>Brain CT</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2D9-C341-85E0-526F88856130}"/>
                </c:ext>
              </c:extLst>
            </c:dLbl>
            <c:dLbl>
              <c:idx val="3"/>
              <c:layout>
                <c:manualLayout>
                  <c:x val="-0.04"/>
                  <c:y val="0"/>
                </c:manualLayout>
              </c:layout>
              <c:tx>
                <c:rich>
                  <a:bodyPr/>
                  <a:lstStyle/>
                  <a:p>
                    <a:r>
                      <a:rPr lang="en-US" sz="1000" b="1">
                        <a:solidFill>
                          <a:srgbClr val="333333"/>
                        </a:solidFill>
                        <a:latin typeface="Arial"/>
                      </a:rPr>
                      <a:t>Mammography</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2D9-C341-85E0-526F88856130}"/>
                </c:ext>
              </c:extLst>
            </c:dLbl>
            <c:dLbl>
              <c:idx val="4"/>
              <c:tx>
                <c:rich>
                  <a:bodyPr/>
                  <a:lstStyle/>
                  <a:p>
                    <a:r>
                      <a:rPr lang="en-US" sz="1000" b="1">
                        <a:solidFill>
                          <a:srgbClr val="333333"/>
                        </a:solidFill>
                        <a:latin typeface="Arial"/>
                      </a:rPr>
                      <a:t>PathAI</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2D9-C341-85E0-526F88856130}"/>
                </c:ext>
              </c:extLst>
            </c:dLbl>
            <c:dLbl>
              <c:idx val="5"/>
              <c:tx>
                <c:rich>
                  <a:bodyPr/>
                  <a:lstStyle/>
                  <a:p>
                    <a:r>
                      <a:rPr lang="en-US" sz="1000" b="1">
                        <a:solidFill>
                          <a:srgbClr val="333333"/>
                        </a:solidFill>
                        <a:latin typeface="Arial"/>
                      </a:rPr>
                      <a:t>Genomics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62D9-C341-85E0-526F888561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Sheet1!$A$2:$A$7</c:f>
              <c:numCache>
                <c:formatCode>General</c:formatCode>
                <c:ptCount val="6"/>
                <c:pt idx="0">
                  <c:v>8.4000000000000005E-2</c:v>
                </c:pt>
                <c:pt idx="1">
                  <c:v>0.13500000000000001</c:v>
                </c:pt>
                <c:pt idx="2">
                  <c:v>6.4000000000000001E-2</c:v>
                </c:pt>
                <c:pt idx="3">
                  <c:v>5.5E-2</c:v>
                </c:pt>
                <c:pt idx="4">
                  <c:v>6.2E-2</c:v>
                </c:pt>
                <c:pt idx="5">
                  <c:v>0.15</c:v>
                </c:pt>
              </c:numCache>
            </c:numRef>
          </c:xVal>
          <c:yVal>
            <c:numRef>
              <c:f>Sheet1!$B$2:$B$7</c:f>
              <c:numCache>
                <c:formatCode>General</c:formatCode>
                <c:ptCount val="6"/>
                <c:pt idx="0">
                  <c:v>0.90500000000000003</c:v>
                </c:pt>
                <c:pt idx="1">
                  <c:v>0.92</c:v>
                </c:pt>
                <c:pt idx="2">
                  <c:v>0.89400000000000002</c:v>
                </c:pt>
                <c:pt idx="3">
                  <c:v>0.89</c:v>
                </c:pt>
                <c:pt idx="4">
                  <c:v>0.94599999999999995</c:v>
                </c:pt>
                <c:pt idx="5">
                  <c:v>0.88</c:v>
                </c:pt>
              </c:numCache>
            </c:numRef>
          </c:yVal>
          <c:smooth val="0"/>
          <c:extLst>
            <c:ext xmlns:c16="http://schemas.microsoft.com/office/drawing/2014/chart" uri="{C3380CC4-5D6E-409C-BE32-E72D297353CC}">
              <c16:uniqueId val="{00000006-62D9-C341-85E0-526F88856130}"/>
            </c:ext>
          </c:extLst>
        </c:ser>
        <c:ser>
          <c:idx val="1"/>
          <c:order val="1"/>
          <c:tx>
            <c:strRef>
              <c:f>Sheet1!$B$9</c:f>
              <c:strCache>
                <c:ptCount val="1"/>
                <c:pt idx="0">
                  <c:v>Point-of-care / consumer</c:v>
                </c:pt>
              </c:strCache>
            </c:strRef>
          </c:tx>
          <c:spPr>
            <a:ln w="47625">
              <a:noFill/>
            </a:ln>
          </c:spPr>
          <c:marker>
            <c:symbol val="circle"/>
            <c:size val="11"/>
            <c:spPr>
              <a:solidFill>
                <a:srgbClr val="D46A00"/>
              </a:solidFill>
              <a:ln>
                <a:solidFill>
                  <a:srgbClr val="FFFFFF"/>
                </a:solidFill>
              </a:ln>
            </c:spPr>
          </c:marker>
          <c:dLbls>
            <c:dLbl>
              <c:idx val="0"/>
              <c:tx>
                <c:rich>
                  <a:bodyPr/>
                  <a:lstStyle/>
                  <a:p>
                    <a:r>
                      <a:rPr lang="en-US" sz="1000" b="1">
                        <a:solidFill>
                          <a:srgbClr val="D46A00"/>
                        </a:solidFill>
                        <a:latin typeface="Arial"/>
                      </a:rPr>
                      <a:t>SkinVision</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2D9-C341-85E0-526F88856130}"/>
                </c:ext>
              </c:extLst>
            </c:dLbl>
            <c:dLbl>
              <c:idx val="1"/>
              <c:tx>
                <c:rich>
                  <a:bodyPr/>
                  <a:lstStyle/>
                  <a:p>
                    <a:r>
                      <a:rPr lang="en-US" sz="1000" b="1">
                        <a:solidFill>
                          <a:srgbClr val="D46A00"/>
                        </a:solidFill>
                        <a:latin typeface="Arial"/>
                      </a:rPr>
                      <a:t>Eko</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62D9-C341-85E0-526F8885613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Sheet1!$A$10:$A$11</c:f>
              <c:numCache>
                <c:formatCode>General</c:formatCode>
                <c:ptCount val="2"/>
                <c:pt idx="0">
                  <c:v>0.217</c:v>
                </c:pt>
                <c:pt idx="1">
                  <c:v>8.8999999999999996E-2</c:v>
                </c:pt>
              </c:numCache>
            </c:numRef>
          </c:xVal>
          <c:yVal>
            <c:numRef>
              <c:f>Sheet1!$B$10:$B$11</c:f>
              <c:numCache>
                <c:formatCode>General</c:formatCode>
                <c:ptCount val="2"/>
                <c:pt idx="0">
                  <c:v>0.95099999999999996</c:v>
                </c:pt>
                <c:pt idx="1">
                  <c:v>0.87599999999999989</c:v>
                </c:pt>
              </c:numCache>
            </c:numRef>
          </c:yVal>
          <c:smooth val="0"/>
          <c:extLst>
            <c:ext xmlns:c16="http://schemas.microsoft.com/office/drawing/2014/chart" uri="{C3380CC4-5D6E-409C-BE32-E72D297353CC}">
              <c16:uniqueId val="{00000009-62D9-C341-85E0-526F88856130}"/>
            </c:ext>
          </c:extLst>
        </c:ser>
        <c:ser>
          <c:idx val="2"/>
          <c:order val="2"/>
          <c:tx>
            <c:strRef>
              <c:f>Sheet1!$B$13</c:f>
              <c:strCache>
                <c:ptCount val="1"/>
                <c:pt idx="0">
                  <c:v>Authors' benchmark zone (Se ≥ 99%, Sp ≥ 80%)</c:v>
                </c:pt>
              </c:strCache>
            </c:strRef>
          </c:tx>
          <c:spPr>
            <a:ln w="22225">
              <a:solidFill>
                <a:srgbClr val="2E8B57"/>
              </a:solidFill>
              <a:prstDash val="dash"/>
            </a:ln>
          </c:spPr>
          <c:marker>
            <c:symbol val="none"/>
          </c:marker>
          <c:xVal>
            <c:numRef>
              <c:f>Sheet1!$A$14:$A$18</c:f>
              <c:numCache>
                <c:formatCode>General</c:formatCode>
                <c:ptCount val="5"/>
                <c:pt idx="0">
                  <c:v>0</c:v>
                </c:pt>
                <c:pt idx="1">
                  <c:v>0.2</c:v>
                </c:pt>
                <c:pt idx="2">
                  <c:v>0.2</c:v>
                </c:pt>
                <c:pt idx="3">
                  <c:v>0</c:v>
                </c:pt>
                <c:pt idx="4">
                  <c:v>0</c:v>
                </c:pt>
              </c:numCache>
            </c:numRef>
          </c:xVal>
          <c:yVal>
            <c:numRef>
              <c:f>Sheet1!$B$14:$B$18</c:f>
              <c:numCache>
                <c:formatCode>General</c:formatCode>
                <c:ptCount val="5"/>
                <c:pt idx="0">
                  <c:v>0.99</c:v>
                </c:pt>
                <c:pt idx="1">
                  <c:v>0.99</c:v>
                </c:pt>
                <c:pt idx="2">
                  <c:v>1</c:v>
                </c:pt>
                <c:pt idx="3">
                  <c:v>1</c:v>
                </c:pt>
                <c:pt idx="4">
                  <c:v>0.99</c:v>
                </c:pt>
              </c:numCache>
            </c:numRef>
          </c:yVal>
          <c:smooth val="0"/>
          <c:extLst>
            <c:ext xmlns:c16="http://schemas.microsoft.com/office/drawing/2014/chart" uri="{C3380CC4-5D6E-409C-BE32-E72D297353CC}">
              <c16:uniqueId val="{0000000A-62D9-C341-85E0-526F88856130}"/>
            </c:ext>
          </c:extLst>
        </c:ser>
        <c:dLbls>
          <c:showLegendKey val="0"/>
          <c:showVal val="0"/>
          <c:showCatName val="0"/>
          <c:showSerName val="0"/>
          <c:showPercent val="0"/>
          <c:showBubbleSize val="0"/>
        </c:dLbls>
        <c:axId val="-2128940872"/>
        <c:axId val="-2129643912"/>
      </c:scatterChart>
      <c:valAx>
        <c:axId val="-2128940872"/>
        <c:scaling>
          <c:orientation val="minMax"/>
          <c:max val="0.25"/>
          <c:min val="0"/>
        </c:scaling>
        <c:delete val="0"/>
        <c:axPos val="b"/>
        <c:majorGridlines>
          <c:spPr>
            <a:ln w="9525">
              <a:solidFill>
                <a:srgbClr val="E3E7E4"/>
              </a:solidFill>
            </a:ln>
          </c:spPr>
        </c:majorGridlines>
        <c:title>
          <c:tx>
            <c:rich>
              <a:bodyPr/>
              <a:lstStyle/>
              <a:p>
                <a:r>
                  <a:rPr lang="en-US" sz="1100" b="0">
                    <a:solidFill>
                      <a:srgbClr val="5B6770"/>
                    </a:solidFill>
                    <a:latin typeface="Arial"/>
                  </a:rPr>
                  <a:t>1 − specificity (false-positive rate)</a:t>
                </a:r>
              </a:p>
            </c:rich>
          </c:tx>
          <c:overlay val="0"/>
        </c:title>
        <c:numFmt formatCode="0.00" sourceLinked="0"/>
        <c:majorTickMark val="out"/>
        <c:minorTickMark val="none"/>
        <c:tickLblPos val="nextTo"/>
        <c:spPr>
          <a:ln>
            <a:solidFill>
              <a:srgbClr val="C9D0CC"/>
            </a:solidFill>
          </a:ln>
        </c:spPr>
        <c:txPr>
          <a:bodyPr/>
          <a:lstStyle/>
          <a:p>
            <a:pPr>
              <a:defRPr sz="1100">
                <a:solidFill>
                  <a:srgbClr val="5B6770"/>
                </a:solidFill>
              </a:defRPr>
            </a:pPr>
            <a:endParaRPr lang="en-US"/>
          </a:p>
        </c:txPr>
        <c:crossAx val="-2129643912"/>
        <c:crosses val="autoZero"/>
        <c:crossBetween val="midCat"/>
        <c:majorUnit val="0.05"/>
      </c:valAx>
      <c:valAx>
        <c:axId val="-2129643912"/>
        <c:scaling>
          <c:orientation val="minMax"/>
          <c:max val="1"/>
          <c:min val="0.85"/>
        </c:scaling>
        <c:delete val="0"/>
        <c:axPos val="l"/>
        <c:majorGridlines>
          <c:spPr>
            <a:ln w="9525">
              <a:solidFill>
                <a:srgbClr val="E3E7E4"/>
              </a:solidFill>
            </a:ln>
          </c:spPr>
        </c:majorGridlines>
        <c:title>
          <c:tx>
            <c:rich>
              <a:bodyPr/>
              <a:lstStyle/>
              <a:p>
                <a:r>
                  <a:rPr lang="en-US" sz="1100" b="0">
                    <a:solidFill>
                      <a:srgbClr val="5B6770"/>
                    </a:solidFill>
                    <a:latin typeface="Arial"/>
                  </a:rPr>
                  <a:t>sensitivity</a:t>
                </a:r>
              </a:p>
            </c:rich>
          </c:tx>
          <c:overlay val="0"/>
        </c:title>
        <c:numFmt formatCode="0.00" sourceLinked="0"/>
        <c:majorTickMark val="out"/>
        <c:minorTickMark val="none"/>
        <c:tickLblPos val="nextTo"/>
        <c:spPr>
          <a:ln>
            <a:solidFill>
              <a:srgbClr val="C9D0CC"/>
            </a:solidFill>
          </a:ln>
        </c:spPr>
        <c:txPr>
          <a:bodyPr/>
          <a:lstStyle/>
          <a:p>
            <a:pPr>
              <a:defRPr sz="1100">
                <a:solidFill>
                  <a:srgbClr val="5B6770"/>
                </a:solidFill>
              </a:defRPr>
            </a:pPr>
            <a:endParaRPr lang="en-US"/>
          </a:p>
        </c:txPr>
        <c:crossAx val="-2128940872"/>
        <c:crosses val="autoZero"/>
        <c:crossBetween val="midCat"/>
        <c:majorUnit val="0.05"/>
      </c:valAx>
    </c:plotArea>
    <c:legend>
      <c:legendPos val="b"/>
      <c:overlay val="0"/>
      <c:txPr>
        <a:bodyPr/>
        <a:lstStyle/>
        <a:p>
          <a:pPr>
            <a:defRPr sz="1100"/>
          </a:pPr>
          <a:endParaRPr lang="en-US"/>
        </a:p>
      </c:txPr>
    </c:legend>
    <c:plotVisOnly val="1"/>
    <c:dispBlanksAs val="gap"/>
    <c:showDLblsOverMax val="0"/>
  </c:chart>
  <c:txPr>
    <a:bodyPr/>
    <a:lstStyle/>
    <a:p>
      <a:pPr>
        <a:defRPr sz="1100">
          <a:solidFill>
            <a:srgbClr val="333333"/>
          </a:solidFill>
          <a:latin typeface="Arial"/>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SkinVision</c:v>
                </c:pt>
              </c:strCache>
            </c:strRef>
          </c:tx>
          <c:spPr>
            <a:ln w="31750">
              <a:solidFill>
                <a:srgbClr val="D46A00"/>
              </a:solidFill>
            </a:ln>
          </c:spPr>
          <c:marker>
            <c:symbol val="none"/>
          </c:marker>
          <c:xVal>
            <c:numRef>
              <c:f>Sheet1!$A$2:$A$62</c:f>
              <c:numCache>
                <c:formatCode>General</c:formatCode>
                <c:ptCount val="61"/>
                <c:pt idx="0">
                  <c:v>1E-3</c:v>
                </c:pt>
                <c:pt idx="1">
                  <c:v>1.109E-3</c:v>
                </c:pt>
                <c:pt idx="2">
                  <c:v>1.23E-3</c:v>
                </c:pt>
                <c:pt idx="3">
                  <c:v>1.3649999999999999E-3</c:v>
                </c:pt>
                <c:pt idx="4">
                  <c:v>1.5139999999999999E-3</c:v>
                </c:pt>
                <c:pt idx="5">
                  <c:v>1.6789999999999999E-3</c:v>
                </c:pt>
                <c:pt idx="6">
                  <c:v>1.8619999999999999E-3</c:v>
                </c:pt>
                <c:pt idx="7">
                  <c:v>2.065E-3</c:v>
                </c:pt>
                <c:pt idx="8">
                  <c:v>2.2910000000000001E-3</c:v>
                </c:pt>
                <c:pt idx="9">
                  <c:v>2.5409999999999999E-3</c:v>
                </c:pt>
                <c:pt idx="10">
                  <c:v>2.8180000000000002E-3</c:v>
                </c:pt>
                <c:pt idx="11">
                  <c:v>3.1259999999999999E-3</c:v>
                </c:pt>
                <c:pt idx="12">
                  <c:v>3.467E-3</c:v>
                </c:pt>
                <c:pt idx="13">
                  <c:v>3.846E-3</c:v>
                </c:pt>
                <c:pt idx="14">
                  <c:v>4.2659999999999998E-3</c:v>
                </c:pt>
                <c:pt idx="15">
                  <c:v>4.7320000000000001E-3</c:v>
                </c:pt>
                <c:pt idx="16">
                  <c:v>5.2480000000000001E-3</c:v>
                </c:pt>
                <c:pt idx="17">
                  <c:v>5.8209999999999998E-3</c:v>
                </c:pt>
                <c:pt idx="18">
                  <c:v>6.4570000000000001E-3</c:v>
                </c:pt>
                <c:pt idx="19">
                  <c:v>7.1609999999999998E-3</c:v>
                </c:pt>
                <c:pt idx="20">
                  <c:v>7.9430000000000004E-3</c:v>
                </c:pt>
                <c:pt idx="21">
                  <c:v>8.8100000000000001E-3</c:v>
                </c:pt>
                <c:pt idx="22">
                  <c:v>9.7719999999999994E-3</c:v>
                </c:pt>
                <c:pt idx="23">
                  <c:v>1.0839E-2</c:v>
                </c:pt>
                <c:pt idx="24">
                  <c:v>1.2023000000000001E-2</c:v>
                </c:pt>
                <c:pt idx="25">
                  <c:v>1.3335E-2</c:v>
                </c:pt>
                <c:pt idx="26">
                  <c:v>1.4791E-2</c:v>
                </c:pt>
                <c:pt idx="27">
                  <c:v>1.6406E-2</c:v>
                </c:pt>
                <c:pt idx="28">
                  <c:v>1.8197000000000001E-2</c:v>
                </c:pt>
                <c:pt idx="29">
                  <c:v>2.0184000000000001E-2</c:v>
                </c:pt>
                <c:pt idx="30">
                  <c:v>2.2387000000000001E-2</c:v>
                </c:pt>
                <c:pt idx="31">
                  <c:v>2.4830999999999999E-2</c:v>
                </c:pt>
                <c:pt idx="32">
                  <c:v>2.7542000000000001E-2</c:v>
                </c:pt>
                <c:pt idx="33">
                  <c:v>3.0549E-2</c:v>
                </c:pt>
                <c:pt idx="34">
                  <c:v>3.3883999999999997E-2</c:v>
                </c:pt>
                <c:pt idx="35">
                  <c:v>3.7583999999999999E-2</c:v>
                </c:pt>
                <c:pt idx="36">
                  <c:v>4.1687000000000002E-2</c:v>
                </c:pt>
                <c:pt idx="37">
                  <c:v>4.6238000000000001E-2</c:v>
                </c:pt>
                <c:pt idx="38">
                  <c:v>5.1285999999999998E-2</c:v>
                </c:pt>
                <c:pt idx="39">
                  <c:v>5.6884999999999998E-2</c:v>
                </c:pt>
                <c:pt idx="40">
                  <c:v>6.3095999999999999E-2</c:v>
                </c:pt>
                <c:pt idx="41">
                  <c:v>6.9984000000000005E-2</c:v>
                </c:pt>
                <c:pt idx="42">
                  <c:v>7.7625E-2</c:v>
                </c:pt>
                <c:pt idx="43">
                  <c:v>8.6098999999999995E-2</c:v>
                </c:pt>
                <c:pt idx="44">
                  <c:v>9.5499000000000001E-2</c:v>
                </c:pt>
                <c:pt idx="45">
                  <c:v>0.10592500000000001</c:v>
                </c:pt>
                <c:pt idx="46">
                  <c:v>0.11749</c:v>
                </c:pt>
                <c:pt idx="47">
                  <c:v>0.13031699999999999</c:v>
                </c:pt>
                <c:pt idx="48">
                  <c:v>0.14454400000000001</c:v>
                </c:pt>
                <c:pt idx="49">
                  <c:v>0.160325</c:v>
                </c:pt>
                <c:pt idx="50">
                  <c:v>0.17782800000000001</c:v>
                </c:pt>
                <c:pt idx="51">
                  <c:v>0.197242</c:v>
                </c:pt>
                <c:pt idx="52">
                  <c:v>0.218776</c:v>
                </c:pt>
                <c:pt idx="53">
                  <c:v>0.24266099999999999</c:v>
                </c:pt>
                <c:pt idx="54">
                  <c:v>0.26915299999999998</c:v>
                </c:pt>
                <c:pt idx="55">
                  <c:v>0.29853800000000003</c:v>
                </c:pt>
                <c:pt idx="56">
                  <c:v>0.33113100000000001</c:v>
                </c:pt>
                <c:pt idx="57">
                  <c:v>0.367282</c:v>
                </c:pt>
                <c:pt idx="58">
                  <c:v>0.40738000000000002</c:v>
                </c:pt>
                <c:pt idx="59">
                  <c:v>0.45185599999999998</c:v>
                </c:pt>
                <c:pt idx="60">
                  <c:v>0.50118700000000005</c:v>
                </c:pt>
              </c:numCache>
            </c:numRef>
          </c:xVal>
          <c:yVal>
            <c:numRef>
              <c:f>Sheet1!$B$2:$B$62</c:f>
              <c:numCache>
                <c:formatCode>General</c:formatCode>
                <c:ptCount val="61"/>
                <c:pt idx="0">
                  <c:v>0.437</c:v>
                </c:pt>
                <c:pt idx="1">
                  <c:v>0.48399999999999999</c:v>
                </c:pt>
                <c:pt idx="2">
                  <c:v>0.53700000000000003</c:v>
                </c:pt>
                <c:pt idx="3">
                  <c:v>0.59499999999999997</c:v>
                </c:pt>
                <c:pt idx="4">
                  <c:v>0.66</c:v>
                </c:pt>
                <c:pt idx="5">
                  <c:v>0.73199999999999998</c:v>
                </c:pt>
                <c:pt idx="6">
                  <c:v>0.81100000000000005</c:v>
                </c:pt>
                <c:pt idx="7">
                  <c:v>0.89900000000000002</c:v>
                </c:pt>
                <c:pt idx="8">
                  <c:v>0.996</c:v>
                </c:pt>
                <c:pt idx="9">
                  <c:v>1.1040000000000001</c:v>
                </c:pt>
                <c:pt idx="10">
                  <c:v>1.2230000000000001</c:v>
                </c:pt>
                <c:pt idx="11">
                  <c:v>1.3560000000000001</c:v>
                </c:pt>
                <c:pt idx="12">
                  <c:v>1.502</c:v>
                </c:pt>
                <c:pt idx="13">
                  <c:v>1.6639999999999999</c:v>
                </c:pt>
                <c:pt idx="14">
                  <c:v>1.843</c:v>
                </c:pt>
                <c:pt idx="15">
                  <c:v>2.0409999999999999</c:v>
                </c:pt>
                <c:pt idx="16">
                  <c:v>2.2599999999999998</c:v>
                </c:pt>
                <c:pt idx="17">
                  <c:v>2.5019999999999998</c:v>
                </c:pt>
                <c:pt idx="18">
                  <c:v>2.7690000000000001</c:v>
                </c:pt>
                <c:pt idx="19">
                  <c:v>3.0640000000000001</c:v>
                </c:pt>
                <c:pt idx="20">
                  <c:v>3.39</c:v>
                </c:pt>
                <c:pt idx="21">
                  <c:v>3.7490000000000001</c:v>
                </c:pt>
                <c:pt idx="22">
                  <c:v>4.1459999999999999</c:v>
                </c:pt>
                <c:pt idx="23">
                  <c:v>4.5819999999999999</c:v>
                </c:pt>
                <c:pt idx="24">
                  <c:v>5.0629999999999997</c:v>
                </c:pt>
                <c:pt idx="25">
                  <c:v>5.5919999999999996</c:v>
                </c:pt>
                <c:pt idx="26">
                  <c:v>6.173</c:v>
                </c:pt>
                <c:pt idx="27">
                  <c:v>6.8120000000000003</c:v>
                </c:pt>
                <c:pt idx="28">
                  <c:v>7.5119999999999996</c:v>
                </c:pt>
                <c:pt idx="29">
                  <c:v>8.2799999999999994</c:v>
                </c:pt>
                <c:pt idx="30">
                  <c:v>9.1210000000000004</c:v>
                </c:pt>
                <c:pt idx="31">
                  <c:v>10.039</c:v>
                </c:pt>
                <c:pt idx="32">
                  <c:v>11.042</c:v>
                </c:pt>
                <c:pt idx="33">
                  <c:v>12.134</c:v>
                </c:pt>
                <c:pt idx="34">
                  <c:v>13.323</c:v>
                </c:pt>
                <c:pt idx="35">
                  <c:v>14.613</c:v>
                </c:pt>
                <c:pt idx="36">
                  <c:v>16.012</c:v>
                </c:pt>
                <c:pt idx="37">
                  <c:v>17.523</c:v>
                </c:pt>
                <c:pt idx="38">
                  <c:v>19.152999999999999</c:v>
                </c:pt>
                <c:pt idx="39">
                  <c:v>20.907</c:v>
                </c:pt>
                <c:pt idx="40">
                  <c:v>22.788</c:v>
                </c:pt>
                <c:pt idx="41">
                  <c:v>24.8</c:v>
                </c:pt>
                <c:pt idx="42">
                  <c:v>26.943999999999999</c:v>
                </c:pt>
                <c:pt idx="43">
                  <c:v>29.222000000000001</c:v>
                </c:pt>
                <c:pt idx="44">
                  <c:v>31.634</c:v>
                </c:pt>
                <c:pt idx="45">
                  <c:v>34.177</c:v>
                </c:pt>
                <c:pt idx="46">
                  <c:v>36.847000000000001</c:v>
                </c:pt>
                <c:pt idx="47">
                  <c:v>39.639000000000003</c:v>
                </c:pt>
                <c:pt idx="48">
                  <c:v>42.545000000000002</c:v>
                </c:pt>
                <c:pt idx="49">
                  <c:v>45.557000000000002</c:v>
                </c:pt>
                <c:pt idx="50">
                  <c:v>48.661999999999999</c:v>
                </c:pt>
                <c:pt idx="51">
                  <c:v>51.848999999999997</c:v>
                </c:pt>
                <c:pt idx="52">
                  <c:v>55.101999999999997</c:v>
                </c:pt>
                <c:pt idx="53">
                  <c:v>58.405999999999999</c:v>
                </c:pt>
                <c:pt idx="54">
                  <c:v>61.744</c:v>
                </c:pt>
                <c:pt idx="55">
                  <c:v>65.097999999999999</c:v>
                </c:pt>
                <c:pt idx="56">
                  <c:v>68.45</c:v>
                </c:pt>
                <c:pt idx="57">
                  <c:v>71.783000000000001</c:v>
                </c:pt>
                <c:pt idx="58">
                  <c:v>75.078999999999994</c:v>
                </c:pt>
                <c:pt idx="59">
                  <c:v>78.319999999999993</c:v>
                </c:pt>
                <c:pt idx="60">
                  <c:v>81.492999999999995</c:v>
                </c:pt>
              </c:numCache>
            </c:numRef>
          </c:yVal>
          <c:smooth val="0"/>
          <c:extLst>
            <c:ext xmlns:c16="http://schemas.microsoft.com/office/drawing/2014/chart" uri="{C3380CC4-5D6E-409C-BE32-E72D297353CC}">
              <c16:uniqueId val="{00000000-AC20-B642-807E-BFCD442CE1E8}"/>
            </c:ext>
          </c:extLst>
        </c:ser>
        <c:ser>
          <c:idx val="1"/>
          <c:order val="1"/>
          <c:tx>
            <c:strRef>
              <c:f>Sheet1!$B$64</c:f>
              <c:strCache>
                <c:ptCount val="1"/>
                <c:pt idx="0">
                  <c:v>Eko</c:v>
                </c:pt>
              </c:strCache>
            </c:strRef>
          </c:tx>
          <c:spPr>
            <a:ln w="31750">
              <a:solidFill>
                <a:srgbClr val="0077A8"/>
              </a:solidFill>
            </a:ln>
          </c:spPr>
          <c:marker>
            <c:symbol val="none"/>
          </c:marker>
          <c:xVal>
            <c:numRef>
              <c:f>Sheet1!$A$65:$A$125</c:f>
              <c:numCache>
                <c:formatCode>General</c:formatCode>
                <c:ptCount val="61"/>
                <c:pt idx="0">
                  <c:v>1E-3</c:v>
                </c:pt>
                <c:pt idx="1">
                  <c:v>1.109E-3</c:v>
                </c:pt>
                <c:pt idx="2">
                  <c:v>1.23E-3</c:v>
                </c:pt>
                <c:pt idx="3">
                  <c:v>1.3649999999999999E-3</c:v>
                </c:pt>
                <c:pt idx="4">
                  <c:v>1.5139999999999999E-3</c:v>
                </c:pt>
                <c:pt idx="5">
                  <c:v>1.6789999999999999E-3</c:v>
                </c:pt>
                <c:pt idx="6">
                  <c:v>1.8619999999999999E-3</c:v>
                </c:pt>
                <c:pt idx="7">
                  <c:v>2.065E-3</c:v>
                </c:pt>
                <c:pt idx="8">
                  <c:v>2.2910000000000001E-3</c:v>
                </c:pt>
                <c:pt idx="9">
                  <c:v>2.5409999999999999E-3</c:v>
                </c:pt>
                <c:pt idx="10">
                  <c:v>2.8180000000000002E-3</c:v>
                </c:pt>
                <c:pt idx="11">
                  <c:v>3.1259999999999999E-3</c:v>
                </c:pt>
                <c:pt idx="12">
                  <c:v>3.467E-3</c:v>
                </c:pt>
                <c:pt idx="13">
                  <c:v>3.846E-3</c:v>
                </c:pt>
                <c:pt idx="14">
                  <c:v>4.2659999999999998E-3</c:v>
                </c:pt>
                <c:pt idx="15">
                  <c:v>4.7320000000000001E-3</c:v>
                </c:pt>
                <c:pt idx="16">
                  <c:v>5.2480000000000001E-3</c:v>
                </c:pt>
                <c:pt idx="17">
                  <c:v>5.8209999999999998E-3</c:v>
                </c:pt>
                <c:pt idx="18">
                  <c:v>6.4570000000000001E-3</c:v>
                </c:pt>
                <c:pt idx="19">
                  <c:v>7.1609999999999998E-3</c:v>
                </c:pt>
                <c:pt idx="20">
                  <c:v>7.9430000000000004E-3</c:v>
                </c:pt>
                <c:pt idx="21">
                  <c:v>8.8100000000000001E-3</c:v>
                </c:pt>
                <c:pt idx="22">
                  <c:v>9.7719999999999994E-3</c:v>
                </c:pt>
                <c:pt idx="23">
                  <c:v>1.0839E-2</c:v>
                </c:pt>
                <c:pt idx="24">
                  <c:v>1.2023000000000001E-2</c:v>
                </c:pt>
                <c:pt idx="25">
                  <c:v>1.3335E-2</c:v>
                </c:pt>
                <c:pt idx="26">
                  <c:v>1.4791E-2</c:v>
                </c:pt>
                <c:pt idx="27">
                  <c:v>1.6406E-2</c:v>
                </c:pt>
                <c:pt idx="28">
                  <c:v>1.8197000000000001E-2</c:v>
                </c:pt>
                <c:pt idx="29">
                  <c:v>2.0184000000000001E-2</c:v>
                </c:pt>
                <c:pt idx="30">
                  <c:v>2.2387000000000001E-2</c:v>
                </c:pt>
                <c:pt idx="31">
                  <c:v>2.4830999999999999E-2</c:v>
                </c:pt>
                <c:pt idx="32">
                  <c:v>2.7542000000000001E-2</c:v>
                </c:pt>
                <c:pt idx="33">
                  <c:v>3.0549E-2</c:v>
                </c:pt>
                <c:pt idx="34">
                  <c:v>3.3883999999999997E-2</c:v>
                </c:pt>
                <c:pt idx="35">
                  <c:v>3.7583999999999999E-2</c:v>
                </c:pt>
                <c:pt idx="36">
                  <c:v>4.1687000000000002E-2</c:v>
                </c:pt>
                <c:pt idx="37">
                  <c:v>4.6238000000000001E-2</c:v>
                </c:pt>
                <c:pt idx="38">
                  <c:v>5.1285999999999998E-2</c:v>
                </c:pt>
                <c:pt idx="39">
                  <c:v>5.6884999999999998E-2</c:v>
                </c:pt>
                <c:pt idx="40">
                  <c:v>6.3095999999999999E-2</c:v>
                </c:pt>
                <c:pt idx="41">
                  <c:v>6.9984000000000005E-2</c:v>
                </c:pt>
                <c:pt idx="42">
                  <c:v>7.7625E-2</c:v>
                </c:pt>
                <c:pt idx="43">
                  <c:v>8.6098999999999995E-2</c:v>
                </c:pt>
                <c:pt idx="44">
                  <c:v>9.5499000000000001E-2</c:v>
                </c:pt>
                <c:pt idx="45">
                  <c:v>0.10592500000000001</c:v>
                </c:pt>
                <c:pt idx="46">
                  <c:v>0.11749</c:v>
                </c:pt>
                <c:pt idx="47">
                  <c:v>0.13031699999999999</c:v>
                </c:pt>
                <c:pt idx="48">
                  <c:v>0.14454400000000001</c:v>
                </c:pt>
                <c:pt idx="49">
                  <c:v>0.160325</c:v>
                </c:pt>
                <c:pt idx="50">
                  <c:v>0.17782800000000001</c:v>
                </c:pt>
                <c:pt idx="51">
                  <c:v>0.197242</c:v>
                </c:pt>
                <c:pt idx="52">
                  <c:v>0.218776</c:v>
                </c:pt>
                <c:pt idx="53">
                  <c:v>0.24266099999999999</c:v>
                </c:pt>
                <c:pt idx="54">
                  <c:v>0.26915299999999998</c:v>
                </c:pt>
                <c:pt idx="55">
                  <c:v>0.29853800000000003</c:v>
                </c:pt>
                <c:pt idx="56">
                  <c:v>0.33113100000000001</c:v>
                </c:pt>
                <c:pt idx="57">
                  <c:v>0.367282</c:v>
                </c:pt>
                <c:pt idx="58">
                  <c:v>0.40738000000000002</c:v>
                </c:pt>
                <c:pt idx="59">
                  <c:v>0.45185599999999998</c:v>
                </c:pt>
                <c:pt idx="60">
                  <c:v>0.50118700000000005</c:v>
                </c:pt>
              </c:numCache>
            </c:numRef>
          </c:xVal>
          <c:yVal>
            <c:numRef>
              <c:f>Sheet1!$B$65:$B$125</c:f>
              <c:numCache>
                <c:formatCode>General</c:formatCode>
                <c:ptCount val="61"/>
                <c:pt idx="0">
                  <c:v>0.97599999999999998</c:v>
                </c:pt>
                <c:pt idx="1">
                  <c:v>1.081</c:v>
                </c:pt>
                <c:pt idx="2">
                  <c:v>1.198</c:v>
                </c:pt>
                <c:pt idx="3">
                  <c:v>1.327</c:v>
                </c:pt>
                <c:pt idx="4">
                  <c:v>1.47</c:v>
                </c:pt>
                <c:pt idx="5">
                  <c:v>1.6279999999999999</c:v>
                </c:pt>
                <c:pt idx="6">
                  <c:v>1.8029999999999999</c:v>
                </c:pt>
                <c:pt idx="7">
                  <c:v>1.996</c:v>
                </c:pt>
                <c:pt idx="8">
                  <c:v>2.21</c:v>
                </c:pt>
                <c:pt idx="9">
                  <c:v>2.4460000000000002</c:v>
                </c:pt>
                <c:pt idx="10">
                  <c:v>2.7069999999999999</c:v>
                </c:pt>
                <c:pt idx="11">
                  <c:v>2.9940000000000002</c:v>
                </c:pt>
                <c:pt idx="12">
                  <c:v>3.3109999999999999</c:v>
                </c:pt>
                <c:pt idx="13">
                  <c:v>3.661</c:v>
                </c:pt>
                <c:pt idx="14">
                  <c:v>4.0460000000000003</c:v>
                </c:pt>
                <c:pt idx="15">
                  <c:v>4.47</c:v>
                </c:pt>
                <c:pt idx="16">
                  <c:v>4.9359999999999999</c:v>
                </c:pt>
                <c:pt idx="17">
                  <c:v>5.4489999999999998</c:v>
                </c:pt>
                <c:pt idx="18">
                  <c:v>6.0119999999999996</c:v>
                </c:pt>
                <c:pt idx="19">
                  <c:v>6.6289999999999996</c:v>
                </c:pt>
                <c:pt idx="20">
                  <c:v>7.3049999999999997</c:v>
                </c:pt>
                <c:pt idx="21">
                  <c:v>8.0449999999999999</c:v>
                </c:pt>
                <c:pt idx="22">
                  <c:v>8.8539999999999992</c:v>
                </c:pt>
                <c:pt idx="23">
                  <c:v>9.7360000000000007</c:v>
                </c:pt>
                <c:pt idx="24">
                  <c:v>10.696</c:v>
                </c:pt>
                <c:pt idx="25">
                  <c:v>11.741</c:v>
                </c:pt>
                <c:pt idx="26">
                  <c:v>12.875</c:v>
                </c:pt>
                <c:pt idx="27">
                  <c:v>14.102</c:v>
                </c:pt>
                <c:pt idx="28">
                  <c:v>15.428000000000001</c:v>
                </c:pt>
                <c:pt idx="29">
                  <c:v>16.856999999999999</c:v>
                </c:pt>
                <c:pt idx="30">
                  <c:v>18.393999999999998</c:v>
                </c:pt>
                <c:pt idx="31">
                  <c:v>20.04</c:v>
                </c:pt>
                <c:pt idx="32">
                  <c:v>21.8</c:v>
                </c:pt>
                <c:pt idx="33">
                  <c:v>23.673999999999999</c:v>
                </c:pt>
                <c:pt idx="34">
                  <c:v>25.661999999999999</c:v>
                </c:pt>
                <c:pt idx="35">
                  <c:v>27.765000000000001</c:v>
                </c:pt>
                <c:pt idx="36">
                  <c:v>29.98</c:v>
                </c:pt>
                <c:pt idx="37">
                  <c:v>32.302999999999997</c:v>
                </c:pt>
                <c:pt idx="38">
                  <c:v>34.728999999999999</c:v>
                </c:pt>
                <c:pt idx="39">
                  <c:v>37.252000000000002</c:v>
                </c:pt>
                <c:pt idx="40">
                  <c:v>39.862000000000002</c:v>
                </c:pt>
                <c:pt idx="41">
                  <c:v>42.551000000000002</c:v>
                </c:pt>
                <c:pt idx="42">
                  <c:v>45.305</c:v>
                </c:pt>
                <c:pt idx="43">
                  <c:v>48.113999999999997</c:v>
                </c:pt>
                <c:pt idx="44">
                  <c:v>50.962000000000003</c:v>
                </c:pt>
                <c:pt idx="45">
                  <c:v>53.834000000000003</c:v>
                </c:pt>
                <c:pt idx="46">
                  <c:v>56.716999999999999</c:v>
                </c:pt>
                <c:pt idx="47">
                  <c:v>59.594000000000001</c:v>
                </c:pt>
                <c:pt idx="48">
                  <c:v>62.45</c:v>
                </c:pt>
                <c:pt idx="49">
                  <c:v>65.27</c:v>
                </c:pt>
                <c:pt idx="50">
                  <c:v>68.040000000000006</c:v>
                </c:pt>
                <c:pt idx="51">
                  <c:v>70.747</c:v>
                </c:pt>
                <c:pt idx="52">
                  <c:v>73.379000000000005</c:v>
                </c:pt>
                <c:pt idx="53">
                  <c:v>75.924999999999997</c:v>
                </c:pt>
                <c:pt idx="54">
                  <c:v>78.378</c:v>
                </c:pt>
                <c:pt idx="55">
                  <c:v>80.727999999999994</c:v>
                </c:pt>
                <c:pt idx="56">
                  <c:v>82.971999999999994</c:v>
                </c:pt>
                <c:pt idx="57">
                  <c:v>85.105000000000004</c:v>
                </c:pt>
                <c:pt idx="58">
                  <c:v>87.123999999999995</c:v>
                </c:pt>
                <c:pt idx="59">
                  <c:v>89.028000000000006</c:v>
                </c:pt>
                <c:pt idx="60">
                  <c:v>90.816999999999993</c:v>
                </c:pt>
              </c:numCache>
            </c:numRef>
          </c:yVal>
          <c:smooth val="0"/>
          <c:extLst>
            <c:ext xmlns:c16="http://schemas.microsoft.com/office/drawing/2014/chart" uri="{C3380CC4-5D6E-409C-BE32-E72D297353CC}">
              <c16:uniqueId val="{00000001-AC20-B642-807E-BFCD442CE1E8}"/>
            </c:ext>
          </c:extLst>
        </c:ser>
        <c:ser>
          <c:idx val="2"/>
          <c:order val="2"/>
          <c:tx>
            <c:strRef>
              <c:f>Sheet1!$B$127</c:f>
              <c:strCache>
                <c:ptCount val="1"/>
                <c:pt idx="0">
                  <c:v>PathAI</c:v>
                </c:pt>
              </c:strCache>
            </c:strRef>
          </c:tx>
          <c:spPr>
            <a:ln w="31750">
              <a:solidFill>
                <a:srgbClr val="2E8B57"/>
              </a:solidFill>
            </a:ln>
          </c:spPr>
          <c:marker>
            <c:symbol val="none"/>
          </c:marker>
          <c:xVal>
            <c:numRef>
              <c:f>Sheet1!$A$128:$A$188</c:f>
              <c:numCache>
                <c:formatCode>General</c:formatCode>
                <c:ptCount val="61"/>
                <c:pt idx="0">
                  <c:v>1E-3</c:v>
                </c:pt>
                <c:pt idx="1">
                  <c:v>1.109E-3</c:v>
                </c:pt>
                <c:pt idx="2">
                  <c:v>1.23E-3</c:v>
                </c:pt>
                <c:pt idx="3">
                  <c:v>1.3649999999999999E-3</c:v>
                </c:pt>
                <c:pt idx="4">
                  <c:v>1.5139999999999999E-3</c:v>
                </c:pt>
                <c:pt idx="5">
                  <c:v>1.6789999999999999E-3</c:v>
                </c:pt>
                <c:pt idx="6">
                  <c:v>1.8619999999999999E-3</c:v>
                </c:pt>
                <c:pt idx="7">
                  <c:v>2.065E-3</c:v>
                </c:pt>
                <c:pt idx="8">
                  <c:v>2.2910000000000001E-3</c:v>
                </c:pt>
                <c:pt idx="9">
                  <c:v>2.5409999999999999E-3</c:v>
                </c:pt>
                <c:pt idx="10">
                  <c:v>2.8180000000000002E-3</c:v>
                </c:pt>
                <c:pt idx="11">
                  <c:v>3.1259999999999999E-3</c:v>
                </c:pt>
                <c:pt idx="12">
                  <c:v>3.467E-3</c:v>
                </c:pt>
                <c:pt idx="13">
                  <c:v>3.846E-3</c:v>
                </c:pt>
                <c:pt idx="14">
                  <c:v>4.2659999999999998E-3</c:v>
                </c:pt>
                <c:pt idx="15">
                  <c:v>4.7320000000000001E-3</c:v>
                </c:pt>
                <c:pt idx="16">
                  <c:v>5.2480000000000001E-3</c:v>
                </c:pt>
                <c:pt idx="17">
                  <c:v>5.8209999999999998E-3</c:v>
                </c:pt>
                <c:pt idx="18">
                  <c:v>6.4570000000000001E-3</c:v>
                </c:pt>
                <c:pt idx="19">
                  <c:v>7.1609999999999998E-3</c:v>
                </c:pt>
                <c:pt idx="20">
                  <c:v>7.9430000000000004E-3</c:v>
                </c:pt>
                <c:pt idx="21">
                  <c:v>8.8100000000000001E-3</c:v>
                </c:pt>
                <c:pt idx="22">
                  <c:v>9.7719999999999994E-3</c:v>
                </c:pt>
                <c:pt idx="23">
                  <c:v>1.0839E-2</c:v>
                </c:pt>
                <c:pt idx="24">
                  <c:v>1.2023000000000001E-2</c:v>
                </c:pt>
                <c:pt idx="25">
                  <c:v>1.3335E-2</c:v>
                </c:pt>
                <c:pt idx="26">
                  <c:v>1.4791E-2</c:v>
                </c:pt>
                <c:pt idx="27">
                  <c:v>1.6406E-2</c:v>
                </c:pt>
                <c:pt idx="28">
                  <c:v>1.8197000000000001E-2</c:v>
                </c:pt>
                <c:pt idx="29">
                  <c:v>2.0184000000000001E-2</c:v>
                </c:pt>
                <c:pt idx="30">
                  <c:v>2.2387000000000001E-2</c:v>
                </c:pt>
                <c:pt idx="31">
                  <c:v>2.4830999999999999E-2</c:v>
                </c:pt>
                <c:pt idx="32">
                  <c:v>2.7542000000000001E-2</c:v>
                </c:pt>
                <c:pt idx="33">
                  <c:v>3.0549E-2</c:v>
                </c:pt>
                <c:pt idx="34">
                  <c:v>3.3883999999999997E-2</c:v>
                </c:pt>
                <c:pt idx="35">
                  <c:v>3.7583999999999999E-2</c:v>
                </c:pt>
                <c:pt idx="36">
                  <c:v>4.1687000000000002E-2</c:v>
                </c:pt>
                <c:pt idx="37">
                  <c:v>4.6238000000000001E-2</c:v>
                </c:pt>
                <c:pt idx="38">
                  <c:v>5.1285999999999998E-2</c:v>
                </c:pt>
                <c:pt idx="39">
                  <c:v>5.6884999999999998E-2</c:v>
                </c:pt>
                <c:pt idx="40">
                  <c:v>6.3095999999999999E-2</c:v>
                </c:pt>
                <c:pt idx="41">
                  <c:v>6.9984000000000005E-2</c:v>
                </c:pt>
                <c:pt idx="42">
                  <c:v>7.7625E-2</c:v>
                </c:pt>
                <c:pt idx="43">
                  <c:v>8.6098999999999995E-2</c:v>
                </c:pt>
                <c:pt idx="44">
                  <c:v>9.5499000000000001E-2</c:v>
                </c:pt>
                <c:pt idx="45">
                  <c:v>0.10592500000000001</c:v>
                </c:pt>
                <c:pt idx="46">
                  <c:v>0.11749</c:v>
                </c:pt>
                <c:pt idx="47">
                  <c:v>0.13031699999999999</c:v>
                </c:pt>
                <c:pt idx="48">
                  <c:v>0.14454400000000001</c:v>
                </c:pt>
                <c:pt idx="49">
                  <c:v>0.160325</c:v>
                </c:pt>
                <c:pt idx="50">
                  <c:v>0.17782800000000001</c:v>
                </c:pt>
                <c:pt idx="51">
                  <c:v>0.197242</c:v>
                </c:pt>
                <c:pt idx="52">
                  <c:v>0.218776</c:v>
                </c:pt>
                <c:pt idx="53">
                  <c:v>0.24266099999999999</c:v>
                </c:pt>
                <c:pt idx="54">
                  <c:v>0.26915299999999998</c:v>
                </c:pt>
                <c:pt idx="55">
                  <c:v>0.29853800000000003</c:v>
                </c:pt>
                <c:pt idx="56">
                  <c:v>0.33113100000000001</c:v>
                </c:pt>
                <c:pt idx="57">
                  <c:v>0.367282</c:v>
                </c:pt>
                <c:pt idx="58">
                  <c:v>0.40738000000000002</c:v>
                </c:pt>
                <c:pt idx="59">
                  <c:v>0.45185599999999998</c:v>
                </c:pt>
                <c:pt idx="60">
                  <c:v>0.50118700000000005</c:v>
                </c:pt>
              </c:numCache>
            </c:numRef>
          </c:xVal>
          <c:yVal>
            <c:numRef>
              <c:f>Sheet1!$B$128:$B$188</c:f>
              <c:numCache>
                <c:formatCode>General</c:formatCode>
                <c:ptCount val="61"/>
                <c:pt idx="0">
                  <c:v>1.504</c:v>
                </c:pt>
                <c:pt idx="1">
                  <c:v>1.6659999999999999</c:v>
                </c:pt>
                <c:pt idx="2">
                  <c:v>1.845</c:v>
                </c:pt>
                <c:pt idx="3">
                  <c:v>2.0419999999999998</c:v>
                </c:pt>
                <c:pt idx="4">
                  <c:v>2.2610000000000001</c:v>
                </c:pt>
                <c:pt idx="5">
                  <c:v>2.5019999999999998</c:v>
                </c:pt>
                <c:pt idx="6">
                  <c:v>2.7679999999999998</c:v>
                </c:pt>
                <c:pt idx="7">
                  <c:v>3.0609999999999999</c:v>
                </c:pt>
                <c:pt idx="8">
                  <c:v>3.3849999999999998</c:v>
                </c:pt>
                <c:pt idx="9">
                  <c:v>3.7410000000000001</c:v>
                </c:pt>
                <c:pt idx="10">
                  <c:v>4.1340000000000003</c:v>
                </c:pt>
                <c:pt idx="11">
                  <c:v>4.5659999999999998</c:v>
                </c:pt>
                <c:pt idx="12">
                  <c:v>5.0410000000000004</c:v>
                </c:pt>
                <c:pt idx="13">
                  <c:v>5.5629999999999997</c:v>
                </c:pt>
                <c:pt idx="14">
                  <c:v>6.1360000000000001</c:v>
                </c:pt>
                <c:pt idx="15">
                  <c:v>6.7629999999999999</c:v>
                </c:pt>
                <c:pt idx="16">
                  <c:v>7.45</c:v>
                </c:pt>
                <c:pt idx="17">
                  <c:v>8.2010000000000005</c:v>
                </c:pt>
                <c:pt idx="18">
                  <c:v>9.0210000000000008</c:v>
                </c:pt>
                <c:pt idx="19">
                  <c:v>9.9149999999999991</c:v>
                </c:pt>
                <c:pt idx="20">
                  <c:v>10.887</c:v>
                </c:pt>
                <c:pt idx="21">
                  <c:v>11.943</c:v>
                </c:pt>
                <c:pt idx="22">
                  <c:v>13.087</c:v>
                </c:pt>
                <c:pt idx="23">
                  <c:v>14.324999999999999</c:v>
                </c:pt>
                <c:pt idx="24">
                  <c:v>15.66</c:v>
                </c:pt>
                <c:pt idx="25">
                  <c:v>17.096</c:v>
                </c:pt>
                <c:pt idx="26">
                  <c:v>18.638000000000002</c:v>
                </c:pt>
                <c:pt idx="27">
                  <c:v>20.286999999999999</c:v>
                </c:pt>
                <c:pt idx="28">
                  <c:v>22.045000000000002</c:v>
                </c:pt>
                <c:pt idx="29">
                  <c:v>23.914000000000001</c:v>
                </c:pt>
                <c:pt idx="30">
                  <c:v>25.893000000000001</c:v>
                </c:pt>
                <c:pt idx="31">
                  <c:v>27.981000000000002</c:v>
                </c:pt>
                <c:pt idx="32">
                  <c:v>30.175000000000001</c:v>
                </c:pt>
                <c:pt idx="33">
                  <c:v>32.469000000000001</c:v>
                </c:pt>
                <c:pt idx="34">
                  <c:v>34.86</c:v>
                </c:pt>
                <c:pt idx="35">
                  <c:v>37.337000000000003</c:v>
                </c:pt>
                <c:pt idx="36">
                  <c:v>39.893999999999998</c:v>
                </c:pt>
                <c:pt idx="37">
                  <c:v>42.518999999999998</c:v>
                </c:pt>
                <c:pt idx="38">
                  <c:v>45.2</c:v>
                </c:pt>
                <c:pt idx="39">
                  <c:v>47.924999999999997</c:v>
                </c:pt>
                <c:pt idx="40">
                  <c:v>50.679000000000002</c:v>
                </c:pt>
                <c:pt idx="41">
                  <c:v>53.448999999999998</c:v>
                </c:pt>
                <c:pt idx="42">
                  <c:v>56.219000000000001</c:v>
                </c:pt>
                <c:pt idx="43">
                  <c:v>58.973999999999997</c:v>
                </c:pt>
                <c:pt idx="44">
                  <c:v>61.7</c:v>
                </c:pt>
                <c:pt idx="45">
                  <c:v>64.384</c:v>
                </c:pt>
                <c:pt idx="46">
                  <c:v>67.010999999999996</c:v>
                </c:pt>
                <c:pt idx="47">
                  <c:v>69.570999999999998</c:v>
                </c:pt>
                <c:pt idx="48">
                  <c:v>72.052000000000007</c:v>
                </c:pt>
                <c:pt idx="49">
                  <c:v>74.445999999999998</c:v>
                </c:pt>
                <c:pt idx="50">
                  <c:v>76.745000000000005</c:v>
                </c:pt>
                <c:pt idx="51">
                  <c:v>78.942999999999998</c:v>
                </c:pt>
                <c:pt idx="52">
                  <c:v>81.034999999999997</c:v>
                </c:pt>
                <c:pt idx="53">
                  <c:v>83.019000000000005</c:v>
                </c:pt>
                <c:pt idx="54">
                  <c:v>84.891999999999996</c:v>
                </c:pt>
                <c:pt idx="55">
                  <c:v>86.656000000000006</c:v>
                </c:pt>
                <c:pt idx="56">
                  <c:v>88.308999999999997</c:v>
                </c:pt>
                <c:pt idx="57">
                  <c:v>89.855000000000004</c:v>
                </c:pt>
                <c:pt idx="58">
                  <c:v>91.296000000000006</c:v>
                </c:pt>
                <c:pt idx="59">
                  <c:v>92.635000000000005</c:v>
                </c:pt>
                <c:pt idx="60">
                  <c:v>93.876999999999995</c:v>
                </c:pt>
              </c:numCache>
            </c:numRef>
          </c:yVal>
          <c:smooth val="0"/>
          <c:extLst>
            <c:ext xmlns:c16="http://schemas.microsoft.com/office/drawing/2014/chart" uri="{C3380CC4-5D6E-409C-BE32-E72D297353CC}">
              <c16:uniqueId val="{00000002-AC20-B642-807E-BFCD442CE1E8}"/>
            </c:ext>
          </c:extLst>
        </c:ser>
        <c:ser>
          <c:idx val="3"/>
          <c:order val="3"/>
          <c:tx>
            <c:strRef>
              <c:f>Sheet1!$B$190</c:f>
              <c:strCache>
                <c:ptCount val="1"/>
                <c:pt idx="0">
                  <c:v>Benchmark 99/80</c:v>
                </c:pt>
              </c:strCache>
            </c:strRef>
          </c:tx>
          <c:spPr>
            <a:ln w="31750">
              <a:solidFill>
                <a:srgbClr val="8E5AA8"/>
              </a:solidFill>
              <a:prstDash val="dash"/>
            </a:ln>
          </c:spPr>
          <c:marker>
            <c:symbol val="none"/>
          </c:marker>
          <c:xVal>
            <c:numRef>
              <c:f>Sheet1!$A$191:$A$251</c:f>
              <c:numCache>
                <c:formatCode>General</c:formatCode>
                <c:ptCount val="61"/>
                <c:pt idx="0">
                  <c:v>1E-3</c:v>
                </c:pt>
                <c:pt idx="1">
                  <c:v>1.109E-3</c:v>
                </c:pt>
                <c:pt idx="2">
                  <c:v>1.23E-3</c:v>
                </c:pt>
                <c:pt idx="3">
                  <c:v>1.3649999999999999E-3</c:v>
                </c:pt>
                <c:pt idx="4">
                  <c:v>1.5139999999999999E-3</c:v>
                </c:pt>
                <c:pt idx="5">
                  <c:v>1.6789999999999999E-3</c:v>
                </c:pt>
                <c:pt idx="6">
                  <c:v>1.8619999999999999E-3</c:v>
                </c:pt>
                <c:pt idx="7">
                  <c:v>2.065E-3</c:v>
                </c:pt>
                <c:pt idx="8">
                  <c:v>2.2910000000000001E-3</c:v>
                </c:pt>
                <c:pt idx="9">
                  <c:v>2.5409999999999999E-3</c:v>
                </c:pt>
                <c:pt idx="10">
                  <c:v>2.8180000000000002E-3</c:v>
                </c:pt>
                <c:pt idx="11">
                  <c:v>3.1259999999999999E-3</c:v>
                </c:pt>
                <c:pt idx="12">
                  <c:v>3.467E-3</c:v>
                </c:pt>
                <c:pt idx="13">
                  <c:v>3.846E-3</c:v>
                </c:pt>
                <c:pt idx="14">
                  <c:v>4.2659999999999998E-3</c:v>
                </c:pt>
                <c:pt idx="15">
                  <c:v>4.7320000000000001E-3</c:v>
                </c:pt>
                <c:pt idx="16">
                  <c:v>5.2480000000000001E-3</c:v>
                </c:pt>
                <c:pt idx="17">
                  <c:v>5.8209999999999998E-3</c:v>
                </c:pt>
                <c:pt idx="18">
                  <c:v>6.4570000000000001E-3</c:v>
                </c:pt>
                <c:pt idx="19">
                  <c:v>7.1609999999999998E-3</c:v>
                </c:pt>
                <c:pt idx="20">
                  <c:v>7.9430000000000004E-3</c:v>
                </c:pt>
                <c:pt idx="21">
                  <c:v>8.8100000000000001E-3</c:v>
                </c:pt>
                <c:pt idx="22">
                  <c:v>9.7719999999999994E-3</c:v>
                </c:pt>
                <c:pt idx="23">
                  <c:v>1.0839E-2</c:v>
                </c:pt>
                <c:pt idx="24">
                  <c:v>1.2023000000000001E-2</c:v>
                </c:pt>
                <c:pt idx="25">
                  <c:v>1.3335E-2</c:v>
                </c:pt>
                <c:pt idx="26">
                  <c:v>1.4791E-2</c:v>
                </c:pt>
                <c:pt idx="27">
                  <c:v>1.6406E-2</c:v>
                </c:pt>
                <c:pt idx="28">
                  <c:v>1.8197000000000001E-2</c:v>
                </c:pt>
                <c:pt idx="29">
                  <c:v>2.0184000000000001E-2</c:v>
                </c:pt>
                <c:pt idx="30">
                  <c:v>2.2387000000000001E-2</c:v>
                </c:pt>
                <c:pt idx="31">
                  <c:v>2.4830999999999999E-2</c:v>
                </c:pt>
                <c:pt idx="32">
                  <c:v>2.7542000000000001E-2</c:v>
                </c:pt>
                <c:pt idx="33">
                  <c:v>3.0549E-2</c:v>
                </c:pt>
                <c:pt idx="34">
                  <c:v>3.3883999999999997E-2</c:v>
                </c:pt>
                <c:pt idx="35">
                  <c:v>3.7583999999999999E-2</c:v>
                </c:pt>
                <c:pt idx="36">
                  <c:v>4.1687000000000002E-2</c:v>
                </c:pt>
                <c:pt idx="37">
                  <c:v>4.6238000000000001E-2</c:v>
                </c:pt>
                <c:pt idx="38">
                  <c:v>5.1285999999999998E-2</c:v>
                </c:pt>
                <c:pt idx="39">
                  <c:v>5.6884999999999998E-2</c:v>
                </c:pt>
                <c:pt idx="40">
                  <c:v>6.3095999999999999E-2</c:v>
                </c:pt>
                <c:pt idx="41">
                  <c:v>6.9984000000000005E-2</c:v>
                </c:pt>
                <c:pt idx="42">
                  <c:v>7.7625E-2</c:v>
                </c:pt>
                <c:pt idx="43">
                  <c:v>8.6098999999999995E-2</c:v>
                </c:pt>
                <c:pt idx="44">
                  <c:v>9.5499000000000001E-2</c:v>
                </c:pt>
                <c:pt idx="45">
                  <c:v>0.10592500000000001</c:v>
                </c:pt>
                <c:pt idx="46">
                  <c:v>0.11749</c:v>
                </c:pt>
                <c:pt idx="47">
                  <c:v>0.13031699999999999</c:v>
                </c:pt>
                <c:pt idx="48">
                  <c:v>0.14454400000000001</c:v>
                </c:pt>
                <c:pt idx="49">
                  <c:v>0.160325</c:v>
                </c:pt>
                <c:pt idx="50">
                  <c:v>0.17782800000000001</c:v>
                </c:pt>
                <c:pt idx="51">
                  <c:v>0.197242</c:v>
                </c:pt>
                <c:pt idx="52">
                  <c:v>0.218776</c:v>
                </c:pt>
                <c:pt idx="53">
                  <c:v>0.24266099999999999</c:v>
                </c:pt>
                <c:pt idx="54">
                  <c:v>0.26915299999999998</c:v>
                </c:pt>
                <c:pt idx="55">
                  <c:v>0.29853800000000003</c:v>
                </c:pt>
                <c:pt idx="56">
                  <c:v>0.33113100000000001</c:v>
                </c:pt>
                <c:pt idx="57">
                  <c:v>0.367282</c:v>
                </c:pt>
                <c:pt idx="58">
                  <c:v>0.40738000000000002</c:v>
                </c:pt>
                <c:pt idx="59">
                  <c:v>0.45185599999999998</c:v>
                </c:pt>
                <c:pt idx="60">
                  <c:v>0.50118700000000005</c:v>
                </c:pt>
              </c:numCache>
            </c:numRef>
          </c:xVal>
          <c:yVal>
            <c:numRef>
              <c:f>Sheet1!$B$191:$B$251</c:f>
              <c:numCache>
                <c:formatCode>General</c:formatCode>
                <c:ptCount val="61"/>
                <c:pt idx="0">
                  <c:v>0.49299999999999999</c:v>
                </c:pt>
                <c:pt idx="1">
                  <c:v>0.54700000000000004</c:v>
                </c:pt>
                <c:pt idx="2">
                  <c:v>0.60599999999999998</c:v>
                </c:pt>
                <c:pt idx="3">
                  <c:v>0.67200000000000004</c:v>
                </c:pt>
                <c:pt idx="4">
                  <c:v>0.745</c:v>
                </c:pt>
                <c:pt idx="5">
                  <c:v>0.82599999999999996</c:v>
                </c:pt>
                <c:pt idx="6">
                  <c:v>0.91500000000000004</c:v>
                </c:pt>
                <c:pt idx="7">
                  <c:v>1.014</c:v>
                </c:pt>
                <c:pt idx="8">
                  <c:v>1.1240000000000001</c:v>
                </c:pt>
                <c:pt idx="9">
                  <c:v>1.2450000000000001</c:v>
                </c:pt>
                <c:pt idx="10">
                  <c:v>1.38</c:v>
                </c:pt>
                <c:pt idx="11">
                  <c:v>1.5289999999999999</c:v>
                </c:pt>
                <c:pt idx="12">
                  <c:v>1.6930000000000001</c:v>
                </c:pt>
                <c:pt idx="13">
                  <c:v>1.875</c:v>
                </c:pt>
                <c:pt idx="14">
                  <c:v>2.077</c:v>
                </c:pt>
                <c:pt idx="15">
                  <c:v>2.2989999999999999</c:v>
                </c:pt>
                <c:pt idx="16">
                  <c:v>2.5449999999999999</c:v>
                </c:pt>
                <c:pt idx="17">
                  <c:v>2.8170000000000002</c:v>
                </c:pt>
                <c:pt idx="18">
                  <c:v>3.117</c:v>
                </c:pt>
                <c:pt idx="19">
                  <c:v>3.4470000000000001</c:v>
                </c:pt>
                <c:pt idx="20">
                  <c:v>3.8119999999999998</c:v>
                </c:pt>
                <c:pt idx="21">
                  <c:v>4.2149999999999999</c:v>
                </c:pt>
                <c:pt idx="22">
                  <c:v>4.6580000000000004</c:v>
                </c:pt>
                <c:pt idx="23">
                  <c:v>5.1449999999999996</c:v>
                </c:pt>
                <c:pt idx="24">
                  <c:v>5.681</c:v>
                </c:pt>
                <c:pt idx="25">
                  <c:v>6.2709999999999999</c:v>
                </c:pt>
                <c:pt idx="26">
                  <c:v>6.9169999999999998</c:v>
                </c:pt>
                <c:pt idx="27">
                  <c:v>7.6269999999999998</c:v>
                </c:pt>
                <c:pt idx="28">
                  <c:v>8.4030000000000005</c:v>
                </c:pt>
                <c:pt idx="29">
                  <c:v>9.2530000000000001</c:v>
                </c:pt>
                <c:pt idx="30">
                  <c:v>10.180999999999999</c:v>
                </c:pt>
                <c:pt idx="31">
                  <c:v>11.194000000000001</c:v>
                </c:pt>
                <c:pt idx="32">
                  <c:v>12.295999999999999</c:v>
                </c:pt>
                <c:pt idx="33">
                  <c:v>13.494</c:v>
                </c:pt>
                <c:pt idx="34">
                  <c:v>14.792999999999999</c:v>
                </c:pt>
                <c:pt idx="35">
                  <c:v>16.199000000000002</c:v>
                </c:pt>
                <c:pt idx="36">
                  <c:v>17.718</c:v>
                </c:pt>
                <c:pt idx="37">
                  <c:v>19.353000000000002</c:v>
                </c:pt>
                <c:pt idx="38">
                  <c:v>21.11</c:v>
                </c:pt>
                <c:pt idx="39">
                  <c:v>22.992000000000001</c:v>
                </c:pt>
                <c:pt idx="40">
                  <c:v>25.001000000000001</c:v>
                </c:pt>
                <c:pt idx="41">
                  <c:v>27.14</c:v>
                </c:pt>
                <c:pt idx="42">
                  <c:v>29.407</c:v>
                </c:pt>
                <c:pt idx="43">
                  <c:v>31.803000000000001</c:v>
                </c:pt>
                <c:pt idx="44">
                  <c:v>34.323999999999998</c:v>
                </c:pt>
                <c:pt idx="45">
                  <c:v>36.966000000000001</c:v>
                </c:pt>
                <c:pt idx="46">
                  <c:v>39.722999999999999</c:v>
                </c:pt>
                <c:pt idx="47">
                  <c:v>42.585999999999999</c:v>
                </c:pt>
                <c:pt idx="48">
                  <c:v>45.545000000000002</c:v>
                </c:pt>
                <c:pt idx="49">
                  <c:v>48.59</c:v>
                </c:pt>
                <c:pt idx="50">
                  <c:v>51.706000000000003</c:v>
                </c:pt>
                <c:pt idx="51">
                  <c:v>54.878999999999998</c:v>
                </c:pt>
                <c:pt idx="52">
                  <c:v>58.093000000000004</c:v>
                </c:pt>
                <c:pt idx="53">
                  <c:v>61.331000000000003</c:v>
                </c:pt>
                <c:pt idx="54">
                  <c:v>64.575999999999993</c:v>
                </c:pt>
                <c:pt idx="55">
                  <c:v>67.811000000000007</c:v>
                </c:pt>
                <c:pt idx="56">
                  <c:v>71.019000000000005</c:v>
                </c:pt>
                <c:pt idx="57">
                  <c:v>74.183000000000007</c:v>
                </c:pt>
                <c:pt idx="58">
                  <c:v>77.287000000000006</c:v>
                </c:pt>
                <c:pt idx="59">
                  <c:v>80.316999999999993</c:v>
                </c:pt>
                <c:pt idx="60">
                  <c:v>83.26</c:v>
                </c:pt>
              </c:numCache>
            </c:numRef>
          </c:yVal>
          <c:smooth val="0"/>
          <c:extLst>
            <c:ext xmlns:c16="http://schemas.microsoft.com/office/drawing/2014/chart" uri="{C3380CC4-5D6E-409C-BE32-E72D297353CC}">
              <c16:uniqueId val="{00000003-AC20-B642-807E-BFCD442CE1E8}"/>
            </c:ext>
          </c:extLst>
        </c:ser>
        <c:ser>
          <c:idx val="4"/>
          <c:order val="4"/>
          <c:tx>
            <c:strRef>
              <c:f>Sheet1!$B$253</c:f>
              <c:strCache>
                <c:ptCount val="1"/>
                <c:pt idx="0">
                  <c:v>1% prevalence</c:v>
                </c:pt>
              </c:strCache>
            </c:strRef>
          </c:tx>
          <c:spPr>
            <a:ln w="15875">
              <a:solidFill>
                <a:srgbClr val="9AA3A9"/>
              </a:solidFill>
              <a:prstDash val="sysDash"/>
            </a:ln>
          </c:spPr>
          <c:marker>
            <c:symbol val="none"/>
          </c:marker>
          <c:xVal>
            <c:numRef>
              <c:f>Sheet1!$A$254:$A$255</c:f>
              <c:numCache>
                <c:formatCode>General</c:formatCode>
                <c:ptCount val="2"/>
                <c:pt idx="0">
                  <c:v>0.01</c:v>
                </c:pt>
                <c:pt idx="1">
                  <c:v>0.01</c:v>
                </c:pt>
              </c:numCache>
            </c:numRef>
          </c:xVal>
          <c:yVal>
            <c:numRef>
              <c:f>Sheet1!$B$254:$B$255</c:f>
              <c:numCache>
                <c:formatCode>General</c:formatCode>
                <c:ptCount val="2"/>
                <c:pt idx="0">
                  <c:v>0</c:v>
                </c:pt>
                <c:pt idx="1">
                  <c:v>100</c:v>
                </c:pt>
              </c:numCache>
            </c:numRef>
          </c:yVal>
          <c:smooth val="0"/>
          <c:extLst>
            <c:ext xmlns:c16="http://schemas.microsoft.com/office/drawing/2014/chart" uri="{C3380CC4-5D6E-409C-BE32-E72D297353CC}">
              <c16:uniqueId val="{00000004-AC20-B642-807E-BFCD442CE1E8}"/>
            </c:ext>
          </c:extLst>
        </c:ser>
        <c:dLbls>
          <c:showLegendKey val="0"/>
          <c:showVal val="0"/>
          <c:showCatName val="0"/>
          <c:showSerName val="0"/>
          <c:showPercent val="0"/>
          <c:showBubbleSize val="0"/>
        </c:dLbls>
        <c:axId val="-2128940872"/>
        <c:axId val="-2129643912"/>
      </c:scatterChart>
      <c:valAx>
        <c:axId val="-2128940872"/>
        <c:scaling>
          <c:logBase val="10"/>
          <c:orientation val="minMax"/>
          <c:max val="1"/>
          <c:min val="1E-3"/>
        </c:scaling>
        <c:delete val="0"/>
        <c:axPos val="b"/>
        <c:majorGridlines>
          <c:spPr>
            <a:ln w="9525">
              <a:solidFill>
                <a:srgbClr val="E3E7E4"/>
              </a:solidFill>
            </a:ln>
          </c:spPr>
        </c:majorGridlines>
        <c:title>
          <c:tx>
            <c:rich>
              <a:bodyPr/>
              <a:lstStyle/>
              <a:p>
                <a:r>
                  <a:rPr lang="en-US" sz="1100" b="0">
                    <a:solidFill>
                      <a:srgbClr val="5B6770"/>
                    </a:solidFill>
                    <a:latin typeface="Arial"/>
                  </a:rPr>
                  <a:t>prevalence among people tested (log scale)</a:t>
                </a:r>
              </a:p>
            </c:rich>
          </c:tx>
          <c:overlay val="0"/>
        </c:title>
        <c:numFmt formatCode="0.0%" sourceLinked="0"/>
        <c:majorTickMark val="out"/>
        <c:minorTickMark val="none"/>
        <c:tickLblPos val="nextTo"/>
        <c:spPr>
          <a:ln>
            <a:solidFill>
              <a:srgbClr val="C9D0CC"/>
            </a:solidFill>
          </a:ln>
        </c:spPr>
        <c:txPr>
          <a:bodyPr/>
          <a:lstStyle/>
          <a:p>
            <a:pPr>
              <a:defRPr sz="1100">
                <a:solidFill>
                  <a:srgbClr val="5B6770"/>
                </a:solidFill>
              </a:defRPr>
            </a:pPr>
            <a:endParaRPr lang="en-US"/>
          </a:p>
        </c:txPr>
        <c:crossAx val="-2129643912"/>
        <c:crosses val="autoZero"/>
        <c:crossBetween val="midCat"/>
      </c:valAx>
      <c:valAx>
        <c:axId val="-2129643912"/>
        <c:scaling>
          <c:orientation val="minMax"/>
          <c:max val="100"/>
          <c:min val="0"/>
        </c:scaling>
        <c:delete val="0"/>
        <c:axPos val="l"/>
        <c:majorGridlines>
          <c:spPr>
            <a:ln w="9525">
              <a:solidFill>
                <a:srgbClr val="E3E7E4"/>
              </a:solidFill>
            </a:ln>
          </c:spPr>
        </c:majorGridlines>
        <c:title>
          <c:tx>
            <c:rich>
              <a:bodyPr/>
              <a:lstStyle/>
              <a:p>
                <a:r>
                  <a:rPr lang="en-US" sz="1100" b="0">
                    <a:solidFill>
                      <a:srgbClr val="5B6770"/>
                    </a:solidFill>
                    <a:latin typeface="Arial"/>
                  </a:rPr>
                  <a:t>positive predictive value (PPV)</a:t>
                </a:r>
              </a:p>
            </c:rich>
          </c:tx>
          <c:overlay val="0"/>
        </c:title>
        <c:numFmt formatCode="0&quot;%&quot;" sourceLinked="0"/>
        <c:majorTickMark val="out"/>
        <c:minorTickMark val="none"/>
        <c:tickLblPos val="nextTo"/>
        <c:spPr>
          <a:ln>
            <a:solidFill>
              <a:srgbClr val="C9D0CC"/>
            </a:solidFill>
          </a:ln>
        </c:spPr>
        <c:txPr>
          <a:bodyPr/>
          <a:lstStyle/>
          <a:p>
            <a:pPr>
              <a:defRPr sz="1100">
                <a:solidFill>
                  <a:srgbClr val="5B6770"/>
                </a:solidFill>
              </a:defRPr>
            </a:pPr>
            <a:endParaRPr lang="en-US"/>
          </a:p>
        </c:txPr>
        <c:crossAx val="-2128940872"/>
        <c:crosses val="autoZero"/>
        <c:crossBetween val="midCat"/>
        <c:majorUnit val="20"/>
      </c:valAx>
    </c:plotArea>
    <c:legend>
      <c:legendPos val="b"/>
      <c:overlay val="0"/>
      <c:txPr>
        <a:bodyPr/>
        <a:lstStyle/>
        <a:p>
          <a:pPr>
            <a:defRPr sz="1100"/>
          </a:pPr>
          <a:endParaRPr lang="en-US"/>
        </a:p>
      </c:txPr>
    </c:legend>
    <c:plotVisOnly val="1"/>
    <c:dispBlanksAs val="gap"/>
    <c:showDLblsOverMax val="0"/>
  </c:chart>
  <c:txPr>
    <a:bodyPr/>
    <a:lstStyle/>
    <a:p>
      <a:pPr>
        <a:defRPr sz="1100">
          <a:solidFill>
            <a:srgbClr val="333333"/>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857" y="685800"/>
            <a:ext cx="4574286" cy="3430714"/>
          </a:xfrm>
          <a:prstGeom prst="rect">
            <a:avLst/>
          </a:prstGeom>
        </p:spPr>
        <p:txBody>
          <a:bodyPr/>
          <a:lstStyle/>
          <a:p>
            <a:endParaRPr lang="en-US"/>
          </a:p>
        </p:txBody>
      </p:sp>
      <p:sp>
        <p:nvSpPr>
          <p:cNvPr id="3" name="Notes Placeholder 2"/>
          <p:cNvSpPr>
            <a:spLocks noGrp="1"/>
          </p:cNvSpPr>
          <p:nvPr>
            <p:ph type="body" sz="quarter" idx="3"/>
          </p:nvPr>
        </p:nvSpPr>
        <p:spPr>
          <a:xfrm>
            <a:off x="685800" y="4343400"/>
            <a:ext cx="5486400" cy="4114800"/>
          </a:xfrm>
          <a:prstGeom prst="rect">
            <a:avLst/>
          </a:prstGeom>
        </p:spPr>
        <p:txBody>
          <a:bodyPr/>
          <a:lstStyle/>
          <a:p>
            <a:endParaRPr lang="en-US"/>
          </a:p>
        </p:txBody>
      </p:sp>
      <p:sp>
        <p:nvSpPr>
          <p:cNvPr id="4" name="Slide Number Placeholder 3"/>
          <p:cNvSpPr>
            <a:spLocks noGrp="1"/>
          </p:cNvSpPr>
          <p:nvPr>
            <p:ph type="sldNum" sz="quarter" idx="5"/>
          </p:nvPr>
        </p:nvSpPr>
        <p:spPr>
          <a:xfrm>
            <a:off x="3881627" y="8686800"/>
            <a:ext cx="2976372" cy="457200"/>
          </a:xfrm>
          <a:prstGeom prst="rect">
            <a:avLst/>
          </a:prstGeom>
        </p:spPr>
        <p:txBody>
          <a:bodyPr/>
          <a:lstStyle/>
          <a:p>
            <a:endParaRPr lang="en-US"/>
          </a:p>
        </p:txBody>
      </p:sp>
    </p:spTree>
    <p:extLst>
      <p:ext uri="{BB962C8B-B14F-4D97-AF65-F5344CB8AC3E}">
        <p14:creationId xmlns:p14="http://schemas.microsoft.com/office/powerpoint/2010/main" val="449772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1413" y="685800"/>
            <a:ext cx="4575175" cy="3430588"/>
          </a:xfrm>
        </p:spPr>
        <p:txBody>
          <a:bodyPr/>
          <a:lstStyle/>
          <a:p>
            <a:endParaRPr lang="en-US"/>
          </a:p>
        </p:txBody>
      </p:sp>
      <p:sp>
        <p:nvSpPr>
          <p:cNvPr id="3" name="Notes Placeholder 2"/>
          <p:cNvSpPr>
            <a:spLocks noGrp="1"/>
          </p:cNvSpPr>
          <p:nvPr>
            <p:ph type="body" idx="1"/>
          </p:nvPr>
        </p:nvSpPr>
        <p:spPr/>
        <p:txBody>
          <a:bodyPr/>
          <a:lstStyle/>
          <a:p>
            <a:r>
              <a:rPr dirty="0"/>
              <a:t>Good morning. I'm Rittik Patra, Team </a:t>
            </a:r>
            <a:r>
              <a:rPr lang="en-US" dirty="0"/>
              <a:t>Venus</a:t>
            </a:r>
            <a:r>
              <a:rPr dirty="0"/>
              <a:t>. I'm presenting 'AI-Driven Wearable Bioelectronics in Digital Healthcare' by Huang, Chen and Liao, Biosensors 2025, a 46-page review. I'll read it as an engineering pipeline, explain every figure and table, and finish with my critique and questions.</a:t>
            </a:r>
          </a:p>
          <a:p>
            <a:endParaRPr dirty="0"/>
          </a:p>
          <a:p>
            <a:r>
              <a:rPr dirty="0"/>
              <a:t>IF ASKED: Affiliations: Shenzhen University of Advanced Technology; University of Cambridge; UT Austin. Corresponding author: </a:t>
            </a:r>
            <a:r>
              <a:rPr dirty="0" err="1"/>
              <a:t>Caizhi</a:t>
            </a:r>
            <a:r>
              <a:rPr dirty="0"/>
              <a:t> Liao. Vol. 15, issue 7, article 410; doi:10.3390/bios15070410; 225 references.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B03A62-B4E1-4E76-92D8-4DA5B42024B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41231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D964A-D8C7-DA34-CA69-50EA11C65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A9F157-B97D-29F1-AE20-39C74BA7C768}"/>
              </a:ext>
            </a:extLst>
          </p:cNvPr>
          <p:cNvSpPr>
            <a:spLocks noGrp="1" noRot="1" noChangeAspect="1"/>
          </p:cNvSpPr>
          <p:nvPr>
            <p:ph type="sldImg"/>
          </p:nvPr>
        </p:nvSpPr>
        <p:spPr>
          <a:xfrm>
            <a:off x="1141413" y="685800"/>
            <a:ext cx="4575175" cy="3430588"/>
          </a:xfrm>
        </p:spPr>
        <p:txBody>
          <a:bodyPr/>
          <a:lstStyle/>
          <a:p>
            <a:endParaRPr lang="en-US"/>
          </a:p>
        </p:txBody>
      </p:sp>
      <p:sp>
        <p:nvSpPr>
          <p:cNvPr id="3" name="Notes Placeholder 2">
            <a:extLst>
              <a:ext uri="{FF2B5EF4-FFF2-40B4-BE49-F238E27FC236}">
                <a16:creationId xmlns:a16="http://schemas.microsoft.com/office/drawing/2014/main" id="{B3032B55-8B9D-6AAB-9F77-5B9A34BCCBF4}"/>
              </a:ext>
            </a:extLst>
          </p:cNvPr>
          <p:cNvSpPr>
            <a:spLocks noGrp="1"/>
          </p:cNvSpPr>
          <p:nvPr>
            <p:ph type="body" idx="1"/>
          </p:nvPr>
        </p:nvSpPr>
        <p:spPr/>
        <p:txBody>
          <a:bodyPr/>
          <a:lstStyle/>
          <a:p>
            <a:r>
              <a:rPr dirty="0"/>
              <a:t>Good morning. I'm Rittik Patra, Team </a:t>
            </a:r>
            <a:r>
              <a:rPr lang="en-US" dirty="0"/>
              <a:t>Venus</a:t>
            </a:r>
            <a:r>
              <a:rPr dirty="0"/>
              <a:t>. I'm presenting 'AI-Driven Wearable Bioelectronics in Digital Healthcare' by Huang, Chen and Liao, Biosensors 2025, a 46-page review. I'll read it as an engineering pipeline, explain every figure and table, and finish with my critique and questions.</a:t>
            </a:r>
          </a:p>
          <a:p>
            <a:endParaRPr dirty="0"/>
          </a:p>
          <a:p>
            <a:r>
              <a:rPr dirty="0"/>
              <a:t>IF ASKED: Affiliations: Shenzhen University of Advanced Technology; University of Cambridge; UT Austin. Corresponding author: </a:t>
            </a:r>
            <a:r>
              <a:rPr dirty="0" err="1"/>
              <a:t>Caizhi</a:t>
            </a:r>
            <a:r>
              <a:rPr dirty="0"/>
              <a:t> Liao. Vol. 15, issue 7, article 410; doi:10.3390/bios15070410; 225 references.</a:t>
            </a:r>
          </a:p>
        </p:txBody>
      </p:sp>
      <p:sp>
        <p:nvSpPr>
          <p:cNvPr id="4" name="Slide Number Placeholder 3">
            <a:extLst>
              <a:ext uri="{FF2B5EF4-FFF2-40B4-BE49-F238E27FC236}">
                <a16:creationId xmlns:a16="http://schemas.microsoft.com/office/drawing/2014/main" id="{4749863B-3620-4A6F-4410-373447AEEC0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EB03A62-B4E1-4E76-92D8-4DA5B42024B2}"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53848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[0:35 · ends at 0:50]  SAY: Why does this matter? A yearly clinic visit samples your physiology at about three times ten to the minus eight hertz. By Nyquist, anything faster than a two-year cycle is invisible: a paroxysmal AF episode or night-time hypoglycemia falls between visits, as in the sketch. The burden is large: 17.9 million cardiovascular deaths a year, 828 million adults with diabetes, and a doubling of people over 60 by 2050. The paper's thesis: continuous sensing plus AI moves care from reactive to proactive and personal.</a:t>
            </a:r>
          </a:p>
          <a:p>
            <a:endParaRPr dirty="0"/>
          </a:p>
          <a:p>
            <a:r>
              <a:rPr dirty="0"/>
              <a:t>IF ASKED: The review cites WHO's older figure of 422 million with diabetes; NCD-</a:t>
            </a:r>
            <a:r>
              <a:rPr dirty="0" err="1"/>
              <a:t>RisC</a:t>
            </a:r>
            <a:r>
              <a:rPr dirty="0"/>
              <a:t> (Lancet 2024) estimates 828 million adults in 2022, which strengthens the case. The linked interactive model compares yearly ECG, Holter, a 14-day patch and a smartwatch: P(capture) = 1 − e^(−</a:t>
            </a:r>
            <a:r>
              <a:rPr dirty="0" err="1"/>
              <a:t>λ</a:t>
            </a:r>
            <a:r>
              <a:rPr dirty="0"/>
              <a:t>(T + 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[0:30 · ends at 1:20]  SAY: The problem is no longer the sensor. Wearables already stream noisy, multimodal signals under milliwatt power budgets; the unsolved step is turning them into reliable, private, regulated clinical decisions. The objective is a comprehensive review on five fronts: hardware, AI, applications, challenges, and future directions with policy. Figure 1 is the authors' map of that structure. It is conceptual, with no data.</a:t>
            </a:r>
          </a:p>
          <a:p>
            <a:endParaRPr dirty="0"/>
          </a:p>
          <a:p>
            <a:r>
              <a:rPr dirty="0"/>
              <a:t>IF ASKED: The five fronts map onto Sections 2–7. Figure 1 flows from foundational technologies to applications, challenges and future directions (5G/IoT, global collaboration).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[0:25 · ends at 1:45]  SAY: Methodologically, this is a narrative review: 225 references, no meta-analysis, and no search strategy, so selection bias cannot be judged. The chart shows where the pages go: hardware 11, AI and applications 7 each, and the policy framework highlighted in the abstract only about one. I'll walk the paper as five layers: sense, power, acquire, infer, act.</a:t>
            </a:r>
          </a:p>
          <a:p>
            <a:endParaRPr dirty="0"/>
          </a:p>
          <a:p>
            <a:r>
              <a:rPr dirty="0"/>
              <a:t>IF ASKED: 12 figures and 5 tables; 7 figures are reproduced from primary papers. No databases, date range or inclusion criteria are reported.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[0:35 · ends at 2:20]  SAY: Layer one, sensing. Every biosensor is a three-stage chain: a bioreceptor binds the analyte, a transducer turns binding into current, voltage or light, and a processor decides. Table 1 compresses two decades into three generations: response time from over 30 seconds to under one, sensitivity from micromolar to picomolar, stability from hours to months, and selectivity from antibodies to AI-enhanced multimodal sensing. That is about three orders of magnitude in sensitivity. But the table is uncited, so treat its boundaries as illustrative.</a:t>
            </a:r>
          </a:p>
          <a:p>
            <a:endParaRPr dirty="0"/>
          </a:p>
          <a:p>
            <a:r>
              <a:rPr dirty="0"/>
              <a:t>IF ASKED: Glucose oxidase Km 10–30 mM → molecularly imprinted polymers with </a:t>
            </a:r>
            <a:r>
              <a:rPr dirty="0" err="1"/>
              <a:t>Kd</a:t>
            </a:r>
            <a:r>
              <a:rPr dirty="0"/>
              <a:t> &lt; 1 </a:t>
            </a:r>
            <a:r>
              <a:rPr dirty="0" err="1"/>
              <a:t>nM</a:t>
            </a:r>
            <a:r>
              <a:rPr dirty="0"/>
              <a:t>; laser-scribed graphene transducers ~1000× sensitivity; on-device inference cut latency 500 → &lt;20 </a:t>
            </a:r>
            <a:r>
              <a:rPr dirty="0" err="1"/>
              <a:t>ms</a:t>
            </a:r>
            <a:r>
              <a:rPr dirty="0"/>
              <a:t> and power 100 → &lt;5 </a:t>
            </a:r>
            <a:r>
              <a:rPr dirty="0" err="1"/>
              <a:t>mW</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[0:20 · ends at 2:40]  SAY: Figure 2, from Ates et al., gives the history: grey boxes are commercial, blue are research. Cardiac monitoring came first, with the Holter in 1962, then glucose, sweat chemistry, microneedles and biofuel cells. Panel b shows five building blocks. The newest is decision-making, and that is where AI enters.</a:t>
            </a:r>
          </a:p>
          <a:p>
            <a:endParaRPr dirty="0"/>
          </a:p>
          <a:p>
            <a:r>
              <a:rPr dirty="0"/>
              <a:t>IF ASKED: Milestones: Polar 1982, </a:t>
            </a:r>
            <a:r>
              <a:rPr dirty="0" err="1"/>
              <a:t>GlucoWatch</a:t>
            </a:r>
            <a:r>
              <a:rPr dirty="0"/>
              <a:t> 2002, </a:t>
            </a:r>
            <a:r>
              <a:rPr dirty="0" err="1"/>
              <a:t>FreeStyle</a:t>
            </a:r>
            <a:r>
              <a:rPr dirty="0"/>
              <a:t> Libre 2014, multiplexed sweat sensing 2016, microneedles 2019, biofuel-cell sensors 2021. Source: Ates et al., Nat. Rev. Mater. 2022.</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[0:35 · ends at 3:15]  SAY: Figures 3 to 5 are three device archetypes. Dissolve: Song et al.'s battery-free wound patch is powered over 13.56 megahertz NFC, and its molybdenum electrode oxidizes and resorbs, so it never needs removal. Conform: Lu et al.'s laser-induced graphene sensors in PDMS, coated with an antibacterial hydrogel, are soft enough for a beating heart. Weave: Ma et al.'s textile wristband measures sweat potassium potentiometrically, ideally 59 millivolts per decade, then amplifies, digitizes and sends it over Bluetooth.</a:t>
            </a:r>
          </a:p>
          <a:p>
            <a:endParaRPr dirty="0"/>
          </a:p>
          <a:p>
            <a:r>
              <a:rPr dirty="0"/>
              <a:t>IF ASKED: Mo dissolves at ~50–70 nm/day in a 75 °C accelerated test (Song, Sci. Adv. 2023). Lu, Nat. Electron. 2024. Ma, Sci. Adv. 2023: ion-selective membrane on Cu cloth vs Ag/AgCl reference; 2.5 × 9 cm patch.</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[0:30 · ends at 3:45]  SAY: Table 2 lists eight materials, and one piece of physics explains it: mechanical mismatch. Skin and hydrogels sit at kilopascals to megapascals; silicon is 160 gigapascals, up to six orders of magnitude stiffer. So materials are either intrinsically soft, like PDMS, </a:t>
            </a:r>
            <a:r>
              <a:rPr dirty="0" err="1"/>
              <a:t>Ecoflex</a:t>
            </a:r>
            <a:r>
              <a:rPr dirty="0"/>
              <a:t> and hydrogels, or conductors made thin, because bending stiffness scales with thickness cubed. Every row trades something: PEDOT:PSS is humidity-sensitive, hydrogels dry out, nanowires oxidize.</a:t>
            </a:r>
          </a:p>
          <a:p>
            <a:endParaRPr dirty="0"/>
          </a:p>
          <a:p>
            <a:r>
              <a:rPr dirty="0"/>
              <a:t>IF ASKED: D = E·t³ / 12(1 − ν²): a 1 µm film is ~10⁹× less stiff in bending than a 1 mm slab. PDMS stretches to 300%, </a:t>
            </a:r>
            <a:r>
              <a:rPr dirty="0" err="1"/>
              <a:t>Ecoflex</a:t>
            </a:r>
            <a:r>
              <a:rPr dirty="0"/>
              <a:t> to 900%; PEDOT:PSS 100–1000 S/cm. Editorial issues: the cellulose row is incomplete in the published table, and graphene's 'sensitivity' (0.1–10 µM) is a concentration range.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[0:30 · ends at 4:15]  SAY: Layer two, power. Figure 6 is the energy chain: harvest light, heat, motion, sweat or radio; convert; store; sense. Harvesting is weak: a thermoelectric on skin sees about 5 kelvin, so Carnot caps it near 1.6%. So compute power decides lifetime. On a 200 milliamp-hour battery, using the review's budgets: a 100 milliwatt cloud-era cycle lasts 7 hours, </a:t>
            </a:r>
            <a:r>
              <a:rPr dirty="0" err="1"/>
              <a:t>TinyML</a:t>
            </a:r>
            <a:r>
              <a:rPr dirty="0"/>
              <a:t> about 6 days, a 1 milliwatt system a month, and a 10 microwatt neuromorphic chip about 8 years.</a:t>
            </a:r>
          </a:p>
          <a:p>
            <a:endParaRPr dirty="0"/>
          </a:p>
          <a:p>
            <a:r>
              <a:rPr dirty="0"/>
              <a:t>IF ASKED: Battery math is mine: 0.74 </a:t>
            </a:r>
            <a:r>
              <a:rPr dirty="0" err="1"/>
              <a:t>Wh</a:t>
            </a:r>
            <a:r>
              <a:rPr dirty="0"/>
              <a:t> ÷ power draw, continuous; it ignores the sensor front-end, radio bursts and self-discharge. Figure 6 from Rong et al., Sensors 2021. The linked explorer lets you change battery size and duty cycle.</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[0:30 · ends at 4:45]  SAY: Layer three, data. The review has no new dataset; it describes three signal families: biophysical, like ECG and PPG sampled at 0.1 to 100 hertz; biochemical, in sweat, interstitial fluid, saliva or breath; and clinical context from EHRs and images. My sketch shows the chain: raw ECG with motion artifact, denoise, extract R–R features, classify AF versus sinus, and act, with an alert inside 100 milliseconds. The limits: over 10,000 labels per model, and rare events are label-starved.</a:t>
            </a:r>
          </a:p>
          <a:p>
            <a:endParaRPr dirty="0"/>
          </a:p>
          <a:p>
            <a:r>
              <a:rPr dirty="0"/>
              <a:t>IF ASKED: Denoising by band-pass, wavelets or 1D-CNNs; features include HRV, FFT and PCA; EHR integration via FHIR. BLE/NFC links risk eavesdropping and tampering.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[0:30 · ends at 5:15]  SAY: Layer four, inference. Table 3 lists thirteen algorithm families; I grouped them into four with the wearable numbers the text reports. Classical models are tiny and interpretable: a random forest detects falls within 100 milliseconds on a Cortex-M4. Deep models learn from raw waveforms: a </a:t>
            </a:r>
            <a:r>
              <a:rPr dirty="0" err="1"/>
              <a:t>TinyCNN</a:t>
            </a:r>
            <a:r>
              <a:rPr dirty="0"/>
              <a:t> reaches 95 to 98% arrhythmia sensitivity under 5 milliwatts. Generative models learn personal baselines, and reinforcement learning adapts dosing but raises safety questions. Figure 7 is conceptual only.</a:t>
            </a:r>
          </a:p>
          <a:p>
            <a:endParaRPr dirty="0"/>
          </a:p>
          <a:p>
            <a:r>
              <a:rPr dirty="0"/>
              <a:t>IF ASKED: Random forest: &gt;90% accuracy, ~40% less power than DL. Quantized VAE &lt;200 KB: 85–90% precision, 30% fewer hypoglycemia false alarms. LSTM glucose forecast: Se 78–95%, </a:t>
            </a:r>
            <a:r>
              <a:rPr dirty="0" err="1"/>
              <a:t>Sp</a:t>
            </a:r>
            <a:r>
              <a:rPr dirty="0"/>
              <a:t> 85–95%. RL: closed-loop insulin, deep-brain stimulation tuning.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[0:25 · ends at 5:40]  SAY: Figure 8 is the case for edge AI: run the model on the watch. The chart puts the review's latency numbers on one axis: a cloud round trip near 500 milliseconds, a 100 millisecond alert budget, and under 20 on-device. Energy is the subtle point: the radio, not the math, drains the battery. The cost is 15 to 20% accuracy lost below 8-bit, hence hybrid designs.</a:t>
            </a:r>
          </a:p>
          <a:p>
            <a:endParaRPr dirty="0"/>
          </a:p>
          <a:p>
            <a:r>
              <a:rPr dirty="0"/>
              <a:t>IF ASKED: Reported gains: 30–50% fewer cloud calls and false alarms. Hybrid design: a &lt;100 kB model on the device for urgent detection, the cloud for long-term trends.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[0:35 · ends at 6:15]  SAY: Section 3.4 is the review's main methodological contribution: an AI–biosensor fusion framework with four pillars. AI-enhanced sensing, with CNN denoising and cross-attention fusion. Closed-loop design, where graph networks, GANs and architecture search co-design the sensor itself. Intelligent diagnostics: federated personalization, drift prediction and uncertainty-based referral. And a three-phase roadmap to FDA-aligned validation. Their evaluation criteria: under 5% CV over 1,000 cycles, and 80% specificity at 99% sensitivity. Remember that 99%.</a:t>
            </a:r>
          </a:p>
          <a:p>
            <a:endParaRPr dirty="0"/>
          </a:p>
          <a:p>
            <a:r>
              <a:rPr dirty="0"/>
              <a:t>IF ASKED: &gt;90% noise suppression; +40–60% specificity from fusion; RL sampling 0.1–100 Hz saves ~75% power. GNNs: 15 new composites, 10× faster; GANs: +35% binding affinity; NAS: &lt;50 </a:t>
            </a:r>
            <a:r>
              <a:rPr dirty="0" err="1"/>
              <a:t>ms</a:t>
            </a:r>
            <a:r>
              <a:rPr dirty="0"/>
              <a:t>, </a:t>
            </a:r>
            <a:r>
              <a:rPr dirty="0" err="1"/>
              <a:t>pM</a:t>
            </a:r>
            <a:r>
              <a:rPr dirty="0"/>
              <a:t>, &lt;1 </a:t>
            </a:r>
            <a:r>
              <a:rPr dirty="0" err="1"/>
              <a:t>mJ</a:t>
            </a:r>
            <a:r>
              <a:rPr dirty="0"/>
              <a:t>. LSTM drift MAE &lt;0.5%, 3–5× stability. None of these criteria is tested in the review.</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[0:30 · ends at 6:45]  SAY: Section 4 covers applications; I condensed it into one map from signal to clinical use. ECG and PPG drive AF alerts; glucose monitors drive hypoglycemia forecasts; accelerometers detect falls and Parkinsonian tremor; HRV and sleep data support stress and apnea screening; sweat CRP and wound exudate are on the next slide. Results reach clinicians through FHIR and vendor partnerships. What is missing: pooled outcome data on readmissions, mortality or cost.</a:t>
            </a:r>
          </a:p>
          <a:p>
            <a:endParaRPr dirty="0"/>
          </a:p>
          <a:p>
            <a:r>
              <a:rPr dirty="0"/>
              <a:t>IF ASKED: Integration examples (§4.2.3): Apple HealthKit, Google Fit, Fitbit–Epic and </a:t>
            </a:r>
            <a:r>
              <a:rPr dirty="0" err="1"/>
              <a:t>Withings</a:t>
            </a:r>
            <a:r>
              <a:rPr dirty="0"/>
              <a:t>–Cerner partnerships; CGM data populating diabetes records in pilots.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[0:35 · ends at 7:20]  SAY: Two exemplars close the full loop. Figure 9, Tu et al.: inflammation raises C-reactive protein, which reaches sweat. The patch induces sweat by carbachol iontophoresis, runs a five-step immunoassay in microfluidics on laser-engraved graphene, and reads it by square-wave voltammetry. Figure 10, Wang et al. 2025: a smart bandage moves exudate with a Janus membrane and Laplace-pressure channels into an electrochemical array for peroxide, oxygen, nitric oxide and pH; machine learning classifies the wound and predicts healing. Neither reports clinical outcomes.</a:t>
            </a:r>
          </a:p>
          <a:p>
            <a:endParaRPr dirty="0"/>
          </a:p>
          <a:p>
            <a:r>
              <a:rPr dirty="0"/>
              <a:t>IF ASKED: Tu et al., Nat. Biomed. Eng. 2023 (thionine redox label). Wang et al., Sci. Transl. Med. 2025 (wettability gradient, graded micropillars, temperature sensing).</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[0:30 · ends at 7:50]  SAY: Results. Table 4 compares traditional with AI-enhanced biosensing; the chart shows the fold changes. Accuracy 72 to 90%, 1.24 times. Latency 2.1 to 0.4 seconds, 5 times faster. Three times more analytes, and drift from 15 to 4% per week. The arithmetic is consistent, but no row is cited or names a task, dataset or sample size, and accuracy depends on prevalence. Plausible direction, unverifiable magnitude.</a:t>
            </a:r>
          </a:p>
          <a:p>
            <a:endParaRPr dirty="0"/>
          </a:p>
          <a:p>
            <a:r>
              <a:rPr dirty="0"/>
              <a:t>IF ASKED: 89.7/72.3 = 1.24; 2.1/0.4 = 5.25; (15 − 4)/15 = 73% less drift. The claimed '38% fewer false negatives' cannot be checked without a task definition; 'fewer relapse' is undefined.</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[0:35 · ends at 8:25]  SAY: Table 5 lists eight AI systems validated on clinical data. I plotted them in ROC space, zoomed into the top-left corner. They cluster at 88 to 95% sensitivity and 78 to 95% specificity; </a:t>
            </a:r>
            <a:r>
              <a:rPr dirty="0" err="1"/>
              <a:t>PathAI</a:t>
            </a:r>
            <a:r>
              <a:rPr dirty="0"/>
              <a:t> is best, with AUC 0.98. Two observations. Scope: six of eight are imaging or genomics models; only Eko and </a:t>
            </a:r>
            <a:r>
              <a:rPr dirty="0" err="1"/>
              <a:t>SkinVision</a:t>
            </a:r>
            <a:r>
              <a:rPr dirty="0"/>
              <a:t> are point-of-care, and none is a wearable. And the dashed box is the authors' own benchmark, 99% sensitivity at 80% specificity. No system reaches it.</a:t>
            </a:r>
          </a:p>
          <a:p>
            <a:endParaRPr dirty="0"/>
          </a:p>
          <a:p>
            <a:r>
              <a:rPr dirty="0"/>
              <a:t>IF ASKED: Sensitivity range 87.6–95.1%. AUCs 0.87–0.98. Imaging/genomics: DL CNN retinopathy, AI-Rad lung CT, </a:t>
            </a:r>
            <a:r>
              <a:rPr dirty="0" err="1"/>
              <a:t>Aidoc</a:t>
            </a:r>
            <a:r>
              <a:rPr dirty="0"/>
              <a:t> brain CT, Google Health mammography, </a:t>
            </a:r>
            <a:r>
              <a:rPr dirty="0" err="1"/>
              <a:t>PathAI</a:t>
            </a:r>
            <a:r>
              <a:rPr dirty="0"/>
              <a:t>, Tempus </a:t>
            </a:r>
            <a:r>
              <a:rPr dirty="0" err="1"/>
              <a:t>xT.</a:t>
            </a:r>
            <a:endParaRPr dirty="0"/>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[0:30 · ends at 8:55]  SAY: This goes beyond the paper, using its own numbers. Patients care about positive predictive value, which depends on prevalence. At 1% prevalence, </a:t>
            </a:r>
            <a:r>
              <a:rPr dirty="0" err="1"/>
              <a:t>SkinVision's</a:t>
            </a:r>
            <a:r>
              <a:rPr dirty="0"/>
              <a:t> PPV is about 4%: screen 1,000 people and you flag roughly 10 melanomas plus 215 false alarms. Eko reaches 9%, </a:t>
            </a:r>
            <a:r>
              <a:rPr dirty="0" err="1"/>
              <a:t>PathAI</a:t>
            </a:r>
            <a:r>
              <a:rPr dirty="0"/>
              <a:t> 13%. Even the authors' benchmark gives under 5%. So screening targets should be set on specificity and PPV, not sensitivity alone.</a:t>
            </a:r>
          </a:p>
          <a:p>
            <a:endParaRPr dirty="0"/>
          </a:p>
          <a:p>
            <a:r>
              <a:rPr dirty="0"/>
              <a:t>IF ASKED: PPV = </a:t>
            </a:r>
            <a:r>
              <a:rPr dirty="0" err="1"/>
              <a:t>Se·p</a:t>
            </a:r>
            <a:r>
              <a:rPr dirty="0"/>
              <a:t> / [</a:t>
            </a:r>
            <a:r>
              <a:rPr dirty="0" err="1"/>
              <a:t>Se·p</a:t>
            </a:r>
            <a:r>
              <a:rPr dirty="0"/>
              <a:t> + (1 − </a:t>
            </a:r>
            <a:r>
              <a:rPr dirty="0" err="1"/>
              <a:t>Sp</a:t>
            </a:r>
            <a:r>
              <a:rPr dirty="0"/>
              <a:t>)(1 − p)]. At p = 1%: </a:t>
            </a:r>
            <a:r>
              <a:rPr dirty="0" err="1"/>
              <a:t>SkinVision</a:t>
            </a:r>
            <a:r>
              <a:rPr dirty="0"/>
              <a:t> 4.2%, Eko 9.0%, </a:t>
            </a:r>
            <a:r>
              <a:rPr dirty="0" err="1"/>
              <a:t>PathAI</a:t>
            </a:r>
            <a:r>
              <a:rPr dirty="0"/>
              <a:t> 13.4%, benchmark 99/80 4.8%. Assumes Se and </a:t>
            </a:r>
            <a:r>
              <a:rPr dirty="0" err="1"/>
              <a:t>Sp</a:t>
            </a:r>
            <a:r>
              <a:rPr dirty="0"/>
              <a:t> transfer to the screened population (spectrum bias would lower them). The QR code opens the interactive version.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t>[0:25 · ends at 9:20]  SAY: Discussion. Figure 11 places data, AI and EHRs inside three constraints: ethics and privacy, regulation, and legal accountability. The review's barriers are quantitative: over 10,000 labels per model, 15 to 20% accuracy lost to compression, 14 months longer FDA clearance, and 68% of physicians hesitant without explainable AI. But all four numbers are uncited. Cost levers include carbon electrodes and roll-to-roll printing.</a:t>
            </a:r>
          </a:p>
          <a:p>
            <a:endParaRPr/>
          </a:p>
          <a:p>
            <a:r>
              <a:t>IF ASKED: Controls named: AES-256 encryption, role-based access, GDPR/FDA. Cost: carbon replacing noble metals (~90% of material cost); roll-to-roll ~40–60% cheaper than batch; OTC hearing aids fell from ~$4,000 to ~$400 after FDA deregulation.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t>[0:25 · ends at 9:45]  SAY: Figure 12 and Sections 6 and 7 look forward, and go further than most reviews by proposing policy: a technology roadmap to neuromorphic chips under 10 microwatts by 2029; an Accessibility Index with fast-track approval above 75%; KPIs such as a Gini coefficient of device distribution and QALYs per thousand users; and a five-phase rollout. Thoughtful, but untested.</a:t>
            </a:r>
          </a:p>
          <a:p>
            <a:endParaRPr/>
          </a:p>
          <a:p>
            <a:r>
              <a:t>IF ASKED: Roadmap: synthetic-data tools 2024–26; quantum–AI hybrids after 2030 (speculative). Accessibility Index: cost &lt;20% of median monthly income, modularity, minimal training, local repair. Rollout: readiness → controlled pilots → outcome-based scale-up → EHR/public-health links → predictive optimization.</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rPr dirty="0"/>
              <a:t>[0:20 · ends at 10:05]  SAY: To conclude: AI turns wearables into decision systems. Hardware has matured. Edge AI is the enabling architecture, at some cost in accuracy. The bottleneck has moved to validation, bias, interoperability and liability. And this paper is a wide map with a policy proposal, not a quantitative synthesis.</a:t>
            </a:r>
          </a:p>
          <a:p>
            <a:endParaRPr dirty="0"/>
          </a:p>
          <a:p>
            <a:r>
              <a:rPr dirty="0"/>
              <a:t>IF ASKED: Hardware maturity per the review: </a:t>
            </a:r>
            <a:r>
              <a:rPr dirty="0" err="1"/>
              <a:t>pM</a:t>
            </a:r>
            <a:r>
              <a:rPr dirty="0"/>
              <a:t>–</a:t>
            </a:r>
            <a:r>
              <a:rPr dirty="0" err="1"/>
              <a:t>nM</a:t>
            </a:r>
            <a:r>
              <a:rPr dirty="0"/>
              <a:t> sensitivity, &lt;1 s response, months of stability, soft and resorbable devices; edge AI &lt;20 </a:t>
            </a:r>
            <a:r>
              <a:rPr dirty="0" err="1"/>
              <a:t>ms</a:t>
            </a:r>
            <a:r>
              <a:rPr dirty="0"/>
              <a:t>, &lt;5 </a:t>
            </a:r>
            <a:r>
              <a:rPr dirty="0" err="1"/>
              <a:t>mW</a:t>
            </a:r>
            <a:r>
              <a:rPr dirty="0"/>
              <a: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t>[0:40 · ends at 10:45]  SAY: My assessment. Strengths: it is end-to-end, gives quantitative anchors, makes testable proposals, and takes cost and equity seriously. Weaknesses: no search protocol. Several headline numbers are uncited or mis-cited, including all of Table 4 and the physician survey, and FDA's Pre-Cert pilot, presented as accelerating approvals, ended in 2022. Table 5 barely covers wearables. There is a physiology slip: stress lowers HRV, per Kim's 2018 meta-analysis, yet the text calls elevated HRV a stress sign. And landmark evidence is missing: the Apple Heart Study, and skin-tone bias in pulse oximetry.</a:t>
            </a:r>
          </a:p>
          <a:p>
            <a:endParaRPr/>
          </a:p>
          <a:p>
            <a:r>
              <a:t>IF ASKED: 'Singapore's Safer Wearables Initiative' is cited to an EHR-nursing paper [214]. Figures 1, 7, 8, 11 and 12 are infographics with typos and no data. Apple Heart Study (Perez 2019): n = 419,297; notification PPV 0.84. Sjoding 2020: occult hypoxemia 11.7% in Black vs 3.6% in White patients.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t>[0:25 · ends at 11:10]  SAY: Five questions for the authors. What search method produced the 225 references? Where do Table 4's numbers come from? Why represent wearables with imaging AI? Should the benchmark be restated as a PPV that scales with prevalence? And how does the framework handle models that keep learning after approval, and should bias audits require validation across skin tones? Thank you.</a:t>
            </a:r>
          </a:p>
          <a:p>
            <a:endParaRPr/>
          </a:p>
          <a:p>
            <a:r>
              <a:t>IF ASKED: Q5 context: FDA Predetermined Change Control Plan guidance (final, Dec 2024) and the EU AI Act. The QR code opens the interactive companion. Backup slide 24 lists outside sources.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1413" y="685800"/>
            <a:ext cx="4575175" cy="3430588"/>
          </a:xfrm>
        </p:spPr>
        <p:txBody>
          <a:bodyPr/>
          <a:lstStyle/>
          <a:p>
            <a:endParaRPr lang="en-US"/>
          </a:p>
        </p:txBody>
      </p:sp>
      <p:sp>
        <p:nvSpPr>
          <p:cNvPr id="3" name="Notes Placeholder 2"/>
          <p:cNvSpPr>
            <a:spLocks noGrp="1"/>
          </p:cNvSpPr>
          <p:nvPr>
            <p:ph type="body" sz="quarter" idx="3"/>
          </p:nvPr>
        </p:nvSpPr>
        <p:spPr/>
        <p:txBody>
          <a:bodyPr/>
          <a:lstStyle/>
          <a:p>
            <a:r>
              <a:t>Backup slide, not timed. Outside sources used to check the review's claims: updated diabetes prevalence (NCD-RisC 2024), the HRV–stress relationship (Kim 2018), pulse-oximetry bias (Sjoding 2020), the Apple Heart Study (Perez 2019), FDA's Pre-Cert closure report (2022) and PCCP guidance (2024). Figure credits for all reproduced panels are listed; every other diagram and chart was made for this presentation from the review's numbers.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3.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130426"/>
            <a:ext cx="5829300" cy="1470025"/>
          </a:xfrm>
        </p:spPr>
        <p:txBody>
          <a:bodyPr/>
          <a:lstStyle/>
          <a:p>
            <a:r>
              <a:rPr lang="en-US"/>
              <a:t>Click to edit Master title style</a:t>
            </a:r>
          </a:p>
        </p:txBody>
      </p:sp>
      <p:sp>
        <p:nvSpPr>
          <p:cNvPr id="3" name="Subtitle 2"/>
          <p:cNvSpPr>
            <a:spLocks noGrp="1"/>
          </p:cNvSpPr>
          <p:nvPr>
            <p:ph type="subTitle" idx="1"/>
          </p:nvPr>
        </p:nvSpPr>
        <p:spPr>
          <a:xfrm>
            <a:off x="1028700" y="3886200"/>
            <a:ext cx="48006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4406901"/>
            <a:ext cx="58293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906713"/>
            <a:ext cx="58293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Introduction</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535113"/>
            <a:ext cx="303014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2174875"/>
            <a:ext cx="303014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535113"/>
            <a:ext cx="303133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2174875"/>
            <a:ext cx="303133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US"/>
              <a:t>Introduction</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US"/>
              <a:t>Introduction</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US"/>
              <a:t>Introduction</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73050"/>
            <a:ext cx="225623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73051"/>
            <a:ext cx="3833813"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435101"/>
            <a:ext cx="2256235"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Introduction</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4800600"/>
            <a:ext cx="41148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612775"/>
            <a:ext cx="41148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5367338"/>
            <a:ext cx="41148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US"/>
              <a:t>Introduction</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74639"/>
            <a:ext cx="15430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74639"/>
            <a:ext cx="4514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US"/>
              <a:t>Introduction</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Emblem">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3375"/>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75" i="0">
                <a:solidFill>
                  <a:srgbClr val="C95C3A"/>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831918" y="585894"/>
            <a:ext cx="1480164" cy="1973552"/>
          </a:xfrm>
          <a:prstGeom prst="rect">
            <a:avLst/>
          </a:prstGeom>
        </p:spPr>
      </p:pic>
    </p:spTree>
    <p:extLst>
      <p:ext uri="{BB962C8B-B14F-4D97-AF65-F5344CB8AC3E}">
        <p14:creationId xmlns:p14="http://schemas.microsoft.com/office/powerpoint/2010/main" val="38529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Monogram 2 Color">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3375"/>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75" i="0">
                <a:solidFill>
                  <a:srgbClr val="C75B12"/>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130117" y="440088"/>
            <a:ext cx="883766" cy="1180400"/>
          </a:xfrm>
          <a:prstGeom prst="rect">
            <a:avLst/>
          </a:prstGeom>
        </p:spPr>
      </p:pic>
    </p:spTree>
    <p:extLst>
      <p:ext uri="{BB962C8B-B14F-4D97-AF65-F5344CB8AC3E}">
        <p14:creationId xmlns:p14="http://schemas.microsoft.com/office/powerpoint/2010/main" val="3598059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Monogram Orang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3375"/>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75" i="0">
                <a:solidFill>
                  <a:srgbClr val="C75B12"/>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833201" y="585895"/>
            <a:ext cx="1477598" cy="1973551"/>
          </a:xfrm>
          <a:prstGeom prst="rect">
            <a:avLst/>
          </a:prstGeom>
        </p:spPr>
      </p:pic>
    </p:spTree>
    <p:extLst>
      <p:ext uri="{BB962C8B-B14F-4D97-AF65-F5344CB8AC3E}">
        <p14:creationId xmlns:p14="http://schemas.microsoft.com/office/powerpoint/2010/main" val="3379946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Monogram Wordmark">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3375" i="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75" i="0">
                <a:solidFill>
                  <a:srgbClr val="C95C3A"/>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157352" y="91243"/>
            <a:ext cx="2829297" cy="1508957"/>
          </a:xfrm>
          <a:prstGeom prst="rect">
            <a:avLst/>
          </a:prstGeom>
        </p:spPr>
      </p:pic>
    </p:spTree>
    <p:extLst>
      <p:ext uri="{BB962C8B-B14F-4D97-AF65-F5344CB8AC3E}">
        <p14:creationId xmlns:p14="http://schemas.microsoft.com/office/powerpoint/2010/main" val="3544100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Wordmark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C99210-9F21-304E-BAB5-5C46220805BC}"/>
              </a:ext>
            </a:extLst>
          </p:cNvPr>
          <p:cNvSpPr/>
          <p:nvPr userDrawn="1"/>
        </p:nvSpPr>
        <p:spPr>
          <a:xfrm>
            <a:off x="0" y="6228864"/>
            <a:ext cx="9144000" cy="629137"/>
          </a:xfrm>
          <a:prstGeom prst="rect">
            <a:avLst/>
          </a:prstGeom>
          <a:gradFill flip="none" rotWithShape="1">
            <a:gsLst>
              <a:gs pos="0">
                <a:schemeClr val="accent5">
                  <a:lumMod val="90000"/>
                  <a:lumOff val="10000"/>
                </a:schemeClr>
              </a:gs>
              <a:gs pos="68000">
                <a:srgbClr val="003720"/>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i="0">
              <a:ln>
                <a:noFill/>
              </a:ln>
              <a:solidFill>
                <a:srgbClr val="C95C3A"/>
              </a:solidFill>
            </a:endParaRPr>
          </a:p>
        </p:txBody>
      </p:sp>
      <p:sp>
        <p:nvSpPr>
          <p:cNvPr id="2" name="Title 1"/>
          <p:cNvSpPr>
            <a:spLocks noGrp="1"/>
          </p:cNvSpPr>
          <p:nvPr>
            <p:ph type="title"/>
          </p:nvPr>
        </p:nvSpPr>
        <p:spPr/>
        <p:txBody>
          <a:bodyPr/>
          <a:lstStyle>
            <a:lvl1pPr>
              <a:defRPr i="0"/>
            </a:lvl1pPr>
          </a:lstStyle>
          <a:p>
            <a:r>
              <a:rPr lang="en-US"/>
              <a:t>Click to edit Master title style</a:t>
            </a:r>
          </a:p>
        </p:txBody>
      </p:sp>
      <p:sp>
        <p:nvSpPr>
          <p:cNvPr id="3" name="Content Placeholder 2"/>
          <p:cNvSpPr>
            <a:spLocks noGrp="1"/>
          </p:cNvSpPr>
          <p:nvPr>
            <p:ph idx="1" hasCustomPrompt="1"/>
          </p:nvPr>
        </p:nvSpPr>
        <p:spPr>
          <a:xfrm>
            <a:off x="628650" y="1579419"/>
            <a:ext cx="7886700" cy="4362092"/>
          </a:xfrm>
        </p:spPr>
        <p:txBody>
          <a:bodyPr/>
          <a:lstStyle>
            <a:lvl1pPr>
              <a:defRPr sz="1875" i="0"/>
            </a:lvl1pPr>
            <a:lvl2pPr>
              <a:defRPr sz="1500" i="0"/>
            </a:lvl2pPr>
            <a:lvl3pPr>
              <a:defRPr sz="1350" i="0"/>
            </a:lvl3pPr>
            <a:lvl4pPr>
              <a:defRPr sz="1200" i="0"/>
            </a:lvl4pPr>
            <a:lvl5pPr>
              <a:defRPr sz="1050"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028950" y="6461730"/>
            <a:ext cx="5486400" cy="190307"/>
          </a:xfrm>
        </p:spPr>
        <p:txBody>
          <a:bodyPr rIns="0"/>
          <a:lstStyle>
            <a:lvl1pPr>
              <a:defRPr sz="750" i="0">
                <a:solidFill>
                  <a:schemeClr val="bg1"/>
                </a:solidFill>
              </a:defRPr>
            </a:lvl1pPr>
          </a:lstStyle>
          <a:p>
            <a:r>
              <a:rPr lang="en-US"/>
              <a:t>Introduction</a:t>
            </a:r>
          </a:p>
        </p:txBody>
      </p:sp>
      <p:sp>
        <p:nvSpPr>
          <p:cNvPr id="6" name="Slide Number Placeholder 5"/>
          <p:cNvSpPr>
            <a:spLocks noGrp="1"/>
          </p:cNvSpPr>
          <p:nvPr>
            <p:ph type="sldNum" sz="quarter" idx="12"/>
          </p:nvPr>
        </p:nvSpPr>
        <p:spPr>
          <a:xfrm>
            <a:off x="4437697" y="6461730"/>
            <a:ext cx="268605" cy="190307"/>
          </a:xfrm>
        </p:spPr>
        <p:txBody>
          <a:bodyPr/>
          <a:lstStyle>
            <a:lvl1pPr>
              <a:defRPr sz="750" i="0">
                <a:solidFill>
                  <a:schemeClr val="bg1"/>
                </a:solidFill>
              </a:defRPr>
            </a:lvl1pPr>
          </a:lstStyle>
          <a:p>
            <a:fld id="{C68DACDF-E1A9-A04C-A5FF-FC2443684BF5}" type="slidenum">
              <a:rPr lang="en-US" smtClean="0"/>
              <a:pPr/>
              <a:t>‹#›</a:t>
            </a:fld>
            <a:endParaRPr lang="en-US" dirty="0"/>
          </a:p>
        </p:txBody>
      </p:sp>
      <p:cxnSp>
        <p:nvCxnSpPr>
          <p:cNvPr id="8" name="Straight Connector 7"/>
          <p:cNvCxnSpPr/>
          <p:nvPr userDrawn="1"/>
        </p:nvCxnSpPr>
        <p:spPr>
          <a:xfrm>
            <a:off x="0" y="6138438"/>
            <a:ext cx="9144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618" y="6217010"/>
            <a:ext cx="2931715" cy="600320"/>
          </a:xfrm>
          <a:prstGeom prst="rect">
            <a:avLst/>
          </a:prstGeom>
        </p:spPr>
      </p:pic>
    </p:spTree>
    <p:extLst>
      <p:ext uri="{BB962C8B-B14F-4D97-AF65-F5344CB8AC3E}">
        <p14:creationId xmlns:p14="http://schemas.microsoft.com/office/powerpoint/2010/main" val="317230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ircle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774E77A-F3AF-2642-9310-AD4C753862B7}"/>
              </a:ext>
            </a:extLst>
          </p:cNvPr>
          <p:cNvSpPr/>
          <p:nvPr userDrawn="1"/>
        </p:nvSpPr>
        <p:spPr>
          <a:xfrm>
            <a:off x="0" y="6228864"/>
            <a:ext cx="9144000" cy="629137"/>
          </a:xfrm>
          <a:prstGeom prst="rect">
            <a:avLst/>
          </a:prstGeom>
          <a:solidFill>
            <a:srgbClr val="C75B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i="0">
              <a:ln>
                <a:noFill/>
              </a:ln>
            </a:endParaRPr>
          </a:p>
        </p:txBody>
      </p:sp>
      <p:cxnSp>
        <p:nvCxnSpPr>
          <p:cNvPr id="10" name="Straight Connector 9">
            <a:extLst>
              <a:ext uri="{FF2B5EF4-FFF2-40B4-BE49-F238E27FC236}">
                <a16:creationId xmlns:a16="http://schemas.microsoft.com/office/drawing/2014/main" id="{11B1F3F2-2AC7-B443-8B2E-4E2C0AEEA1A6}"/>
              </a:ext>
            </a:extLst>
          </p:cNvPr>
          <p:cNvCxnSpPr/>
          <p:nvPr userDrawn="1"/>
        </p:nvCxnSpPr>
        <p:spPr>
          <a:xfrm>
            <a:off x="0" y="6138438"/>
            <a:ext cx="9144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i="0"/>
            </a:lvl1pPr>
          </a:lstStyle>
          <a:p>
            <a:r>
              <a:rPr lang="en-US"/>
              <a:t>Click to edit Master title style</a:t>
            </a:r>
          </a:p>
        </p:txBody>
      </p:sp>
      <p:sp>
        <p:nvSpPr>
          <p:cNvPr id="4" name="Footer Placeholder 3"/>
          <p:cNvSpPr>
            <a:spLocks noGrp="1"/>
          </p:cNvSpPr>
          <p:nvPr>
            <p:ph type="ftr" sz="quarter" idx="11"/>
          </p:nvPr>
        </p:nvSpPr>
        <p:spPr>
          <a:xfrm>
            <a:off x="3028950" y="6461730"/>
            <a:ext cx="5486400" cy="190307"/>
          </a:xfrm>
        </p:spPr>
        <p:txBody>
          <a:bodyPr rIns="0"/>
          <a:lstStyle>
            <a:lvl1pPr>
              <a:defRPr sz="750" i="0">
                <a:solidFill>
                  <a:schemeClr val="bg1"/>
                </a:solidFill>
              </a:defRPr>
            </a:lvl1pPr>
          </a:lstStyle>
          <a:p>
            <a:r>
              <a:rPr lang="en-US"/>
              <a:t>Introduction</a:t>
            </a:r>
          </a:p>
        </p:txBody>
      </p:sp>
      <p:sp>
        <p:nvSpPr>
          <p:cNvPr id="5" name="Slide Number Placeholder 4"/>
          <p:cNvSpPr>
            <a:spLocks noGrp="1"/>
          </p:cNvSpPr>
          <p:nvPr>
            <p:ph type="sldNum" sz="quarter" idx="12"/>
          </p:nvPr>
        </p:nvSpPr>
        <p:spPr>
          <a:xfrm>
            <a:off x="8515350" y="6461730"/>
            <a:ext cx="267462" cy="190307"/>
          </a:xfrm>
        </p:spPr>
        <p:txBody>
          <a:bodyPr/>
          <a:lstStyle>
            <a:lvl1pPr>
              <a:defRPr sz="750" i="0">
                <a:solidFill>
                  <a:schemeClr val="bg1"/>
                </a:solidFill>
              </a:defRPr>
            </a:lvl1pPr>
          </a:lstStyle>
          <a:p>
            <a:fld id="{C68DACDF-E1A9-A04C-A5FF-FC2443684BF5}" type="slidenum">
              <a:rPr lang="en-US" smtClean="0"/>
              <a:pPr/>
              <a:t>‹#›</a:t>
            </a:fld>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5164" y="6303180"/>
            <a:ext cx="353600" cy="471466"/>
          </a:xfrm>
          <a:prstGeom prst="rect">
            <a:avLst/>
          </a:prstGeom>
        </p:spPr>
      </p:pic>
      <p:sp>
        <p:nvSpPr>
          <p:cNvPr id="11" name="Content Placeholder 2">
            <a:extLst>
              <a:ext uri="{FF2B5EF4-FFF2-40B4-BE49-F238E27FC236}">
                <a16:creationId xmlns:a16="http://schemas.microsoft.com/office/drawing/2014/main" id="{DA57F938-CAE3-9A4D-954E-71F2CEBC5F52}"/>
              </a:ext>
            </a:extLst>
          </p:cNvPr>
          <p:cNvSpPr>
            <a:spLocks noGrp="1"/>
          </p:cNvSpPr>
          <p:nvPr>
            <p:ph idx="1"/>
          </p:nvPr>
        </p:nvSpPr>
        <p:spPr>
          <a:xfrm>
            <a:off x="628650" y="1579419"/>
            <a:ext cx="7886700" cy="4362092"/>
          </a:xfrm>
        </p:spPr>
        <p:txBody>
          <a:bodyPr/>
          <a:lstStyle>
            <a:lvl1pPr>
              <a:defRPr sz="1875" i="0"/>
            </a:lvl1pPr>
            <a:lvl2pPr>
              <a:defRPr sz="1500" i="0"/>
            </a:lvl2pPr>
            <a:lvl3pPr>
              <a:defRPr sz="1350" i="0"/>
            </a:lvl3pPr>
            <a:lvl4pPr>
              <a:defRPr sz="1200" i="0"/>
            </a:lvl4pPr>
            <a:lvl5pPr>
              <a:defRPr sz="105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28699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sz="750" i="0">
                <a:solidFill>
                  <a:schemeClr val="tx1"/>
                </a:solidFill>
              </a:defRPr>
            </a:lvl1pPr>
          </a:lstStyle>
          <a:p>
            <a:r>
              <a:rPr lang="en-US"/>
              <a:t>Introduction</a:t>
            </a:r>
          </a:p>
        </p:txBody>
      </p:sp>
      <p:sp>
        <p:nvSpPr>
          <p:cNvPr id="4" name="Slide Number Placeholder 3"/>
          <p:cNvSpPr>
            <a:spLocks noGrp="1"/>
          </p:cNvSpPr>
          <p:nvPr>
            <p:ph type="sldNum" sz="quarter" idx="12"/>
          </p:nvPr>
        </p:nvSpPr>
        <p:spPr/>
        <p:txBody>
          <a:bodyPr/>
          <a:lstStyle>
            <a:lvl1pPr>
              <a:defRPr sz="750" i="0">
                <a:solidFill>
                  <a:schemeClr val="bg2">
                    <a:lumMod val="75000"/>
                  </a:schemeClr>
                </a:solidFill>
              </a:defRPr>
            </a:lvl1pPr>
          </a:lstStyle>
          <a:p>
            <a:fld id="{C68DACDF-E1A9-A04C-A5FF-FC2443684BF5}" type="slidenum">
              <a:rPr lang="en-US" smtClean="0"/>
              <a:pPr/>
              <a:t>‹#›</a:t>
            </a:fld>
            <a:endParaRPr lang="en-US"/>
          </a:p>
        </p:txBody>
      </p:sp>
    </p:spTree>
    <p:extLst>
      <p:ext uri="{BB962C8B-B14F-4D97-AF65-F5344CB8AC3E}">
        <p14:creationId xmlns:p14="http://schemas.microsoft.com/office/powerpoint/2010/main" val="1918660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Emblem">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3375"/>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75" i="0">
                <a:solidFill>
                  <a:srgbClr val="C95C3A"/>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831918" y="585894"/>
            <a:ext cx="1480164" cy="1973552"/>
          </a:xfrm>
          <a:prstGeom prst="rect">
            <a:avLst/>
          </a:prstGeom>
        </p:spPr>
      </p:pic>
    </p:spTree>
    <p:extLst>
      <p:ext uri="{BB962C8B-B14F-4D97-AF65-F5344CB8AC3E}">
        <p14:creationId xmlns:p14="http://schemas.microsoft.com/office/powerpoint/2010/main" val="53975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Monogram 2 Color">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3375"/>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75" i="0">
                <a:solidFill>
                  <a:srgbClr val="C75B12"/>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130117" y="440088"/>
            <a:ext cx="883766" cy="1180400"/>
          </a:xfrm>
          <a:prstGeom prst="rect">
            <a:avLst/>
          </a:prstGeom>
        </p:spPr>
      </p:pic>
    </p:spTree>
    <p:extLst>
      <p:ext uri="{BB962C8B-B14F-4D97-AF65-F5344CB8AC3E}">
        <p14:creationId xmlns:p14="http://schemas.microsoft.com/office/powerpoint/2010/main" val="295971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Monogram Orang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3375"/>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75" i="0">
                <a:solidFill>
                  <a:srgbClr val="C75B12"/>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833201" y="585895"/>
            <a:ext cx="1477598" cy="1973551"/>
          </a:xfrm>
          <a:prstGeom prst="rect">
            <a:avLst/>
          </a:prstGeom>
        </p:spPr>
      </p:pic>
    </p:spTree>
    <p:extLst>
      <p:ext uri="{BB962C8B-B14F-4D97-AF65-F5344CB8AC3E}">
        <p14:creationId xmlns:p14="http://schemas.microsoft.com/office/powerpoint/2010/main" val="2202870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Monogram Wordmark">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3375" i="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normAutofit/>
          </a:bodyPr>
          <a:lstStyle>
            <a:lvl1pPr marL="0" indent="0" algn="ctr">
              <a:buNone/>
              <a:defRPr sz="1875" i="0">
                <a:solidFill>
                  <a:srgbClr val="C95C3A"/>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p>
        </p:txBody>
      </p:sp>
      <p:grpSp>
        <p:nvGrpSpPr>
          <p:cNvPr id="5" name="Group 4">
            <a:extLst>
              <a:ext uri="{FF2B5EF4-FFF2-40B4-BE49-F238E27FC236}">
                <a16:creationId xmlns:a16="http://schemas.microsoft.com/office/drawing/2014/main" id="{1D5DD1B7-2AD1-65C5-CC36-A270EAA55231}"/>
              </a:ext>
            </a:extLst>
          </p:cNvPr>
          <p:cNvGrpSpPr/>
          <p:nvPr userDrawn="1"/>
        </p:nvGrpSpPr>
        <p:grpSpPr>
          <a:xfrm>
            <a:off x="2779323" y="91243"/>
            <a:ext cx="3585354" cy="1508957"/>
            <a:chOff x="2779323" y="91243"/>
            <a:chExt cx="3585354" cy="1508957"/>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779323" y="91243"/>
              <a:ext cx="3585354" cy="1508957"/>
            </a:xfrm>
            <a:prstGeom prst="rect">
              <a:avLst/>
            </a:prstGeom>
          </p:spPr>
        </p:pic>
        <p:pic>
          <p:nvPicPr>
            <p:cNvPr id="4" name="Picture 3" descr="Monogram using orange text. ">
              <a:extLst>
                <a:ext uri="{FF2B5EF4-FFF2-40B4-BE49-F238E27FC236}">
                  <a16:creationId xmlns:a16="http://schemas.microsoft.com/office/drawing/2014/main" id="{2473AAED-5FA6-259A-E8E5-D62D9BB34DE6}"/>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33036" y="174138"/>
              <a:ext cx="1077927" cy="1079798"/>
            </a:xfrm>
            <a:prstGeom prst="rect">
              <a:avLst/>
            </a:prstGeom>
          </p:spPr>
        </p:pic>
      </p:grpSp>
    </p:spTree>
    <p:extLst>
      <p:ext uri="{BB962C8B-B14F-4D97-AF65-F5344CB8AC3E}">
        <p14:creationId xmlns:p14="http://schemas.microsoft.com/office/powerpoint/2010/main" val="78679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Monogram Wordmar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5C8F1B5-E483-57CD-B9F7-1C7F5C60BFD6}"/>
              </a:ext>
            </a:extLst>
          </p:cNvPr>
          <p:cNvPicPr>
            <a:picLocks noChangeAspect="1"/>
          </p:cNvPicPr>
          <p:nvPr userDrawn="1"/>
        </p:nvPicPr>
        <p:blipFill>
          <a:blip r:embed="rId2"/>
          <a:srcRect r="32335"/>
          <a:stretch>
            <a:fillRect/>
          </a:stretch>
        </p:blipFill>
        <p:spPr>
          <a:xfrm>
            <a:off x="3183355" y="-80819"/>
            <a:ext cx="6250350" cy="7091219"/>
          </a:xfrm>
          <a:prstGeom prst="rect">
            <a:avLst/>
          </a:prstGeom>
          <a:ln>
            <a:noFill/>
          </a:ln>
          <a:effectLst>
            <a:softEdge rad="261148"/>
          </a:effectLst>
          <a:scene3d>
            <a:camera prst="orthographicFront">
              <a:rot lat="0" lon="0" rev="0"/>
            </a:camera>
            <a:lightRig rig="threePt" dir="t"/>
          </a:scene3d>
        </p:spPr>
      </p:pic>
      <p:sp>
        <p:nvSpPr>
          <p:cNvPr id="12" name="Rectangle 11">
            <a:extLst>
              <a:ext uri="{FF2B5EF4-FFF2-40B4-BE49-F238E27FC236}">
                <a16:creationId xmlns:a16="http://schemas.microsoft.com/office/drawing/2014/main" id="{7FDF595D-E181-E4E0-6C73-64A55D2C8E0A}"/>
              </a:ext>
            </a:extLst>
          </p:cNvPr>
          <p:cNvSpPr/>
          <p:nvPr userDrawn="1"/>
        </p:nvSpPr>
        <p:spPr>
          <a:xfrm>
            <a:off x="-88900" y="-80819"/>
            <a:ext cx="9232900" cy="6946900"/>
          </a:xfrm>
          <a:prstGeom prst="rect">
            <a:avLst/>
          </a:prstGeom>
          <a:gradFill flip="none" rotWithShape="1">
            <a:gsLst>
              <a:gs pos="0">
                <a:schemeClr val="accent5">
                  <a:lumMod val="0"/>
                  <a:lumOff val="100000"/>
                  <a:alpha val="0"/>
                </a:schemeClr>
              </a:gs>
              <a:gs pos="59000">
                <a:srgbClr val="FFFFFF">
                  <a:lumMod val="63000"/>
                  <a:lumOff val="37000"/>
                </a:srgbClr>
              </a:gs>
              <a:gs pos="48000">
                <a:schemeClr val="accent5">
                  <a:lumMod val="0"/>
                  <a:lumOff val="100000"/>
                  <a:alpha val="13000"/>
                </a:schemeClr>
              </a:gs>
              <a:gs pos="100000">
                <a:schemeClr val="bg1"/>
              </a:gs>
            </a:gsLst>
            <a:lin ang="108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25E150-4EC4-9237-97B7-D9D15ADC0CC0}"/>
              </a:ext>
            </a:extLst>
          </p:cNvPr>
          <p:cNvSpPr/>
          <p:nvPr userDrawn="1"/>
        </p:nvSpPr>
        <p:spPr>
          <a:xfrm>
            <a:off x="-44450" y="-90976"/>
            <a:ext cx="9232900" cy="6946900"/>
          </a:xfrm>
          <a:prstGeom prst="rect">
            <a:avLst/>
          </a:prstGeom>
          <a:gradFill flip="none" rotWithShape="1">
            <a:gsLst>
              <a:gs pos="0">
                <a:schemeClr val="accent5">
                  <a:lumMod val="0"/>
                  <a:lumOff val="100000"/>
                  <a:alpha val="0"/>
                </a:schemeClr>
              </a:gs>
              <a:gs pos="70000">
                <a:srgbClr val="FFFFFF">
                  <a:lumMod val="63000"/>
                  <a:lumOff val="37000"/>
                  <a:alpha val="90361"/>
                </a:srgbClr>
              </a:gs>
              <a:gs pos="59000">
                <a:schemeClr val="accent5">
                  <a:lumMod val="0"/>
                  <a:lumOff val="100000"/>
                  <a:alpha val="0"/>
                </a:schemeClr>
              </a:gs>
              <a:gs pos="100000">
                <a:schemeClr val="bg1"/>
              </a:gs>
            </a:gsLst>
            <a:path path="circle">
              <a:fillToRect l="100000" b="100000"/>
            </a:path>
            <a:tileRect t="-100000" r="-10000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00805" y="1361698"/>
            <a:ext cx="3863195" cy="2387600"/>
          </a:xfrm>
        </p:spPr>
        <p:txBody>
          <a:bodyPr anchor="ctr"/>
          <a:lstStyle>
            <a:lvl1pPr algn="ctr">
              <a:defRPr sz="3375" i="0"/>
            </a:lvl1pPr>
          </a:lstStyle>
          <a:p>
            <a:r>
              <a:rPr lang="en-US" dirty="0"/>
              <a:t>Click to edit Master title style</a:t>
            </a:r>
          </a:p>
        </p:txBody>
      </p:sp>
      <p:sp>
        <p:nvSpPr>
          <p:cNvPr id="3" name="Subtitle 2"/>
          <p:cNvSpPr>
            <a:spLocks noGrp="1"/>
          </p:cNvSpPr>
          <p:nvPr>
            <p:ph type="subTitle" idx="1"/>
          </p:nvPr>
        </p:nvSpPr>
        <p:spPr>
          <a:xfrm>
            <a:off x="200805" y="3948302"/>
            <a:ext cx="3863195" cy="2528697"/>
          </a:xfrm>
        </p:spPr>
        <p:txBody>
          <a:bodyPr>
            <a:normAutofit/>
          </a:bodyPr>
          <a:lstStyle>
            <a:lvl1pPr marL="0" indent="0" algn="ctr">
              <a:buNone/>
              <a:defRPr sz="1875" i="0">
                <a:solidFill>
                  <a:srgbClr val="C95C3A"/>
                </a:solidFill>
              </a:defRPr>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dirty="0"/>
              <a:t>Click to edit Master subtitle style</a:t>
            </a:r>
          </a:p>
        </p:txBody>
      </p:sp>
      <p:grpSp>
        <p:nvGrpSpPr>
          <p:cNvPr id="5" name="Group 4">
            <a:extLst>
              <a:ext uri="{FF2B5EF4-FFF2-40B4-BE49-F238E27FC236}">
                <a16:creationId xmlns:a16="http://schemas.microsoft.com/office/drawing/2014/main" id="{1D5DD1B7-2AD1-65C5-CC36-A270EAA55231}"/>
              </a:ext>
            </a:extLst>
          </p:cNvPr>
          <p:cNvGrpSpPr/>
          <p:nvPr userDrawn="1"/>
        </p:nvGrpSpPr>
        <p:grpSpPr>
          <a:xfrm>
            <a:off x="339725" y="-80819"/>
            <a:ext cx="3585354" cy="1508957"/>
            <a:chOff x="2779323" y="91243"/>
            <a:chExt cx="3585354" cy="1508957"/>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2779323" y="91243"/>
              <a:ext cx="3585354" cy="1508957"/>
            </a:xfrm>
            <a:prstGeom prst="rect">
              <a:avLst/>
            </a:prstGeom>
          </p:spPr>
        </p:pic>
        <p:pic>
          <p:nvPicPr>
            <p:cNvPr id="4" name="Picture 3" descr="Monogram using orange text. ">
              <a:extLst>
                <a:ext uri="{FF2B5EF4-FFF2-40B4-BE49-F238E27FC236}">
                  <a16:creationId xmlns:a16="http://schemas.microsoft.com/office/drawing/2014/main" id="{2473AAED-5FA6-259A-E8E5-D62D9BB34DE6}"/>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4033036" y="174138"/>
              <a:ext cx="1077927" cy="1079798"/>
            </a:xfrm>
            <a:prstGeom prst="rect">
              <a:avLst/>
            </a:prstGeom>
          </p:spPr>
        </p:pic>
      </p:grpSp>
    </p:spTree>
    <p:extLst>
      <p:ext uri="{BB962C8B-B14F-4D97-AF65-F5344CB8AC3E}">
        <p14:creationId xmlns:p14="http://schemas.microsoft.com/office/powerpoint/2010/main" val="317976251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Wordmark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8C99210-9F21-304E-BAB5-5C46220805BC}"/>
              </a:ext>
            </a:extLst>
          </p:cNvPr>
          <p:cNvSpPr/>
          <p:nvPr userDrawn="1"/>
        </p:nvSpPr>
        <p:spPr>
          <a:xfrm>
            <a:off x="0" y="6228864"/>
            <a:ext cx="9144000" cy="629137"/>
          </a:xfrm>
          <a:prstGeom prst="rect">
            <a:avLst/>
          </a:prstGeom>
          <a:gradFill flip="none" rotWithShape="1">
            <a:gsLst>
              <a:gs pos="0">
                <a:schemeClr val="accent5">
                  <a:lumMod val="90000"/>
                  <a:lumOff val="10000"/>
                </a:schemeClr>
              </a:gs>
              <a:gs pos="68000">
                <a:srgbClr val="003720"/>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i="0">
              <a:ln>
                <a:noFill/>
              </a:ln>
              <a:solidFill>
                <a:srgbClr val="C95C3A"/>
              </a:solidFill>
            </a:endParaRPr>
          </a:p>
        </p:txBody>
      </p:sp>
      <p:sp>
        <p:nvSpPr>
          <p:cNvPr id="2" name="Title 1"/>
          <p:cNvSpPr>
            <a:spLocks noGrp="1"/>
          </p:cNvSpPr>
          <p:nvPr>
            <p:ph type="title"/>
          </p:nvPr>
        </p:nvSpPr>
        <p:spPr/>
        <p:txBody>
          <a:bodyPr/>
          <a:lstStyle>
            <a:lvl1pPr>
              <a:defRPr i="0"/>
            </a:lvl1pPr>
          </a:lstStyle>
          <a:p>
            <a:r>
              <a:rPr lang="en-US"/>
              <a:t>Click to edit Master title style</a:t>
            </a:r>
          </a:p>
        </p:txBody>
      </p:sp>
      <p:sp>
        <p:nvSpPr>
          <p:cNvPr id="3" name="Content Placeholder 2"/>
          <p:cNvSpPr>
            <a:spLocks noGrp="1"/>
          </p:cNvSpPr>
          <p:nvPr>
            <p:ph idx="1" hasCustomPrompt="1"/>
          </p:nvPr>
        </p:nvSpPr>
        <p:spPr>
          <a:xfrm>
            <a:off x="628650" y="1579419"/>
            <a:ext cx="7886700" cy="4362092"/>
          </a:xfrm>
        </p:spPr>
        <p:txBody>
          <a:bodyPr/>
          <a:lstStyle>
            <a:lvl1pPr>
              <a:defRPr sz="1875" i="0"/>
            </a:lvl1pPr>
            <a:lvl2pPr>
              <a:defRPr sz="1500" i="0"/>
            </a:lvl2pPr>
            <a:lvl3pPr>
              <a:defRPr sz="1350" i="0"/>
            </a:lvl3pPr>
            <a:lvl4pPr>
              <a:defRPr sz="1200" i="0"/>
            </a:lvl4pPr>
            <a:lvl5pPr>
              <a:defRPr sz="1050" i="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3028950" y="6461730"/>
            <a:ext cx="5486400" cy="190307"/>
          </a:xfrm>
        </p:spPr>
        <p:txBody>
          <a:bodyPr rIns="0"/>
          <a:lstStyle>
            <a:lvl1pPr>
              <a:defRPr sz="750" i="0">
                <a:solidFill>
                  <a:schemeClr val="bg1"/>
                </a:solidFill>
              </a:defRPr>
            </a:lvl1pPr>
          </a:lstStyle>
          <a:p>
            <a:r>
              <a:rPr lang="en-US"/>
              <a:t>Introduction</a:t>
            </a:r>
          </a:p>
        </p:txBody>
      </p:sp>
      <p:sp>
        <p:nvSpPr>
          <p:cNvPr id="6" name="Slide Number Placeholder 5"/>
          <p:cNvSpPr>
            <a:spLocks noGrp="1"/>
          </p:cNvSpPr>
          <p:nvPr>
            <p:ph type="sldNum" sz="quarter" idx="12"/>
          </p:nvPr>
        </p:nvSpPr>
        <p:spPr>
          <a:xfrm>
            <a:off x="8515350" y="6464044"/>
            <a:ext cx="268605" cy="190307"/>
          </a:xfrm>
        </p:spPr>
        <p:txBody>
          <a:bodyPr/>
          <a:lstStyle>
            <a:lvl1pPr>
              <a:defRPr sz="750" i="0">
                <a:solidFill>
                  <a:schemeClr val="bg1"/>
                </a:solidFill>
              </a:defRPr>
            </a:lvl1pPr>
          </a:lstStyle>
          <a:p>
            <a:fld id="{C68DACDF-E1A9-A04C-A5FF-FC2443684BF5}" type="slidenum">
              <a:rPr lang="en-US" smtClean="0"/>
              <a:pPr/>
              <a:t>‹#›</a:t>
            </a:fld>
            <a:endParaRPr lang="en-US"/>
          </a:p>
        </p:txBody>
      </p:sp>
      <p:cxnSp>
        <p:nvCxnSpPr>
          <p:cNvPr id="8" name="Straight Connector 7"/>
          <p:cNvCxnSpPr/>
          <p:nvPr userDrawn="1"/>
        </p:nvCxnSpPr>
        <p:spPr>
          <a:xfrm>
            <a:off x="0" y="6138438"/>
            <a:ext cx="9144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919" y="6228863"/>
            <a:ext cx="2574131" cy="600320"/>
          </a:xfrm>
          <a:prstGeom prst="rect">
            <a:avLst/>
          </a:prstGeom>
        </p:spPr>
      </p:pic>
    </p:spTree>
    <p:extLst>
      <p:ext uri="{BB962C8B-B14F-4D97-AF65-F5344CB8AC3E}">
        <p14:creationId xmlns:p14="http://schemas.microsoft.com/office/powerpoint/2010/main" val="984347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ircle Foot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774E77A-F3AF-2642-9310-AD4C753862B7}"/>
              </a:ext>
            </a:extLst>
          </p:cNvPr>
          <p:cNvSpPr/>
          <p:nvPr userDrawn="1"/>
        </p:nvSpPr>
        <p:spPr>
          <a:xfrm>
            <a:off x="0" y="6228864"/>
            <a:ext cx="9144000" cy="629137"/>
          </a:xfrm>
          <a:prstGeom prst="rect">
            <a:avLst/>
          </a:prstGeom>
          <a:solidFill>
            <a:srgbClr val="C75B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i="0">
              <a:ln>
                <a:noFill/>
              </a:ln>
            </a:endParaRPr>
          </a:p>
        </p:txBody>
      </p:sp>
      <p:cxnSp>
        <p:nvCxnSpPr>
          <p:cNvPr id="10" name="Straight Connector 9">
            <a:extLst>
              <a:ext uri="{FF2B5EF4-FFF2-40B4-BE49-F238E27FC236}">
                <a16:creationId xmlns:a16="http://schemas.microsoft.com/office/drawing/2014/main" id="{11B1F3F2-2AC7-B443-8B2E-4E2C0AEEA1A6}"/>
              </a:ext>
            </a:extLst>
          </p:cNvPr>
          <p:cNvCxnSpPr/>
          <p:nvPr userDrawn="1"/>
        </p:nvCxnSpPr>
        <p:spPr>
          <a:xfrm>
            <a:off x="0" y="6138438"/>
            <a:ext cx="9144000" cy="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i="0"/>
            </a:lvl1pPr>
          </a:lstStyle>
          <a:p>
            <a:r>
              <a:rPr lang="en-US"/>
              <a:t>Click to edit Master title style</a:t>
            </a:r>
          </a:p>
        </p:txBody>
      </p:sp>
      <p:sp>
        <p:nvSpPr>
          <p:cNvPr id="4" name="Footer Placeholder 3"/>
          <p:cNvSpPr>
            <a:spLocks noGrp="1"/>
          </p:cNvSpPr>
          <p:nvPr>
            <p:ph type="ftr" sz="quarter" idx="11"/>
          </p:nvPr>
        </p:nvSpPr>
        <p:spPr>
          <a:xfrm>
            <a:off x="3028950" y="6461730"/>
            <a:ext cx="5486400" cy="190307"/>
          </a:xfrm>
        </p:spPr>
        <p:txBody>
          <a:bodyPr rIns="0"/>
          <a:lstStyle>
            <a:lvl1pPr>
              <a:defRPr sz="750" i="0">
                <a:solidFill>
                  <a:schemeClr val="bg1"/>
                </a:solidFill>
              </a:defRPr>
            </a:lvl1pPr>
          </a:lstStyle>
          <a:p>
            <a:r>
              <a:rPr lang="en-US"/>
              <a:t>Introduction</a:t>
            </a:r>
          </a:p>
        </p:txBody>
      </p:sp>
      <p:sp>
        <p:nvSpPr>
          <p:cNvPr id="5" name="Slide Number Placeholder 4"/>
          <p:cNvSpPr>
            <a:spLocks noGrp="1"/>
          </p:cNvSpPr>
          <p:nvPr>
            <p:ph type="sldNum" sz="quarter" idx="12"/>
          </p:nvPr>
        </p:nvSpPr>
        <p:spPr>
          <a:xfrm>
            <a:off x="8515350" y="6461730"/>
            <a:ext cx="267462" cy="190307"/>
          </a:xfrm>
        </p:spPr>
        <p:txBody>
          <a:bodyPr/>
          <a:lstStyle>
            <a:lvl1pPr>
              <a:defRPr sz="750" i="0">
                <a:solidFill>
                  <a:schemeClr val="bg1"/>
                </a:solidFill>
              </a:defRPr>
            </a:lvl1pPr>
          </a:lstStyle>
          <a:p>
            <a:fld id="{C68DACDF-E1A9-A04C-A5FF-FC2443684BF5}" type="slidenum">
              <a:rPr lang="en-US" smtClean="0"/>
              <a:pPr/>
              <a:t>‹#›</a:t>
            </a:fld>
            <a:endParaRPr lang="en-US"/>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45164" y="6303180"/>
            <a:ext cx="353600" cy="471466"/>
          </a:xfrm>
          <a:prstGeom prst="rect">
            <a:avLst/>
          </a:prstGeom>
        </p:spPr>
      </p:pic>
      <p:sp>
        <p:nvSpPr>
          <p:cNvPr id="11" name="Content Placeholder 2">
            <a:extLst>
              <a:ext uri="{FF2B5EF4-FFF2-40B4-BE49-F238E27FC236}">
                <a16:creationId xmlns:a16="http://schemas.microsoft.com/office/drawing/2014/main" id="{DA57F938-CAE3-9A4D-954E-71F2CEBC5F52}"/>
              </a:ext>
            </a:extLst>
          </p:cNvPr>
          <p:cNvSpPr>
            <a:spLocks noGrp="1"/>
          </p:cNvSpPr>
          <p:nvPr>
            <p:ph idx="1"/>
          </p:nvPr>
        </p:nvSpPr>
        <p:spPr>
          <a:xfrm>
            <a:off x="628650" y="1579419"/>
            <a:ext cx="7886700" cy="4362092"/>
          </a:xfrm>
        </p:spPr>
        <p:txBody>
          <a:bodyPr/>
          <a:lstStyle>
            <a:lvl1pPr>
              <a:defRPr sz="1875" i="0"/>
            </a:lvl1pPr>
            <a:lvl2pPr>
              <a:defRPr sz="1500" i="0"/>
            </a:lvl2pPr>
            <a:lvl3pPr>
              <a:defRPr sz="1350" i="0"/>
            </a:lvl3pPr>
            <a:lvl4pPr>
              <a:defRPr sz="1200" i="0"/>
            </a:lvl4pPr>
            <a:lvl5pPr>
              <a:defRPr sz="1050" i="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7751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sz="750" i="0">
                <a:solidFill>
                  <a:schemeClr val="tx1"/>
                </a:solidFill>
              </a:defRPr>
            </a:lvl1pPr>
          </a:lstStyle>
          <a:p>
            <a:r>
              <a:rPr lang="en-US"/>
              <a:t>Introduction</a:t>
            </a:r>
          </a:p>
        </p:txBody>
      </p:sp>
      <p:sp>
        <p:nvSpPr>
          <p:cNvPr id="4" name="Slide Number Placeholder 3"/>
          <p:cNvSpPr>
            <a:spLocks noGrp="1"/>
          </p:cNvSpPr>
          <p:nvPr>
            <p:ph type="sldNum" sz="quarter" idx="12"/>
          </p:nvPr>
        </p:nvSpPr>
        <p:spPr/>
        <p:txBody>
          <a:bodyPr/>
          <a:lstStyle>
            <a:lvl1pPr>
              <a:defRPr sz="750" i="0">
                <a:solidFill>
                  <a:schemeClr val="bg2">
                    <a:lumMod val="75000"/>
                  </a:schemeClr>
                </a:solidFill>
              </a:defRPr>
            </a:lvl1pPr>
          </a:lstStyle>
          <a:p>
            <a:fld id="{C68DACDF-E1A9-A04C-A5FF-FC2443684BF5}" type="slidenum">
              <a:rPr lang="en-US" smtClean="0"/>
              <a:pPr/>
              <a:t>‹#›</a:t>
            </a:fld>
            <a:endParaRPr lang="en-US"/>
          </a:p>
        </p:txBody>
      </p:sp>
    </p:spTree>
    <p:extLst>
      <p:ext uri="{BB962C8B-B14F-4D97-AF65-F5344CB8AC3E}">
        <p14:creationId xmlns:p14="http://schemas.microsoft.com/office/powerpoint/2010/main" val="341248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74638"/>
            <a:ext cx="6172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600201"/>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6356351"/>
            <a:ext cx="1600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2343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Introduction</a:t>
            </a:r>
          </a:p>
        </p:txBody>
      </p:sp>
      <p:sp>
        <p:nvSpPr>
          <p:cNvPr id="6" name="Slide Number Placeholder 5"/>
          <p:cNvSpPr>
            <a:spLocks noGrp="1"/>
          </p:cNvSpPr>
          <p:nvPr>
            <p:ph type="sldNum" sz="quarter" idx="4"/>
          </p:nvPr>
        </p:nvSpPr>
        <p:spPr>
          <a:xfrm>
            <a:off x="4914900" y="6356351"/>
            <a:ext cx="1600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47915"/>
            <a:ext cx="7886700" cy="11575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579418"/>
            <a:ext cx="7886700" cy="459754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028950" y="6461730"/>
            <a:ext cx="5486400" cy="190307"/>
          </a:xfrm>
          <a:prstGeom prst="rect">
            <a:avLst/>
          </a:prstGeom>
        </p:spPr>
        <p:txBody>
          <a:bodyPr vert="horz" lIns="91440" tIns="45720" rIns="0" bIns="45720" rtlCol="0" anchor="ctr"/>
          <a:lstStyle>
            <a:lvl1pPr algn="r">
              <a:defRPr sz="675">
                <a:solidFill>
                  <a:schemeClr val="bg2">
                    <a:lumMod val="90000"/>
                  </a:schemeClr>
                </a:solidFill>
              </a:defRPr>
            </a:lvl1pPr>
          </a:lstStyle>
          <a:p>
            <a:r>
              <a:rPr lang="en-US"/>
              <a:t>Introduction</a:t>
            </a:r>
          </a:p>
        </p:txBody>
      </p:sp>
      <p:sp>
        <p:nvSpPr>
          <p:cNvPr id="6" name="Slide Number Placeholder 5"/>
          <p:cNvSpPr>
            <a:spLocks noGrp="1"/>
          </p:cNvSpPr>
          <p:nvPr>
            <p:ph type="sldNum" sz="quarter" idx="4"/>
          </p:nvPr>
        </p:nvSpPr>
        <p:spPr>
          <a:xfrm>
            <a:off x="8515350" y="6461730"/>
            <a:ext cx="267462" cy="190307"/>
          </a:xfrm>
          <a:prstGeom prst="rect">
            <a:avLst/>
          </a:prstGeom>
        </p:spPr>
        <p:txBody>
          <a:bodyPr vert="horz" lIns="91440" tIns="45720" rIns="91440" bIns="45720" rtlCol="0" anchor="ctr"/>
          <a:lstStyle>
            <a:lvl1pPr algn="r">
              <a:defRPr sz="675">
                <a:solidFill>
                  <a:schemeClr val="bg2">
                    <a:lumMod val="90000"/>
                  </a:schemeClr>
                </a:solidFill>
              </a:defRPr>
            </a:lvl1pPr>
          </a:lstStyle>
          <a:p>
            <a:fld id="{C68DACDF-E1A9-A04C-A5FF-FC2443684BF5}" type="slidenum">
              <a:rPr lang="en-US" smtClean="0"/>
              <a:pPr/>
              <a:t>‹#›</a:t>
            </a:fld>
            <a:endParaRPr lang="en-US"/>
          </a:p>
        </p:txBody>
      </p:sp>
    </p:spTree>
    <p:extLst>
      <p:ext uri="{BB962C8B-B14F-4D97-AF65-F5344CB8AC3E}">
        <p14:creationId xmlns:p14="http://schemas.microsoft.com/office/powerpoint/2010/main" val="28285661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0" indent="0" algn="l" defTabSz="514350" rtl="0" eaLnBrk="1" latinLnBrk="0" hangingPunct="1">
        <a:lnSpc>
          <a:spcPct val="90000"/>
        </a:lnSpc>
        <a:spcBef>
          <a:spcPts val="563"/>
        </a:spcBef>
        <a:buFont typeface="Arial" panose="020B0604020202020204" pitchFamily="34" charset="0"/>
        <a:buNone/>
        <a:defRPr sz="1875" i="0"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500" i="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350" i="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200" i="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50" i="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47915"/>
            <a:ext cx="7886700" cy="115757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579418"/>
            <a:ext cx="7886700" cy="459754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028950" y="6461730"/>
            <a:ext cx="5486400" cy="190307"/>
          </a:xfrm>
          <a:prstGeom prst="rect">
            <a:avLst/>
          </a:prstGeom>
        </p:spPr>
        <p:txBody>
          <a:bodyPr vert="horz" lIns="91440" tIns="45720" rIns="0" bIns="45720" rtlCol="0" anchor="ctr"/>
          <a:lstStyle>
            <a:lvl1pPr algn="r">
              <a:defRPr sz="675">
                <a:solidFill>
                  <a:schemeClr val="bg2">
                    <a:lumMod val="90000"/>
                  </a:schemeClr>
                </a:solidFill>
              </a:defRPr>
            </a:lvl1pPr>
          </a:lstStyle>
          <a:p>
            <a:r>
              <a:rPr lang="en-US"/>
              <a:t>Introduction</a:t>
            </a:r>
          </a:p>
        </p:txBody>
      </p:sp>
      <p:sp>
        <p:nvSpPr>
          <p:cNvPr id="6" name="Slide Number Placeholder 5"/>
          <p:cNvSpPr>
            <a:spLocks noGrp="1"/>
          </p:cNvSpPr>
          <p:nvPr>
            <p:ph type="sldNum" sz="quarter" idx="4"/>
          </p:nvPr>
        </p:nvSpPr>
        <p:spPr>
          <a:xfrm>
            <a:off x="8515350" y="6461730"/>
            <a:ext cx="267462" cy="190307"/>
          </a:xfrm>
          <a:prstGeom prst="rect">
            <a:avLst/>
          </a:prstGeom>
        </p:spPr>
        <p:txBody>
          <a:bodyPr vert="horz" lIns="91440" tIns="45720" rIns="91440" bIns="45720" rtlCol="0" anchor="ctr"/>
          <a:lstStyle>
            <a:lvl1pPr algn="r">
              <a:defRPr sz="675">
                <a:solidFill>
                  <a:schemeClr val="bg2">
                    <a:lumMod val="90000"/>
                  </a:schemeClr>
                </a:solidFill>
              </a:defRPr>
            </a:lvl1pPr>
          </a:lstStyle>
          <a:p>
            <a:fld id="{C68DACDF-E1A9-A04C-A5FF-FC2443684BF5}" type="slidenum">
              <a:rPr lang="en-US" smtClean="0"/>
              <a:pPr/>
              <a:t>‹#›</a:t>
            </a:fld>
            <a:endParaRPr lang="en-US"/>
          </a:p>
        </p:txBody>
      </p:sp>
    </p:spTree>
    <p:extLst>
      <p:ext uri="{BB962C8B-B14F-4D97-AF65-F5344CB8AC3E}">
        <p14:creationId xmlns:p14="http://schemas.microsoft.com/office/powerpoint/2010/main" val="52500136"/>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6" r:id="rId5"/>
    <p:sldLayoutId id="2147483693" r:id="rId6"/>
    <p:sldLayoutId id="2147483694" r:id="rId7"/>
    <p:sldLayoutId id="2147483695"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0" indent="0" algn="l" defTabSz="514350" rtl="0" eaLnBrk="1" latinLnBrk="0" hangingPunct="1">
        <a:lnSpc>
          <a:spcPct val="90000"/>
        </a:lnSpc>
        <a:spcBef>
          <a:spcPts val="563"/>
        </a:spcBef>
        <a:buFont typeface="Arial" panose="020B0604020202020204" pitchFamily="34" charset="0"/>
        <a:buNone/>
        <a:defRPr sz="1875" i="0"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500" i="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350" i="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200" i="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50" i="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hyperlink" Target="https://claude.ai/artifact/1fYTT1epbnKv8QLN77WuRw#sampling" TargetMode="External"/><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16.xml"/><Relationship Id="rId5" Type="http://schemas.openxmlformats.org/officeDocument/2006/relationships/image" Target="../media/image14.jpg"/><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image" Target="../media/image9.png"/><Relationship Id="rId5" Type="http://schemas.openxmlformats.org/officeDocument/2006/relationships/hyperlink" Target="https://claude.ai/artifact/1fYTT1epbnKv8QLN77WuRw#sampling" TargetMode="External"/><Relationship Id="rId4" Type="http://schemas.openxmlformats.org/officeDocument/2006/relationships/chart" Target="../charts/char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17.jp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19.jpg"/></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16.xml"/><Relationship Id="rId5" Type="http://schemas.openxmlformats.org/officeDocument/2006/relationships/image" Target="../media/image9.png"/><Relationship Id="rId4" Type="http://schemas.openxmlformats.org/officeDocument/2006/relationships/hyperlink" Target="https://claude.ai/artifact/1fYTT1epbnKv8QLN77WuRw#sampling"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32ED9C-2EC7-524F-81B3-53A3EFDD17CA}"/>
              </a:ext>
            </a:extLst>
          </p:cNvPr>
          <p:cNvSpPr>
            <a:spLocks noGrp="1"/>
          </p:cNvSpPr>
          <p:nvPr>
            <p:ph type="ctrTitle"/>
          </p:nvPr>
        </p:nvSpPr>
        <p:spPr>
          <a:xfrm>
            <a:off x="389211" y="1554480"/>
            <a:ext cx="8365577" cy="1517904"/>
          </a:xfrm>
        </p:spPr>
        <p:txBody>
          <a:bodyPr anchor="ctr">
            <a:normAutofit/>
          </a:bodyPr>
          <a:lstStyle/>
          <a:p>
            <a:pPr>
              <a:lnSpc>
                <a:spcPts val="3564"/>
              </a:lnSpc>
            </a:pPr>
            <a:r>
              <a:rPr lang="en-US" sz="2800" b="1" spc="-38" dirty="0">
                <a:solidFill>
                  <a:schemeClr val="accent5">
                    <a:lumMod val="90000"/>
                    <a:lumOff val="10000"/>
                  </a:schemeClr>
                </a:solidFill>
              </a:rPr>
              <a:t>AI-Driven Wearable Bioelectronics </a:t>
            </a:r>
            <a:br>
              <a:rPr lang="en-US" sz="2800" b="1" spc="-38" dirty="0">
                <a:solidFill>
                  <a:schemeClr val="accent5">
                    <a:lumMod val="90000"/>
                    <a:lumOff val="10000"/>
                  </a:schemeClr>
                </a:solidFill>
              </a:rPr>
            </a:br>
            <a:r>
              <a:rPr lang="en-US" sz="2800" b="1" spc="-38" dirty="0">
                <a:solidFill>
                  <a:schemeClr val="accent5">
                    <a:lumMod val="90000"/>
                    <a:lumOff val="10000"/>
                  </a:schemeClr>
                </a:solidFill>
              </a:rPr>
              <a:t>in </a:t>
            </a:r>
            <a:br>
              <a:rPr lang="en-US" sz="2800" b="1" spc="-38" dirty="0">
                <a:solidFill>
                  <a:schemeClr val="accent5">
                    <a:lumMod val="90000"/>
                    <a:lumOff val="10000"/>
                  </a:schemeClr>
                </a:solidFill>
              </a:rPr>
            </a:br>
            <a:r>
              <a:rPr lang="en-US" sz="2800" b="1" spc="-38" dirty="0">
                <a:solidFill>
                  <a:schemeClr val="accent5">
                    <a:lumMod val="90000"/>
                    <a:lumOff val="10000"/>
                  </a:schemeClr>
                </a:solidFill>
              </a:rPr>
              <a:t>Digital Healthcare</a:t>
            </a:r>
          </a:p>
        </p:txBody>
      </p:sp>
      <p:sp>
        <p:nvSpPr>
          <p:cNvPr id="5" name="Subtitle 4">
            <a:extLst>
              <a:ext uri="{FF2B5EF4-FFF2-40B4-BE49-F238E27FC236}">
                <a16:creationId xmlns:a16="http://schemas.microsoft.com/office/drawing/2014/main" id="{4E9B7918-2E7E-704A-A9C8-05B211B7898F}"/>
              </a:ext>
            </a:extLst>
          </p:cNvPr>
          <p:cNvSpPr>
            <a:spLocks noGrp="1"/>
          </p:cNvSpPr>
          <p:nvPr>
            <p:ph type="subTitle" idx="1"/>
          </p:nvPr>
        </p:nvSpPr>
        <p:spPr>
          <a:xfrm>
            <a:off x="1142999" y="4363043"/>
            <a:ext cx="6858000" cy="2103120"/>
          </a:xfrm>
        </p:spPr>
        <p:txBody>
          <a:bodyPr>
            <a:normAutofit/>
          </a:bodyPr>
          <a:lstStyle/>
          <a:p>
            <a:pPr>
              <a:lnSpc>
                <a:spcPct val="150000"/>
              </a:lnSpc>
            </a:pPr>
            <a:r>
              <a:rPr lang="en-US" sz="2400" b="1" dirty="0"/>
              <a:t>RITTIK PATRA</a:t>
            </a:r>
            <a:endParaRPr lang="en-US" sz="2400" dirty="0">
              <a:solidFill>
                <a:srgbClr val="154733"/>
              </a:solidFill>
            </a:endParaRPr>
          </a:p>
          <a:p>
            <a:r>
              <a:rPr lang="en-US" sz="1500" dirty="0">
                <a:solidFill>
                  <a:srgbClr val="154733"/>
                </a:solidFill>
              </a:rPr>
              <a:t>BMEN 6367 · Fall 2026</a:t>
            </a:r>
          </a:p>
          <a:p>
            <a:r>
              <a:rPr lang="en-US" sz="1350" dirty="0">
                <a:solidFill>
                  <a:schemeClr val="accent5"/>
                </a:solidFill>
                <a:latin typeface="+mj-lt"/>
                <a:cs typeface="Dreaming Outloud Script Pro" panose="03050502040304050704" pitchFamily="66" charset="77"/>
              </a:rPr>
              <a:t>Department of Bioengineering</a:t>
            </a:r>
          </a:p>
          <a:p>
            <a:r>
              <a:rPr lang="en-US" sz="1500" b="1" dirty="0">
                <a:solidFill>
                  <a:schemeClr val="accent5"/>
                </a:solidFill>
                <a:latin typeface="+mj-lt"/>
                <a:cs typeface="Dreaming Outloud Script Pro" panose="03050502040304050704" pitchFamily="66" charset="77"/>
              </a:rPr>
              <a:t>Team Venus</a:t>
            </a:r>
          </a:p>
          <a:p>
            <a:r>
              <a:rPr lang="en-US" sz="1500" b="1" dirty="0">
                <a:solidFill>
                  <a:schemeClr val="accent5"/>
                </a:solidFill>
                <a:latin typeface="+mj-lt"/>
                <a:cs typeface="Dreaming Outloud Script Pro" panose="03050502040304050704" pitchFamily="66" charset="77"/>
              </a:rPr>
              <a:t>Paper 1 [AI in Bioelectronics ]</a:t>
            </a:r>
          </a:p>
        </p:txBody>
      </p:sp>
      <p:sp>
        <p:nvSpPr>
          <p:cNvPr id="6" name="Paper: authors, affiliations, journal"/>
          <p:cNvSpPr txBox="1"/>
          <p:nvPr/>
        </p:nvSpPr>
        <p:spPr>
          <a:xfrm>
            <a:off x="548639" y="3246120"/>
            <a:ext cx="8046720" cy="914400"/>
          </a:xfrm>
          <a:prstGeom prst="rect">
            <a:avLst/>
          </a:prstGeom>
          <a:noFill/>
        </p:spPr>
        <p:txBody>
          <a:bodyPr wrap="square" lIns="0" tIns="0" rIns="0" bIns="0" anchor="t">
            <a:noAutofit/>
          </a:bodyPr>
          <a:lstStyle/>
          <a:p>
            <a:pPr algn="ctr">
              <a:spcAft>
                <a:spcPts val="500"/>
              </a:spcAft>
            </a:pPr>
            <a:r>
              <a:rPr sz="1400" b="1" dirty="0" err="1">
                <a:solidFill>
                  <a:srgbClr val="333333"/>
                </a:solidFill>
                <a:latin typeface="Arial"/>
              </a:rPr>
              <a:t>Guangqi</a:t>
            </a:r>
            <a:r>
              <a:rPr sz="1400" b="1" dirty="0">
                <a:solidFill>
                  <a:srgbClr val="333333"/>
                </a:solidFill>
                <a:latin typeface="Arial"/>
              </a:rPr>
              <a:t> Huang</a:t>
            </a:r>
            <a:r>
              <a:rPr sz="1400" b="1" baseline="30000" dirty="0">
                <a:solidFill>
                  <a:srgbClr val="333333"/>
                </a:solidFill>
                <a:latin typeface="Arial"/>
              </a:rPr>
              <a:t>1,2</a:t>
            </a:r>
            <a:r>
              <a:rPr sz="1400" b="1" dirty="0">
                <a:solidFill>
                  <a:srgbClr val="333333"/>
                </a:solidFill>
                <a:latin typeface="Arial"/>
              </a:rPr>
              <a:t> · Xiaofeng Chen</a:t>
            </a:r>
            <a:r>
              <a:rPr sz="1400" b="1" baseline="30000" dirty="0">
                <a:solidFill>
                  <a:srgbClr val="333333"/>
                </a:solidFill>
                <a:latin typeface="Arial"/>
              </a:rPr>
              <a:t>3</a:t>
            </a:r>
            <a:r>
              <a:rPr sz="1400" b="1" dirty="0">
                <a:solidFill>
                  <a:srgbClr val="333333"/>
                </a:solidFill>
                <a:latin typeface="Arial"/>
              </a:rPr>
              <a:t> · </a:t>
            </a:r>
            <a:r>
              <a:rPr sz="1400" b="1" dirty="0" err="1">
                <a:solidFill>
                  <a:srgbClr val="333333"/>
                </a:solidFill>
                <a:latin typeface="Arial"/>
              </a:rPr>
              <a:t>Caizhi</a:t>
            </a:r>
            <a:r>
              <a:rPr sz="1400" b="1" dirty="0">
                <a:solidFill>
                  <a:srgbClr val="333333"/>
                </a:solidFill>
                <a:latin typeface="Arial"/>
              </a:rPr>
              <a:t> Liao</a:t>
            </a:r>
            <a:r>
              <a:rPr sz="1400" b="1" baseline="30000" dirty="0">
                <a:solidFill>
                  <a:srgbClr val="333333"/>
                </a:solidFill>
                <a:latin typeface="Arial"/>
              </a:rPr>
              <a:t>1,2</a:t>
            </a:r>
            <a:r>
              <a:rPr sz="1400" b="1" dirty="0">
                <a:solidFill>
                  <a:srgbClr val="333333"/>
                </a:solidFill>
                <a:latin typeface="Arial"/>
              </a:rPr>
              <a:t>*</a:t>
            </a:r>
          </a:p>
          <a:p>
            <a:pPr algn="ctr">
              <a:spcAft>
                <a:spcPts val="500"/>
              </a:spcAft>
            </a:pPr>
            <a:r>
              <a:rPr sz="950" b="0" baseline="30000" dirty="0">
                <a:solidFill>
                  <a:srgbClr val="5B6770"/>
                </a:solidFill>
                <a:latin typeface="Arial"/>
              </a:rPr>
              <a:t>1</a:t>
            </a:r>
            <a:r>
              <a:rPr sz="950" b="0" dirty="0">
                <a:solidFill>
                  <a:srgbClr val="5B6770"/>
                </a:solidFill>
                <a:latin typeface="Arial"/>
              </a:rPr>
              <a:t>Dept. of Bioelectronics, Shenzhen University of Advanced Technology, China · </a:t>
            </a:r>
            <a:r>
              <a:rPr sz="950" b="0" baseline="30000" dirty="0">
                <a:solidFill>
                  <a:srgbClr val="5B6770"/>
                </a:solidFill>
                <a:latin typeface="Arial"/>
              </a:rPr>
              <a:t>2</a:t>
            </a:r>
            <a:r>
              <a:rPr sz="950" b="0" dirty="0">
                <a:solidFill>
                  <a:srgbClr val="5B6770"/>
                </a:solidFill>
                <a:latin typeface="Arial"/>
              </a:rPr>
              <a:t>Dept. of Engineering, University of Cambridge, UK · </a:t>
            </a:r>
            <a:r>
              <a:rPr sz="950" b="0" baseline="30000" dirty="0">
                <a:solidFill>
                  <a:srgbClr val="5B6770"/>
                </a:solidFill>
                <a:latin typeface="Arial"/>
              </a:rPr>
              <a:t>3</a:t>
            </a:r>
            <a:r>
              <a:rPr sz="950" b="0" dirty="0">
                <a:solidFill>
                  <a:srgbClr val="5B6770"/>
                </a:solidFill>
                <a:latin typeface="Arial"/>
              </a:rPr>
              <a:t>Dept. of Chemistry, The University of Texas at Austin, USA · *corresponding author</a:t>
            </a:r>
          </a:p>
          <a:p>
            <a:pPr algn="ctr">
              <a:spcAft>
                <a:spcPts val="500"/>
              </a:spcAft>
            </a:pPr>
            <a:r>
              <a:rPr sz="1150" b="1" i="1" dirty="0">
                <a:solidFill>
                  <a:srgbClr val="154734"/>
                </a:solidFill>
                <a:latin typeface="Arial"/>
              </a:rPr>
              <a:t>Biosensors</a:t>
            </a:r>
            <a:r>
              <a:rPr sz="1150" b="0" dirty="0">
                <a:solidFill>
                  <a:srgbClr val="154734"/>
                </a:solidFill>
                <a:latin typeface="Arial"/>
              </a:rPr>
              <a:t> (MDPI) · 2025 · Vol. 15, Issue 7, Article 410 · doi:10.3390/bios15070410</a:t>
            </a:r>
          </a:p>
        </p:txBody>
      </p:sp>
    </p:spTree>
    <p:extLst>
      <p:ext uri="{BB962C8B-B14F-4D97-AF65-F5344CB8AC3E}">
        <p14:creationId xmlns:p14="http://schemas.microsoft.com/office/powerpoint/2010/main" val="1693100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D09129FB-83DD-24F1-8D05-BFAE4537D2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494C8FB-6D1D-D19B-646C-297D179C0A95}"/>
              </a:ext>
            </a:extLst>
          </p:cNvPr>
          <p:cNvPicPr>
            <a:picLocks noChangeAspect="1"/>
          </p:cNvPicPr>
          <p:nvPr/>
        </p:nvPicPr>
        <p:blipFill>
          <a:blip r:embed="rId3"/>
          <a:stretch>
            <a:fillRect/>
          </a:stretch>
        </p:blipFill>
        <p:spPr>
          <a:xfrm>
            <a:off x="3965944" y="1611"/>
            <a:ext cx="8931349" cy="6856389"/>
          </a:xfrm>
          <a:prstGeom prst="rect">
            <a:avLst/>
          </a:prstGeom>
          <a:gradFill>
            <a:gsLst>
              <a:gs pos="0">
                <a:schemeClr val="accent5">
                  <a:lumMod val="5000"/>
                  <a:lumOff val="95000"/>
                  <a:alpha val="40152"/>
                </a:schemeClr>
              </a:gs>
              <a:gs pos="74000">
                <a:schemeClr val="accent5">
                  <a:lumMod val="45000"/>
                  <a:lumOff val="55000"/>
                </a:schemeClr>
              </a:gs>
              <a:gs pos="83000">
                <a:schemeClr val="accent5">
                  <a:lumMod val="45000"/>
                  <a:lumOff val="55000"/>
                </a:schemeClr>
              </a:gs>
              <a:gs pos="100000">
                <a:schemeClr val="accent5">
                  <a:lumMod val="30000"/>
                  <a:lumOff val="70000"/>
                </a:schemeClr>
              </a:gs>
            </a:gsLst>
            <a:path path="rect">
              <a:fillToRect l="100000" t="100000"/>
            </a:path>
          </a:gradFill>
        </p:spPr>
      </p:pic>
      <p:sp>
        <p:nvSpPr>
          <p:cNvPr id="2" name="Rectangle 1">
            <a:extLst>
              <a:ext uri="{FF2B5EF4-FFF2-40B4-BE49-F238E27FC236}">
                <a16:creationId xmlns:a16="http://schemas.microsoft.com/office/drawing/2014/main" id="{4A10426B-275B-8FB8-F90A-78FE93773FF3}"/>
              </a:ext>
            </a:extLst>
          </p:cNvPr>
          <p:cNvSpPr/>
          <p:nvPr/>
        </p:nvSpPr>
        <p:spPr>
          <a:xfrm>
            <a:off x="0" y="0"/>
            <a:ext cx="10536865" cy="6932428"/>
          </a:xfrm>
          <a:prstGeom prst="rect">
            <a:avLst/>
          </a:prstGeom>
          <a:gradFill flip="none" rotWithShape="1">
            <a:gsLst>
              <a:gs pos="0">
                <a:schemeClr val="accent5">
                  <a:lumMod val="0"/>
                  <a:lumOff val="100000"/>
                </a:schemeClr>
              </a:gs>
              <a:gs pos="75000">
                <a:srgbClr val="FCFFFE">
                  <a:alpha val="25000"/>
                </a:srgbClr>
              </a:gs>
              <a:gs pos="50000">
                <a:srgbClr val="FDFFFE">
                  <a:alpha val="79978"/>
                </a:srgbClr>
              </a:gs>
              <a:gs pos="100000">
                <a:srgbClr val="FBFEFD">
                  <a:alpha val="25000"/>
                </a:srgbClr>
              </a:gs>
              <a:gs pos="25000">
                <a:srgbClr val="F7FDFB">
                  <a:alpha val="89815"/>
                </a:srgbClr>
              </a:gs>
              <a:gs pos="100000">
                <a:schemeClr val="bg1">
                  <a:alpha val="0"/>
                </a:schemeClr>
              </a:gs>
            </a:gsLst>
            <a:lin ang="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7A95AFF6-6B02-427B-FCA0-D2C5AD85CE8F}"/>
              </a:ext>
            </a:extLst>
          </p:cNvPr>
          <p:cNvSpPr>
            <a:spLocks noGrp="1"/>
          </p:cNvSpPr>
          <p:nvPr>
            <p:ph type="ctrTitle"/>
          </p:nvPr>
        </p:nvSpPr>
        <p:spPr>
          <a:xfrm>
            <a:off x="268472" y="1258261"/>
            <a:ext cx="4385989" cy="1517904"/>
          </a:xfrm>
        </p:spPr>
        <p:txBody>
          <a:bodyPr anchor="ctr">
            <a:normAutofit fontScale="90000"/>
          </a:bodyPr>
          <a:lstStyle/>
          <a:p>
            <a:pPr algn="l">
              <a:lnSpc>
                <a:spcPts val="3564"/>
              </a:lnSpc>
            </a:pPr>
            <a:r>
              <a:rPr lang="en-US" sz="2800" b="1" spc="-38" dirty="0">
                <a:solidFill>
                  <a:schemeClr val="accent5">
                    <a:lumMod val="90000"/>
                    <a:lumOff val="10000"/>
                  </a:schemeClr>
                </a:solidFill>
              </a:rPr>
              <a:t>AI-Driven Wearable Bioelectronics </a:t>
            </a:r>
            <a:br>
              <a:rPr lang="en-US" sz="2800" b="1" spc="-38" dirty="0">
                <a:solidFill>
                  <a:schemeClr val="accent5">
                    <a:lumMod val="90000"/>
                    <a:lumOff val="10000"/>
                  </a:schemeClr>
                </a:solidFill>
              </a:rPr>
            </a:br>
            <a:r>
              <a:rPr lang="en-US" sz="2800" b="1" spc="-38" dirty="0">
                <a:solidFill>
                  <a:schemeClr val="accent5">
                    <a:lumMod val="90000"/>
                    <a:lumOff val="10000"/>
                  </a:schemeClr>
                </a:solidFill>
              </a:rPr>
              <a:t>in </a:t>
            </a:r>
            <a:br>
              <a:rPr lang="en-US" sz="2800" b="1" spc="-38" dirty="0">
                <a:solidFill>
                  <a:schemeClr val="accent5">
                    <a:lumMod val="90000"/>
                    <a:lumOff val="10000"/>
                  </a:schemeClr>
                </a:solidFill>
              </a:rPr>
            </a:br>
            <a:r>
              <a:rPr lang="en-US" sz="2800" b="1" spc="-38" dirty="0">
                <a:solidFill>
                  <a:schemeClr val="accent5">
                    <a:lumMod val="90000"/>
                    <a:lumOff val="10000"/>
                  </a:schemeClr>
                </a:solidFill>
              </a:rPr>
              <a:t>Digital Healthcare</a:t>
            </a:r>
          </a:p>
        </p:txBody>
      </p:sp>
      <p:sp>
        <p:nvSpPr>
          <p:cNvPr id="5" name="Subtitle 4">
            <a:extLst>
              <a:ext uri="{FF2B5EF4-FFF2-40B4-BE49-F238E27FC236}">
                <a16:creationId xmlns:a16="http://schemas.microsoft.com/office/drawing/2014/main" id="{4AE63061-3E1E-BC85-2C09-0398B9BEDF4C}"/>
              </a:ext>
            </a:extLst>
          </p:cNvPr>
          <p:cNvSpPr>
            <a:spLocks noGrp="1"/>
          </p:cNvSpPr>
          <p:nvPr>
            <p:ph type="subTitle" idx="1"/>
          </p:nvPr>
        </p:nvSpPr>
        <p:spPr>
          <a:xfrm>
            <a:off x="268472" y="4952999"/>
            <a:ext cx="3429001" cy="1775373"/>
          </a:xfrm>
        </p:spPr>
        <p:txBody>
          <a:bodyPr>
            <a:normAutofit/>
          </a:bodyPr>
          <a:lstStyle/>
          <a:p>
            <a:pPr algn="l">
              <a:lnSpc>
                <a:spcPct val="150000"/>
              </a:lnSpc>
            </a:pPr>
            <a:r>
              <a:rPr lang="en-US" sz="2400" b="1" dirty="0"/>
              <a:t>RITTIK PATRA</a:t>
            </a:r>
            <a:endParaRPr lang="en-US" sz="2400" dirty="0">
              <a:solidFill>
                <a:srgbClr val="154733"/>
              </a:solidFill>
            </a:endParaRPr>
          </a:p>
          <a:p>
            <a:pPr algn="l"/>
            <a:r>
              <a:rPr lang="en-US" sz="1500" dirty="0">
                <a:solidFill>
                  <a:srgbClr val="154733"/>
                </a:solidFill>
              </a:rPr>
              <a:t>BMEN 6367 · Fall 2026</a:t>
            </a:r>
          </a:p>
          <a:p>
            <a:pPr algn="l"/>
            <a:r>
              <a:rPr lang="en-US" sz="1350" dirty="0">
                <a:solidFill>
                  <a:schemeClr val="accent5"/>
                </a:solidFill>
                <a:latin typeface="+mj-lt"/>
                <a:cs typeface="Dreaming Outloud Script Pro" panose="03050502040304050704" pitchFamily="66" charset="77"/>
              </a:rPr>
              <a:t>Department of Bioengineering</a:t>
            </a:r>
          </a:p>
          <a:p>
            <a:pPr algn="l"/>
            <a:r>
              <a:rPr lang="en-US" sz="1500" b="1" dirty="0">
                <a:solidFill>
                  <a:schemeClr val="accent5"/>
                </a:solidFill>
                <a:latin typeface="+mj-lt"/>
                <a:cs typeface="Dreaming Outloud Script Pro" panose="03050502040304050704" pitchFamily="66" charset="77"/>
              </a:rPr>
              <a:t>Team Venus</a:t>
            </a:r>
          </a:p>
          <a:p>
            <a:pPr algn="l"/>
            <a:r>
              <a:rPr lang="en-US" sz="1500" b="1" dirty="0">
                <a:solidFill>
                  <a:schemeClr val="accent5"/>
                </a:solidFill>
                <a:latin typeface="+mj-lt"/>
                <a:cs typeface="Dreaming Outloud Script Pro" panose="03050502040304050704" pitchFamily="66" charset="77"/>
              </a:rPr>
              <a:t>Paper 1 [AI in Bioelectronics ]</a:t>
            </a:r>
          </a:p>
        </p:txBody>
      </p:sp>
      <p:sp>
        <p:nvSpPr>
          <p:cNvPr id="6" name="Paper: authors, affiliations, journal">
            <a:extLst>
              <a:ext uri="{FF2B5EF4-FFF2-40B4-BE49-F238E27FC236}">
                <a16:creationId xmlns:a16="http://schemas.microsoft.com/office/drawing/2014/main" id="{87370327-9B54-941E-CEA3-0D3CC8AE6B48}"/>
              </a:ext>
            </a:extLst>
          </p:cNvPr>
          <p:cNvSpPr txBox="1"/>
          <p:nvPr/>
        </p:nvSpPr>
        <p:spPr>
          <a:xfrm>
            <a:off x="402707" y="3042065"/>
            <a:ext cx="3429001" cy="1379133"/>
          </a:xfrm>
          <a:prstGeom prst="rect">
            <a:avLst/>
          </a:prstGeom>
          <a:noFill/>
        </p:spPr>
        <p:txBody>
          <a:bodyPr wrap="square" lIns="0" tIns="0" rIns="0" bIns="0" anchor="t">
            <a:noAutofit/>
          </a:bodyPr>
          <a:lstStyle/>
          <a:p>
            <a:pPr>
              <a:spcAft>
                <a:spcPts val="500"/>
              </a:spcAft>
            </a:pPr>
            <a:r>
              <a:rPr sz="1400" b="1" dirty="0" err="1">
                <a:solidFill>
                  <a:srgbClr val="333333"/>
                </a:solidFill>
                <a:latin typeface="Arial"/>
              </a:rPr>
              <a:t>Guangqi</a:t>
            </a:r>
            <a:r>
              <a:rPr sz="1400" b="1" dirty="0">
                <a:solidFill>
                  <a:srgbClr val="333333"/>
                </a:solidFill>
                <a:latin typeface="Arial"/>
              </a:rPr>
              <a:t> Huang</a:t>
            </a:r>
            <a:r>
              <a:rPr sz="1400" b="1" baseline="30000" dirty="0">
                <a:solidFill>
                  <a:srgbClr val="333333"/>
                </a:solidFill>
                <a:latin typeface="Arial"/>
              </a:rPr>
              <a:t>1,2</a:t>
            </a:r>
            <a:r>
              <a:rPr sz="1400" b="1" dirty="0">
                <a:solidFill>
                  <a:srgbClr val="333333"/>
                </a:solidFill>
                <a:latin typeface="Arial"/>
              </a:rPr>
              <a:t> · </a:t>
            </a:r>
            <a:endParaRPr lang="en-US" sz="1400" b="1" dirty="0">
              <a:solidFill>
                <a:srgbClr val="333333"/>
              </a:solidFill>
              <a:latin typeface="Arial"/>
            </a:endParaRPr>
          </a:p>
          <a:p>
            <a:pPr>
              <a:spcAft>
                <a:spcPts val="500"/>
              </a:spcAft>
            </a:pPr>
            <a:r>
              <a:rPr sz="1400" b="1" dirty="0">
                <a:solidFill>
                  <a:srgbClr val="333333"/>
                </a:solidFill>
                <a:latin typeface="Arial"/>
              </a:rPr>
              <a:t>Xiaofeng Chen</a:t>
            </a:r>
            <a:r>
              <a:rPr sz="1400" b="1" baseline="30000" dirty="0">
                <a:solidFill>
                  <a:srgbClr val="333333"/>
                </a:solidFill>
                <a:latin typeface="Arial"/>
              </a:rPr>
              <a:t>3</a:t>
            </a:r>
            <a:r>
              <a:rPr sz="1400" b="1" dirty="0">
                <a:solidFill>
                  <a:srgbClr val="333333"/>
                </a:solidFill>
                <a:latin typeface="Arial"/>
              </a:rPr>
              <a:t> · </a:t>
            </a:r>
            <a:endParaRPr lang="en-US" sz="1400" b="1" dirty="0">
              <a:solidFill>
                <a:srgbClr val="333333"/>
              </a:solidFill>
              <a:latin typeface="Arial"/>
            </a:endParaRPr>
          </a:p>
          <a:p>
            <a:pPr>
              <a:spcAft>
                <a:spcPts val="500"/>
              </a:spcAft>
            </a:pPr>
            <a:r>
              <a:rPr sz="1400" b="1" dirty="0" err="1">
                <a:solidFill>
                  <a:srgbClr val="333333"/>
                </a:solidFill>
                <a:latin typeface="Arial"/>
              </a:rPr>
              <a:t>Caizhi</a:t>
            </a:r>
            <a:r>
              <a:rPr sz="1400" b="1" dirty="0">
                <a:solidFill>
                  <a:srgbClr val="333333"/>
                </a:solidFill>
                <a:latin typeface="Arial"/>
              </a:rPr>
              <a:t> Liao</a:t>
            </a:r>
            <a:r>
              <a:rPr sz="1400" b="1" baseline="30000" dirty="0">
                <a:solidFill>
                  <a:srgbClr val="333333"/>
                </a:solidFill>
                <a:latin typeface="Arial"/>
              </a:rPr>
              <a:t>1,2</a:t>
            </a:r>
            <a:r>
              <a:rPr sz="1400" b="1" dirty="0">
                <a:solidFill>
                  <a:srgbClr val="333333"/>
                </a:solidFill>
                <a:latin typeface="Arial"/>
              </a:rPr>
              <a:t>*</a:t>
            </a:r>
          </a:p>
          <a:p>
            <a:pPr>
              <a:spcAft>
                <a:spcPts val="500"/>
              </a:spcAft>
            </a:pPr>
            <a:r>
              <a:rPr sz="950" b="0" baseline="30000" dirty="0">
                <a:solidFill>
                  <a:srgbClr val="5B6770"/>
                </a:solidFill>
                <a:latin typeface="Arial"/>
              </a:rPr>
              <a:t>1</a:t>
            </a:r>
            <a:r>
              <a:rPr sz="950" b="0" dirty="0">
                <a:solidFill>
                  <a:srgbClr val="5B6770"/>
                </a:solidFill>
                <a:latin typeface="Arial"/>
              </a:rPr>
              <a:t>Dept. of Bioelectronics, Shenzhen University of Advanced Technology, China · </a:t>
            </a:r>
            <a:r>
              <a:rPr sz="950" b="0" baseline="30000" dirty="0">
                <a:solidFill>
                  <a:srgbClr val="5B6770"/>
                </a:solidFill>
                <a:latin typeface="Arial"/>
              </a:rPr>
              <a:t>2</a:t>
            </a:r>
            <a:r>
              <a:rPr sz="950" b="0" dirty="0">
                <a:solidFill>
                  <a:srgbClr val="5B6770"/>
                </a:solidFill>
                <a:latin typeface="Arial"/>
              </a:rPr>
              <a:t>Dept. of Engineering, University of Cambridge, UK · </a:t>
            </a:r>
            <a:r>
              <a:rPr sz="950" b="0" baseline="30000" dirty="0">
                <a:solidFill>
                  <a:srgbClr val="5B6770"/>
                </a:solidFill>
                <a:latin typeface="Arial"/>
              </a:rPr>
              <a:t>3</a:t>
            </a:r>
            <a:r>
              <a:rPr sz="950" b="0" dirty="0">
                <a:solidFill>
                  <a:srgbClr val="5B6770"/>
                </a:solidFill>
                <a:latin typeface="Arial"/>
              </a:rPr>
              <a:t>Dept. of Chemistry, The University of Texas at Austin, USA · *corresponding author</a:t>
            </a:r>
          </a:p>
          <a:p>
            <a:pPr>
              <a:spcAft>
                <a:spcPts val="500"/>
              </a:spcAft>
            </a:pPr>
            <a:r>
              <a:rPr sz="1150" b="1" i="1" dirty="0">
                <a:solidFill>
                  <a:srgbClr val="154734"/>
                </a:solidFill>
                <a:latin typeface="Arial"/>
              </a:rPr>
              <a:t>Biosensors</a:t>
            </a:r>
            <a:r>
              <a:rPr sz="1150" b="0" dirty="0">
                <a:solidFill>
                  <a:srgbClr val="154734"/>
                </a:solidFill>
                <a:latin typeface="Arial"/>
              </a:rPr>
              <a:t> (MDPI) · 2025 · Vol. 15, Issue 7, Article 410 · doi:10.3390/bios15070410</a:t>
            </a:r>
          </a:p>
        </p:txBody>
      </p:sp>
    </p:spTree>
    <p:extLst>
      <p:ext uri="{BB962C8B-B14F-4D97-AF65-F5344CB8AC3E}">
        <p14:creationId xmlns:p14="http://schemas.microsoft.com/office/powerpoint/2010/main" val="204220261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6FF7-0A64-8094-4504-285117A09339}"/>
              </a:ext>
            </a:extLst>
          </p:cNvPr>
          <p:cNvSpPr>
            <a:spLocks noGrp="1"/>
          </p:cNvSpPr>
          <p:nvPr>
            <p:ph type="ctrTitle"/>
          </p:nvPr>
        </p:nvSpPr>
        <p:spPr>
          <a:xfrm>
            <a:off x="200805" y="1361698"/>
            <a:ext cx="3863195" cy="1521202"/>
          </a:xfrm>
        </p:spPr>
        <p:txBody>
          <a:bodyPr>
            <a:normAutofit fontScale="90000"/>
          </a:bodyPr>
          <a:lstStyle/>
          <a:p>
            <a:pPr algn="l"/>
            <a:r>
              <a:rPr lang="en-US" sz="2800" b="1" spc="-38" dirty="0">
                <a:solidFill>
                  <a:schemeClr val="accent5">
                    <a:lumMod val="90000"/>
                    <a:lumOff val="10000"/>
                  </a:schemeClr>
                </a:solidFill>
              </a:rPr>
              <a:t>AI-Driven </a:t>
            </a:r>
            <a:br>
              <a:rPr lang="en-US" sz="2800" b="1" spc="-38" dirty="0">
                <a:solidFill>
                  <a:schemeClr val="accent5">
                    <a:lumMod val="90000"/>
                    <a:lumOff val="10000"/>
                  </a:schemeClr>
                </a:solidFill>
              </a:rPr>
            </a:br>
            <a:r>
              <a:rPr lang="en-US" sz="2800" b="1" spc="-38" dirty="0">
                <a:solidFill>
                  <a:schemeClr val="accent5">
                    <a:lumMod val="90000"/>
                    <a:lumOff val="10000"/>
                  </a:schemeClr>
                </a:solidFill>
              </a:rPr>
              <a:t>Wearable Bioelectronics in Digital Healthcare</a:t>
            </a:r>
            <a:endParaRPr lang="en-US" sz="2800" dirty="0"/>
          </a:p>
        </p:txBody>
      </p:sp>
      <p:sp>
        <p:nvSpPr>
          <p:cNvPr id="3" name="Subtitle 2">
            <a:extLst>
              <a:ext uri="{FF2B5EF4-FFF2-40B4-BE49-F238E27FC236}">
                <a16:creationId xmlns:a16="http://schemas.microsoft.com/office/drawing/2014/main" id="{B4BB0471-9A30-8510-BF67-9DC9C29941C1}"/>
              </a:ext>
            </a:extLst>
          </p:cNvPr>
          <p:cNvSpPr>
            <a:spLocks noGrp="1"/>
          </p:cNvSpPr>
          <p:nvPr>
            <p:ph type="subTitle" idx="1"/>
          </p:nvPr>
        </p:nvSpPr>
        <p:spPr>
          <a:xfrm>
            <a:off x="200805" y="4787900"/>
            <a:ext cx="3583795" cy="1972750"/>
          </a:xfrm>
        </p:spPr>
        <p:txBody>
          <a:bodyPr/>
          <a:lstStyle/>
          <a:p>
            <a:pPr algn="l">
              <a:lnSpc>
                <a:spcPct val="150000"/>
              </a:lnSpc>
            </a:pPr>
            <a:r>
              <a:rPr lang="en-US" sz="3200" b="1" dirty="0"/>
              <a:t>RITTIK PATRA</a:t>
            </a:r>
            <a:endParaRPr lang="en-US" sz="3200" dirty="0">
              <a:solidFill>
                <a:srgbClr val="154733"/>
              </a:solidFill>
            </a:endParaRPr>
          </a:p>
          <a:p>
            <a:pPr algn="l"/>
            <a:r>
              <a:rPr lang="en-US" sz="1500" dirty="0">
                <a:solidFill>
                  <a:srgbClr val="154733"/>
                </a:solidFill>
              </a:rPr>
              <a:t>BMEN 6367 · Fall 2026</a:t>
            </a:r>
          </a:p>
          <a:p>
            <a:pPr algn="l"/>
            <a:r>
              <a:rPr lang="en-US" sz="1350" dirty="0">
                <a:solidFill>
                  <a:schemeClr val="accent5"/>
                </a:solidFill>
                <a:cs typeface="Dreaming Outloud Script Pro" panose="03050502040304050704" pitchFamily="66" charset="77"/>
              </a:rPr>
              <a:t>Department of Bioengineering</a:t>
            </a:r>
          </a:p>
          <a:p>
            <a:pPr algn="l"/>
            <a:r>
              <a:rPr lang="en-US" sz="1500" b="1" dirty="0">
                <a:solidFill>
                  <a:schemeClr val="accent5"/>
                </a:solidFill>
                <a:cs typeface="Dreaming Outloud Script Pro" panose="03050502040304050704" pitchFamily="66" charset="77"/>
              </a:rPr>
              <a:t>Team Venus</a:t>
            </a:r>
          </a:p>
          <a:p>
            <a:pPr algn="l"/>
            <a:r>
              <a:rPr lang="en-US" sz="1500" b="1" dirty="0">
                <a:solidFill>
                  <a:schemeClr val="accent5"/>
                </a:solidFill>
                <a:cs typeface="Dreaming Outloud Script Pro" panose="03050502040304050704" pitchFamily="66" charset="77"/>
              </a:rPr>
              <a:t>Paper 1 [AI in Bioelectronics ]</a:t>
            </a:r>
          </a:p>
          <a:p>
            <a:pPr algn="l"/>
            <a:endParaRPr lang="en-US" dirty="0"/>
          </a:p>
        </p:txBody>
      </p:sp>
      <p:sp>
        <p:nvSpPr>
          <p:cNvPr id="4" name="Paper: authors, affiliations, journal">
            <a:extLst>
              <a:ext uri="{FF2B5EF4-FFF2-40B4-BE49-F238E27FC236}">
                <a16:creationId xmlns:a16="http://schemas.microsoft.com/office/drawing/2014/main" id="{8E8523F4-C2A6-42CE-A4F9-9F99B42770E5}"/>
              </a:ext>
            </a:extLst>
          </p:cNvPr>
          <p:cNvSpPr txBox="1"/>
          <p:nvPr/>
        </p:nvSpPr>
        <p:spPr>
          <a:xfrm>
            <a:off x="278201" y="2882900"/>
            <a:ext cx="3429001" cy="1379133"/>
          </a:xfrm>
          <a:prstGeom prst="rect">
            <a:avLst/>
          </a:prstGeom>
          <a:noFill/>
        </p:spPr>
        <p:txBody>
          <a:bodyPr wrap="square" lIns="0" tIns="0" rIns="0" bIns="0" anchor="t">
            <a:noAutofit/>
          </a:bodyPr>
          <a:lstStyle/>
          <a:p>
            <a:pPr>
              <a:spcAft>
                <a:spcPts val="500"/>
              </a:spcAft>
            </a:pPr>
            <a:r>
              <a:rPr sz="1400" b="1" dirty="0" err="1">
                <a:solidFill>
                  <a:srgbClr val="333333"/>
                </a:solidFill>
                <a:latin typeface="Arial"/>
              </a:rPr>
              <a:t>Guangqi</a:t>
            </a:r>
            <a:r>
              <a:rPr sz="1400" b="1" dirty="0">
                <a:solidFill>
                  <a:srgbClr val="333333"/>
                </a:solidFill>
                <a:latin typeface="Arial"/>
              </a:rPr>
              <a:t> Huang</a:t>
            </a:r>
            <a:r>
              <a:rPr sz="1400" b="1" baseline="30000" dirty="0">
                <a:solidFill>
                  <a:srgbClr val="333333"/>
                </a:solidFill>
                <a:latin typeface="Arial"/>
              </a:rPr>
              <a:t>1,2</a:t>
            </a:r>
            <a:r>
              <a:rPr sz="1400" b="1" dirty="0">
                <a:solidFill>
                  <a:srgbClr val="333333"/>
                </a:solidFill>
                <a:latin typeface="Arial"/>
              </a:rPr>
              <a:t> · </a:t>
            </a:r>
            <a:endParaRPr lang="en-US" sz="1400" b="1" dirty="0">
              <a:solidFill>
                <a:srgbClr val="333333"/>
              </a:solidFill>
              <a:latin typeface="Arial"/>
            </a:endParaRPr>
          </a:p>
          <a:p>
            <a:pPr>
              <a:spcAft>
                <a:spcPts val="500"/>
              </a:spcAft>
            </a:pPr>
            <a:r>
              <a:rPr sz="1400" b="1" dirty="0">
                <a:solidFill>
                  <a:srgbClr val="333333"/>
                </a:solidFill>
                <a:latin typeface="Arial"/>
              </a:rPr>
              <a:t>Xiaofeng Chen</a:t>
            </a:r>
            <a:r>
              <a:rPr sz="1400" b="1" baseline="30000" dirty="0">
                <a:solidFill>
                  <a:srgbClr val="333333"/>
                </a:solidFill>
                <a:latin typeface="Arial"/>
              </a:rPr>
              <a:t>3</a:t>
            </a:r>
            <a:r>
              <a:rPr sz="1400" b="1" dirty="0">
                <a:solidFill>
                  <a:srgbClr val="333333"/>
                </a:solidFill>
                <a:latin typeface="Arial"/>
              </a:rPr>
              <a:t> · </a:t>
            </a:r>
            <a:endParaRPr lang="en-US" sz="1400" b="1" dirty="0">
              <a:solidFill>
                <a:srgbClr val="333333"/>
              </a:solidFill>
              <a:latin typeface="Arial"/>
            </a:endParaRPr>
          </a:p>
          <a:p>
            <a:pPr>
              <a:spcAft>
                <a:spcPts val="500"/>
              </a:spcAft>
            </a:pPr>
            <a:r>
              <a:rPr sz="1400" b="1" dirty="0" err="1">
                <a:solidFill>
                  <a:srgbClr val="333333"/>
                </a:solidFill>
                <a:latin typeface="Arial"/>
              </a:rPr>
              <a:t>Caizhi</a:t>
            </a:r>
            <a:r>
              <a:rPr sz="1400" b="1" dirty="0">
                <a:solidFill>
                  <a:srgbClr val="333333"/>
                </a:solidFill>
                <a:latin typeface="Arial"/>
              </a:rPr>
              <a:t> Liao</a:t>
            </a:r>
            <a:r>
              <a:rPr sz="1400" b="1" baseline="30000" dirty="0">
                <a:solidFill>
                  <a:srgbClr val="333333"/>
                </a:solidFill>
                <a:latin typeface="Arial"/>
              </a:rPr>
              <a:t>1,2</a:t>
            </a:r>
            <a:r>
              <a:rPr sz="1400" b="1" dirty="0">
                <a:solidFill>
                  <a:srgbClr val="333333"/>
                </a:solidFill>
                <a:latin typeface="Arial"/>
              </a:rPr>
              <a:t>*</a:t>
            </a:r>
          </a:p>
          <a:p>
            <a:pPr>
              <a:spcAft>
                <a:spcPts val="500"/>
              </a:spcAft>
            </a:pPr>
            <a:r>
              <a:rPr sz="950" b="0" baseline="30000" dirty="0">
                <a:solidFill>
                  <a:srgbClr val="5B6770"/>
                </a:solidFill>
                <a:latin typeface="Arial"/>
              </a:rPr>
              <a:t>1</a:t>
            </a:r>
            <a:r>
              <a:rPr sz="950" b="0" dirty="0">
                <a:solidFill>
                  <a:srgbClr val="5B6770"/>
                </a:solidFill>
                <a:latin typeface="Arial"/>
              </a:rPr>
              <a:t>Dept. of Bioelectronics, Shenzhen University of Advanced Technology, China · </a:t>
            </a:r>
            <a:r>
              <a:rPr sz="950" b="0" baseline="30000" dirty="0">
                <a:solidFill>
                  <a:srgbClr val="5B6770"/>
                </a:solidFill>
                <a:latin typeface="Arial"/>
              </a:rPr>
              <a:t>2</a:t>
            </a:r>
            <a:r>
              <a:rPr sz="950" b="0" dirty="0">
                <a:solidFill>
                  <a:srgbClr val="5B6770"/>
                </a:solidFill>
                <a:latin typeface="Arial"/>
              </a:rPr>
              <a:t>Dept. of Engineering, University of Cambridge, UK · </a:t>
            </a:r>
            <a:r>
              <a:rPr sz="950" b="0" baseline="30000" dirty="0">
                <a:solidFill>
                  <a:srgbClr val="5B6770"/>
                </a:solidFill>
                <a:latin typeface="Arial"/>
              </a:rPr>
              <a:t>3</a:t>
            </a:r>
            <a:r>
              <a:rPr sz="950" b="0" dirty="0">
                <a:solidFill>
                  <a:srgbClr val="5B6770"/>
                </a:solidFill>
                <a:latin typeface="Arial"/>
              </a:rPr>
              <a:t>Dept. of Chemistry, The University of Texas at Austin, USA · *corresponding author</a:t>
            </a:r>
          </a:p>
        </p:txBody>
      </p:sp>
    </p:spTree>
    <p:extLst>
      <p:ext uri="{BB962C8B-B14F-4D97-AF65-F5344CB8AC3E}">
        <p14:creationId xmlns:p14="http://schemas.microsoft.com/office/powerpoint/2010/main" val="161961451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Clinic visits sample your physiology at ~3 × 10⁻⁸ Hz</a:t>
            </a:r>
          </a:p>
        </p:txBody>
      </p:sp>
      <p:sp>
        <p:nvSpPr>
          <p:cNvPr id="3" name="Text: BACKGROUND · SIGNIFICANCE"/>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BACKGROUND · SIGNIFICANCE</a:t>
            </a:r>
          </a:p>
        </p:txBody>
      </p:sp>
      <p:grpSp>
        <p:nvGrpSpPr>
          <p:cNvPr id="32" name="Group 31">
            <a:extLst>
              <a:ext uri="{FF2B5EF4-FFF2-40B4-BE49-F238E27FC236}">
                <a16:creationId xmlns:a16="http://schemas.microsoft.com/office/drawing/2014/main" id="{AA62199B-EBD0-0B7D-35F0-909425180804}"/>
              </a:ext>
            </a:extLst>
          </p:cNvPr>
          <p:cNvGrpSpPr/>
          <p:nvPr/>
        </p:nvGrpSpPr>
        <p:grpSpPr>
          <a:xfrm>
            <a:off x="736599" y="1488672"/>
            <a:ext cx="7670800" cy="2254250"/>
            <a:chOff x="736600" y="1033760"/>
            <a:chExt cx="7670800" cy="2254250"/>
          </a:xfrm>
        </p:grpSpPr>
        <p:grpSp>
          <p:nvGrpSpPr>
            <p:cNvPr id="4" name="Sketch: Sketch: continuous physiological trace over one year; a paroxysmal episo"/>
            <p:cNvGrpSpPr/>
            <p:nvPr/>
          </p:nvGrpSpPr>
          <p:grpSpPr>
            <a:xfrm>
              <a:off x="736600" y="1567160"/>
              <a:ext cx="7670800" cy="1536700"/>
              <a:chOff x="736600" y="1567160"/>
              <a:chExt cx="7670800" cy="1536700"/>
            </a:xfrm>
          </p:grpSpPr>
          <p:cxnSp>
            <p:nvCxnSpPr>
              <p:cNvPr id="5" name="Connector 4"/>
              <p:cNvCxnSpPr/>
              <p:nvPr/>
            </p:nvCxnSpPr>
            <p:spPr>
              <a:xfrm>
                <a:off x="736600" y="3103860"/>
                <a:ext cx="7670800" cy="0"/>
              </a:xfrm>
              <a:prstGeom prst="line">
                <a:avLst/>
              </a:prstGeom>
              <a:ln w="19050" cap="flat">
                <a:solidFill>
                  <a:srgbClr val="D8DDDA"/>
                </a:solidFill>
              </a:ln>
            </p:spPr>
          </p:cxnSp>
          <p:cxnSp>
            <p:nvCxnSpPr>
              <p:cNvPr id="6" name="Connector 5"/>
              <p:cNvCxnSpPr/>
              <p:nvPr/>
            </p:nvCxnSpPr>
            <p:spPr>
              <a:xfrm>
                <a:off x="1752600" y="1567160"/>
                <a:ext cx="0" cy="1536700"/>
              </a:xfrm>
              <a:prstGeom prst="line">
                <a:avLst/>
              </a:prstGeom>
              <a:ln w="12700" cap="flat">
                <a:solidFill>
                  <a:srgbClr val="154734"/>
                </a:solidFill>
                <a:custDash>
                  <a:ds d="400000" sp="400000"/>
                </a:custDash>
              </a:ln>
            </p:spPr>
          </p:cxnSp>
          <p:cxnSp>
            <p:nvCxnSpPr>
              <p:cNvPr id="7" name="Connector 6"/>
              <p:cNvCxnSpPr/>
              <p:nvPr/>
            </p:nvCxnSpPr>
            <p:spPr>
              <a:xfrm>
                <a:off x="7404100" y="1567160"/>
                <a:ext cx="0" cy="1536700"/>
              </a:xfrm>
              <a:prstGeom prst="line">
                <a:avLst/>
              </a:prstGeom>
              <a:ln w="12700" cap="flat">
                <a:solidFill>
                  <a:srgbClr val="154734"/>
                </a:solidFill>
                <a:custDash>
                  <a:ds d="400000" sp="400000"/>
                </a:custDash>
              </a:ln>
            </p:spPr>
          </p:cxnSp>
          <p:sp>
            <p:nvSpPr>
              <p:cNvPr id="8" name="Trace"/>
              <p:cNvSpPr/>
              <p:nvPr/>
            </p:nvSpPr>
            <p:spPr>
              <a:xfrm>
                <a:off x="736600" y="2133600"/>
                <a:ext cx="7658100" cy="342900"/>
              </a:xfrm>
              <a:custGeom>
                <a:avLst/>
                <a:gdLst/>
                <a:ahLst/>
                <a:cxnLst/>
                <a:rect l="l" t="t" r="r" b="b"/>
                <a:pathLst>
                  <a:path w="1206" h="54">
                    <a:moveTo>
                      <a:pt x="0" y="39"/>
                    </a:moveTo>
                    <a:lnTo>
                      <a:pt x="3" y="38"/>
                    </a:lnTo>
                    <a:lnTo>
                      <a:pt x="6" y="36"/>
                    </a:lnTo>
                    <a:lnTo>
                      <a:pt x="9" y="34"/>
                    </a:lnTo>
                    <a:lnTo>
                      <a:pt x="12" y="32"/>
                    </a:lnTo>
                    <a:lnTo>
                      <a:pt x="15" y="31"/>
                    </a:lnTo>
                    <a:lnTo>
                      <a:pt x="18" y="31"/>
                    </a:lnTo>
                    <a:lnTo>
                      <a:pt x="21" y="32"/>
                    </a:lnTo>
                    <a:lnTo>
                      <a:pt x="24" y="34"/>
                    </a:lnTo>
                    <a:lnTo>
                      <a:pt x="27" y="37"/>
                    </a:lnTo>
                    <a:lnTo>
                      <a:pt x="30" y="40"/>
                    </a:lnTo>
                    <a:lnTo>
                      <a:pt x="33" y="44"/>
                    </a:lnTo>
                    <a:lnTo>
                      <a:pt x="36" y="47"/>
                    </a:lnTo>
                    <a:lnTo>
                      <a:pt x="39" y="50"/>
                    </a:lnTo>
                    <a:lnTo>
                      <a:pt x="42" y="52"/>
                    </a:lnTo>
                    <a:lnTo>
                      <a:pt x="45" y="53"/>
                    </a:lnTo>
                    <a:lnTo>
                      <a:pt x="48" y="53"/>
                    </a:lnTo>
                    <a:lnTo>
                      <a:pt x="51" y="52"/>
                    </a:lnTo>
                    <a:lnTo>
                      <a:pt x="54" y="50"/>
                    </a:lnTo>
                    <a:lnTo>
                      <a:pt x="57" y="47"/>
                    </a:lnTo>
                    <a:lnTo>
                      <a:pt x="60" y="45"/>
                    </a:lnTo>
                    <a:lnTo>
                      <a:pt x="63" y="42"/>
                    </a:lnTo>
                    <a:lnTo>
                      <a:pt x="66" y="40"/>
                    </a:lnTo>
                    <a:lnTo>
                      <a:pt x="69" y="39"/>
                    </a:lnTo>
                    <a:lnTo>
                      <a:pt x="72" y="39"/>
                    </a:lnTo>
                    <a:lnTo>
                      <a:pt x="75" y="40"/>
                    </a:lnTo>
                    <a:lnTo>
                      <a:pt x="78" y="42"/>
                    </a:lnTo>
                    <a:lnTo>
                      <a:pt x="81" y="44"/>
                    </a:lnTo>
                    <a:lnTo>
                      <a:pt x="84" y="46"/>
                    </a:lnTo>
                    <a:lnTo>
                      <a:pt x="87" y="49"/>
                    </a:lnTo>
                    <a:lnTo>
                      <a:pt x="90" y="51"/>
                    </a:lnTo>
                    <a:lnTo>
                      <a:pt x="93" y="52"/>
                    </a:lnTo>
                    <a:lnTo>
                      <a:pt x="96" y="53"/>
                    </a:lnTo>
                    <a:lnTo>
                      <a:pt x="99" y="52"/>
                    </a:lnTo>
                    <a:lnTo>
                      <a:pt x="102" y="51"/>
                    </a:lnTo>
                    <a:lnTo>
                      <a:pt x="105" y="48"/>
                    </a:lnTo>
                    <a:lnTo>
                      <a:pt x="108" y="45"/>
                    </a:lnTo>
                    <a:lnTo>
                      <a:pt x="111" y="41"/>
                    </a:lnTo>
                    <a:lnTo>
                      <a:pt x="114" y="38"/>
                    </a:lnTo>
                    <a:lnTo>
                      <a:pt x="117" y="35"/>
                    </a:lnTo>
                    <a:lnTo>
                      <a:pt x="120" y="32"/>
                    </a:lnTo>
                    <a:lnTo>
                      <a:pt x="123" y="31"/>
                    </a:lnTo>
                    <a:lnTo>
                      <a:pt x="126" y="31"/>
                    </a:lnTo>
                    <a:lnTo>
                      <a:pt x="129" y="31"/>
                    </a:lnTo>
                    <a:lnTo>
                      <a:pt x="132" y="33"/>
                    </a:lnTo>
                    <a:lnTo>
                      <a:pt x="135" y="34"/>
                    </a:lnTo>
                    <a:lnTo>
                      <a:pt x="138" y="36"/>
                    </a:lnTo>
                    <a:lnTo>
                      <a:pt x="141" y="38"/>
                    </a:lnTo>
                    <a:lnTo>
                      <a:pt x="144" y="39"/>
                    </a:lnTo>
                    <a:lnTo>
                      <a:pt x="147" y="39"/>
                    </a:lnTo>
                    <a:lnTo>
                      <a:pt x="150" y="38"/>
                    </a:lnTo>
                    <a:lnTo>
                      <a:pt x="153" y="37"/>
                    </a:lnTo>
                    <a:lnTo>
                      <a:pt x="156" y="34"/>
                    </a:lnTo>
                    <a:lnTo>
                      <a:pt x="159" y="30"/>
                    </a:lnTo>
                    <a:lnTo>
                      <a:pt x="162" y="26"/>
                    </a:lnTo>
                    <a:lnTo>
                      <a:pt x="165" y="22"/>
                    </a:lnTo>
                    <a:lnTo>
                      <a:pt x="168" y="19"/>
                    </a:lnTo>
                    <a:lnTo>
                      <a:pt x="171" y="16"/>
                    </a:lnTo>
                    <a:lnTo>
                      <a:pt x="174" y="14"/>
                    </a:lnTo>
                    <a:lnTo>
                      <a:pt x="177" y="13"/>
                    </a:lnTo>
                    <a:lnTo>
                      <a:pt x="180" y="14"/>
                    </a:lnTo>
                    <a:lnTo>
                      <a:pt x="183" y="15"/>
                    </a:lnTo>
                    <a:lnTo>
                      <a:pt x="186" y="16"/>
                    </a:lnTo>
                    <a:lnTo>
                      <a:pt x="189" y="18"/>
                    </a:lnTo>
                    <a:lnTo>
                      <a:pt x="192" y="20"/>
                    </a:lnTo>
                    <a:lnTo>
                      <a:pt x="195" y="22"/>
                    </a:lnTo>
                    <a:lnTo>
                      <a:pt x="198" y="22"/>
                    </a:lnTo>
                    <a:lnTo>
                      <a:pt x="201" y="22"/>
                    </a:lnTo>
                    <a:lnTo>
                      <a:pt x="204" y="21"/>
                    </a:lnTo>
                    <a:lnTo>
                      <a:pt x="207" y="18"/>
                    </a:lnTo>
                    <a:lnTo>
                      <a:pt x="210" y="15"/>
                    </a:lnTo>
                    <a:lnTo>
                      <a:pt x="213" y="12"/>
                    </a:lnTo>
                    <a:lnTo>
                      <a:pt x="216" y="9"/>
                    </a:lnTo>
                    <a:lnTo>
                      <a:pt x="219" y="5"/>
                    </a:lnTo>
                    <a:lnTo>
                      <a:pt x="222" y="3"/>
                    </a:lnTo>
                    <a:lnTo>
                      <a:pt x="225" y="1"/>
                    </a:lnTo>
                    <a:lnTo>
                      <a:pt x="228" y="1"/>
                    </a:lnTo>
                    <a:lnTo>
                      <a:pt x="231" y="1"/>
                    </a:lnTo>
                    <a:lnTo>
                      <a:pt x="234" y="2"/>
                    </a:lnTo>
                    <a:lnTo>
                      <a:pt x="237" y="5"/>
                    </a:lnTo>
                    <a:lnTo>
                      <a:pt x="240" y="7"/>
                    </a:lnTo>
                    <a:lnTo>
                      <a:pt x="243" y="10"/>
                    </a:lnTo>
                    <a:lnTo>
                      <a:pt x="246" y="12"/>
                    </a:lnTo>
                    <a:lnTo>
                      <a:pt x="249" y="14"/>
                    </a:lnTo>
                    <a:lnTo>
                      <a:pt x="252" y="15"/>
                    </a:lnTo>
                    <a:lnTo>
                      <a:pt x="255" y="15"/>
                    </a:lnTo>
                    <a:lnTo>
                      <a:pt x="258" y="14"/>
                    </a:lnTo>
                    <a:lnTo>
                      <a:pt x="261" y="12"/>
                    </a:lnTo>
                    <a:lnTo>
                      <a:pt x="264" y="10"/>
                    </a:lnTo>
                    <a:lnTo>
                      <a:pt x="267" y="7"/>
                    </a:lnTo>
                    <a:lnTo>
                      <a:pt x="270" y="4"/>
                    </a:lnTo>
                    <a:lnTo>
                      <a:pt x="273" y="3"/>
                    </a:lnTo>
                    <a:lnTo>
                      <a:pt x="276" y="2"/>
                    </a:lnTo>
                    <a:lnTo>
                      <a:pt x="279" y="2"/>
                    </a:lnTo>
                    <a:lnTo>
                      <a:pt x="282" y="3"/>
                    </a:lnTo>
                    <a:lnTo>
                      <a:pt x="285" y="5"/>
                    </a:lnTo>
                    <a:lnTo>
                      <a:pt x="288" y="8"/>
                    </a:lnTo>
                    <a:lnTo>
                      <a:pt x="291" y="11"/>
                    </a:lnTo>
                    <a:lnTo>
                      <a:pt x="294" y="15"/>
                    </a:lnTo>
                    <a:lnTo>
                      <a:pt x="297" y="18"/>
                    </a:lnTo>
                    <a:lnTo>
                      <a:pt x="300" y="21"/>
                    </a:lnTo>
                    <a:lnTo>
                      <a:pt x="303" y="23"/>
                    </a:lnTo>
                    <a:lnTo>
                      <a:pt x="306" y="24"/>
                    </a:lnTo>
                    <a:lnTo>
                      <a:pt x="309" y="24"/>
                    </a:lnTo>
                    <a:lnTo>
                      <a:pt x="312" y="23"/>
                    </a:lnTo>
                    <a:lnTo>
                      <a:pt x="315" y="21"/>
                    </a:lnTo>
                    <a:lnTo>
                      <a:pt x="318" y="20"/>
                    </a:lnTo>
                    <a:lnTo>
                      <a:pt x="321" y="18"/>
                    </a:lnTo>
                    <a:lnTo>
                      <a:pt x="324" y="16"/>
                    </a:lnTo>
                    <a:lnTo>
                      <a:pt x="327" y="15"/>
                    </a:lnTo>
                    <a:lnTo>
                      <a:pt x="330" y="16"/>
                    </a:lnTo>
                    <a:lnTo>
                      <a:pt x="333" y="17"/>
                    </a:lnTo>
                    <a:lnTo>
                      <a:pt x="336" y="19"/>
                    </a:lnTo>
                    <a:lnTo>
                      <a:pt x="339" y="22"/>
                    </a:lnTo>
                    <a:lnTo>
                      <a:pt x="342" y="26"/>
                    </a:lnTo>
                    <a:lnTo>
                      <a:pt x="345" y="30"/>
                    </a:lnTo>
                    <a:lnTo>
                      <a:pt x="348" y="34"/>
                    </a:lnTo>
                    <a:lnTo>
                      <a:pt x="351" y="37"/>
                    </a:lnTo>
                    <a:lnTo>
                      <a:pt x="354" y="39"/>
                    </a:lnTo>
                    <a:lnTo>
                      <a:pt x="357" y="41"/>
                    </a:lnTo>
                    <a:lnTo>
                      <a:pt x="360" y="41"/>
                    </a:lnTo>
                    <a:lnTo>
                      <a:pt x="363" y="41"/>
                    </a:lnTo>
                    <a:lnTo>
                      <a:pt x="366" y="39"/>
                    </a:lnTo>
                    <a:lnTo>
                      <a:pt x="369" y="38"/>
                    </a:lnTo>
                    <a:lnTo>
                      <a:pt x="372" y="36"/>
                    </a:lnTo>
                    <a:lnTo>
                      <a:pt x="375" y="34"/>
                    </a:lnTo>
                    <a:lnTo>
                      <a:pt x="378" y="33"/>
                    </a:lnTo>
                    <a:lnTo>
                      <a:pt x="381" y="32"/>
                    </a:lnTo>
                    <a:lnTo>
                      <a:pt x="384" y="33"/>
                    </a:lnTo>
                    <a:lnTo>
                      <a:pt x="387" y="35"/>
                    </a:lnTo>
                    <a:lnTo>
                      <a:pt x="390" y="37"/>
                    </a:lnTo>
                    <a:lnTo>
                      <a:pt x="393" y="40"/>
                    </a:lnTo>
                    <a:lnTo>
                      <a:pt x="396" y="44"/>
                    </a:lnTo>
                    <a:lnTo>
                      <a:pt x="399" y="47"/>
                    </a:lnTo>
                    <a:lnTo>
                      <a:pt x="402" y="50"/>
                    </a:lnTo>
                    <a:lnTo>
                      <a:pt x="405" y="52"/>
                    </a:lnTo>
                    <a:lnTo>
                      <a:pt x="408" y="53"/>
                    </a:lnTo>
                    <a:lnTo>
                      <a:pt x="411" y="54"/>
                    </a:lnTo>
                    <a:lnTo>
                      <a:pt x="414" y="53"/>
                    </a:lnTo>
                    <a:lnTo>
                      <a:pt x="417" y="51"/>
                    </a:lnTo>
                    <a:lnTo>
                      <a:pt x="420" y="49"/>
                    </a:lnTo>
                    <a:lnTo>
                      <a:pt x="423" y="46"/>
                    </a:lnTo>
                    <a:lnTo>
                      <a:pt x="426" y="43"/>
                    </a:lnTo>
                    <a:lnTo>
                      <a:pt x="429" y="41"/>
                    </a:lnTo>
                    <a:lnTo>
                      <a:pt x="432" y="40"/>
                    </a:lnTo>
                    <a:lnTo>
                      <a:pt x="435" y="39"/>
                    </a:lnTo>
                    <a:lnTo>
                      <a:pt x="438" y="39"/>
                    </a:lnTo>
                    <a:lnTo>
                      <a:pt x="441" y="41"/>
                    </a:lnTo>
                    <a:lnTo>
                      <a:pt x="444" y="43"/>
                    </a:lnTo>
                    <a:lnTo>
                      <a:pt x="447" y="45"/>
                    </a:lnTo>
                    <a:lnTo>
                      <a:pt x="450" y="48"/>
                    </a:lnTo>
                    <a:lnTo>
                      <a:pt x="453" y="50"/>
                    </a:lnTo>
                    <a:lnTo>
                      <a:pt x="456" y="52"/>
                    </a:lnTo>
                    <a:lnTo>
                      <a:pt x="459" y="52"/>
                    </a:lnTo>
                    <a:lnTo>
                      <a:pt x="462" y="52"/>
                    </a:lnTo>
                    <a:lnTo>
                      <a:pt x="465" y="50"/>
                    </a:lnTo>
                    <a:lnTo>
                      <a:pt x="468" y="48"/>
                    </a:lnTo>
                    <a:lnTo>
                      <a:pt x="471" y="45"/>
                    </a:lnTo>
                    <a:lnTo>
                      <a:pt x="474" y="41"/>
                    </a:lnTo>
                    <a:lnTo>
                      <a:pt x="477" y="38"/>
                    </a:lnTo>
                    <a:lnTo>
                      <a:pt x="480" y="35"/>
                    </a:lnTo>
                    <a:lnTo>
                      <a:pt x="483" y="32"/>
                    </a:lnTo>
                    <a:lnTo>
                      <a:pt x="486" y="30"/>
                    </a:lnTo>
                    <a:lnTo>
                      <a:pt x="489" y="30"/>
                    </a:lnTo>
                    <a:lnTo>
                      <a:pt x="492" y="30"/>
                    </a:lnTo>
                    <a:lnTo>
                      <a:pt x="495" y="31"/>
                    </a:lnTo>
                    <a:lnTo>
                      <a:pt x="498" y="33"/>
                    </a:lnTo>
                    <a:lnTo>
                      <a:pt x="501" y="34"/>
                    </a:lnTo>
                    <a:lnTo>
                      <a:pt x="504" y="36"/>
                    </a:lnTo>
                    <a:lnTo>
                      <a:pt x="507" y="37"/>
                    </a:lnTo>
                    <a:lnTo>
                      <a:pt x="510" y="38"/>
                    </a:lnTo>
                    <a:lnTo>
                      <a:pt x="513" y="37"/>
                    </a:lnTo>
                    <a:lnTo>
                      <a:pt x="516" y="36"/>
                    </a:lnTo>
                    <a:lnTo>
                      <a:pt x="519" y="33"/>
                    </a:lnTo>
                    <a:lnTo>
                      <a:pt x="522" y="30"/>
                    </a:lnTo>
                    <a:lnTo>
                      <a:pt x="525" y="26"/>
                    </a:lnTo>
                    <a:lnTo>
                      <a:pt x="528" y="22"/>
                    </a:lnTo>
                    <a:lnTo>
                      <a:pt x="531" y="19"/>
                    </a:lnTo>
                    <a:lnTo>
                      <a:pt x="534" y="16"/>
                    </a:lnTo>
                    <a:lnTo>
                      <a:pt x="537" y="13"/>
                    </a:lnTo>
                    <a:lnTo>
                      <a:pt x="540" y="12"/>
                    </a:lnTo>
                    <a:lnTo>
                      <a:pt x="543" y="12"/>
                    </a:lnTo>
                    <a:lnTo>
                      <a:pt x="546" y="13"/>
                    </a:lnTo>
                    <a:lnTo>
                      <a:pt x="549" y="14"/>
                    </a:lnTo>
                    <a:lnTo>
                      <a:pt x="552" y="16"/>
                    </a:lnTo>
                    <a:lnTo>
                      <a:pt x="555" y="18"/>
                    </a:lnTo>
                    <a:lnTo>
                      <a:pt x="558" y="20"/>
                    </a:lnTo>
                    <a:lnTo>
                      <a:pt x="561" y="21"/>
                    </a:lnTo>
                    <a:lnTo>
                      <a:pt x="564" y="21"/>
                    </a:lnTo>
                    <a:lnTo>
                      <a:pt x="567" y="20"/>
                    </a:lnTo>
                    <a:lnTo>
                      <a:pt x="570" y="18"/>
                    </a:lnTo>
                    <a:lnTo>
                      <a:pt x="573" y="16"/>
                    </a:lnTo>
                    <a:lnTo>
                      <a:pt x="576" y="12"/>
                    </a:lnTo>
                    <a:lnTo>
                      <a:pt x="579" y="9"/>
                    </a:lnTo>
                    <a:lnTo>
                      <a:pt x="582" y="6"/>
                    </a:lnTo>
                    <a:lnTo>
                      <a:pt x="585" y="3"/>
                    </a:lnTo>
                    <a:lnTo>
                      <a:pt x="588" y="1"/>
                    </a:lnTo>
                    <a:lnTo>
                      <a:pt x="591" y="0"/>
                    </a:lnTo>
                    <a:lnTo>
                      <a:pt x="594" y="0"/>
                    </a:lnTo>
                    <a:lnTo>
                      <a:pt x="597" y="2"/>
                    </a:lnTo>
                    <a:lnTo>
                      <a:pt x="600" y="4"/>
                    </a:lnTo>
                    <a:lnTo>
                      <a:pt x="603" y="6"/>
                    </a:lnTo>
                    <a:lnTo>
                      <a:pt x="606" y="9"/>
                    </a:lnTo>
                    <a:lnTo>
                      <a:pt x="609" y="12"/>
                    </a:lnTo>
                    <a:lnTo>
                      <a:pt x="612" y="14"/>
                    </a:lnTo>
                    <a:lnTo>
                      <a:pt x="615" y="15"/>
                    </a:lnTo>
                    <a:lnTo>
                      <a:pt x="618" y="15"/>
                    </a:lnTo>
                    <a:lnTo>
                      <a:pt x="621" y="14"/>
                    </a:lnTo>
                    <a:lnTo>
                      <a:pt x="624" y="13"/>
                    </a:lnTo>
                    <a:lnTo>
                      <a:pt x="627" y="11"/>
                    </a:lnTo>
                    <a:lnTo>
                      <a:pt x="630" y="8"/>
                    </a:lnTo>
                    <a:lnTo>
                      <a:pt x="633" y="6"/>
                    </a:lnTo>
                    <a:lnTo>
                      <a:pt x="636" y="4"/>
                    </a:lnTo>
                    <a:lnTo>
                      <a:pt x="639" y="2"/>
                    </a:lnTo>
                    <a:lnTo>
                      <a:pt x="642" y="2"/>
                    </a:lnTo>
                    <a:lnTo>
                      <a:pt x="645" y="3"/>
                    </a:lnTo>
                    <a:lnTo>
                      <a:pt x="648" y="5"/>
                    </a:lnTo>
                    <a:lnTo>
                      <a:pt x="651" y="7"/>
                    </a:lnTo>
                    <a:lnTo>
                      <a:pt x="654" y="11"/>
                    </a:lnTo>
                    <a:lnTo>
                      <a:pt x="657" y="14"/>
                    </a:lnTo>
                    <a:lnTo>
                      <a:pt x="660" y="18"/>
                    </a:lnTo>
                    <a:lnTo>
                      <a:pt x="663" y="21"/>
                    </a:lnTo>
                    <a:lnTo>
                      <a:pt x="666" y="23"/>
                    </a:lnTo>
                    <a:lnTo>
                      <a:pt x="669" y="25"/>
                    </a:lnTo>
                    <a:lnTo>
                      <a:pt x="672" y="25"/>
                    </a:lnTo>
                    <a:lnTo>
                      <a:pt x="675" y="25"/>
                    </a:lnTo>
                    <a:lnTo>
                      <a:pt x="678" y="23"/>
                    </a:lnTo>
                    <a:lnTo>
                      <a:pt x="681" y="21"/>
                    </a:lnTo>
                    <a:lnTo>
                      <a:pt x="684" y="20"/>
                    </a:lnTo>
                    <a:lnTo>
                      <a:pt x="687" y="18"/>
                    </a:lnTo>
                    <a:lnTo>
                      <a:pt x="690" y="17"/>
                    </a:lnTo>
                    <a:lnTo>
                      <a:pt x="693" y="17"/>
                    </a:lnTo>
                    <a:lnTo>
                      <a:pt x="696" y="18"/>
                    </a:lnTo>
                    <a:lnTo>
                      <a:pt x="699" y="20"/>
                    </a:lnTo>
                    <a:lnTo>
                      <a:pt x="702" y="22"/>
                    </a:lnTo>
                    <a:lnTo>
                      <a:pt x="705" y="26"/>
                    </a:lnTo>
                    <a:lnTo>
                      <a:pt x="708" y="30"/>
                    </a:lnTo>
                    <a:lnTo>
                      <a:pt x="711" y="34"/>
                    </a:lnTo>
                    <a:lnTo>
                      <a:pt x="714" y="37"/>
                    </a:lnTo>
                    <a:lnTo>
                      <a:pt x="717" y="40"/>
                    </a:lnTo>
                    <a:lnTo>
                      <a:pt x="720" y="42"/>
                    </a:lnTo>
                    <a:lnTo>
                      <a:pt x="723" y="43"/>
                    </a:lnTo>
                    <a:lnTo>
                      <a:pt x="726" y="42"/>
                    </a:lnTo>
                    <a:lnTo>
                      <a:pt x="729" y="41"/>
                    </a:lnTo>
                    <a:lnTo>
                      <a:pt x="732" y="40"/>
                    </a:lnTo>
                    <a:lnTo>
                      <a:pt x="735" y="38"/>
                    </a:lnTo>
                    <a:lnTo>
                      <a:pt x="738" y="36"/>
                    </a:lnTo>
                    <a:lnTo>
                      <a:pt x="741" y="34"/>
                    </a:lnTo>
                    <a:lnTo>
                      <a:pt x="744" y="33"/>
                    </a:lnTo>
                    <a:lnTo>
                      <a:pt x="747" y="34"/>
                    </a:lnTo>
                    <a:lnTo>
                      <a:pt x="750" y="35"/>
                    </a:lnTo>
                    <a:lnTo>
                      <a:pt x="753" y="37"/>
                    </a:lnTo>
                    <a:lnTo>
                      <a:pt x="756" y="40"/>
                    </a:lnTo>
                    <a:lnTo>
                      <a:pt x="759" y="43"/>
                    </a:lnTo>
                    <a:lnTo>
                      <a:pt x="762" y="47"/>
                    </a:lnTo>
                    <a:lnTo>
                      <a:pt x="765" y="50"/>
                    </a:lnTo>
                    <a:lnTo>
                      <a:pt x="768" y="52"/>
                    </a:lnTo>
                    <a:lnTo>
                      <a:pt x="771" y="54"/>
                    </a:lnTo>
                    <a:lnTo>
                      <a:pt x="774" y="54"/>
                    </a:lnTo>
                    <a:lnTo>
                      <a:pt x="777" y="54"/>
                    </a:lnTo>
                    <a:lnTo>
                      <a:pt x="780" y="52"/>
                    </a:lnTo>
                    <a:lnTo>
                      <a:pt x="783" y="50"/>
                    </a:lnTo>
                    <a:lnTo>
                      <a:pt x="786" y="47"/>
                    </a:lnTo>
                    <a:lnTo>
                      <a:pt x="789" y="44"/>
                    </a:lnTo>
                    <a:lnTo>
                      <a:pt x="792" y="42"/>
                    </a:lnTo>
                    <a:lnTo>
                      <a:pt x="795" y="40"/>
                    </a:lnTo>
                    <a:lnTo>
                      <a:pt x="798" y="39"/>
                    </a:lnTo>
                    <a:lnTo>
                      <a:pt x="801" y="39"/>
                    </a:lnTo>
                    <a:lnTo>
                      <a:pt x="804" y="40"/>
                    </a:lnTo>
                    <a:lnTo>
                      <a:pt x="807" y="42"/>
                    </a:lnTo>
                    <a:lnTo>
                      <a:pt x="810" y="44"/>
                    </a:lnTo>
                    <a:lnTo>
                      <a:pt x="813" y="46"/>
                    </a:lnTo>
                    <a:lnTo>
                      <a:pt x="816" y="49"/>
                    </a:lnTo>
                    <a:lnTo>
                      <a:pt x="819" y="50"/>
                    </a:lnTo>
                    <a:lnTo>
                      <a:pt x="822" y="51"/>
                    </a:lnTo>
                    <a:lnTo>
                      <a:pt x="825" y="51"/>
                    </a:lnTo>
                    <a:lnTo>
                      <a:pt x="828" y="50"/>
                    </a:lnTo>
                    <a:lnTo>
                      <a:pt x="831" y="48"/>
                    </a:lnTo>
                    <a:lnTo>
                      <a:pt x="834" y="45"/>
                    </a:lnTo>
                    <a:lnTo>
                      <a:pt x="837" y="42"/>
                    </a:lnTo>
                    <a:lnTo>
                      <a:pt x="840" y="38"/>
                    </a:lnTo>
                    <a:lnTo>
                      <a:pt x="843" y="34"/>
                    </a:lnTo>
                    <a:lnTo>
                      <a:pt x="846" y="32"/>
                    </a:lnTo>
                    <a:lnTo>
                      <a:pt x="849" y="30"/>
                    </a:lnTo>
                    <a:lnTo>
                      <a:pt x="852" y="28"/>
                    </a:lnTo>
                    <a:lnTo>
                      <a:pt x="855" y="28"/>
                    </a:lnTo>
                    <a:lnTo>
                      <a:pt x="858" y="29"/>
                    </a:lnTo>
                    <a:lnTo>
                      <a:pt x="861" y="31"/>
                    </a:lnTo>
                    <a:lnTo>
                      <a:pt x="864" y="33"/>
                    </a:lnTo>
                    <a:lnTo>
                      <a:pt x="867" y="34"/>
                    </a:lnTo>
                    <a:lnTo>
                      <a:pt x="870" y="36"/>
                    </a:lnTo>
                    <a:lnTo>
                      <a:pt x="873" y="37"/>
                    </a:lnTo>
                    <a:lnTo>
                      <a:pt x="876" y="36"/>
                    </a:lnTo>
                    <a:lnTo>
                      <a:pt x="879" y="35"/>
                    </a:lnTo>
                    <a:lnTo>
                      <a:pt x="882" y="33"/>
                    </a:lnTo>
                    <a:lnTo>
                      <a:pt x="885" y="30"/>
                    </a:lnTo>
                    <a:lnTo>
                      <a:pt x="888" y="26"/>
                    </a:lnTo>
                    <a:lnTo>
                      <a:pt x="891" y="22"/>
                    </a:lnTo>
                    <a:lnTo>
                      <a:pt x="894" y="18"/>
                    </a:lnTo>
                    <a:lnTo>
                      <a:pt x="897" y="15"/>
                    </a:lnTo>
                    <a:lnTo>
                      <a:pt x="900" y="13"/>
                    </a:lnTo>
                    <a:lnTo>
                      <a:pt x="903" y="11"/>
                    </a:lnTo>
                    <a:lnTo>
                      <a:pt x="906" y="11"/>
                    </a:lnTo>
                    <a:lnTo>
                      <a:pt x="909" y="11"/>
                    </a:lnTo>
                    <a:lnTo>
                      <a:pt x="912" y="13"/>
                    </a:lnTo>
                    <a:lnTo>
                      <a:pt x="915" y="15"/>
                    </a:lnTo>
                    <a:lnTo>
                      <a:pt x="918" y="17"/>
                    </a:lnTo>
                    <a:lnTo>
                      <a:pt x="921" y="18"/>
                    </a:lnTo>
                    <a:lnTo>
                      <a:pt x="924" y="20"/>
                    </a:lnTo>
                    <a:lnTo>
                      <a:pt x="927" y="20"/>
                    </a:lnTo>
                    <a:lnTo>
                      <a:pt x="930" y="20"/>
                    </a:lnTo>
                    <a:lnTo>
                      <a:pt x="933" y="18"/>
                    </a:lnTo>
                    <a:lnTo>
                      <a:pt x="936" y="16"/>
                    </a:lnTo>
                    <a:lnTo>
                      <a:pt x="939" y="13"/>
                    </a:lnTo>
                    <a:lnTo>
                      <a:pt x="942" y="9"/>
                    </a:lnTo>
                    <a:lnTo>
                      <a:pt x="945" y="6"/>
                    </a:lnTo>
                    <a:lnTo>
                      <a:pt x="948" y="3"/>
                    </a:lnTo>
                    <a:lnTo>
                      <a:pt x="951" y="1"/>
                    </a:lnTo>
                    <a:lnTo>
                      <a:pt x="954" y="0"/>
                    </a:lnTo>
                    <a:lnTo>
                      <a:pt x="957" y="0"/>
                    </a:lnTo>
                    <a:lnTo>
                      <a:pt x="960" y="1"/>
                    </a:lnTo>
                    <a:lnTo>
                      <a:pt x="963" y="3"/>
                    </a:lnTo>
                    <a:lnTo>
                      <a:pt x="966" y="5"/>
                    </a:lnTo>
                    <a:lnTo>
                      <a:pt x="969" y="8"/>
                    </a:lnTo>
                    <a:lnTo>
                      <a:pt x="972" y="11"/>
                    </a:lnTo>
                    <a:lnTo>
                      <a:pt x="975" y="13"/>
                    </a:lnTo>
                    <a:lnTo>
                      <a:pt x="978" y="15"/>
                    </a:lnTo>
                    <a:lnTo>
                      <a:pt x="981" y="15"/>
                    </a:lnTo>
                    <a:lnTo>
                      <a:pt x="984" y="15"/>
                    </a:lnTo>
                    <a:lnTo>
                      <a:pt x="987" y="14"/>
                    </a:lnTo>
                    <a:lnTo>
                      <a:pt x="990" y="12"/>
                    </a:lnTo>
                    <a:lnTo>
                      <a:pt x="993" y="10"/>
                    </a:lnTo>
                    <a:lnTo>
                      <a:pt x="996" y="7"/>
                    </a:lnTo>
                    <a:lnTo>
                      <a:pt x="999" y="5"/>
                    </a:lnTo>
                    <a:lnTo>
                      <a:pt x="1002" y="3"/>
                    </a:lnTo>
                    <a:lnTo>
                      <a:pt x="1005" y="3"/>
                    </a:lnTo>
                    <a:lnTo>
                      <a:pt x="1008" y="3"/>
                    </a:lnTo>
                    <a:lnTo>
                      <a:pt x="1011" y="5"/>
                    </a:lnTo>
                    <a:lnTo>
                      <a:pt x="1014" y="7"/>
                    </a:lnTo>
                    <a:lnTo>
                      <a:pt x="1017" y="11"/>
                    </a:lnTo>
                    <a:lnTo>
                      <a:pt x="1020" y="14"/>
                    </a:lnTo>
                    <a:lnTo>
                      <a:pt x="1023" y="18"/>
                    </a:lnTo>
                    <a:lnTo>
                      <a:pt x="1026" y="21"/>
                    </a:lnTo>
                    <a:lnTo>
                      <a:pt x="1029" y="24"/>
                    </a:lnTo>
                    <a:lnTo>
                      <a:pt x="1032" y="26"/>
                    </a:lnTo>
                    <a:lnTo>
                      <a:pt x="1035" y="26"/>
                    </a:lnTo>
                    <a:lnTo>
                      <a:pt x="1038" y="26"/>
                    </a:lnTo>
                    <a:lnTo>
                      <a:pt x="1041" y="25"/>
                    </a:lnTo>
                    <a:lnTo>
                      <a:pt x="1044" y="23"/>
                    </a:lnTo>
                    <a:lnTo>
                      <a:pt x="1047" y="22"/>
                    </a:lnTo>
                    <a:lnTo>
                      <a:pt x="1050" y="20"/>
                    </a:lnTo>
                    <a:lnTo>
                      <a:pt x="1053" y="19"/>
                    </a:lnTo>
                    <a:lnTo>
                      <a:pt x="1056" y="18"/>
                    </a:lnTo>
                    <a:lnTo>
                      <a:pt x="1059" y="19"/>
                    </a:lnTo>
                    <a:lnTo>
                      <a:pt x="1062" y="20"/>
                    </a:lnTo>
                    <a:lnTo>
                      <a:pt x="1065" y="23"/>
                    </a:lnTo>
                    <a:lnTo>
                      <a:pt x="1068" y="26"/>
                    </a:lnTo>
                    <a:lnTo>
                      <a:pt x="1071" y="30"/>
                    </a:lnTo>
                    <a:lnTo>
                      <a:pt x="1074" y="34"/>
                    </a:lnTo>
                    <a:lnTo>
                      <a:pt x="1077" y="37"/>
                    </a:lnTo>
                    <a:lnTo>
                      <a:pt x="1080" y="40"/>
                    </a:lnTo>
                    <a:lnTo>
                      <a:pt x="1083" y="43"/>
                    </a:lnTo>
                    <a:lnTo>
                      <a:pt x="1086" y="44"/>
                    </a:lnTo>
                    <a:lnTo>
                      <a:pt x="1089" y="44"/>
                    </a:lnTo>
                    <a:lnTo>
                      <a:pt x="1092" y="43"/>
                    </a:lnTo>
                    <a:lnTo>
                      <a:pt x="1095" y="41"/>
                    </a:lnTo>
                    <a:lnTo>
                      <a:pt x="1098" y="39"/>
                    </a:lnTo>
                    <a:lnTo>
                      <a:pt x="1101" y="37"/>
                    </a:lnTo>
                    <a:lnTo>
                      <a:pt x="1104" y="36"/>
                    </a:lnTo>
                    <a:lnTo>
                      <a:pt x="1107" y="35"/>
                    </a:lnTo>
                    <a:lnTo>
                      <a:pt x="1110" y="34"/>
                    </a:lnTo>
                    <a:lnTo>
                      <a:pt x="1113" y="35"/>
                    </a:lnTo>
                    <a:lnTo>
                      <a:pt x="1116" y="37"/>
                    </a:lnTo>
                    <a:lnTo>
                      <a:pt x="1119" y="40"/>
                    </a:lnTo>
                    <a:lnTo>
                      <a:pt x="1122" y="43"/>
                    </a:lnTo>
                    <a:lnTo>
                      <a:pt x="1125" y="46"/>
                    </a:lnTo>
                    <a:lnTo>
                      <a:pt x="1128" y="49"/>
                    </a:lnTo>
                    <a:lnTo>
                      <a:pt x="1131" y="52"/>
                    </a:lnTo>
                    <a:lnTo>
                      <a:pt x="1134" y="54"/>
                    </a:lnTo>
                    <a:lnTo>
                      <a:pt x="1137" y="54"/>
                    </a:lnTo>
                    <a:lnTo>
                      <a:pt x="1140" y="54"/>
                    </a:lnTo>
                    <a:lnTo>
                      <a:pt x="1143" y="53"/>
                    </a:lnTo>
                    <a:lnTo>
                      <a:pt x="1146" y="51"/>
                    </a:lnTo>
                    <a:lnTo>
                      <a:pt x="1149" y="48"/>
                    </a:lnTo>
                    <a:lnTo>
                      <a:pt x="1152" y="45"/>
                    </a:lnTo>
                    <a:lnTo>
                      <a:pt x="1155" y="42"/>
                    </a:lnTo>
                    <a:lnTo>
                      <a:pt x="1158" y="40"/>
                    </a:lnTo>
                    <a:lnTo>
                      <a:pt x="1161" y="39"/>
                    </a:lnTo>
                    <a:lnTo>
                      <a:pt x="1164" y="38"/>
                    </a:lnTo>
                    <a:lnTo>
                      <a:pt x="1167" y="39"/>
                    </a:lnTo>
                    <a:lnTo>
                      <a:pt x="1170" y="40"/>
                    </a:lnTo>
                    <a:lnTo>
                      <a:pt x="1173" y="43"/>
                    </a:lnTo>
                    <a:lnTo>
                      <a:pt x="1176" y="45"/>
                    </a:lnTo>
                    <a:lnTo>
                      <a:pt x="1179" y="47"/>
                    </a:lnTo>
                    <a:lnTo>
                      <a:pt x="1182" y="49"/>
                    </a:lnTo>
                    <a:lnTo>
                      <a:pt x="1185" y="50"/>
                    </a:lnTo>
                    <a:lnTo>
                      <a:pt x="1188" y="51"/>
                    </a:lnTo>
                    <a:lnTo>
                      <a:pt x="1191" y="50"/>
                    </a:lnTo>
                    <a:lnTo>
                      <a:pt x="1194" y="48"/>
                    </a:lnTo>
                    <a:lnTo>
                      <a:pt x="1197" y="45"/>
                    </a:lnTo>
                    <a:lnTo>
                      <a:pt x="1200" y="42"/>
                    </a:lnTo>
                    <a:lnTo>
                      <a:pt x="1203" y="38"/>
                    </a:lnTo>
                    <a:lnTo>
                      <a:pt x="1206" y="34"/>
                    </a:lnTo>
                  </a:path>
                </a:pathLst>
              </a:custGeom>
              <a:noFill/>
              <a:ln w="19050" cap="rnd">
                <a:solidFill>
                  <a:srgbClr val="2E8B57"/>
                </a:solidFill>
                <a:round/>
              </a:ln>
            </p:spPr>
            <p:txBody>
              <a:bodyPr rtlCol="0" anchor="ctr"/>
              <a:lstStyle/>
              <a:p>
                <a:pPr algn="ctr"/>
                <a:endParaRPr/>
              </a:p>
            </p:txBody>
          </p:sp>
          <p:sp>
            <p:nvSpPr>
              <p:cNvPr id="9" name="Trace"/>
              <p:cNvSpPr/>
              <p:nvPr/>
            </p:nvSpPr>
            <p:spPr>
              <a:xfrm>
                <a:off x="4165600" y="1644650"/>
                <a:ext cx="876300" cy="1130300"/>
              </a:xfrm>
              <a:custGeom>
                <a:avLst/>
                <a:gdLst/>
                <a:ahLst/>
                <a:cxnLst/>
                <a:rect l="l" t="t" r="r" b="b"/>
                <a:pathLst>
                  <a:path w="138" h="178">
                    <a:moveTo>
                      <a:pt x="0" y="89"/>
                    </a:moveTo>
                    <a:lnTo>
                      <a:pt x="3" y="92"/>
                    </a:lnTo>
                    <a:lnTo>
                      <a:pt x="6" y="98"/>
                    </a:lnTo>
                    <a:lnTo>
                      <a:pt x="9" y="83"/>
                    </a:lnTo>
                    <a:lnTo>
                      <a:pt x="12" y="83"/>
                    </a:lnTo>
                    <a:lnTo>
                      <a:pt x="15" y="115"/>
                    </a:lnTo>
                    <a:lnTo>
                      <a:pt x="18" y="132"/>
                    </a:lnTo>
                    <a:lnTo>
                      <a:pt x="21" y="60"/>
                    </a:lnTo>
                    <a:lnTo>
                      <a:pt x="24" y="57"/>
                    </a:lnTo>
                    <a:lnTo>
                      <a:pt x="27" y="70"/>
                    </a:lnTo>
                    <a:lnTo>
                      <a:pt x="30" y="137"/>
                    </a:lnTo>
                    <a:lnTo>
                      <a:pt x="33" y="127"/>
                    </a:lnTo>
                    <a:lnTo>
                      <a:pt x="36" y="57"/>
                    </a:lnTo>
                    <a:lnTo>
                      <a:pt x="39" y="54"/>
                    </a:lnTo>
                    <a:lnTo>
                      <a:pt x="42" y="121"/>
                    </a:lnTo>
                    <a:lnTo>
                      <a:pt x="45" y="157"/>
                    </a:lnTo>
                    <a:lnTo>
                      <a:pt x="48" y="153"/>
                    </a:lnTo>
                    <a:lnTo>
                      <a:pt x="51" y="1"/>
                    </a:lnTo>
                    <a:lnTo>
                      <a:pt x="54" y="0"/>
                    </a:lnTo>
                    <a:lnTo>
                      <a:pt x="57" y="123"/>
                    </a:lnTo>
                    <a:lnTo>
                      <a:pt x="60" y="133"/>
                    </a:lnTo>
                    <a:lnTo>
                      <a:pt x="63" y="11"/>
                    </a:lnTo>
                    <a:lnTo>
                      <a:pt x="66" y="7"/>
                    </a:lnTo>
                    <a:lnTo>
                      <a:pt x="69" y="2"/>
                    </a:lnTo>
                    <a:lnTo>
                      <a:pt x="72" y="178"/>
                    </a:lnTo>
                    <a:lnTo>
                      <a:pt x="75" y="132"/>
                    </a:lnTo>
                    <a:lnTo>
                      <a:pt x="78" y="22"/>
                    </a:lnTo>
                    <a:lnTo>
                      <a:pt x="81" y="18"/>
                    </a:lnTo>
                    <a:lnTo>
                      <a:pt x="84" y="152"/>
                    </a:lnTo>
                    <a:lnTo>
                      <a:pt x="87" y="130"/>
                    </a:lnTo>
                    <a:lnTo>
                      <a:pt x="90" y="142"/>
                    </a:lnTo>
                    <a:lnTo>
                      <a:pt x="93" y="48"/>
                    </a:lnTo>
                    <a:lnTo>
                      <a:pt x="96" y="5"/>
                    </a:lnTo>
                    <a:lnTo>
                      <a:pt x="99" y="149"/>
                    </a:lnTo>
                    <a:lnTo>
                      <a:pt x="102" y="130"/>
                    </a:lnTo>
                    <a:lnTo>
                      <a:pt x="105" y="42"/>
                    </a:lnTo>
                    <a:lnTo>
                      <a:pt x="108" y="23"/>
                    </a:lnTo>
                    <a:lnTo>
                      <a:pt x="111" y="42"/>
                    </a:lnTo>
                    <a:lnTo>
                      <a:pt x="114" y="136"/>
                    </a:lnTo>
                    <a:lnTo>
                      <a:pt x="117" y="134"/>
                    </a:lnTo>
                    <a:lnTo>
                      <a:pt x="120" y="66"/>
                    </a:lnTo>
                    <a:lnTo>
                      <a:pt x="123" y="76"/>
                    </a:lnTo>
                    <a:lnTo>
                      <a:pt x="126" y="122"/>
                    </a:lnTo>
                    <a:lnTo>
                      <a:pt x="129" y="117"/>
                    </a:lnTo>
                    <a:lnTo>
                      <a:pt x="132" y="110"/>
                    </a:lnTo>
                    <a:lnTo>
                      <a:pt x="135" y="96"/>
                    </a:lnTo>
                    <a:lnTo>
                      <a:pt x="138" y="96"/>
                    </a:lnTo>
                  </a:path>
                </a:pathLst>
              </a:custGeom>
              <a:noFill/>
              <a:ln w="19050" cap="rnd">
                <a:solidFill>
                  <a:srgbClr val="B3261E"/>
                </a:solidFill>
                <a:round/>
              </a:ln>
            </p:spPr>
            <p:txBody>
              <a:bodyPr rtlCol="0" anchor="ctr"/>
              <a:lstStyle/>
              <a:p>
                <a:pPr algn="ctr"/>
                <a:endParaRPr/>
              </a:p>
            </p:txBody>
          </p:sp>
          <p:sp>
            <p:nvSpPr>
              <p:cNvPr id="10" name="Dot"/>
              <p:cNvSpPr/>
              <p:nvPr/>
            </p:nvSpPr>
            <p:spPr>
              <a:xfrm>
                <a:off x="1676400" y="2240260"/>
                <a:ext cx="152400" cy="152400"/>
              </a:xfrm>
              <a:prstGeom prst="ellipse">
                <a:avLst/>
              </a:prstGeom>
              <a:solidFill>
                <a:srgbClr val="154734"/>
              </a:solidFill>
              <a:ln>
                <a:noFill/>
              </a:ln>
            </p:spPr>
            <p:txBody>
              <a:bodyPr rtlCol="0" anchor="ctr"/>
              <a:lstStyle/>
              <a:p>
                <a:pPr algn="ctr"/>
                <a:endParaRPr/>
              </a:p>
            </p:txBody>
          </p:sp>
          <p:sp>
            <p:nvSpPr>
              <p:cNvPr id="11" name="Dot"/>
              <p:cNvSpPr/>
              <p:nvPr/>
            </p:nvSpPr>
            <p:spPr>
              <a:xfrm>
                <a:off x="7327900" y="2183110"/>
                <a:ext cx="152400" cy="152400"/>
              </a:xfrm>
              <a:prstGeom prst="ellipse">
                <a:avLst/>
              </a:prstGeom>
              <a:solidFill>
                <a:srgbClr val="154734"/>
              </a:solidFill>
              <a:ln>
                <a:noFill/>
              </a:ln>
            </p:spPr>
            <p:txBody>
              <a:bodyPr rtlCol="0" anchor="ctr"/>
              <a:lstStyle/>
              <a:p>
                <a:pPr algn="ctr"/>
                <a:endParaRPr/>
              </a:p>
            </p:txBody>
          </p:sp>
        </p:grpSp>
        <p:sp>
          <p:nvSpPr>
            <p:cNvPr id="12" name="Text: Clinic visit"/>
            <p:cNvSpPr txBox="1"/>
            <p:nvPr/>
          </p:nvSpPr>
          <p:spPr>
            <a:xfrm>
              <a:off x="1162050" y="1313160"/>
              <a:ext cx="1181100" cy="165100"/>
            </a:xfrm>
            <a:prstGeom prst="rect">
              <a:avLst/>
            </a:prstGeom>
            <a:noFill/>
          </p:spPr>
          <p:txBody>
            <a:bodyPr wrap="square" lIns="0" tIns="0" rIns="0" bIns="0" anchor="t">
              <a:noAutofit/>
            </a:bodyPr>
            <a:lstStyle/>
            <a:p>
              <a:pPr algn="ctr">
                <a:lnSpc>
                  <a:spcPts val="1264"/>
                </a:lnSpc>
                <a:spcBef>
                  <a:spcPts val="0"/>
                </a:spcBef>
                <a:spcAft>
                  <a:spcPts val="0"/>
                </a:spcAft>
              </a:pPr>
              <a:r>
                <a:rPr sz="1100" b="1" i="0">
                  <a:solidFill>
                    <a:srgbClr val="154734"/>
                  </a:solidFill>
                  <a:latin typeface="Arial"/>
                </a:rPr>
                <a:t>Clinic visit</a:t>
              </a:r>
            </a:p>
          </p:txBody>
        </p:sp>
        <p:sp>
          <p:nvSpPr>
            <p:cNvPr id="13" name="Text: Clinic visit"/>
            <p:cNvSpPr txBox="1"/>
            <p:nvPr/>
          </p:nvSpPr>
          <p:spPr>
            <a:xfrm>
              <a:off x="6813550" y="1313160"/>
              <a:ext cx="1181100" cy="165100"/>
            </a:xfrm>
            <a:prstGeom prst="rect">
              <a:avLst/>
            </a:prstGeom>
            <a:noFill/>
          </p:spPr>
          <p:txBody>
            <a:bodyPr wrap="square" lIns="0" tIns="0" rIns="0" bIns="0" anchor="t">
              <a:noAutofit/>
            </a:bodyPr>
            <a:lstStyle/>
            <a:p>
              <a:pPr algn="ctr">
                <a:lnSpc>
                  <a:spcPts val="1264"/>
                </a:lnSpc>
                <a:spcBef>
                  <a:spcPts val="0"/>
                </a:spcBef>
                <a:spcAft>
                  <a:spcPts val="0"/>
                </a:spcAft>
              </a:pPr>
              <a:r>
                <a:rPr sz="1100" b="1" i="0">
                  <a:solidFill>
                    <a:srgbClr val="154734"/>
                  </a:solidFill>
                  <a:latin typeface="Arial"/>
                </a:rPr>
                <a:t>Clinic visit</a:t>
              </a:r>
            </a:p>
          </p:txBody>
        </p:sp>
        <p:sp>
          <p:nvSpPr>
            <p:cNvPr id="14" name="Text: Paroxysmal episode between visits: never"/>
            <p:cNvSpPr txBox="1"/>
            <p:nvPr/>
          </p:nvSpPr>
          <p:spPr>
            <a:xfrm>
              <a:off x="3373438" y="1033760"/>
              <a:ext cx="2473325" cy="330200"/>
            </a:xfrm>
            <a:prstGeom prst="rect">
              <a:avLst/>
            </a:prstGeom>
            <a:noFill/>
          </p:spPr>
          <p:txBody>
            <a:bodyPr wrap="square" lIns="0" tIns="0" rIns="0" bIns="0" anchor="t">
              <a:noAutofit/>
            </a:bodyPr>
            <a:lstStyle/>
            <a:p>
              <a:pPr algn="ctr">
                <a:lnSpc>
                  <a:spcPts val="1264"/>
                </a:lnSpc>
                <a:spcBef>
                  <a:spcPts val="0"/>
                </a:spcBef>
                <a:spcAft>
                  <a:spcPts val="0"/>
                </a:spcAft>
              </a:pPr>
              <a:r>
                <a:rPr sz="1100" b="1" i="0" dirty="0">
                  <a:solidFill>
                    <a:srgbClr val="B3261E"/>
                  </a:solidFill>
                  <a:latin typeface="Arial"/>
                </a:rPr>
                <a:t>Paroxysmal episode between visits: never recorded</a:t>
              </a:r>
            </a:p>
          </p:txBody>
        </p:sp>
        <p:sp>
          <p:nvSpPr>
            <p:cNvPr id="15" name="Text: Wearable: continuous stream, every beat,"/>
            <p:cNvSpPr txBox="1"/>
            <p:nvPr/>
          </p:nvSpPr>
          <p:spPr>
            <a:xfrm>
              <a:off x="1879600" y="2735560"/>
              <a:ext cx="4035425"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2E8B57"/>
                  </a:solidFill>
                  <a:latin typeface="Arial"/>
                </a:rPr>
                <a:t>Wearable: continuous stream, every beat, every day</a:t>
              </a:r>
            </a:p>
          </p:txBody>
        </p:sp>
        <p:sp>
          <p:nvSpPr>
            <p:cNvPr id="16" name="Text: day 0"/>
            <p:cNvSpPr txBox="1"/>
            <p:nvPr/>
          </p:nvSpPr>
          <p:spPr>
            <a:xfrm>
              <a:off x="736600" y="3141960"/>
              <a:ext cx="1308100" cy="146050"/>
            </a:xfrm>
            <a:prstGeom prst="rect">
              <a:avLst/>
            </a:prstGeom>
            <a:noFill/>
          </p:spPr>
          <p:txBody>
            <a:bodyPr wrap="square" lIns="0" tIns="0" rIns="0" bIns="0" anchor="t">
              <a:noAutofit/>
            </a:bodyPr>
            <a:lstStyle/>
            <a:p>
              <a:pPr algn="l">
                <a:lnSpc>
                  <a:spcPts val="1150"/>
                </a:lnSpc>
                <a:spcBef>
                  <a:spcPts val="0"/>
                </a:spcBef>
                <a:spcAft>
                  <a:spcPts val="0"/>
                </a:spcAft>
              </a:pPr>
              <a:r>
                <a:rPr sz="1000" b="0" i="0">
                  <a:solidFill>
                    <a:srgbClr val="5B6770"/>
                  </a:solidFill>
                  <a:latin typeface="Arial"/>
                </a:rPr>
                <a:t>day 0</a:t>
              </a:r>
            </a:p>
          </p:txBody>
        </p:sp>
        <p:sp>
          <p:nvSpPr>
            <p:cNvPr id="17" name="Text: day 365 →"/>
            <p:cNvSpPr txBox="1"/>
            <p:nvPr/>
          </p:nvSpPr>
          <p:spPr>
            <a:xfrm>
              <a:off x="6715125" y="3141960"/>
              <a:ext cx="1692275" cy="146050"/>
            </a:xfrm>
            <a:prstGeom prst="rect">
              <a:avLst/>
            </a:prstGeom>
            <a:noFill/>
          </p:spPr>
          <p:txBody>
            <a:bodyPr wrap="square" lIns="0" tIns="0" rIns="0" bIns="0" anchor="t">
              <a:noAutofit/>
            </a:bodyPr>
            <a:lstStyle/>
            <a:p>
              <a:pPr algn="r">
                <a:lnSpc>
                  <a:spcPts val="1150"/>
                </a:lnSpc>
                <a:spcBef>
                  <a:spcPts val="0"/>
                </a:spcBef>
                <a:spcAft>
                  <a:spcPts val="0"/>
                </a:spcAft>
              </a:pPr>
              <a:r>
                <a:rPr sz="1000" b="0" i="0">
                  <a:solidFill>
                    <a:srgbClr val="5B6770"/>
                  </a:solidFill>
                  <a:latin typeface="Arial"/>
                </a:rPr>
                <a:t>day 365 →</a:t>
              </a:r>
            </a:p>
          </p:txBody>
        </p:sp>
      </p:grpSp>
      <p:sp>
        <p:nvSpPr>
          <p:cNvPr id="31"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5</a:t>
            </a:fld>
            <a:endParaRPr lang="en-US" dirty="0">
              <a:solidFill>
                <a:srgbClr val="FFFFFF"/>
              </a:solidFill>
              <a:latin typeface="Arial" panose="020B0604020202020204"/>
            </a:endParaRPr>
          </a:p>
        </p:txBody>
      </p:sp>
      <p:sp>
        <p:nvSpPr>
          <p:cNvPr id="30"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grpSp>
        <p:nvGrpSpPr>
          <p:cNvPr id="38" name="Group 37">
            <a:extLst>
              <a:ext uri="{FF2B5EF4-FFF2-40B4-BE49-F238E27FC236}">
                <a16:creationId xmlns:a16="http://schemas.microsoft.com/office/drawing/2014/main" id="{DC1E8390-374D-4013-1761-75A1DA217CE1}"/>
              </a:ext>
            </a:extLst>
          </p:cNvPr>
          <p:cNvGrpSpPr/>
          <p:nvPr/>
        </p:nvGrpSpPr>
        <p:grpSpPr>
          <a:xfrm>
            <a:off x="609550" y="3855536"/>
            <a:ext cx="7924899" cy="2208434"/>
            <a:chOff x="609550" y="3855536"/>
            <a:chExt cx="7924899" cy="2208434"/>
          </a:xfrm>
        </p:grpSpPr>
        <p:sp>
          <p:nvSpPr>
            <p:cNvPr id="18" name="Panel"/>
            <p:cNvSpPr/>
            <p:nvPr/>
          </p:nvSpPr>
          <p:spPr>
            <a:xfrm>
              <a:off x="609550" y="3855536"/>
              <a:ext cx="2556966" cy="1249561"/>
            </a:xfrm>
            <a:prstGeom prst="roundRect">
              <a:avLst>
                <a:gd name="adj" fmla="val 5081"/>
              </a:avLst>
            </a:prstGeom>
            <a:solidFill>
              <a:srgbClr val="F4F6F5"/>
            </a:solidFill>
            <a:ln>
              <a:noFill/>
            </a:ln>
          </p:spPr>
          <p:txBody>
            <a:bodyPr rtlCol="0" anchor="ctr"/>
            <a:lstStyle/>
            <a:p>
              <a:pPr algn="ctr"/>
              <a:endParaRPr/>
            </a:p>
          </p:txBody>
        </p:sp>
        <p:sp>
          <p:nvSpPr>
            <p:cNvPr id="21" name="Panel"/>
            <p:cNvSpPr/>
            <p:nvPr/>
          </p:nvSpPr>
          <p:spPr>
            <a:xfrm>
              <a:off x="3293516" y="3855536"/>
              <a:ext cx="2556966" cy="1249561"/>
            </a:xfrm>
            <a:prstGeom prst="roundRect">
              <a:avLst>
                <a:gd name="adj" fmla="val 5081"/>
              </a:avLst>
            </a:prstGeom>
            <a:solidFill>
              <a:srgbClr val="F4F6F5"/>
            </a:solidFill>
            <a:ln>
              <a:noFill/>
            </a:ln>
          </p:spPr>
          <p:txBody>
            <a:bodyPr rtlCol="0" anchor="ctr"/>
            <a:lstStyle/>
            <a:p>
              <a:pPr algn="ctr"/>
              <a:endParaRPr/>
            </a:p>
          </p:txBody>
        </p:sp>
        <p:sp>
          <p:nvSpPr>
            <p:cNvPr id="24" name="Panel"/>
            <p:cNvSpPr/>
            <p:nvPr/>
          </p:nvSpPr>
          <p:spPr>
            <a:xfrm>
              <a:off x="5977483" y="3855536"/>
              <a:ext cx="2556966" cy="1249561"/>
            </a:xfrm>
            <a:prstGeom prst="roundRect">
              <a:avLst>
                <a:gd name="adj" fmla="val 5081"/>
              </a:avLst>
            </a:prstGeom>
            <a:solidFill>
              <a:srgbClr val="F4F6F5"/>
            </a:solidFill>
            <a:ln>
              <a:noFill/>
            </a:ln>
          </p:spPr>
          <p:txBody>
            <a:bodyPr rtlCol="0" anchor="ctr"/>
            <a:lstStyle/>
            <a:p>
              <a:pPr algn="ctr"/>
              <a:endParaRPr/>
            </a:p>
          </p:txBody>
        </p:sp>
        <p:sp>
          <p:nvSpPr>
            <p:cNvPr id="19" name="Text: 17.9 M"/>
            <p:cNvSpPr txBox="1"/>
            <p:nvPr/>
          </p:nvSpPr>
          <p:spPr>
            <a:xfrm>
              <a:off x="749250" y="3982536"/>
              <a:ext cx="2334506" cy="400050"/>
            </a:xfrm>
            <a:prstGeom prst="rect">
              <a:avLst/>
            </a:prstGeom>
            <a:noFill/>
          </p:spPr>
          <p:txBody>
            <a:bodyPr wrap="square" lIns="0" tIns="0" rIns="0" bIns="0" anchor="t">
              <a:noAutofit/>
            </a:bodyPr>
            <a:lstStyle/>
            <a:p>
              <a:pPr algn="l">
                <a:lnSpc>
                  <a:spcPts val="3150"/>
                </a:lnSpc>
                <a:spcBef>
                  <a:spcPts val="0"/>
                </a:spcBef>
                <a:spcAft>
                  <a:spcPts val="0"/>
                </a:spcAft>
              </a:pPr>
              <a:r>
                <a:rPr sz="3000" b="1" i="0">
                  <a:solidFill>
                    <a:srgbClr val="C00000"/>
                  </a:solidFill>
                  <a:latin typeface="Arial"/>
                </a:rPr>
                <a:t>17.9 M</a:t>
              </a:r>
            </a:p>
          </p:txBody>
        </p:sp>
        <p:sp>
          <p:nvSpPr>
            <p:cNvPr id="20" name="Text: cardiovascular deaths per year (WHO, cit"/>
            <p:cNvSpPr txBox="1"/>
            <p:nvPr/>
          </p:nvSpPr>
          <p:spPr>
            <a:xfrm>
              <a:off x="749250" y="4433386"/>
              <a:ext cx="2334506"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cardiovascular deaths per year (WHO, cited in the review)</a:t>
              </a:r>
            </a:p>
          </p:txBody>
        </p:sp>
        <p:sp>
          <p:nvSpPr>
            <p:cNvPr id="22" name="Text: 828 M"/>
            <p:cNvSpPr txBox="1"/>
            <p:nvPr/>
          </p:nvSpPr>
          <p:spPr>
            <a:xfrm>
              <a:off x="3433216" y="3982536"/>
              <a:ext cx="2334506" cy="400050"/>
            </a:xfrm>
            <a:prstGeom prst="rect">
              <a:avLst/>
            </a:prstGeom>
            <a:noFill/>
          </p:spPr>
          <p:txBody>
            <a:bodyPr wrap="square" lIns="0" tIns="0" rIns="0" bIns="0" anchor="t">
              <a:noAutofit/>
            </a:bodyPr>
            <a:lstStyle/>
            <a:p>
              <a:pPr algn="l">
                <a:lnSpc>
                  <a:spcPts val="3150"/>
                </a:lnSpc>
                <a:spcBef>
                  <a:spcPts val="0"/>
                </a:spcBef>
                <a:spcAft>
                  <a:spcPts val="0"/>
                </a:spcAft>
              </a:pPr>
              <a:r>
                <a:rPr sz="3000" b="1" i="0">
                  <a:solidFill>
                    <a:srgbClr val="345E14"/>
                  </a:solidFill>
                  <a:latin typeface="Arial"/>
                </a:rPr>
                <a:t>828 M</a:t>
              </a:r>
            </a:p>
          </p:txBody>
        </p:sp>
        <p:sp>
          <p:nvSpPr>
            <p:cNvPr id="23" name="Text: adults with diabetes in 2022 (NCD-RisC, "/>
            <p:cNvSpPr txBox="1"/>
            <p:nvPr/>
          </p:nvSpPr>
          <p:spPr>
            <a:xfrm>
              <a:off x="3433216" y="4433386"/>
              <a:ext cx="2334506" cy="54471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adults with diabetes in 2022 (NCD-RisC, Lancet 2024); the review cites WHO's older 422 M</a:t>
              </a:r>
            </a:p>
          </p:txBody>
        </p:sp>
        <p:sp>
          <p:nvSpPr>
            <p:cNvPr id="25" name="Text: 2×"/>
            <p:cNvSpPr txBox="1"/>
            <p:nvPr/>
          </p:nvSpPr>
          <p:spPr>
            <a:xfrm>
              <a:off x="6117183" y="3982536"/>
              <a:ext cx="2334506" cy="400050"/>
            </a:xfrm>
            <a:prstGeom prst="rect">
              <a:avLst/>
            </a:prstGeom>
            <a:noFill/>
          </p:spPr>
          <p:txBody>
            <a:bodyPr wrap="square" lIns="0" tIns="0" rIns="0" bIns="0" anchor="t">
              <a:noAutofit/>
            </a:bodyPr>
            <a:lstStyle/>
            <a:p>
              <a:pPr algn="l">
                <a:lnSpc>
                  <a:spcPts val="3150"/>
                </a:lnSpc>
                <a:spcBef>
                  <a:spcPts val="0"/>
                </a:spcBef>
                <a:spcAft>
                  <a:spcPts val="0"/>
                </a:spcAft>
              </a:pPr>
              <a:r>
                <a:rPr sz="3000" b="1" i="0">
                  <a:solidFill>
                    <a:srgbClr val="00506F"/>
                  </a:solidFill>
                  <a:latin typeface="Arial"/>
                </a:rPr>
                <a:t>2×</a:t>
              </a:r>
            </a:p>
          </p:txBody>
        </p:sp>
        <p:sp>
          <p:nvSpPr>
            <p:cNvPr id="26" name="Text: growth of the 60+ population by 2050 → d"/>
            <p:cNvSpPr txBox="1"/>
            <p:nvPr/>
          </p:nvSpPr>
          <p:spPr>
            <a:xfrm>
              <a:off x="6117183" y="4433386"/>
              <a:ext cx="2334506" cy="54471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growth of the 60+ population by 2050 → demand for long-term monitoring</a:t>
              </a:r>
            </a:p>
          </p:txBody>
        </p:sp>
        <p:sp>
          <p:nvSpPr>
            <p:cNvPr id="27" name="Text: 1 visit per year ≈ 1 / (3.2 × 10⁷ s). By"/>
            <p:cNvSpPr txBox="1"/>
            <p:nvPr/>
          </p:nvSpPr>
          <p:spPr>
            <a:xfrm>
              <a:off x="609550" y="5272082"/>
              <a:ext cx="5389245" cy="617041"/>
            </a:xfrm>
            <a:prstGeom prst="rect">
              <a:avLst/>
            </a:prstGeom>
            <a:noFill/>
          </p:spPr>
          <p:txBody>
            <a:bodyPr wrap="square" lIns="0" tIns="0" rIns="0" bIns="0" anchor="t">
              <a:noAutofit/>
            </a:bodyPr>
            <a:lstStyle/>
            <a:p>
              <a:pPr algn="l">
                <a:lnSpc>
                  <a:spcPts val="1620"/>
                </a:lnSpc>
                <a:spcBef>
                  <a:spcPts val="0"/>
                </a:spcBef>
                <a:spcAft>
                  <a:spcPts val="0"/>
                </a:spcAft>
              </a:pPr>
              <a:r>
                <a:rPr sz="1200" b="0" i="0">
                  <a:solidFill>
                    <a:srgbClr val="333333"/>
                  </a:solidFill>
                  <a:latin typeface="Arial"/>
                </a:rPr>
                <a:t>1 visit per year ≈ 1 / (3.2 × 10⁷ s). By Nyquist, only processes with periods longer than ~2 years are resolved; arrhythmias, glucose excursions and nocturnal desaturations fall between samples.</a:t>
              </a:r>
            </a:p>
          </p:txBody>
        </p:sp>
        <p:grpSp>
          <p:nvGrpSpPr>
            <p:cNvPr id="37" name="Group 36">
              <a:extLst>
                <a:ext uri="{FF2B5EF4-FFF2-40B4-BE49-F238E27FC236}">
                  <a16:creationId xmlns:a16="http://schemas.microsoft.com/office/drawing/2014/main" id="{69E736DE-1DF3-1CB4-8650-7C3C91DFBE35}"/>
                </a:ext>
              </a:extLst>
            </p:cNvPr>
            <p:cNvGrpSpPr/>
            <p:nvPr/>
          </p:nvGrpSpPr>
          <p:grpSpPr>
            <a:xfrm>
              <a:off x="6485860" y="5193116"/>
              <a:ext cx="2048589" cy="870854"/>
              <a:chOff x="6485860" y="5193116"/>
              <a:chExt cx="2048589" cy="870854"/>
            </a:xfrm>
          </p:grpSpPr>
          <p:sp>
            <p:nvSpPr>
              <p:cNvPr id="28" name="Panel"/>
              <p:cNvSpPr/>
              <p:nvPr/>
            </p:nvSpPr>
            <p:spPr>
              <a:xfrm>
                <a:off x="6485860" y="5232097"/>
                <a:ext cx="2048589" cy="783420"/>
              </a:xfrm>
              <a:prstGeom prst="roundRect">
                <a:avLst>
                  <a:gd name="adj" fmla="val 7562"/>
                </a:avLst>
              </a:prstGeom>
              <a:solidFill>
                <a:srgbClr val="EAF4FA"/>
              </a:solidFill>
              <a:ln>
                <a:noFill/>
              </a:ln>
            </p:spPr>
            <p:txBody>
              <a:bodyPr rtlCol="0" anchor="ctr"/>
              <a:lstStyle/>
              <a:p>
                <a:pPr algn="ctr"/>
                <a:endParaRPr/>
              </a:p>
            </p:txBody>
          </p:sp>
          <p:sp>
            <p:nvSpPr>
              <p:cNvPr id="29" name="Text: Interactive: episode-capture model (clin">
                <a:hlinkClick r:id="rId3"/>
              </p:cNvPr>
              <p:cNvSpPr txBox="1"/>
              <p:nvPr/>
            </p:nvSpPr>
            <p:spPr>
              <a:xfrm>
                <a:off x="6634716" y="5308297"/>
                <a:ext cx="967563" cy="544711"/>
              </a:xfrm>
              <a:prstGeom prst="rect">
                <a:avLst/>
              </a:prstGeom>
              <a:noFill/>
            </p:spPr>
            <p:txBody>
              <a:bodyPr wrap="square" lIns="0" tIns="0" rIns="0" bIns="0" anchor="t">
                <a:noAutofit/>
              </a:bodyPr>
              <a:lstStyle/>
              <a:p>
                <a:pPr algn="l">
                  <a:lnSpc>
                    <a:spcPts val="1430"/>
                  </a:lnSpc>
                  <a:spcBef>
                    <a:spcPts val="0"/>
                  </a:spcBef>
                  <a:spcAft>
                    <a:spcPts val="0"/>
                  </a:spcAft>
                </a:pPr>
                <a:endParaRPr lang="en-US" sz="1100" b="1" i="0" dirty="0">
                  <a:solidFill>
                    <a:srgbClr val="0077A8"/>
                  </a:solidFill>
                  <a:latin typeface="Arial"/>
                </a:endParaRPr>
              </a:p>
              <a:p>
                <a:pPr algn="l">
                  <a:lnSpc>
                    <a:spcPts val="1430"/>
                  </a:lnSpc>
                  <a:spcBef>
                    <a:spcPts val="0"/>
                  </a:spcBef>
                  <a:spcAft>
                    <a:spcPts val="0"/>
                  </a:spcAft>
                </a:pPr>
                <a:r>
                  <a:rPr sz="1100" b="1" i="0" dirty="0">
                    <a:solidFill>
                      <a:srgbClr val="0077A8"/>
                    </a:solidFill>
                    <a:latin typeface="Arial"/>
                  </a:rPr>
                  <a:t>Interactive</a:t>
                </a:r>
                <a:r>
                  <a:rPr lang="en-US" sz="1100" b="1" dirty="0">
                    <a:solidFill>
                      <a:srgbClr val="0077A8"/>
                    </a:solidFill>
                    <a:latin typeface="Arial"/>
                  </a:rPr>
                  <a:t> </a:t>
                </a:r>
              </a:p>
              <a:p>
                <a:pPr algn="l">
                  <a:lnSpc>
                    <a:spcPts val="1430"/>
                  </a:lnSpc>
                  <a:spcBef>
                    <a:spcPts val="0"/>
                  </a:spcBef>
                  <a:spcAft>
                    <a:spcPts val="0"/>
                  </a:spcAft>
                </a:pPr>
                <a:r>
                  <a:rPr lang="en-US" sz="1100" b="1" dirty="0">
                    <a:solidFill>
                      <a:srgbClr val="0077A8"/>
                    </a:solidFill>
                    <a:latin typeface="Arial"/>
                  </a:rPr>
                  <a:t>Visualization:</a:t>
                </a:r>
              </a:p>
              <a:p>
                <a:pPr>
                  <a:lnSpc>
                    <a:spcPct val="150000"/>
                  </a:lnSpc>
                </a:pPr>
                <a:endParaRPr sz="1100" b="0" i="0" dirty="0">
                  <a:solidFill>
                    <a:schemeClr val="accent5">
                      <a:lumMod val="90000"/>
                      <a:lumOff val="10000"/>
                    </a:schemeClr>
                  </a:solidFill>
                  <a:latin typeface="Arial"/>
                </a:endParaRPr>
              </a:p>
            </p:txBody>
          </p:sp>
          <p:pic>
            <p:nvPicPr>
              <p:cNvPr id="36" name="Picture 35">
                <a:extLst>
                  <a:ext uri="{FF2B5EF4-FFF2-40B4-BE49-F238E27FC236}">
                    <a16:creationId xmlns:a16="http://schemas.microsoft.com/office/drawing/2014/main" id="{74AEF958-5DE3-0427-2B3D-3C6BAC504380}"/>
                  </a:ext>
                </a:extLst>
              </p:cNvPr>
              <p:cNvPicPr>
                <a:picLocks noChangeAspect="1"/>
              </p:cNvPicPr>
              <p:nvPr/>
            </p:nvPicPr>
            <p:blipFill>
              <a:blip r:embed="rId4"/>
              <a:stretch>
                <a:fillRect/>
              </a:stretch>
            </p:blipFill>
            <p:spPr>
              <a:xfrm>
                <a:off x="7549624" y="5193116"/>
                <a:ext cx="870854" cy="870854"/>
              </a:xfrm>
              <a:prstGeom prst="rect">
                <a:avLst/>
              </a:prstGeom>
            </p:spPr>
          </p:pic>
        </p:gr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Continuous signals, scarce clinical insight</a:t>
            </a:r>
          </a:p>
        </p:txBody>
      </p:sp>
      <p:sp>
        <p:nvSpPr>
          <p:cNvPr id="3" name="Text: BACKGROUND · PROBLEM STATEMENT &amp; OBJECTI"/>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BACKGROUND · PROBLEM STATEMENT &amp; OBJECTIVE</a:t>
            </a:r>
          </a:p>
        </p:txBody>
      </p:sp>
      <p:grpSp>
        <p:nvGrpSpPr>
          <p:cNvPr id="22" name="Group 21">
            <a:extLst>
              <a:ext uri="{FF2B5EF4-FFF2-40B4-BE49-F238E27FC236}">
                <a16:creationId xmlns:a16="http://schemas.microsoft.com/office/drawing/2014/main" id="{26CBB8B1-B736-2D2C-A716-934757831880}"/>
              </a:ext>
            </a:extLst>
          </p:cNvPr>
          <p:cNvGrpSpPr/>
          <p:nvPr/>
        </p:nvGrpSpPr>
        <p:grpSpPr>
          <a:xfrm>
            <a:off x="609600" y="1218621"/>
            <a:ext cx="7949565" cy="1176536"/>
            <a:chOff x="609600" y="1033760"/>
            <a:chExt cx="7949565" cy="1176536"/>
          </a:xfrm>
        </p:grpSpPr>
        <p:sp>
          <p:nvSpPr>
            <p:cNvPr id="4" name="Panel"/>
            <p:cNvSpPr/>
            <p:nvPr/>
          </p:nvSpPr>
          <p:spPr>
            <a:xfrm>
              <a:off x="609600" y="1033760"/>
              <a:ext cx="7924800" cy="1176536"/>
            </a:xfrm>
            <a:prstGeom prst="roundRect">
              <a:avLst>
                <a:gd name="adj" fmla="val 5397"/>
              </a:avLst>
            </a:prstGeom>
            <a:solidFill>
              <a:srgbClr val="E7F0EB"/>
            </a:solidFill>
            <a:ln>
              <a:noFill/>
            </a:ln>
          </p:spPr>
          <p:txBody>
            <a:bodyPr rtlCol="0" anchor="ctr"/>
            <a:lstStyle/>
            <a:p>
              <a:pPr algn="ctr"/>
              <a:endParaRPr/>
            </a:p>
          </p:txBody>
        </p:sp>
        <p:sp>
          <p:nvSpPr>
            <p:cNvPr id="5" name="Text: Problem statement"/>
            <p:cNvSpPr txBox="1"/>
            <p:nvPr/>
          </p:nvSpPr>
          <p:spPr>
            <a:xfrm>
              <a:off x="774700" y="1173460"/>
              <a:ext cx="7784465"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Problem statement</a:t>
              </a:r>
            </a:p>
          </p:txBody>
        </p:sp>
        <p:sp>
          <p:nvSpPr>
            <p:cNvPr id="6" name="Text: Wearables already stream noisy, multimod"/>
            <p:cNvSpPr txBox="1"/>
            <p:nvPr/>
          </p:nvSpPr>
          <p:spPr>
            <a:xfrm>
              <a:off x="774700" y="1402060"/>
              <a:ext cx="7784465" cy="668536"/>
            </a:xfrm>
            <a:prstGeom prst="rect">
              <a:avLst/>
            </a:prstGeom>
            <a:noFill/>
          </p:spPr>
          <p:txBody>
            <a:bodyPr wrap="square" lIns="0" tIns="0" rIns="0" bIns="0" anchor="t">
              <a:noAutofit/>
            </a:bodyPr>
            <a:lstStyle/>
            <a:p>
              <a:pPr algn="l">
                <a:lnSpc>
                  <a:spcPts val="1755"/>
                </a:lnSpc>
                <a:spcBef>
                  <a:spcPts val="0"/>
                </a:spcBef>
                <a:spcAft>
                  <a:spcPts val="0"/>
                </a:spcAft>
              </a:pPr>
              <a:r>
                <a:rPr sz="1300" b="0" i="0">
                  <a:solidFill>
                    <a:srgbClr val="333333"/>
                  </a:solidFill>
                  <a:latin typeface="Arial"/>
                </a:rPr>
                <a:t>Wearables already stream noisy, multimodal signals under milliwatt power budgets. The unsolved step is turning those signals into </a:t>
              </a:r>
              <a:r>
                <a:rPr sz="1300" b="1" i="0">
                  <a:solidFill>
                    <a:srgbClr val="333333"/>
                  </a:solidFill>
                  <a:latin typeface="Arial"/>
                </a:rPr>
                <a:t>reliable, private, regulated clinical decisions</a:t>
              </a:r>
              <a:r>
                <a:rPr sz="1300" b="0" i="0">
                  <a:solidFill>
                    <a:srgbClr val="333333"/>
                  </a:solidFill>
                  <a:latin typeface="Arial"/>
                </a:rPr>
                <a:t> — limited by energy, motion artifacts, interoperability, algorithmic bias and validation.</a:t>
              </a:r>
            </a:p>
          </p:txBody>
        </p:sp>
      </p:grpSp>
      <p:grpSp>
        <p:nvGrpSpPr>
          <p:cNvPr id="21" name="Group 20">
            <a:extLst>
              <a:ext uri="{FF2B5EF4-FFF2-40B4-BE49-F238E27FC236}">
                <a16:creationId xmlns:a16="http://schemas.microsoft.com/office/drawing/2014/main" id="{0EF2A978-6288-AF95-2C2B-68A987A74F19}"/>
              </a:ext>
            </a:extLst>
          </p:cNvPr>
          <p:cNvGrpSpPr/>
          <p:nvPr/>
        </p:nvGrpSpPr>
        <p:grpSpPr>
          <a:xfrm>
            <a:off x="660082" y="2966376"/>
            <a:ext cx="8013700" cy="2952750"/>
            <a:chOff x="609600" y="2349996"/>
            <a:chExt cx="8013700" cy="2952750"/>
          </a:xfrm>
        </p:grpSpPr>
        <p:sp>
          <p:nvSpPr>
            <p:cNvPr id="7" name="Text: Objective: a comprehensive review on fiv"/>
            <p:cNvSpPr txBox="1"/>
            <p:nvPr/>
          </p:nvSpPr>
          <p:spPr>
            <a:xfrm>
              <a:off x="609600" y="2349996"/>
              <a:ext cx="4269740"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Objective: a comprehensive review on five fronts</a:t>
              </a:r>
            </a:p>
          </p:txBody>
        </p:sp>
        <p:sp>
          <p:nvSpPr>
            <p:cNvPr id="8" name="Badge 1"/>
            <p:cNvSpPr/>
            <p:nvPr/>
          </p:nvSpPr>
          <p:spPr>
            <a:xfrm>
              <a:off x="609600" y="2700437"/>
              <a:ext cx="254000" cy="2540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1</a:t>
              </a:r>
            </a:p>
          </p:txBody>
        </p:sp>
        <p:sp>
          <p:nvSpPr>
            <p:cNvPr id="9" name="Text: Hardware — sensors, materials, power, si"/>
            <p:cNvSpPr txBox="1"/>
            <p:nvPr/>
          </p:nvSpPr>
          <p:spPr>
            <a:xfrm>
              <a:off x="965200" y="2629396"/>
              <a:ext cx="3905250" cy="396081"/>
            </a:xfrm>
            <a:prstGeom prst="rect">
              <a:avLst/>
            </a:prstGeom>
            <a:noFill/>
          </p:spPr>
          <p:txBody>
            <a:bodyPr wrap="square" lIns="0" tIns="0" rIns="0" bIns="0" anchor="t">
              <a:noAutofit/>
            </a:bodyPr>
            <a:lstStyle/>
            <a:p>
              <a:pPr algn="l">
                <a:lnSpc>
                  <a:spcPts val="1560"/>
                </a:lnSpc>
                <a:spcBef>
                  <a:spcPts val="0"/>
                </a:spcBef>
                <a:spcAft>
                  <a:spcPts val="0"/>
                </a:spcAft>
              </a:pPr>
              <a:r>
                <a:rPr sz="1200" b="1" i="0">
                  <a:solidFill>
                    <a:srgbClr val="333333"/>
                  </a:solidFill>
                  <a:latin typeface="Arial"/>
                </a:rPr>
                <a:t>Hardware</a:t>
              </a:r>
              <a:r>
                <a:rPr sz="1200" b="0" i="0">
                  <a:solidFill>
                    <a:srgbClr val="333333"/>
                  </a:solidFill>
                  <a:latin typeface="Arial"/>
                </a:rPr>
                <a:t> — sensors, materials, power, signal acquisition </a:t>
              </a:r>
              <a:r>
                <a:rPr sz="1200" b="0" i="0">
                  <a:solidFill>
                    <a:srgbClr val="5B6770"/>
                  </a:solidFill>
                  <a:latin typeface="Arial"/>
                </a:rPr>
                <a:t>(§2)</a:t>
              </a:r>
            </a:p>
          </p:txBody>
        </p:sp>
        <p:sp>
          <p:nvSpPr>
            <p:cNvPr id="10" name="Badge 2"/>
            <p:cNvSpPr/>
            <p:nvPr/>
          </p:nvSpPr>
          <p:spPr>
            <a:xfrm>
              <a:off x="609600" y="3198118"/>
              <a:ext cx="254000" cy="2540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2</a:t>
              </a:r>
            </a:p>
          </p:txBody>
        </p:sp>
        <p:sp>
          <p:nvSpPr>
            <p:cNvPr id="11" name="Text: AI — algorithms, edge computing, AI–bios"/>
            <p:cNvSpPr txBox="1"/>
            <p:nvPr/>
          </p:nvSpPr>
          <p:spPr>
            <a:xfrm>
              <a:off x="965200" y="3127077"/>
              <a:ext cx="3905250" cy="396081"/>
            </a:xfrm>
            <a:prstGeom prst="rect">
              <a:avLst/>
            </a:prstGeom>
            <a:noFill/>
          </p:spPr>
          <p:txBody>
            <a:bodyPr wrap="square" lIns="0" tIns="0" rIns="0" bIns="0" anchor="t">
              <a:noAutofit/>
            </a:bodyPr>
            <a:lstStyle/>
            <a:p>
              <a:pPr algn="l">
                <a:lnSpc>
                  <a:spcPts val="1560"/>
                </a:lnSpc>
                <a:spcBef>
                  <a:spcPts val="0"/>
                </a:spcBef>
                <a:spcAft>
                  <a:spcPts val="0"/>
                </a:spcAft>
              </a:pPr>
              <a:r>
                <a:rPr sz="1200" b="1" i="0">
                  <a:solidFill>
                    <a:srgbClr val="333333"/>
                  </a:solidFill>
                  <a:latin typeface="Arial"/>
                </a:rPr>
                <a:t>AI</a:t>
              </a:r>
              <a:r>
                <a:rPr sz="1200" b="0" i="0">
                  <a:solidFill>
                    <a:srgbClr val="333333"/>
                  </a:solidFill>
                  <a:latin typeface="Arial"/>
                </a:rPr>
                <a:t> — algorithms, edge computing, AI–biosensor fusion framework </a:t>
              </a:r>
              <a:r>
                <a:rPr sz="1200" b="0" i="0">
                  <a:solidFill>
                    <a:srgbClr val="5B6770"/>
                  </a:solidFill>
                  <a:latin typeface="Arial"/>
                </a:rPr>
                <a:t>(§3)</a:t>
              </a:r>
            </a:p>
          </p:txBody>
        </p:sp>
        <p:sp>
          <p:nvSpPr>
            <p:cNvPr id="12" name="Badge 3"/>
            <p:cNvSpPr/>
            <p:nvPr/>
          </p:nvSpPr>
          <p:spPr>
            <a:xfrm>
              <a:off x="609600" y="3695799"/>
              <a:ext cx="254000" cy="2540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3</a:t>
              </a:r>
            </a:p>
          </p:txBody>
        </p:sp>
        <p:sp>
          <p:nvSpPr>
            <p:cNvPr id="13" name="Text: Applications — monitoring, diagnosis, pr"/>
            <p:cNvSpPr txBox="1"/>
            <p:nvPr/>
          </p:nvSpPr>
          <p:spPr>
            <a:xfrm>
              <a:off x="965200" y="3624759"/>
              <a:ext cx="3905250" cy="396081"/>
            </a:xfrm>
            <a:prstGeom prst="rect">
              <a:avLst/>
            </a:prstGeom>
            <a:noFill/>
          </p:spPr>
          <p:txBody>
            <a:bodyPr wrap="square" lIns="0" tIns="0" rIns="0" bIns="0" anchor="t">
              <a:noAutofit/>
            </a:bodyPr>
            <a:lstStyle/>
            <a:p>
              <a:pPr algn="l">
                <a:lnSpc>
                  <a:spcPts val="1560"/>
                </a:lnSpc>
                <a:spcBef>
                  <a:spcPts val="0"/>
                </a:spcBef>
                <a:spcAft>
                  <a:spcPts val="0"/>
                </a:spcAft>
              </a:pPr>
              <a:r>
                <a:rPr sz="1200" b="1" i="0">
                  <a:solidFill>
                    <a:srgbClr val="333333"/>
                  </a:solidFill>
                  <a:latin typeface="Arial"/>
                </a:rPr>
                <a:t>Applications</a:t>
              </a:r>
              <a:r>
                <a:rPr sz="1200" b="0" i="0">
                  <a:solidFill>
                    <a:srgbClr val="333333"/>
                  </a:solidFill>
                  <a:latin typeface="Arial"/>
                </a:rPr>
                <a:t> — monitoring, diagnosis, prognosis, EHR integration </a:t>
              </a:r>
              <a:r>
                <a:rPr sz="1200" b="0" i="0">
                  <a:solidFill>
                    <a:srgbClr val="5B6770"/>
                  </a:solidFill>
                  <a:latin typeface="Arial"/>
                </a:rPr>
                <a:t>(§4)</a:t>
              </a:r>
            </a:p>
          </p:txBody>
        </p:sp>
        <p:sp>
          <p:nvSpPr>
            <p:cNvPr id="14" name="Badge 4"/>
            <p:cNvSpPr/>
            <p:nvPr/>
          </p:nvSpPr>
          <p:spPr>
            <a:xfrm>
              <a:off x="609600" y="4193480"/>
              <a:ext cx="254000" cy="2540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4</a:t>
              </a:r>
            </a:p>
          </p:txBody>
        </p:sp>
        <p:sp>
          <p:nvSpPr>
            <p:cNvPr id="15" name="Text: Challenges — privacy, bias, regulation, "/>
            <p:cNvSpPr txBox="1"/>
            <p:nvPr/>
          </p:nvSpPr>
          <p:spPr>
            <a:xfrm>
              <a:off x="965200" y="4122440"/>
              <a:ext cx="3905250" cy="396081"/>
            </a:xfrm>
            <a:prstGeom prst="rect">
              <a:avLst/>
            </a:prstGeom>
            <a:noFill/>
          </p:spPr>
          <p:txBody>
            <a:bodyPr wrap="square" lIns="0" tIns="0" rIns="0" bIns="0" anchor="t">
              <a:noAutofit/>
            </a:bodyPr>
            <a:lstStyle/>
            <a:p>
              <a:pPr algn="l">
                <a:lnSpc>
                  <a:spcPts val="1560"/>
                </a:lnSpc>
                <a:spcBef>
                  <a:spcPts val="0"/>
                </a:spcBef>
                <a:spcAft>
                  <a:spcPts val="0"/>
                </a:spcAft>
              </a:pPr>
              <a:r>
                <a:rPr sz="1200" b="1" i="0">
                  <a:solidFill>
                    <a:srgbClr val="333333"/>
                  </a:solidFill>
                  <a:latin typeface="Arial"/>
                </a:rPr>
                <a:t>Challenges</a:t>
              </a:r>
              <a:r>
                <a:rPr sz="1200" b="0" i="0">
                  <a:solidFill>
                    <a:srgbClr val="333333"/>
                  </a:solidFill>
                  <a:latin typeface="Arial"/>
                </a:rPr>
                <a:t> — privacy, bias, regulation, liability, cost </a:t>
              </a:r>
              <a:r>
                <a:rPr sz="1200" b="0" i="0">
                  <a:solidFill>
                    <a:srgbClr val="5B6770"/>
                  </a:solidFill>
                  <a:latin typeface="Arial"/>
                </a:rPr>
                <a:t>(§5)</a:t>
              </a:r>
            </a:p>
          </p:txBody>
        </p:sp>
        <p:sp>
          <p:nvSpPr>
            <p:cNvPr id="16" name="Badge 5"/>
            <p:cNvSpPr/>
            <p:nvPr/>
          </p:nvSpPr>
          <p:spPr>
            <a:xfrm>
              <a:off x="609600" y="4691162"/>
              <a:ext cx="254000" cy="2540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5</a:t>
              </a:r>
            </a:p>
          </p:txBody>
        </p:sp>
        <p:sp>
          <p:nvSpPr>
            <p:cNvPr id="17" name="Text: Future &amp; policy — 5G/IoT, affordability,"/>
            <p:cNvSpPr txBox="1"/>
            <p:nvPr/>
          </p:nvSpPr>
          <p:spPr>
            <a:xfrm>
              <a:off x="965200" y="4620121"/>
              <a:ext cx="3905250" cy="396081"/>
            </a:xfrm>
            <a:prstGeom prst="rect">
              <a:avLst/>
            </a:prstGeom>
            <a:noFill/>
          </p:spPr>
          <p:txBody>
            <a:bodyPr wrap="square" lIns="0" tIns="0" rIns="0" bIns="0" anchor="t">
              <a:noAutofit/>
            </a:bodyPr>
            <a:lstStyle/>
            <a:p>
              <a:pPr algn="l">
                <a:lnSpc>
                  <a:spcPts val="1560"/>
                </a:lnSpc>
                <a:spcBef>
                  <a:spcPts val="0"/>
                </a:spcBef>
                <a:spcAft>
                  <a:spcPts val="0"/>
                </a:spcAft>
              </a:pPr>
              <a:r>
                <a:rPr sz="1200" b="1" i="0">
                  <a:solidFill>
                    <a:srgbClr val="333333"/>
                  </a:solidFill>
                  <a:latin typeface="Arial"/>
                </a:rPr>
                <a:t>Future &amp; policy</a:t>
              </a:r>
              <a:r>
                <a:rPr sz="1200" b="0" i="0">
                  <a:solidFill>
                    <a:srgbClr val="333333"/>
                  </a:solidFill>
                  <a:latin typeface="Arial"/>
                </a:rPr>
                <a:t> — 5G/IoT, affordability, staged approval </a:t>
              </a:r>
              <a:r>
                <a:rPr sz="1200" b="0" i="0">
                  <a:solidFill>
                    <a:srgbClr val="5B6770"/>
                  </a:solidFill>
                  <a:latin typeface="Arial"/>
                </a:rPr>
                <a:t>(§6–7)</a:t>
              </a:r>
            </a:p>
          </p:txBody>
        </p:sp>
        <p:sp>
          <p:nvSpPr>
            <p:cNvPr id="18" name="Panel"/>
            <p:cNvSpPr/>
            <p:nvPr/>
          </p:nvSpPr>
          <p:spPr>
            <a:xfrm>
              <a:off x="4978400" y="2349996"/>
              <a:ext cx="3556000" cy="2374900"/>
            </a:xfrm>
            <a:prstGeom prst="roundRect">
              <a:avLst>
                <a:gd name="adj" fmla="val 1604"/>
              </a:avLst>
            </a:prstGeom>
            <a:solidFill>
              <a:srgbClr val="FFFFFF"/>
            </a:solidFill>
            <a:ln w="6350" cap="flat">
              <a:solidFill>
                <a:srgbClr val="D8DDDA"/>
              </a:solidFill>
            </a:ln>
          </p:spPr>
          <p:txBody>
            <a:bodyPr rtlCol="0" anchor="ctr"/>
            <a:lstStyle/>
            <a:p>
              <a:pPr algn="ctr"/>
              <a:endParaRPr/>
            </a:p>
          </p:txBody>
        </p:sp>
        <p:pic>
          <p:nvPicPr>
            <p:cNvPr id="19" name="Image (fig1)" descr="Figure 1: four-quadrant graphic around a wearer: foundational technologies, applications, challenges, future directions"/>
            <p:cNvPicPr>
              <a:picLocks noChangeAspect="1"/>
            </p:cNvPicPr>
            <p:nvPr/>
          </p:nvPicPr>
          <p:blipFill>
            <a:blip r:embed="rId3"/>
            <a:stretch>
              <a:fillRect/>
            </a:stretch>
          </p:blipFill>
          <p:spPr>
            <a:xfrm>
              <a:off x="4986284" y="2356346"/>
              <a:ext cx="3540232" cy="2362200"/>
            </a:xfrm>
            <a:prstGeom prst="rect">
              <a:avLst/>
            </a:prstGeom>
          </p:spPr>
        </p:pic>
        <p:sp>
          <p:nvSpPr>
            <p:cNvPr id="20" name="Text: Fig. 1 — the review's map: foundations →"/>
            <p:cNvSpPr txBox="1"/>
            <p:nvPr/>
          </p:nvSpPr>
          <p:spPr>
            <a:xfrm>
              <a:off x="4978400" y="4788396"/>
              <a:ext cx="3644900" cy="514350"/>
            </a:xfrm>
            <a:prstGeom prst="rect">
              <a:avLst/>
            </a:prstGeom>
            <a:noFill/>
          </p:spPr>
          <p:txBody>
            <a:bodyPr wrap="square" lIns="0" tIns="0" rIns="0" bIns="0" anchor="t">
              <a:noAutofit/>
            </a:bodyPr>
            <a:lstStyle/>
            <a:p>
              <a:pPr algn="l">
                <a:lnSpc>
                  <a:spcPts val="1350"/>
                </a:lnSpc>
                <a:spcBef>
                  <a:spcPts val="0"/>
                </a:spcBef>
                <a:spcAft>
                  <a:spcPts val="0"/>
                </a:spcAft>
              </a:pPr>
              <a:r>
                <a:rPr sz="1000" b="1" i="0">
                  <a:solidFill>
                    <a:srgbClr val="5B6770"/>
                  </a:solidFill>
                  <a:latin typeface="Arial"/>
                </a:rPr>
                <a:t>Fig. 1</a:t>
              </a:r>
              <a:r>
                <a:rPr sz="1000" b="0" i="0">
                  <a:solidFill>
                    <a:srgbClr val="5B6770"/>
                  </a:solidFill>
                  <a:latin typeface="Arial"/>
                </a:rPr>
                <a:t> — the review's map: foundations → applications → challenges → future directions. Conceptual schematic; no data.</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6</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A narrative review, read as a five-layer system</a:t>
            </a:r>
          </a:p>
        </p:txBody>
      </p:sp>
      <p:sp>
        <p:nvSpPr>
          <p:cNvPr id="3" name="Text: METHODS · HOW THE REVIEW WAS BUILT"/>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HOW THE REVIEW WAS BUILT</a:t>
            </a:r>
          </a:p>
        </p:txBody>
      </p:sp>
      <p:sp>
        <p:nvSpPr>
          <p:cNvPr id="4" name="Panel"/>
          <p:cNvSpPr/>
          <p:nvPr/>
        </p:nvSpPr>
        <p:spPr>
          <a:xfrm>
            <a:off x="609600" y="1033760"/>
            <a:ext cx="1905000" cy="1092696"/>
          </a:xfrm>
          <a:prstGeom prst="roundRect">
            <a:avLst>
              <a:gd name="adj" fmla="val 5811"/>
            </a:avLst>
          </a:prstGeom>
          <a:solidFill>
            <a:srgbClr val="F4F6F5"/>
          </a:solidFill>
          <a:ln>
            <a:noFill/>
          </a:ln>
        </p:spPr>
        <p:txBody>
          <a:bodyPr rtlCol="0" anchor="ctr"/>
          <a:lstStyle/>
          <a:p>
            <a:pPr algn="ctr"/>
            <a:endParaRPr/>
          </a:p>
        </p:txBody>
      </p:sp>
      <p:sp>
        <p:nvSpPr>
          <p:cNvPr id="5" name="Text: Narrative"/>
          <p:cNvSpPr txBox="1"/>
          <p:nvPr/>
        </p:nvSpPr>
        <p:spPr>
          <a:xfrm>
            <a:off x="736600" y="1148060"/>
            <a:ext cx="1692275" cy="293370"/>
          </a:xfrm>
          <a:prstGeom prst="rect">
            <a:avLst/>
          </a:prstGeom>
          <a:noFill/>
        </p:spPr>
        <p:txBody>
          <a:bodyPr wrap="square" lIns="0" tIns="0" rIns="0" bIns="0" anchor="t">
            <a:noAutofit/>
          </a:bodyPr>
          <a:lstStyle/>
          <a:p>
            <a:pPr algn="l">
              <a:lnSpc>
                <a:spcPts val="2310"/>
              </a:lnSpc>
              <a:spcBef>
                <a:spcPts val="0"/>
              </a:spcBef>
              <a:spcAft>
                <a:spcPts val="0"/>
              </a:spcAft>
            </a:pPr>
            <a:r>
              <a:rPr sz="2200" b="1" i="0">
                <a:solidFill>
                  <a:srgbClr val="154734"/>
                </a:solidFill>
                <a:latin typeface="Arial"/>
              </a:rPr>
              <a:t>Narrative</a:t>
            </a:r>
          </a:p>
        </p:txBody>
      </p:sp>
      <p:sp>
        <p:nvSpPr>
          <p:cNvPr id="6" name="Text: descriptive synthesis; no meta-analysis,"/>
          <p:cNvSpPr txBox="1"/>
          <p:nvPr/>
        </p:nvSpPr>
        <p:spPr>
          <a:xfrm>
            <a:off x="736600" y="1492151"/>
            <a:ext cx="1692275" cy="346670"/>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descriptive synthesis; no meta-analysis, no new data</a:t>
            </a:r>
          </a:p>
        </p:txBody>
      </p:sp>
      <p:sp>
        <p:nvSpPr>
          <p:cNvPr id="7" name="Panel"/>
          <p:cNvSpPr/>
          <p:nvPr/>
        </p:nvSpPr>
        <p:spPr>
          <a:xfrm>
            <a:off x="2616200" y="1033760"/>
            <a:ext cx="1905000" cy="1092696"/>
          </a:xfrm>
          <a:prstGeom prst="roundRect">
            <a:avLst>
              <a:gd name="adj" fmla="val 5811"/>
            </a:avLst>
          </a:prstGeom>
          <a:solidFill>
            <a:srgbClr val="F4F6F5"/>
          </a:solidFill>
          <a:ln>
            <a:noFill/>
          </a:ln>
        </p:spPr>
        <p:txBody>
          <a:bodyPr rtlCol="0" anchor="ctr"/>
          <a:lstStyle/>
          <a:p>
            <a:pPr algn="ctr"/>
            <a:endParaRPr/>
          </a:p>
        </p:txBody>
      </p:sp>
      <p:sp>
        <p:nvSpPr>
          <p:cNvPr id="8" name="Text: 225"/>
          <p:cNvSpPr txBox="1"/>
          <p:nvPr/>
        </p:nvSpPr>
        <p:spPr>
          <a:xfrm>
            <a:off x="2743200" y="1148060"/>
            <a:ext cx="1692275" cy="293370"/>
          </a:xfrm>
          <a:prstGeom prst="rect">
            <a:avLst/>
          </a:prstGeom>
          <a:noFill/>
        </p:spPr>
        <p:txBody>
          <a:bodyPr wrap="square" lIns="0" tIns="0" rIns="0" bIns="0" anchor="t">
            <a:noAutofit/>
          </a:bodyPr>
          <a:lstStyle/>
          <a:p>
            <a:pPr algn="l">
              <a:lnSpc>
                <a:spcPts val="2310"/>
              </a:lnSpc>
              <a:spcBef>
                <a:spcPts val="0"/>
              </a:spcBef>
              <a:spcAft>
                <a:spcPts val="0"/>
              </a:spcAft>
            </a:pPr>
            <a:r>
              <a:rPr sz="2200" b="1" i="0">
                <a:solidFill>
                  <a:srgbClr val="154734"/>
                </a:solidFill>
                <a:latin typeface="Arial"/>
              </a:rPr>
              <a:t>225</a:t>
            </a:r>
          </a:p>
        </p:txBody>
      </p:sp>
      <p:sp>
        <p:nvSpPr>
          <p:cNvPr id="9" name="Text: references across 8 sections, 46 pages"/>
          <p:cNvSpPr txBox="1"/>
          <p:nvPr/>
        </p:nvSpPr>
        <p:spPr>
          <a:xfrm>
            <a:off x="2743200" y="1492151"/>
            <a:ext cx="1692275" cy="346670"/>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references across 8 sections, 46 pages</a:t>
            </a:r>
          </a:p>
        </p:txBody>
      </p:sp>
      <p:sp>
        <p:nvSpPr>
          <p:cNvPr id="10" name="Panel"/>
          <p:cNvSpPr/>
          <p:nvPr/>
        </p:nvSpPr>
        <p:spPr>
          <a:xfrm>
            <a:off x="4622800" y="1033760"/>
            <a:ext cx="1905000" cy="1092696"/>
          </a:xfrm>
          <a:prstGeom prst="roundRect">
            <a:avLst>
              <a:gd name="adj" fmla="val 5811"/>
            </a:avLst>
          </a:prstGeom>
          <a:solidFill>
            <a:srgbClr val="F4F6F5"/>
          </a:solidFill>
          <a:ln>
            <a:noFill/>
          </a:ln>
        </p:spPr>
        <p:txBody>
          <a:bodyPr rtlCol="0" anchor="ctr"/>
          <a:lstStyle/>
          <a:p>
            <a:pPr algn="ctr"/>
            <a:endParaRPr/>
          </a:p>
        </p:txBody>
      </p:sp>
      <p:sp>
        <p:nvSpPr>
          <p:cNvPr id="11" name="Text: 12 + 5"/>
          <p:cNvSpPr txBox="1"/>
          <p:nvPr/>
        </p:nvSpPr>
        <p:spPr>
          <a:xfrm>
            <a:off x="4749800" y="1148060"/>
            <a:ext cx="1692275" cy="293370"/>
          </a:xfrm>
          <a:prstGeom prst="rect">
            <a:avLst/>
          </a:prstGeom>
          <a:noFill/>
        </p:spPr>
        <p:txBody>
          <a:bodyPr wrap="square" lIns="0" tIns="0" rIns="0" bIns="0" anchor="t">
            <a:noAutofit/>
          </a:bodyPr>
          <a:lstStyle/>
          <a:p>
            <a:pPr algn="l">
              <a:lnSpc>
                <a:spcPts val="2310"/>
              </a:lnSpc>
              <a:spcBef>
                <a:spcPts val="0"/>
              </a:spcBef>
              <a:spcAft>
                <a:spcPts val="0"/>
              </a:spcAft>
            </a:pPr>
            <a:r>
              <a:rPr sz="2200" b="1" i="0">
                <a:solidFill>
                  <a:srgbClr val="154734"/>
                </a:solidFill>
                <a:latin typeface="Arial"/>
              </a:rPr>
              <a:t>12 + 5</a:t>
            </a:r>
          </a:p>
        </p:txBody>
      </p:sp>
      <p:sp>
        <p:nvSpPr>
          <p:cNvPr id="12" name="Text: figures + tables; 7 figures reproduced f"/>
          <p:cNvSpPr txBox="1"/>
          <p:nvPr/>
        </p:nvSpPr>
        <p:spPr>
          <a:xfrm>
            <a:off x="4749800" y="1492151"/>
            <a:ext cx="1692275" cy="520005"/>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figures + tables; 7 figures reproduced from primary papers</a:t>
            </a:r>
          </a:p>
        </p:txBody>
      </p:sp>
      <p:sp>
        <p:nvSpPr>
          <p:cNvPr id="13" name="Panel"/>
          <p:cNvSpPr/>
          <p:nvPr/>
        </p:nvSpPr>
        <p:spPr>
          <a:xfrm>
            <a:off x="6629400" y="1033760"/>
            <a:ext cx="1905000" cy="1092696"/>
          </a:xfrm>
          <a:prstGeom prst="roundRect">
            <a:avLst>
              <a:gd name="adj" fmla="val 5811"/>
            </a:avLst>
          </a:prstGeom>
          <a:solidFill>
            <a:srgbClr val="F4F6F5"/>
          </a:solidFill>
          <a:ln>
            <a:noFill/>
          </a:ln>
        </p:spPr>
        <p:txBody>
          <a:bodyPr rtlCol="0" anchor="ctr"/>
          <a:lstStyle/>
          <a:p>
            <a:pPr algn="ctr"/>
            <a:endParaRPr/>
          </a:p>
        </p:txBody>
      </p:sp>
      <p:sp>
        <p:nvSpPr>
          <p:cNvPr id="14" name="Text: None"/>
          <p:cNvSpPr txBox="1"/>
          <p:nvPr/>
        </p:nvSpPr>
        <p:spPr>
          <a:xfrm>
            <a:off x="6756400" y="1148060"/>
            <a:ext cx="1692275" cy="293370"/>
          </a:xfrm>
          <a:prstGeom prst="rect">
            <a:avLst/>
          </a:prstGeom>
          <a:noFill/>
        </p:spPr>
        <p:txBody>
          <a:bodyPr wrap="square" lIns="0" tIns="0" rIns="0" bIns="0" anchor="t">
            <a:noAutofit/>
          </a:bodyPr>
          <a:lstStyle/>
          <a:p>
            <a:pPr algn="l">
              <a:lnSpc>
                <a:spcPts val="2310"/>
              </a:lnSpc>
              <a:spcBef>
                <a:spcPts val="0"/>
              </a:spcBef>
              <a:spcAft>
                <a:spcPts val="0"/>
              </a:spcAft>
            </a:pPr>
            <a:r>
              <a:rPr sz="2200" b="1" i="0">
                <a:solidFill>
                  <a:srgbClr val="B3261E"/>
                </a:solidFill>
                <a:latin typeface="Arial"/>
              </a:rPr>
              <a:t>None</a:t>
            </a:r>
          </a:p>
        </p:txBody>
      </p:sp>
      <p:sp>
        <p:nvSpPr>
          <p:cNvPr id="15" name="Text: search strategy, databases, dates or inc"/>
          <p:cNvSpPr txBox="1"/>
          <p:nvPr/>
        </p:nvSpPr>
        <p:spPr>
          <a:xfrm>
            <a:off x="6756400" y="1492151"/>
            <a:ext cx="1692275" cy="520005"/>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search strategy, databases, dates or inclusion criteria reported</a:t>
            </a:r>
          </a:p>
        </p:txBody>
      </p:sp>
      <p:sp>
        <p:nvSpPr>
          <p:cNvPr id="16" name="Text: Where the 46 pages go (pages per section"/>
          <p:cNvSpPr txBox="1"/>
          <p:nvPr/>
        </p:nvSpPr>
        <p:spPr>
          <a:xfrm>
            <a:off x="609600" y="2266156"/>
            <a:ext cx="390525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Where the 46 pages go (pages per section)</a:t>
            </a:r>
          </a:p>
        </p:txBody>
      </p:sp>
      <p:graphicFrame>
        <p:nvGraphicFramePr>
          <p:cNvPr id="17" name="Chart: pages per section"/>
          <p:cNvGraphicFramePr>
            <a:graphicFrameLocks noGrp="1"/>
          </p:cNvGraphicFramePr>
          <p:nvPr/>
        </p:nvGraphicFramePr>
        <p:xfrm>
          <a:off x="609600" y="2469356"/>
          <a:ext cx="3810000" cy="20955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How I read it: a pipeline from molecule "/>
          <p:cNvSpPr txBox="1"/>
          <p:nvPr/>
        </p:nvSpPr>
        <p:spPr>
          <a:xfrm>
            <a:off x="4597400" y="2266156"/>
            <a:ext cx="4035425"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How I read it: a pipeline from molecule to decision</a:t>
            </a:r>
          </a:p>
        </p:txBody>
      </p:sp>
      <p:sp>
        <p:nvSpPr>
          <p:cNvPr id="19" name="Text: Hardware (§2) takes 11 pages; applicatio"/>
          <p:cNvSpPr txBox="1"/>
          <p:nvPr/>
        </p:nvSpPr>
        <p:spPr>
          <a:xfrm>
            <a:off x="4597400" y="2494756"/>
            <a:ext cx="4035425" cy="377031"/>
          </a:xfrm>
          <a:prstGeom prst="rect">
            <a:avLst/>
          </a:prstGeom>
          <a:noFill/>
        </p:spPr>
        <p:txBody>
          <a:bodyPr wrap="square" lIns="0" tIns="0" rIns="0" bIns="0" anchor="t">
            <a:noAutofit/>
          </a:bodyPr>
          <a:lstStyle/>
          <a:p>
            <a:pPr algn="l">
              <a:lnSpc>
                <a:spcPts val="1485"/>
              </a:lnSpc>
              <a:spcBef>
                <a:spcPts val="0"/>
              </a:spcBef>
              <a:spcAft>
                <a:spcPts val="0"/>
              </a:spcAft>
            </a:pPr>
            <a:r>
              <a:rPr sz="1100" b="0" i="0">
                <a:solidFill>
                  <a:srgbClr val="333333"/>
                </a:solidFill>
                <a:latin typeface="Arial"/>
              </a:rPr>
              <a:t>Hardware (§2) takes 11 pages; applications and AI 7 each; the policy framework that the abstract highlights gets about 1.</a:t>
            </a:r>
          </a:p>
        </p:txBody>
      </p:sp>
      <p:sp>
        <p:nvSpPr>
          <p:cNvPr id="20" name="Text: Each methods slide that follows is one l"/>
          <p:cNvSpPr txBox="1"/>
          <p:nvPr/>
        </p:nvSpPr>
        <p:spPr>
          <a:xfrm>
            <a:off x="4597400" y="2935288"/>
            <a:ext cx="4035425" cy="188595"/>
          </a:xfrm>
          <a:prstGeom prst="rect">
            <a:avLst/>
          </a:prstGeom>
          <a:noFill/>
        </p:spPr>
        <p:txBody>
          <a:bodyPr wrap="square" lIns="0" tIns="0" rIns="0" bIns="0" anchor="t">
            <a:noAutofit/>
          </a:bodyPr>
          <a:lstStyle/>
          <a:p>
            <a:pPr algn="l">
              <a:lnSpc>
                <a:spcPts val="1485"/>
              </a:lnSpc>
              <a:spcBef>
                <a:spcPts val="0"/>
              </a:spcBef>
              <a:spcAft>
                <a:spcPts val="0"/>
              </a:spcAft>
            </a:pPr>
            <a:r>
              <a:rPr sz="1100" b="0" i="0">
                <a:solidFill>
                  <a:srgbClr val="5B6770"/>
                </a:solidFill>
                <a:latin typeface="Arial"/>
              </a:rPr>
              <a:t>Each methods slide that follows is one layer of this pipeline.</a:t>
            </a:r>
          </a:p>
        </p:txBody>
      </p:sp>
      <p:sp>
        <p:nvSpPr>
          <p:cNvPr id="21" name="Panel"/>
          <p:cNvSpPr/>
          <p:nvPr/>
        </p:nvSpPr>
        <p:spPr>
          <a:xfrm>
            <a:off x="609600" y="4704556"/>
            <a:ext cx="1432520" cy="1174750"/>
          </a:xfrm>
          <a:prstGeom prst="roundRect">
            <a:avLst>
              <a:gd name="adj" fmla="val 5405"/>
            </a:avLst>
          </a:prstGeom>
          <a:solidFill>
            <a:srgbClr val="F4F6F5"/>
          </a:solidFill>
          <a:ln>
            <a:noFill/>
          </a:ln>
        </p:spPr>
        <p:txBody>
          <a:bodyPr rtlCol="0" anchor="ctr"/>
          <a:lstStyle/>
          <a:p>
            <a:pPr algn="ctr"/>
            <a:endParaRPr/>
          </a:p>
        </p:txBody>
      </p:sp>
      <p:sp>
        <p:nvSpPr>
          <p:cNvPr id="22" name="Badge 1"/>
          <p:cNvSpPr/>
          <p:nvPr/>
        </p:nvSpPr>
        <p:spPr>
          <a:xfrm>
            <a:off x="711200" y="4806156"/>
            <a:ext cx="228600" cy="228600"/>
          </a:xfrm>
          <a:prstGeom prst="ellipse">
            <a:avLst/>
          </a:prstGeom>
          <a:solidFill>
            <a:srgbClr val="E87500"/>
          </a:solidFill>
          <a:ln>
            <a:noFill/>
          </a:ln>
        </p:spPr>
        <p:txBody>
          <a:bodyPr wrap="none" lIns="0" tIns="0" rIns="0" bIns="0" rtlCol="0" anchor="ctr">
            <a:noAutofit/>
          </a:bodyPr>
          <a:lstStyle/>
          <a:p>
            <a:pPr algn="ctr"/>
            <a:r>
              <a:rPr sz="1000" b="1">
                <a:solidFill>
                  <a:srgbClr val="FFFFFF"/>
                </a:solidFill>
                <a:latin typeface="Arial"/>
              </a:rPr>
              <a:t>1</a:t>
            </a:r>
          </a:p>
        </p:txBody>
      </p:sp>
      <p:sp>
        <p:nvSpPr>
          <p:cNvPr id="23" name="Text: Sense"/>
          <p:cNvSpPr txBox="1"/>
          <p:nvPr/>
        </p:nvSpPr>
        <p:spPr>
          <a:xfrm>
            <a:off x="1003300" y="4831556"/>
            <a:ext cx="487164"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Sense</a:t>
            </a:r>
          </a:p>
        </p:txBody>
      </p:sp>
      <p:sp>
        <p:nvSpPr>
          <p:cNvPr id="24" name="Text: biosensors, form factors, materials"/>
          <p:cNvSpPr txBox="1"/>
          <p:nvPr/>
        </p:nvSpPr>
        <p:spPr>
          <a:xfrm>
            <a:off x="711200" y="5085556"/>
            <a:ext cx="1267420" cy="330200"/>
          </a:xfrm>
          <a:prstGeom prst="rect">
            <a:avLst/>
          </a:prstGeom>
          <a:noFill/>
        </p:spPr>
        <p:txBody>
          <a:bodyPr wrap="square" lIns="0" tIns="0" rIns="0" bIns="0" anchor="t">
            <a:noAutofit/>
          </a:bodyPr>
          <a:lstStyle/>
          <a:p>
            <a:pPr algn="l">
              <a:lnSpc>
                <a:spcPts val="1300"/>
              </a:lnSpc>
              <a:spcBef>
                <a:spcPts val="0"/>
              </a:spcBef>
              <a:spcAft>
                <a:spcPts val="0"/>
              </a:spcAft>
            </a:pPr>
            <a:r>
              <a:rPr sz="1000" b="0" i="0">
                <a:solidFill>
                  <a:srgbClr val="333333"/>
                </a:solidFill>
                <a:latin typeface="Arial"/>
              </a:rPr>
              <a:t>biosensors, form factors, materials</a:t>
            </a:r>
          </a:p>
        </p:txBody>
      </p:sp>
      <p:sp>
        <p:nvSpPr>
          <p:cNvPr id="25" name="Text: §2.1–2.2"/>
          <p:cNvSpPr txBox="1"/>
          <p:nvPr/>
        </p:nvSpPr>
        <p:spPr>
          <a:xfrm>
            <a:off x="711200" y="5466556"/>
            <a:ext cx="1267420" cy="14605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§2.1–2.2</a:t>
            </a:r>
          </a:p>
        </p:txBody>
      </p:sp>
      <p:cxnSp>
        <p:nvCxnSpPr>
          <p:cNvPr id="26" name="Arrow"/>
          <p:cNvCxnSpPr/>
          <p:nvPr/>
        </p:nvCxnSpPr>
        <p:spPr>
          <a:xfrm>
            <a:off x="2067520" y="5291931"/>
            <a:ext cx="139700" cy="0"/>
          </a:xfrm>
          <a:prstGeom prst="line">
            <a:avLst/>
          </a:prstGeom>
          <a:ln w="19050" cap="flat">
            <a:solidFill>
              <a:srgbClr val="154734"/>
            </a:solidFill>
            <a:tailEnd type="triangle" w="med" len="med"/>
          </a:ln>
        </p:spPr>
      </p:cxnSp>
      <p:sp>
        <p:nvSpPr>
          <p:cNvPr id="27" name="Panel"/>
          <p:cNvSpPr/>
          <p:nvPr/>
        </p:nvSpPr>
        <p:spPr>
          <a:xfrm>
            <a:off x="2232620" y="4704556"/>
            <a:ext cx="1432520" cy="1174750"/>
          </a:xfrm>
          <a:prstGeom prst="roundRect">
            <a:avLst>
              <a:gd name="adj" fmla="val 5405"/>
            </a:avLst>
          </a:prstGeom>
          <a:solidFill>
            <a:srgbClr val="F4F6F5"/>
          </a:solidFill>
          <a:ln>
            <a:noFill/>
          </a:ln>
        </p:spPr>
        <p:txBody>
          <a:bodyPr rtlCol="0" anchor="ctr"/>
          <a:lstStyle/>
          <a:p>
            <a:pPr algn="ctr"/>
            <a:endParaRPr/>
          </a:p>
        </p:txBody>
      </p:sp>
      <p:sp>
        <p:nvSpPr>
          <p:cNvPr id="28" name="Badge 2"/>
          <p:cNvSpPr/>
          <p:nvPr/>
        </p:nvSpPr>
        <p:spPr>
          <a:xfrm>
            <a:off x="2334220" y="4806156"/>
            <a:ext cx="228600" cy="228600"/>
          </a:xfrm>
          <a:prstGeom prst="ellipse">
            <a:avLst/>
          </a:prstGeom>
          <a:solidFill>
            <a:srgbClr val="E87500"/>
          </a:solidFill>
          <a:ln>
            <a:noFill/>
          </a:ln>
        </p:spPr>
        <p:txBody>
          <a:bodyPr wrap="none" lIns="0" tIns="0" rIns="0" bIns="0" rtlCol="0" anchor="ctr">
            <a:noAutofit/>
          </a:bodyPr>
          <a:lstStyle/>
          <a:p>
            <a:pPr algn="ctr"/>
            <a:r>
              <a:rPr sz="1000" b="1">
                <a:solidFill>
                  <a:srgbClr val="FFFFFF"/>
                </a:solidFill>
                <a:latin typeface="Arial"/>
              </a:rPr>
              <a:t>2</a:t>
            </a:r>
          </a:p>
        </p:txBody>
      </p:sp>
      <p:sp>
        <p:nvSpPr>
          <p:cNvPr id="29" name="Text: Power"/>
          <p:cNvSpPr txBox="1"/>
          <p:nvPr/>
        </p:nvSpPr>
        <p:spPr>
          <a:xfrm>
            <a:off x="2626320" y="4831556"/>
            <a:ext cx="495498"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Power</a:t>
            </a:r>
          </a:p>
        </p:txBody>
      </p:sp>
      <p:sp>
        <p:nvSpPr>
          <p:cNvPr id="30" name="Text: harvesting, flexible batteries, low-powe"/>
          <p:cNvSpPr txBox="1"/>
          <p:nvPr/>
        </p:nvSpPr>
        <p:spPr>
          <a:xfrm>
            <a:off x="2334220" y="5085556"/>
            <a:ext cx="1267420" cy="495300"/>
          </a:xfrm>
          <a:prstGeom prst="rect">
            <a:avLst/>
          </a:prstGeom>
          <a:noFill/>
        </p:spPr>
        <p:txBody>
          <a:bodyPr wrap="square" lIns="0" tIns="0" rIns="0" bIns="0" anchor="t">
            <a:noAutofit/>
          </a:bodyPr>
          <a:lstStyle/>
          <a:p>
            <a:pPr algn="l">
              <a:lnSpc>
                <a:spcPts val="1300"/>
              </a:lnSpc>
              <a:spcBef>
                <a:spcPts val="0"/>
              </a:spcBef>
              <a:spcAft>
                <a:spcPts val="0"/>
              </a:spcAft>
            </a:pPr>
            <a:r>
              <a:rPr sz="1000" b="0" i="0">
                <a:solidFill>
                  <a:srgbClr val="333333"/>
                </a:solidFill>
                <a:latin typeface="Arial"/>
              </a:rPr>
              <a:t>harvesting, flexible batteries, low-power radios</a:t>
            </a:r>
          </a:p>
        </p:txBody>
      </p:sp>
      <p:sp>
        <p:nvSpPr>
          <p:cNvPr id="31" name="Text: §2.3"/>
          <p:cNvSpPr txBox="1"/>
          <p:nvPr/>
        </p:nvSpPr>
        <p:spPr>
          <a:xfrm>
            <a:off x="2334220" y="5631656"/>
            <a:ext cx="1267420" cy="14605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§2.3</a:t>
            </a:r>
          </a:p>
        </p:txBody>
      </p:sp>
      <p:cxnSp>
        <p:nvCxnSpPr>
          <p:cNvPr id="32" name="Arrow"/>
          <p:cNvCxnSpPr/>
          <p:nvPr/>
        </p:nvCxnSpPr>
        <p:spPr>
          <a:xfrm>
            <a:off x="3690541" y="5291931"/>
            <a:ext cx="139700" cy="0"/>
          </a:xfrm>
          <a:prstGeom prst="line">
            <a:avLst/>
          </a:prstGeom>
          <a:ln w="19050" cap="flat">
            <a:solidFill>
              <a:srgbClr val="154734"/>
            </a:solidFill>
            <a:tailEnd type="triangle" w="med" len="med"/>
          </a:ln>
        </p:spPr>
      </p:cxnSp>
      <p:sp>
        <p:nvSpPr>
          <p:cNvPr id="33" name="Panel"/>
          <p:cNvSpPr/>
          <p:nvPr/>
        </p:nvSpPr>
        <p:spPr>
          <a:xfrm>
            <a:off x="3855641" y="4704556"/>
            <a:ext cx="1432520" cy="1174750"/>
          </a:xfrm>
          <a:prstGeom prst="roundRect">
            <a:avLst>
              <a:gd name="adj" fmla="val 5405"/>
            </a:avLst>
          </a:prstGeom>
          <a:solidFill>
            <a:srgbClr val="F4F6F5"/>
          </a:solidFill>
          <a:ln>
            <a:noFill/>
          </a:ln>
        </p:spPr>
        <p:txBody>
          <a:bodyPr rtlCol="0" anchor="ctr"/>
          <a:lstStyle/>
          <a:p>
            <a:pPr algn="ctr"/>
            <a:endParaRPr/>
          </a:p>
        </p:txBody>
      </p:sp>
      <p:sp>
        <p:nvSpPr>
          <p:cNvPr id="34" name="Badge 3"/>
          <p:cNvSpPr/>
          <p:nvPr/>
        </p:nvSpPr>
        <p:spPr>
          <a:xfrm>
            <a:off x="3957241" y="4806156"/>
            <a:ext cx="228600" cy="228600"/>
          </a:xfrm>
          <a:prstGeom prst="ellipse">
            <a:avLst/>
          </a:prstGeom>
          <a:solidFill>
            <a:srgbClr val="E87500"/>
          </a:solidFill>
          <a:ln>
            <a:noFill/>
          </a:ln>
        </p:spPr>
        <p:txBody>
          <a:bodyPr wrap="none" lIns="0" tIns="0" rIns="0" bIns="0" rtlCol="0" anchor="ctr">
            <a:noAutofit/>
          </a:bodyPr>
          <a:lstStyle/>
          <a:p>
            <a:pPr algn="ctr"/>
            <a:r>
              <a:rPr sz="1000" b="1">
                <a:solidFill>
                  <a:srgbClr val="FFFFFF"/>
                </a:solidFill>
                <a:latin typeface="Arial"/>
              </a:rPr>
              <a:t>3</a:t>
            </a:r>
          </a:p>
        </p:txBody>
      </p:sp>
      <p:sp>
        <p:nvSpPr>
          <p:cNvPr id="35" name="Text: Acquire"/>
          <p:cNvSpPr txBox="1"/>
          <p:nvPr/>
        </p:nvSpPr>
        <p:spPr>
          <a:xfrm>
            <a:off x="4249341" y="4831556"/>
            <a:ext cx="605532"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Acquire</a:t>
            </a:r>
          </a:p>
        </p:txBody>
      </p:sp>
      <p:sp>
        <p:nvSpPr>
          <p:cNvPr id="36" name="Text: filtering, multimodal fusion, BLE / NFC"/>
          <p:cNvSpPr txBox="1"/>
          <p:nvPr/>
        </p:nvSpPr>
        <p:spPr>
          <a:xfrm>
            <a:off x="3957241" y="5085556"/>
            <a:ext cx="1267420" cy="330200"/>
          </a:xfrm>
          <a:prstGeom prst="rect">
            <a:avLst/>
          </a:prstGeom>
          <a:noFill/>
        </p:spPr>
        <p:txBody>
          <a:bodyPr wrap="square" lIns="0" tIns="0" rIns="0" bIns="0" anchor="t">
            <a:noAutofit/>
          </a:bodyPr>
          <a:lstStyle/>
          <a:p>
            <a:pPr algn="l">
              <a:lnSpc>
                <a:spcPts val="1300"/>
              </a:lnSpc>
              <a:spcBef>
                <a:spcPts val="0"/>
              </a:spcBef>
              <a:spcAft>
                <a:spcPts val="0"/>
              </a:spcAft>
            </a:pPr>
            <a:r>
              <a:rPr sz="1000" b="0" i="0">
                <a:solidFill>
                  <a:srgbClr val="333333"/>
                </a:solidFill>
                <a:latin typeface="Arial"/>
              </a:rPr>
              <a:t>filtering, multimodal fusion, BLE / NFC</a:t>
            </a:r>
          </a:p>
        </p:txBody>
      </p:sp>
      <p:sp>
        <p:nvSpPr>
          <p:cNvPr id="37" name="Text: §2.4"/>
          <p:cNvSpPr txBox="1"/>
          <p:nvPr/>
        </p:nvSpPr>
        <p:spPr>
          <a:xfrm>
            <a:off x="3957241" y="5466556"/>
            <a:ext cx="1267420" cy="14605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§2.4</a:t>
            </a:r>
          </a:p>
        </p:txBody>
      </p:sp>
      <p:cxnSp>
        <p:nvCxnSpPr>
          <p:cNvPr id="38" name="Arrow"/>
          <p:cNvCxnSpPr/>
          <p:nvPr/>
        </p:nvCxnSpPr>
        <p:spPr>
          <a:xfrm>
            <a:off x="5313561" y="5291931"/>
            <a:ext cx="139700" cy="0"/>
          </a:xfrm>
          <a:prstGeom prst="line">
            <a:avLst/>
          </a:prstGeom>
          <a:ln w="19050" cap="flat">
            <a:solidFill>
              <a:srgbClr val="154734"/>
            </a:solidFill>
            <a:tailEnd type="triangle" w="med" len="med"/>
          </a:ln>
        </p:spPr>
      </p:cxnSp>
      <p:sp>
        <p:nvSpPr>
          <p:cNvPr id="39" name="Panel"/>
          <p:cNvSpPr/>
          <p:nvPr/>
        </p:nvSpPr>
        <p:spPr>
          <a:xfrm>
            <a:off x="5478661" y="4704556"/>
            <a:ext cx="1432520" cy="1174750"/>
          </a:xfrm>
          <a:prstGeom prst="roundRect">
            <a:avLst>
              <a:gd name="adj" fmla="val 5405"/>
            </a:avLst>
          </a:prstGeom>
          <a:solidFill>
            <a:srgbClr val="F4F6F5"/>
          </a:solidFill>
          <a:ln>
            <a:noFill/>
          </a:ln>
        </p:spPr>
        <p:txBody>
          <a:bodyPr rtlCol="0" anchor="ctr"/>
          <a:lstStyle/>
          <a:p>
            <a:pPr algn="ctr"/>
            <a:endParaRPr/>
          </a:p>
        </p:txBody>
      </p:sp>
      <p:sp>
        <p:nvSpPr>
          <p:cNvPr id="40" name="Badge 4"/>
          <p:cNvSpPr/>
          <p:nvPr/>
        </p:nvSpPr>
        <p:spPr>
          <a:xfrm>
            <a:off x="5580261" y="4806156"/>
            <a:ext cx="228600" cy="228600"/>
          </a:xfrm>
          <a:prstGeom prst="ellipse">
            <a:avLst/>
          </a:prstGeom>
          <a:solidFill>
            <a:srgbClr val="E87500"/>
          </a:solidFill>
          <a:ln>
            <a:noFill/>
          </a:ln>
        </p:spPr>
        <p:txBody>
          <a:bodyPr wrap="none" lIns="0" tIns="0" rIns="0" bIns="0" rtlCol="0" anchor="ctr">
            <a:noAutofit/>
          </a:bodyPr>
          <a:lstStyle/>
          <a:p>
            <a:pPr algn="ctr"/>
            <a:r>
              <a:rPr sz="1000" b="1">
                <a:solidFill>
                  <a:srgbClr val="FFFFFF"/>
                </a:solidFill>
                <a:latin typeface="Arial"/>
              </a:rPr>
              <a:t>4</a:t>
            </a:r>
          </a:p>
        </p:txBody>
      </p:sp>
      <p:sp>
        <p:nvSpPr>
          <p:cNvPr id="41" name="Text: Infer"/>
          <p:cNvSpPr txBox="1"/>
          <p:nvPr/>
        </p:nvSpPr>
        <p:spPr>
          <a:xfrm>
            <a:off x="5872361" y="4831556"/>
            <a:ext cx="368399"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Infer</a:t>
            </a:r>
          </a:p>
        </p:txBody>
      </p:sp>
      <p:sp>
        <p:nvSpPr>
          <p:cNvPr id="42" name="Text: ML, DL, RL; edge AI; fusion framework"/>
          <p:cNvSpPr txBox="1"/>
          <p:nvPr/>
        </p:nvSpPr>
        <p:spPr>
          <a:xfrm>
            <a:off x="5580261" y="5085556"/>
            <a:ext cx="1267420" cy="330200"/>
          </a:xfrm>
          <a:prstGeom prst="rect">
            <a:avLst/>
          </a:prstGeom>
          <a:noFill/>
        </p:spPr>
        <p:txBody>
          <a:bodyPr wrap="square" lIns="0" tIns="0" rIns="0" bIns="0" anchor="t">
            <a:noAutofit/>
          </a:bodyPr>
          <a:lstStyle/>
          <a:p>
            <a:pPr algn="l">
              <a:lnSpc>
                <a:spcPts val="1300"/>
              </a:lnSpc>
              <a:spcBef>
                <a:spcPts val="0"/>
              </a:spcBef>
              <a:spcAft>
                <a:spcPts val="0"/>
              </a:spcAft>
            </a:pPr>
            <a:r>
              <a:rPr sz="1000" b="0" i="0">
                <a:solidFill>
                  <a:srgbClr val="333333"/>
                </a:solidFill>
                <a:latin typeface="Arial"/>
              </a:rPr>
              <a:t>ML, DL, RL; edge AI; fusion framework</a:t>
            </a:r>
          </a:p>
        </p:txBody>
      </p:sp>
      <p:sp>
        <p:nvSpPr>
          <p:cNvPr id="43" name="Text: §3"/>
          <p:cNvSpPr txBox="1"/>
          <p:nvPr/>
        </p:nvSpPr>
        <p:spPr>
          <a:xfrm>
            <a:off x="5580261" y="5466556"/>
            <a:ext cx="1267420" cy="14605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§3</a:t>
            </a:r>
          </a:p>
        </p:txBody>
      </p:sp>
      <p:cxnSp>
        <p:nvCxnSpPr>
          <p:cNvPr id="44" name="Arrow"/>
          <p:cNvCxnSpPr/>
          <p:nvPr/>
        </p:nvCxnSpPr>
        <p:spPr>
          <a:xfrm>
            <a:off x="6936581" y="5291931"/>
            <a:ext cx="139700" cy="0"/>
          </a:xfrm>
          <a:prstGeom prst="line">
            <a:avLst/>
          </a:prstGeom>
          <a:ln w="19050" cap="flat">
            <a:solidFill>
              <a:srgbClr val="154734"/>
            </a:solidFill>
            <a:tailEnd type="triangle" w="med" len="med"/>
          </a:ln>
        </p:spPr>
      </p:cxnSp>
      <p:sp>
        <p:nvSpPr>
          <p:cNvPr id="45" name="Panel"/>
          <p:cNvSpPr/>
          <p:nvPr/>
        </p:nvSpPr>
        <p:spPr>
          <a:xfrm>
            <a:off x="7101681" y="4704556"/>
            <a:ext cx="1432520" cy="1174750"/>
          </a:xfrm>
          <a:prstGeom prst="roundRect">
            <a:avLst>
              <a:gd name="adj" fmla="val 5405"/>
            </a:avLst>
          </a:prstGeom>
          <a:solidFill>
            <a:srgbClr val="F4F6F5"/>
          </a:solidFill>
          <a:ln>
            <a:noFill/>
          </a:ln>
        </p:spPr>
        <p:txBody>
          <a:bodyPr rtlCol="0" anchor="ctr"/>
          <a:lstStyle/>
          <a:p>
            <a:pPr algn="ctr"/>
            <a:endParaRPr/>
          </a:p>
        </p:txBody>
      </p:sp>
      <p:sp>
        <p:nvSpPr>
          <p:cNvPr id="46" name="Badge 5"/>
          <p:cNvSpPr/>
          <p:nvPr/>
        </p:nvSpPr>
        <p:spPr>
          <a:xfrm>
            <a:off x="7203281" y="4806156"/>
            <a:ext cx="228600" cy="228600"/>
          </a:xfrm>
          <a:prstGeom prst="ellipse">
            <a:avLst/>
          </a:prstGeom>
          <a:solidFill>
            <a:srgbClr val="E87500"/>
          </a:solidFill>
          <a:ln>
            <a:noFill/>
          </a:ln>
        </p:spPr>
        <p:txBody>
          <a:bodyPr wrap="none" lIns="0" tIns="0" rIns="0" bIns="0" rtlCol="0" anchor="ctr">
            <a:noAutofit/>
          </a:bodyPr>
          <a:lstStyle/>
          <a:p>
            <a:pPr algn="ctr"/>
            <a:r>
              <a:rPr sz="1000" b="1">
                <a:solidFill>
                  <a:srgbClr val="FFFFFF"/>
                </a:solidFill>
                <a:latin typeface="Arial"/>
              </a:rPr>
              <a:t>5</a:t>
            </a:r>
          </a:p>
        </p:txBody>
      </p:sp>
      <p:sp>
        <p:nvSpPr>
          <p:cNvPr id="47" name="Text: Act"/>
          <p:cNvSpPr txBox="1"/>
          <p:nvPr/>
        </p:nvSpPr>
        <p:spPr>
          <a:xfrm>
            <a:off x="7495381" y="4831556"/>
            <a:ext cx="283666"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Act</a:t>
            </a:r>
          </a:p>
        </p:txBody>
      </p:sp>
      <p:sp>
        <p:nvSpPr>
          <p:cNvPr id="48" name="Text: monitoring, diagnosis, EHR, policy"/>
          <p:cNvSpPr txBox="1"/>
          <p:nvPr/>
        </p:nvSpPr>
        <p:spPr>
          <a:xfrm>
            <a:off x="7203281" y="5085556"/>
            <a:ext cx="1267420" cy="495300"/>
          </a:xfrm>
          <a:prstGeom prst="rect">
            <a:avLst/>
          </a:prstGeom>
          <a:noFill/>
        </p:spPr>
        <p:txBody>
          <a:bodyPr wrap="square" lIns="0" tIns="0" rIns="0" bIns="0" anchor="t">
            <a:noAutofit/>
          </a:bodyPr>
          <a:lstStyle/>
          <a:p>
            <a:pPr algn="l">
              <a:lnSpc>
                <a:spcPts val="1300"/>
              </a:lnSpc>
              <a:spcBef>
                <a:spcPts val="0"/>
              </a:spcBef>
              <a:spcAft>
                <a:spcPts val="0"/>
              </a:spcAft>
            </a:pPr>
            <a:r>
              <a:rPr sz="1000" b="0" i="0">
                <a:solidFill>
                  <a:srgbClr val="333333"/>
                </a:solidFill>
                <a:latin typeface="Arial"/>
              </a:rPr>
              <a:t>monitoring, diagnosis, EHR, policy</a:t>
            </a:r>
          </a:p>
        </p:txBody>
      </p:sp>
      <p:sp>
        <p:nvSpPr>
          <p:cNvPr id="49" name="Text: §4–7"/>
          <p:cNvSpPr txBox="1"/>
          <p:nvPr/>
        </p:nvSpPr>
        <p:spPr>
          <a:xfrm>
            <a:off x="7203281" y="5631656"/>
            <a:ext cx="1267420" cy="14605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§4–7</a:t>
            </a:r>
          </a:p>
        </p:txBody>
      </p:sp>
      <p:sp>
        <p:nvSpPr>
          <p:cNvPr id="51"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7</a:t>
            </a:fld>
            <a:endParaRPr lang="en-US" dirty="0">
              <a:solidFill>
                <a:srgbClr val="FFFFFF"/>
              </a:solidFill>
              <a:latin typeface="Arial" panose="020B0604020202020204"/>
            </a:endParaRPr>
          </a:p>
        </p:txBody>
      </p:sp>
      <p:sp>
        <p:nvSpPr>
          <p:cNvPr id="50"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Every biosensor is a three-stage transduction chain</a:t>
            </a:r>
          </a:p>
        </p:txBody>
      </p:sp>
      <p:sp>
        <p:nvSpPr>
          <p:cNvPr id="3" name="Text: METHODS · SENSING PRINCIPLE · TABLE 1"/>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SENSING PRINCIPLE · TABLE 1</a:t>
            </a:r>
          </a:p>
        </p:txBody>
      </p:sp>
      <p:grpSp>
        <p:nvGrpSpPr>
          <p:cNvPr id="30" name="Group 29">
            <a:extLst>
              <a:ext uri="{FF2B5EF4-FFF2-40B4-BE49-F238E27FC236}">
                <a16:creationId xmlns:a16="http://schemas.microsoft.com/office/drawing/2014/main" id="{B975D17E-6C41-B5CD-FFB3-F683F546155E}"/>
              </a:ext>
            </a:extLst>
          </p:cNvPr>
          <p:cNvGrpSpPr/>
          <p:nvPr/>
        </p:nvGrpSpPr>
        <p:grpSpPr>
          <a:xfrm>
            <a:off x="609600" y="1273883"/>
            <a:ext cx="7924800" cy="1471116"/>
            <a:chOff x="609600" y="1084560"/>
            <a:chExt cx="7924800" cy="1471116"/>
          </a:xfrm>
        </p:grpSpPr>
        <p:sp>
          <p:nvSpPr>
            <p:cNvPr id="4" name="Panel"/>
            <p:cNvSpPr/>
            <p:nvPr/>
          </p:nvSpPr>
          <p:spPr>
            <a:xfrm>
              <a:off x="609600" y="1084560"/>
              <a:ext cx="1838325" cy="1471116"/>
            </a:xfrm>
            <a:prstGeom prst="roundRect">
              <a:avLst>
                <a:gd name="adj" fmla="val 4316"/>
              </a:avLst>
            </a:prstGeom>
            <a:solidFill>
              <a:srgbClr val="E7F0EB"/>
            </a:solidFill>
            <a:ln>
              <a:noFill/>
            </a:ln>
          </p:spPr>
          <p:txBody>
            <a:bodyPr rtlCol="0" anchor="ctr"/>
            <a:lstStyle/>
            <a:p>
              <a:pPr algn="ctr"/>
              <a:endParaRPr/>
            </a:p>
          </p:txBody>
        </p:sp>
        <p:sp>
          <p:nvSpPr>
            <p:cNvPr id="5" name="Text: Analyte"/>
            <p:cNvSpPr txBox="1"/>
            <p:nvPr/>
          </p:nvSpPr>
          <p:spPr>
            <a:xfrm>
              <a:off x="736600" y="1211560"/>
              <a:ext cx="1623933"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Analyte</a:t>
              </a:r>
            </a:p>
          </p:txBody>
        </p:sp>
        <p:sp>
          <p:nvSpPr>
            <p:cNvPr id="6" name="Text: glucose, lactate, cortisol, K⁺, CRP in s"/>
            <p:cNvSpPr txBox="1"/>
            <p:nvPr/>
          </p:nvSpPr>
          <p:spPr>
            <a:xfrm>
              <a:off x="736600" y="1452860"/>
              <a:ext cx="1623933" cy="569416"/>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glucose, lactate, cortisol, K⁺, CRP in sweat, ISF or saliva</a:t>
              </a:r>
            </a:p>
          </p:txBody>
        </p:sp>
        <p:sp>
          <p:nvSpPr>
            <p:cNvPr id="7" name="Text: the target"/>
            <p:cNvSpPr txBox="1"/>
            <p:nvPr/>
          </p:nvSpPr>
          <p:spPr>
            <a:xfrm>
              <a:off x="736600" y="2085777"/>
              <a:ext cx="1623933" cy="171450"/>
            </a:xfrm>
            <a:prstGeom prst="rect">
              <a:avLst/>
            </a:prstGeom>
            <a:noFill/>
          </p:spPr>
          <p:txBody>
            <a:bodyPr wrap="square" lIns="0" tIns="0" rIns="0" bIns="0" anchor="t">
              <a:noAutofit/>
            </a:bodyPr>
            <a:lstStyle/>
            <a:p>
              <a:pPr algn="l">
                <a:lnSpc>
                  <a:spcPts val="1322"/>
                </a:lnSpc>
                <a:spcBef>
                  <a:spcPts val="0"/>
                </a:spcBef>
                <a:spcAft>
                  <a:spcPts val="0"/>
                </a:spcAft>
              </a:pPr>
              <a:r>
                <a:rPr sz="1150" b="1" i="0">
                  <a:solidFill>
                    <a:srgbClr val="A84D00"/>
                  </a:solidFill>
                  <a:latin typeface="Arial"/>
                </a:rPr>
                <a:t>the target</a:t>
              </a:r>
            </a:p>
          </p:txBody>
        </p:sp>
        <p:cxnSp>
          <p:nvCxnSpPr>
            <p:cNvPr id="8" name="Arrow"/>
            <p:cNvCxnSpPr/>
            <p:nvPr/>
          </p:nvCxnSpPr>
          <p:spPr>
            <a:xfrm>
              <a:off x="2473325" y="1820069"/>
              <a:ext cx="139700" cy="0"/>
            </a:xfrm>
            <a:prstGeom prst="line">
              <a:avLst/>
            </a:prstGeom>
            <a:ln w="19050" cap="flat">
              <a:solidFill>
                <a:srgbClr val="154734"/>
              </a:solidFill>
              <a:tailEnd type="triangle" w="med" len="med"/>
            </a:ln>
          </p:spPr>
        </p:cxnSp>
        <p:sp>
          <p:nvSpPr>
            <p:cNvPr id="9" name="Panel"/>
            <p:cNvSpPr/>
            <p:nvPr/>
          </p:nvSpPr>
          <p:spPr>
            <a:xfrm>
              <a:off x="2638425" y="1084560"/>
              <a:ext cx="1838325" cy="1471116"/>
            </a:xfrm>
            <a:prstGeom prst="roundRect">
              <a:avLst>
                <a:gd name="adj" fmla="val 4316"/>
              </a:avLst>
            </a:prstGeom>
            <a:solidFill>
              <a:srgbClr val="F4F6F5"/>
            </a:solidFill>
            <a:ln>
              <a:noFill/>
            </a:ln>
          </p:spPr>
          <p:txBody>
            <a:bodyPr rtlCol="0" anchor="ctr"/>
            <a:lstStyle/>
            <a:p>
              <a:pPr algn="ctr"/>
              <a:endParaRPr/>
            </a:p>
          </p:txBody>
        </p:sp>
        <p:sp>
          <p:nvSpPr>
            <p:cNvPr id="10" name="Text: Bioreceptor"/>
            <p:cNvSpPr txBox="1"/>
            <p:nvPr/>
          </p:nvSpPr>
          <p:spPr>
            <a:xfrm>
              <a:off x="2765425" y="1211560"/>
              <a:ext cx="1623933"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Bioreceptor</a:t>
              </a:r>
            </a:p>
          </p:txBody>
        </p:sp>
        <p:sp>
          <p:nvSpPr>
            <p:cNvPr id="11" name="Text: enzyme → aptamer or molecularly imprinte"/>
            <p:cNvSpPr txBox="1"/>
            <p:nvPr/>
          </p:nvSpPr>
          <p:spPr>
            <a:xfrm>
              <a:off x="2765425" y="1452860"/>
              <a:ext cx="1623933" cy="569416"/>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enzyme → aptamer or molecularly imprinted polymer</a:t>
              </a:r>
            </a:p>
          </p:txBody>
        </p:sp>
        <p:sp>
          <p:nvSpPr>
            <p:cNvPr id="12" name="Text: Km 10–30 mM → Kd &lt; 1 nM"/>
            <p:cNvSpPr txBox="1"/>
            <p:nvPr/>
          </p:nvSpPr>
          <p:spPr>
            <a:xfrm>
              <a:off x="2765425" y="2085777"/>
              <a:ext cx="1623933" cy="342900"/>
            </a:xfrm>
            <a:prstGeom prst="rect">
              <a:avLst/>
            </a:prstGeom>
            <a:noFill/>
          </p:spPr>
          <p:txBody>
            <a:bodyPr wrap="square" lIns="0" tIns="0" rIns="0" bIns="0" anchor="t">
              <a:noAutofit/>
            </a:bodyPr>
            <a:lstStyle/>
            <a:p>
              <a:pPr algn="l">
                <a:lnSpc>
                  <a:spcPts val="1322"/>
                </a:lnSpc>
                <a:spcBef>
                  <a:spcPts val="0"/>
                </a:spcBef>
                <a:spcAft>
                  <a:spcPts val="0"/>
                </a:spcAft>
              </a:pPr>
              <a:r>
                <a:rPr sz="1150" b="1" i="0">
                  <a:solidFill>
                    <a:srgbClr val="A84D00"/>
                  </a:solidFill>
                  <a:latin typeface="Arial"/>
                </a:rPr>
                <a:t>Km 10–30 mM → Kd &lt; 1 nM</a:t>
              </a:r>
            </a:p>
          </p:txBody>
        </p:sp>
        <p:cxnSp>
          <p:nvCxnSpPr>
            <p:cNvPr id="13" name="Arrow"/>
            <p:cNvCxnSpPr/>
            <p:nvPr/>
          </p:nvCxnSpPr>
          <p:spPr>
            <a:xfrm>
              <a:off x="4502150" y="1820069"/>
              <a:ext cx="139700" cy="0"/>
            </a:xfrm>
            <a:prstGeom prst="line">
              <a:avLst/>
            </a:prstGeom>
            <a:ln w="19050" cap="flat">
              <a:solidFill>
                <a:srgbClr val="154734"/>
              </a:solidFill>
              <a:tailEnd type="triangle" w="med" len="med"/>
            </a:ln>
          </p:spPr>
        </p:cxnSp>
        <p:sp>
          <p:nvSpPr>
            <p:cNvPr id="14" name="Panel"/>
            <p:cNvSpPr/>
            <p:nvPr/>
          </p:nvSpPr>
          <p:spPr>
            <a:xfrm>
              <a:off x="4667250" y="1084560"/>
              <a:ext cx="1838325" cy="1471116"/>
            </a:xfrm>
            <a:prstGeom prst="roundRect">
              <a:avLst>
                <a:gd name="adj" fmla="val 4316"/>
              </a:avLst>
            </a:prstGeom>
            <a:solidFill>
              <a:srgbClr val="F4F6F5"/>
            </a:solidFill>
            <a:ln>
              <a:noFill/>
            </a:ln>
          </p:spPr>
          <p:txBody>
            <a:bodyPr rtlCol="0" anchor="ctr"/>
            <a:lstStyle/>
            <a:p>
              <a:pPr algn="ctr"/>
              <a:endParaRPr/>
            </a:p>
          </p:txBody>
        </p:sp>
        <p:sp>
          <p:nvSpPr>
            <p:cNvPr id="15" name="Text: Transducer"/>
            <p:cNvSpPr txBox="1"/>
            <p:nvPr/>
          </p:nvSpPr>
          <p:spPr>
            <a:xfrm>
              <a:off x="4794250" y="1211560"/>
              <a:ext cx="1623933"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Transducer</a:t>
              </a:r>
            </a:p>
          </p:txBody>
        </p:sp>
        <p:sp>
          <p:nvSpPr>
            <p:cNvPr id="16" name="Text: electrochemical, optical or FET readout"/>
            <p:cNvSpPr txBox="1"/>
            <p:nvPr/>
          </p:nvSpPr>
          <p:spPr>
            <a:xfrm>
              <a:off x="4794250" y="1452860"/>
              <a:ext cx="1623933" cy="379611"/>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electrochemical, optical or FET readout</a:t>
              </a:r>
            </a:p>
          </p:txBody>
        </p:sp>
        <p:sp>
          <p:nvSpPr>
            <p:cNvPr id="17" name="Text: µA/mM → nA/pM (~1000×)"/>
            <p:cNvSpPr txBox="1"/>
            <p:nvPr/>
          </p:nvSpPr>
          <p:spPr>
            <a:xfrm>
              <a:off x="4794250" y="1895971"/>
              <a:ext cx="1623933" cy="342900"/>
            </a:xfrm>
            <a:prstGeom prst="rect">
              <a:avLst/>
            </a:prstGeom>
            <a:noFill/>
          </p:spPr>
          <p:txBody>
            <a:bodyPr wrap="square" lIns="0" tIns="0" rIns="0" bIns="0" anchor="t">
              <a:noAutofit/>
            </a:bodyPr>
            <a:lstStyle/>
            <a:p>
              <a:pPr algn="l">
                <a:lnSpc>
                  <a:spcPts val="1322"/>
                </a:lnSpc>
                <a:spcBef>
                  <a:spcPts val="0"/>
                </a:spcBef>
                <a:spcAft>
                  <a:spcPts val="0"/>
                </a:spcAft>
              </a:pPr>
              <a:r>
                <a:rPr sz="1150" b="1" i="0">
                  <a:solidFill>
                    <a:srgbClr val="A84D00"/>
                  </a:solidFill>
                  <a:latin typeface="Arial"/>
                </a:rPr>
                <a:t>µA/mM → nA/pM (~1000×)</a:t>
              </a:r>
            </a:p>
          </p:txBody>
        </p:sp>
        <p:cxnSp>
          <p:nvCxnSpPr>
            <p:cNvPr id="18" name="Arrow"/>
            <p:cNvCxnSpPr/>
            <p:nvPr/>
          </p:nvCxnSpPr>
          <p:spPr>
            <a:xfrm>
              <a:off x="6530975" y="1820069"/>
              <a:ext cx="139700" cy="0"/>
            </a:xfrm>
            <a:prstGeom prst="line">
              <a:avLst/>
            </a:prstGeom>
            <a:ln w="19050" cap="flat">
              <a:solidFill>
                <a:srgbClr val="154734"/>
              </a:solidFill>
              <a:tailEnd type="triangle" w="med" len="med"/>
            </a:ln>
          </p:spPr>
        </p:cxnSp>
        <p:sp>
          <p:nvSpPr>
            <p:cNvPr id="19" name="Panel"/>
            <p:cNvSpPr/>
            <p:nvPr/>
          </p:nvSpPr>
          <p:spPr>
            <a:xfrm>
              <a:off x="6696075" y="1084560"/>
              <a:ext cx="1838325" cy="1471116"/>
            </a:xfrm>
            <a:prstGeom prst="roundRect">
              <a:avLst>
                <a:gd name="adj" fmla="val 4316"/>
              </a:avLst>
            </a:prstGeom>
            <a:solidFill>
              <a:srgbClr val="F4F6F5"/>
            </a:solidFill>
            <a:ln>
              <a:noFill/>
            </a:ln>
          </p:spPr>
          <p:txBody>
            <a:bodyPr rtlCol="0" anchor="ctr"/>
            <a:lstStyle/>
            <a:p>
              <a:pPr algn="ctr"/>
              <a:endParaRPr/>
            </a:p>
          </p:txBody>
        </p:sp>
        <p:sp>
          <p:nvSpPr>
            <p:cNvPr id="20" name="Text: Processor"/>
            <p:cNvSpPr txBox="1"/>
            <p:nvPr/>
          </p:nvSpPr>
          <p:spPr>
            <a:xfrm>
              <a:off x="6823075" y="1211560"/>
              <a:ext cx="1623933"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Processor</a:t>
              </a:r>
            </a:p>
          </p:txBody>
        </p:sp>
        <p:sp>
          <p:nvSpPr>
            <p:cNvPr id="21" name="Text: cloud analysis → on-device TinyML"/>
            <p:cNvSpPr txBox="1"/>
            <p:nvPr/>
          </p:nvSpPr>
          <p:spPr>
            <a:xfrm>
              <a:off x="6823075" y="1452860"/>
              <a:ext cx="1623933" cy="379611"/>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cloud analysis → on-device TinyML</a:t>
              </a:r>
            </a:p>
          </p:txBody>
        </p:sp>
        <p:sp>
          <p:nvSpPr>
            <p:cNvPr id="22" name="Text: 500 → &lt;20 ms; 100 → &lt;5 mW"/>
            <p:cNvSpPr txBox="1"/>
            <p:nvPr/>
          </p:nvSpPr>
          <p:spPr>
            <a:xfrm>
              <a:off x="6823075" y="1895971"/>
              <a:ext cx="1623933" cy="342900"/>
            </a:xfrm>
            <a:prstGeom prst="rect">
              <a:avLst/>
            </a:prstGeom>
            <a:noFill/>
          </p:spPr>
          <p:txBody>
            <a:bodyPr wrap="square" lIns="0" tIns="0" rIns="0" bIns="0" anchor="t">
              <a:noAutofit/>
            </a:bodyPr>
            <a:lstStyle/>
            <a:p>
              <a:pPr algn="l">
                <a:lnSpc>
                  <a:spcPts val="1322"/>
                </a:lnSpc>
                <a:spcBef>
                  <a:spcPts val="0"/>
                </a:spcBef>
                <a:spcAft>
                  <a:spcPts val="0"/>
                </a:spcAft>
              </a:pPr>
              <a:r>
                <a:rPr sz="1150" b="1" i="0">
                  <a:solidFill>
                    <a:srgbClr val="A84D00"/>
                  </a:solidFill>
                  <a:latin typeface="Arial"/>
                </a:rPr>
                <a:t>500 → &lt;20 ms; 100 → &lt;5 mW</a:t>
              </a:r>
            </a:p>
          </p:txBody>
        </p:sp>
      </p:grpSp>
      <p:graphicFrame>
        <p:nvGraphicFramePr>
          <p:cNvPr id="23" name="Table"/>
          <p:cNvGraphicFramePr>
            <a:graphicFrameLocks noGrp="1"/>
          </p:cNvGraphicFramePr>
          <p:nvPr>
            <p:extLst>
              <p:ext uri="{D42A27DB-BD31-4B8C-83A1-F6EECF244321}">
                <p14:modId xmlns:p14="http://schemas.microsoft.com/office/powerpoint/2010/main" val="1368071724"/>
              </p:ext>
            </p:extLst>
          </p:nvPr>
        </p:nvGraphicFramePr>
        <p:xfrm>
          <a:off x="609600" y="2939943"/>
          <a:ext cx="7924800" cy="1800224"/>
        </p:xfrm>
        <a:graphic>
          <a:graphicData uri="http://schemas.openxmlformats.org/drawingml/2006/table">
            <a:tbl>
              <a:tblPr>
                <a:tableStyleId>{2D5ABB26-0587-4C30-8999-92F81FD0307C}</a:tableStyleId>
              </a:tblPr>
              <a:tblGrid>
                <a:gridCol w="1743381">
                  <a:extLst>
                    <a:ext uri="{9D8B030D-6E8A-4147-A177-3AD203B41FA5}">
                      <a16:colId xmlns:a16="http://schemas.microsoft.com/office/drawing/2014/main" val="20000"/>
                    </a:ext>
                  </a:extLst>
                </a:gridCol>
                <a:gridCol w="1426420">
                  <a:extLst>
                    <a:ext uri="{9D8B030D-6E8A-4147-A177-3AD203B41FA5}">
                      <a16:colId xmlns:a16="http://schemas.microsoft.com/office/drawing/2014/main" val="20001"/>
                    </a:ext>
                  </a:extLst>
                </a:gridCol>
                <a:gridCol w="1426420">
                  <a:extLst>
                    <a:ext uri="{9D8B030D-6E8A-4147-A177-3AD203B41FA5}">
                      <a16:colId xmlns:a16="http://schemas.microsoft.com/office/drawing/2014/main" val="20002"/>
                    </a:ext>
                  </a:extLst>
                </a:gridCol>
                <a:gridCol w="1426420">
                  <a:extLst>
                    <a:ext uri="{9D8B030D-6E8A-4147-A177-3AD203B41FA5}">
                      <a16:colId xmlns:a16="http://schemas.microsoft.com/office/drawing/2014/main" val="20003"/>
                    </a:ext>
                  </a:extLst>
                </a:gridCol>
                <a:gridCol w="1902159">
                  <a:extLst>
                    <a:ext uri="{9D8B030D-6E8A-4147-A177-3AD203B41FA5}">
                      <a16:colId xmlns:a16="http://schemas.microsoft.com/office/drawing/2014/main" val="20004"/>
                    </a:ext>
                  </a:extLst>
                </a:gridCol>
              </a:tblGrid>
              <a:tr h="548481">
                <a:tc>
                  <a:txBody>
                    <a:bodyPr/>
                    <a:lstStyle/>
                    <a:p>
                      <a:pPr algn="l">
                        <a:lnSpc>
                          <a:spcPts val="1495"/>
                        </a:lnSpc>
                        <a:spcBef>
                          <a:spcPts val="0"/>
                        </a:spcBef>
                        <a:spcAft>
                          <a:spcPts val="0"/>
                        </a:spcAft>
                      </a:pPr>
                      <a:r>
                        <a:rPr sz="1300" b="1" i="0">
                          <a:solidFill>
                            <a:srgbClr val="FFFFFF"/>
                          </a:solidFill>
                          <a:latin typeface="Arial"/>
                        </a:rPr>
                        <a:t>Table 1 · Generation</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495"/>
                        </a:lnSpc>
                        <a:spcBef>
                          <a:spcPts val="0"/>
                        </a:spcBef>
                        <a:spcAft>
                          <a:spcPts val="0"/>
                        </a:spcAft>
                      </a:pPr>
                      <a:r>
                        <a:rPr sz="1300" b="1" i="0">
                          <a:solidFill>
                            <a:srgbClr val="FFFFFF"/>
                          </a:solidFill>
                          <a:latin typeface="Arial"/>
                        </a:rPr>
                        <a:t>Response time</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495"/>
                        </a:lnSpc>
                        <a:spcBef>
                          <a:spcPts val="0"/>
                        </a:spcBef>
                        <a:spcAft>
                          <a:spcPts val="0"/>
                        </a:spcAft>
                      </a:pPr>
                      <a:r>
                        <a:rPr sz="1300" b="1" i="0" dirty="0">
                          <a:solidFill>
                            <a:srgbClr val="FFFFFF"/>
                          </a:solidFill>
                          <a:latin typeface="Arial"/>
                        </a:rPr>
                        <a:t>Sensitivity</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495"/>
                        </a:lnSpc>
                        <a:spcBef>
                          <a:spcPts val="0"/>
                        </a:spcBef>
                        <a:spcAft>
                          <a:spcPts val="0"/>
                        </a:spcAft>
                      </a:pPr>
                      <a:r>
                        <a:rPr sz="1300" b="1" i="0">
                          <a:solidFill>
                            <a:srgbClr val="FFFFFF"/>
                          </a:solidFill>
                          <a:latin typeface="Arial"/>
                        </a:rPr>
                        <a:t>Stability</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495"/>
                        </a:lnSpc>
                        <a:spcBef>
                          <a:spcPts val="0"/>
                        </a:spcBef>
                        <a:spcAft>
                          <a:spcPts val="0"/>
                        </a:spcAft>
                      </a:pPr>
                      <a:r>
                        <a:rPr sz="1300" b="1" i="0">
                          <a:solidFill>
                            <a:srgbClr val="FFFFFF"/>
                          </a:solidFill>
                          <a:latin typeface="Arial"/>
                        </a:rPr>
                        <a:t>Selectivity</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extLst>
                  <a:ext uri="{0D108BD9-81ED-4DB2-BD59-A6C34878D82A}">
                    <a16:rowId xmlns:a16="http://schemas.microsoft.com/office/drawing/2014/main" val="10000"/>
                  </a:ext>
                </a:extLst>
              </a:tr>
              <a:tr h="351631">
                <a:tc>
                  <a:txBody>
                    <a:bodyPr/>
                    <a:lstStyle/>
                    <a:p>
                      <a:pPr algn="l">
                        <a:lnSpc>
                          <a:spcPts val="1495"/>
                        </a:lnSpc>
                        <a:spcBef>
                          <a:spcPts val="0"/>
                        </a:spcBef>
                        <a:spcAft>
                          <a:spcPts val="0"/>
                        </a:spcAft>
                      </a:pPr>
                      <a:r>
                        <a:rPr sz="1300" b="0" i="0">
                          <a:solidFill>
                            <a:srgbClr val="333333"/>
                          </a:solidFill>
                          <a:latin typeface="Arial"/>
                        </a:rPr>
                        <a:t>2000–2010</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495"/>
                        </a:lnSpc>
                        <a:spcBef>
                          <a:spcPts val="0"/>
                        </a:spcBef>
                        <a:spcAft>
                          <a:spcPts val="0"/>
                        </a:spcAft>
                      </a:pPr>
                      <a:r>
                        <a:rPr sz="1300" b="0" i="0">
                          <a:solidFill>
                            <a:srgbClr val="333333"/>
                          </a:solidFill>
                          <a:latin typeface="Arial"/>
                        </a:rPr>
                        <a:t>&gt;30 s</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495"/>
                        </a:lnSpc>
                        <a:spcBef>
                          <a:spcPts val="0"/>
                        </a:spcBef>
                        <a:spcAft>
                          <a:spcPts val="0"/>
                        </a:spcAft>
                      </a:pPr>
                      <a:r>
                        <a:rPr sz="1300" b="0" i="0">
                          <a:solidFill>
                            <a:srgbClr val="333333"/>
                          </a:solidFill>
                          <a:latin typeface="Arial"/>
                        </a:rPr>
                        <a:t>µM–mM</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495"/>
                        </a:lnSpc>
                        <a:spcBef>
                          <a:spcPts val="0"/>
                        </a:spcBef>
                        <a:spcAft>
                          <a:spcPts val="0"/>
                        </a:spcAft>
                      </a:pPr>
                      <a:r>
                        <a:rPr sz="1300" b="0" i="0">
                          <a:solidFill>
                            <a:srgbClr val="333333"/>
                          </a:solidFill>
                          <a:latin typeface="Arial"/>
                        </a:rPr>
                        <a:t>hours / days</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495"/>
                        </a:lnSpc>
                        <a:spcBef>
                          <a:spcPts val="0"/>
                        </a:spcBef>
                        <a:spcAft>
                          <a:spcPts val="0"/>
                        </a:spcAft>
                      </a:pPr>
                      <a:r>
                        <a:rPr sz="1300" b="0" i="0">
                          <a:solidFill>
                            <a:srgbClr val="333333"/>
                          </a:solidFill>
                          <a:latin typeface="Arial"/>
                        </a:rPr>
                        <a:t>antibody-dependent</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1"/>
                  </a:ext>
                </a:extLst>
              </a:tr>
              <a:tr h="351631">
                <a:tc>
                  <a:txBody>
                    <a:bodyPr/>
                    <a:lstStyle/>
                    <a:p>
                      <a:pPr algn="l">
                        <a:lnSpc>
                          <a:spcPts val="1495"/>
                        </a:lnSpc>
                        <a:spcBef>
                          <a:spcPts val="0"/>
                        </a:spcBef>
                        <a:spcAft>
                          <a:spcPts val="0"/>
                        </a:spcAft>
                      </a:pPr>
                      <a:r>
                        <a:rPr sz="1300" b="0" i="0">
                          <a:solidFill>
                            <a:srgbClr val="333333"/>
                          </a:solidFill>
                          <a:latin typeface="Arial"/>
                        </a:rPr>
                        <a:t>2010–2020</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495"/>
                        </a:lnSpc>
                        <a:spcBef>
                          <a:spcPts val="0"/>
                        </a:spcBef>
                        <a:spcAft>
                          <a:spcPts val="0"/>
                        </a:spcAft>
                      </a:pPr>
                      <a:r>
                        <a:rPr sz="1300" b="0" i="0">
                          <a:solidFill>
                            <a:srgbClr val="333333"/>
                          </a:solidFill>
                          <a:latin typeface="Arial"/>
                        </a:rPr>
                        <a:t>2–10 s</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495"/>
                        </a:lnSpc>
                        <a:spcBef>
                          <a:spcPts val="0"/>
                        </a:spcBef>
                        <a:spcAft>
                          <a:spcPts val="0"/>
                        </a:spcAft>
                      </a:pPr>
                      <a:r>
                        <a:rPr sz="1300" b="0" i="0">
                          <a:solidFill>
                            <a:srgbClr val="333333"/>
                          </a:solidFill>
                          <a:latin typeface="Arial"/>
                        </a:rPr>
                        <a:t>nM–µM</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495"/>
                        </a:lnSpc>
                        <a:spcBef>
                          <a:spcPts val="0"/>
                        </a:spcBef>
                        <a:spcAft>
                          <a:spcPts val="0"/>
                        </a:spcAft>
                      </a:pPr>
                      <a:r>
                        <a:rPr sz="1300" b="0" i="0">
                          <a:solidFill>
                            <a:srgbClr val="333333"/>
                          </a:solidFill>
                          <a:latin typeface="Arial"/>
                        </a:rPr>
                        <a:t>weeks</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495"/>
                        </a:lnSpc>
                        <a:spcBef>
                          <a:spcPts val="0"/>
                        </a:spcBef>
                        <a:spcAft>
                          <a:spcPts val="0"/>
                        </a:spcAft>
                      </a:pPr>
                      <a:r>
                        <a:rPr sz="1300" b="0" i="0">
                          <a:solidFill>
                            <a:srgbClr val="333333"/>
                          </a:solidFill>
                          <a:latin typeface="Arial"/>
                        </a:rPr>
                        <a:t>aptamer / MIP-based</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2"/>
                  </a:ext>
                </a:extLst>
              </a:tr>
              <a:tr h="548481">
                <a:tc>
                  <a:txBody>
                    <a:bodyPr/>
                    <a:lstStyle/>
                    <a:p>
                      <a:pPr algn="l">
                        <a:lnSpc>
                          <a:spcPts val="1495"/>
                        </a:lnSpc>
                        <a:spcBef>
                          <a:spcPts val="0"/>
                        </a:spcBef>
                        <a:spcAft>
                          <a:spcPts val="0"/>
                        </a:spcAft>
                      </a:pPr>
                      <a:r>
                        <a:rPr sz="1300" b="1" i="0">
                          <a:solidFill>
                            <a:srgbClr val="333333"/>
                          </a:solidFill>
                          <a:latin typeface="Arial"/>
                        </a:rPr>
                        <a:t>2020–present</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E7F0EB"/>
                    </a:solidFill>
                  </a:tcPr>
                </a:tc>
                <a:tc>
                  <a:txBody>
                    <a:bodyPr/>
                    <a:lstStyle/>
                    <a:p>
                      <a:pPr algn="l">
                        <a:lnSpc>
                          <a:spcPts val="1495"/>
                        </a:lnSpc>
                        <a:spcBef>
                          <a:spcPts val="0"/>
                        </a:spcBef>
                        <a:spcAft>
                          <a:spcPts val="0"/>
                        </a:spcAft>
                      </a:pPr>
                      <a:r>
                        <a:rPr sz="1300" b="1" i="0">
                          <a:solidFill>
                            <a:srgbClr val="333333"/>
                          </a:solidFill>
                          <a:latin typeface="Arial"/>
                        </a:rPr>
                        <a:t>&lt;1 s</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E7F0EB"/>
                    </a:solidFill>
                  </a:tcPr>
                </a:tc>
                <a:tc>
                  <a:txBody>
                    <a:bodyPr/>
                    <a:lstStyle/>
                    <a:p>
                      <a:pPr algn="l">
                        <a:lnSpc>
                          <a:spcPts val="1495"/>
                        </a:lnSpc>
                        <a:spcBef>
                          <a:spcPts val="0"/>
                        </a:spcBef>
                        <a:spcAft>
                          <a:spcPts val="0"/>
                        </a:spcAft>
                      </a:pPr>
                      <a:r>
                        <a:rPr sz="1300" b="1" i="0">
                          <a:solidFill>
                            <a:srgbClr val="333333"/>
                          </a:solidFill>
                          <a:latin typeface="Arial"/>
                        </a:rPr>
                        <a:t>pM–nM</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E7F0EB"/>
                    </a:solidFill>
                  </a:tcPr>
                </a:tc>
                <a:tc>
                  <a:txBody>
                    <a:bodyPr/>
                    <a:lstStyle/>
                    <a:p>
                      <a:pPr algn="l">
                        <a:lnSpc>
                          <a:spcPts val="1495"/>
                        </a:lnSpc>
                        <a:spcBef>
                          <a:spcPts val="0"/>
                        </a:spcBef>
                        <a:spcAft>
                          <a:spcPts val="0"/>
                        </a:spcAft>
                      </a:pPr>
                      <a:r>
                        <a:rPr sz="1300" b="1" i="0">
                          <a:solidFill>
                            <a:srgbClr val="333333"/>
                          </a:solidFill>
                          <a:latin typeface="Arial"/>
                        </a:rPr>
                        <a:t>months</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E7F0EB"/>
                    </a:solidFill>
                  </a:tcPr>
                </a:tc>
                <a:tc>
                  <a:txBody>
                    <a:bodyPr/>
                    <a:lstStyle/>
                    <a:p>
                      <a:pPr algn="l">
                        <a:lnSpc>
                          <a:spcPts val="1495"/>
                        </a:lnSpc>
                        <a:spcBef>
                          <a:spcPts val="0"/>
                        </a:spcBef>
                        <a:spcAft>
                          <a:spcPts val="0"/>
                        </a:spcAft>
                      </a:pPr>
                      <a:r>
                        <a:rPr sz="1300" b="1" i="0" dirty="0">
                          <a:solidFill>
                            <a:srgbClr val="333333"/>
                          </a:solidFill>
                          <a:latin typeface="Arial"/>
                        </a:rPr>
                        <a:t>AI-enhanced multimodal</a:t>
                      </a:r>
                    </a:p>
                  </a:txBody>
                  <a:tcPr marL="72866" marR="58293"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E7F0EB"/>
                    </a:solidFill>
                  </a:tcPr>
                </a:tc>
                <a:extLst>
                  <a:ext uri="{0D108BD9-81ED-4DB2-BD59-A6C34878D82A}">
                    <a16:rowId xmlns:a16="http://schemas.microsoft.com/office/drawing/2014/main" val="10003"/>
                  </a:ext>
                </a:extLst>
              </a:tr>
            </a:tbl>
          </a:graphicData>
        </a:graphic>
      </p:graphicFrame>
      <p:grpSp>
        <p:nvGrpSpPr>
          <p:cNvPr id="31" name="Group 30">
            <a:extLst>
              <a:ext uri="{FF2B5EF4-FFF2-40B4-BE49-F238E27FC236}">
                <a16:creationId xmlns:a16="http://schemas.microsoft.com/office/drawing/2014/main" id="{78250DA0-F601-A00C-132B-5B7325E543E7}"/>
              </a:ext>
            </a:extLst>
          </p:cNvPr>
          <p:cNvGrpSpPr/>
          <p:nvPr/>
        </p:nvGrpSpPr>
        <p:grpSpPr>
          <a:xfrm>
            <a:off x="609600" y="4873593"/>
            <a:ext cx="7924800" cy="1076722"/>
            <a:chOff x="609600" y="4743252"/>
            <a:chExt cx="7924800" cy="1076722"/>
          </a:xfrm>
        </p:grpSpPr>
        <p:sp>
          <p:nvSpPr>
            <p:cNvPr id="24" name="Panel"/>
            <p:cNvSpPr/>
            <p:nvPr/>
          </p:nvSpPr>
          <p:spPr>
            <a:xfrm>
              <a:off x="609600" y="4743252"/>
              <a:ext cx="5257800" cy="1076722"/>
            </a:xfrm>
            <a:prstGeom prst="roundRect">
              <a:avLst>
                <a:gd name="adj" fmla="val 5897"/>
              </a:avLst>
            </a:prstGeom>
            <a:solidFill>
              <a:srgbClr val="E7F0EB"/>
            </a:solidFill>
            <a:ln>
              <a:noFill/>
            </a:ln>
          </p:spPr>
          <p:txBody>
            <a:bodyPr rtlCol="0" anchor="ctr"/>
            <a:lstStyle/>
            <a:p>
              <a:pPr algn="ctr"/>
              <a:endParaRPr/>
            </a:p>
          </p:txBody>
        </p:sp>
        <p:sp>
          <p:nvSpPr>
            <p:cNvPr id="25" name="Text: Reading Table 1: ~3 orders of magnitude "/>
            <p:cNvSpPr txBox="1"/>
            <p:nvPr/>
          </p:nvSpPr>
          <p:spPr>
            <a:xfrm>
              <a:off x="749300" y="4870252"/>
              <a:ext cx="5102860" cy="822722"/>
            </a:xfrm>
            <a:prstGeom prst="rect">
              <a:avLst/>
            </a:prstGeom>
            <a:noFill/>
          </p:spPr>
          <p:txBody>
            <a:bodyPr wrap="square" lIns="0" tIns="0" rIns="0" bIns="0" anchor="t">
              <a:noAutofit/>
            </a:bodyPr>
            <a:lstStyle/>
            <a:p>
              <a:pPr algn="l">
                <a:lnSpc>
                  <a:spcPts val="1620"/>
                </a:lnSpc>
                <a:spcBef>
                  <a:spcPts val="0"/>
                </a:spcBef>
                <a:spcAft>
                  <a:spcPts val="0"/>
                </a:spcAft>
              </a:pPr>
              <a:r>
                <a:rPr sz="1200" b="1" i="0">
                  <a:solidFill>
                    <a:srgbClr val="333333"/>
                  </a:solidFill>
                  <a:latin typeface="Arial"/>
                </a:rPr>
                <a:t>Reading Table 1:</a:t>
              </a:r>
              <a:r>
                <a:rPr sz="1200" b="0" i="0">
                  <a:solidFill>
                    <a:srgbClr val="333333"/>
                  </a:solidFill>
                  <a:latin typeface="Arial"/>
                </a:rPr>
                <a:t> ~3 orders of magnitude in sensitivity and &gt;30× in speed over two decades; selectivity moved from chemistry (antibodies) to computation (AI deconvolution of cross-reactive arrays, e.g. dopamine vs uric acid).</a:t>
              </a:r>
            </a:p>
          </p:txBody>
        </p:sp>
        <p:sp>
          <p:nvSpPr>
            <p:cNvPr id="26" name="Panel"/>
            <p:cNvSpPr/>
            <p:nvPr/>
          </p:nvSpPr>
          <p:spPr>
            <a:xfrm>
              <a:off x="5994400" y="4743252"/>
              <a:ext cx="2540000" cy="1076722"/>
            </a:xfrm>
            <a:prstGeom prst="roundRect">
              <a:avLst>
                <a:gd name="adj" fmla="val 5897"/>
              </a:avLst>
            </a:prstGeom>
            <a:solidFill>
              <a:srgbClr val="FBEAE8"/>
            </a:solidFill>
            <a:ln>
              <a:noFill/>
            </a:ln>
          </p:spPr>
          <p:txBody>
            <a:bodyPr rtlCol="0" anchor="ctr"/>
            <a:lstStyle/>
            <a:p>
              <a:pPr algn="ctr"/>
              <a:endParaRPr/>
            </a:p>
          </p:txBody>
        </p:sp>
        <p:sp>
          <p:nvSpPr>
            <p:cNvPr id="27" name="Text: Caveat: Table 1 is uncited and coarse; t"/>
            <p:cNvSpPr txBox="1"/>
            <p:nvPr/>
          </p:nvSpPr>
          <p:spPr>
            <a:xfrm>
              <a:off x="6134100" y="4870252"/>
              <a:ext cx="2317115" cy="822722"/>
            </a:xfrm>
            <a:prstGeom prst="rect">
              <a:avLst/>
            </a:prstGeom>
            <a:noFill/>
          </p:spPr>
          <p:txBody>
            <a:bodyPr wrap="square" lIns="0" tIns="0" rIns="0" bIns="0" anchor="t">
              <a:noAutofit/>
            </a:bodyPr>
            <a:lstStyle/>
            <a:p>
              <a:pPr algn="l">
                <a:lnSpc>
                  <a:spcPts val="1620"/>
                </a:lnSpc>
                <a:spcBef>
                  <a:spcPts val="0"/>
                </a:spcBef>
                <a:spcAft>
                  <a:spcPts val="0"/>
                </a:spcAft>
              </a:pPr>
              <a:r>
                <a:rPr sz="1200" b="1" i="0">
                  <a:solidFill>
                    <a:srgbClr val="B3261E"/>
                  </a:solidFill>
                  <a:latin typeface="Arial"/>
                </a:rPr>
                <a:t>Caveat:</a:t>
              </a:r>
              <a:r>
                <a:rPr sz="1200" b="0" i="0">
                  <a:solidFill>
                    <a:srgbClr val="B3261E"/>
                  </a:solidFill>
                  <a:latin typeface="Arial"/>
                </a:rPr>
                <a:t> Table 1 is uncited and coarse; the generation boundaries are illustrative, not measured.</a:t>
              </a:r>
            </a:p>
          </p:txBody>
        </p:sp>
      </p:grpSp>
      <p:sp>
        <p:nvSpPr>
          <p:cNvPr id="29"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8</a:t>
            </a:fld>
            <a:endParaRPr lang="en-US" dirty="0">
              <a:solidFill>
                <a:srgbClr val="FFFFFF"/>
              </a:solidFill>
              <a:latin typeface="Arial" panose="020B0604020202020204"/>
            </a:endParaRPr>
          </a:p>
        </p:txBody>
      </p:sp>
      <p:sp>
        <p:nvSpPr>
          <p:cNvPr id="28"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Six decades of wearables, five building blocks</a:t>
            </a:r>
          </a:p>
        </p:txBody>
      </p:sp>
      <p:sp>
        <p:nvSpPr>
          <p:cNvPr id="3" name="Text: METHODS · FORM FACTORS · FIG. 2"/>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FORM FACTORS · FIG. 2</a:t>
            </a:r>
          </a:p>
        </p:txBody>
      </p:sp>
      <p:grpSp>
        <p:nvGrpSpPr>
          <p:cNvPr id="10" name="Group 9">
            <a:extLst>
              <a:ext uri="{FF2B5EF4-FFF2-40B4-BE49-F238E27FC236}">
                <a16:creationId xmlns:a16="http://schemas.microsoft.com/office/drawing/2014/main" id="{5560B892-F4A0-3E86-697F-E91390399D4D}"/>
              </a:ext>
            </a:extLst>
          </p:cNvPr>
          <p:cNvGrpSpPr/>
          <p:nvPr/>
        </p:nvGrpSpPr>
        <p:grpSpPr>
          <a:xfrm>
            <a:off x="1416050" y="1088459"/>
            <a:ext cx="6413500" cy="3981450"/>
            <a:chOff x="1365250" y="995660"/>
            <a:chExt cx="6413500" cy="3981450"/>
          </a:xfrm>
        </p:grpSpPr>
        <p:sp>
          <p:nvSpPr>
            <p:cNvPr id="4" name="Panel"/>
            <p:cNvSpPr/>
            <p:nvPr/>
          </p:nvSpPr>
          <p:spPr>
            <a:xfrm>
              <a:off x="1365250" y="995660"/>
              <a:ext cx="6413500" cy="3981450"/>
            </a:xfrm>
            <a:prstGeom prst="roundRect">
              <a:avLst>
                <a:gd name="adj" fmla="val 956"/>
              </a:avLst>
            </a:prstGeom>
            <a:solidFill>
              <a:srgbClr val="FFFFFF"/>
            </a:solidFill>
            <a:ln w="6350" cap="flat">
              <a:solidFill>
                <a:srgbClr val="D8DDDA"/>
              </a:solidFill>
            </a:ln>
          </p:spPr>
          <p:txBody>
            <a:bodyPr rtlCol="0" anchor="ctr"/>
            <a:lstStyle/>
            <a:p>
              <a:pPr algn="ctr"/>
              <a:endParaRPr/>
            </a:p>
          </p:txBody>
        </p:sp>
        <p:pic>
          <p:nvPicPr>
            <p:cNvPr id="5" name="Image (fig2)" descr="Figure 2: (a) timeline of wearable-sensor milestones from the 1962 Holter monitor to 2021 biofuel-cell-powered sensors; (b) building blocks: materials, sensing unit, sampling, power unit, decision-making unit"/>
            <p:cNvPicPr>
              <a:picLocks noChangeAspect="1"/>
            </p:cNvPicPr>
            <p:nvPr/>
          </p:nvPicPr>
          <p:blipFill>
            <a:blip r:embed="rId3"/>
            <a:stretch>
              <a:fillRect/>
            </a:stretch>
          </p:blipFill>
          <p:spPr>
            <a:xfrm>
              <a:off x="1377121" y="1002010"/>
              <a:ext cx="6389758" cy="3968750"/>
            </a:xfrm>
            <a:prstGeom prst="rect">
              <a:avLst/>
            </a:prstGeom>
          </p:spPr>
        </p:pic>
      </p:grpSp>
      <p:grpSp>
        <p:nvGrpSpPr>
          <p:cNvPr id="13" name="Group 12">
            <a:extLst>
              <a:ext uri="{FF2B5EF4-FFF2-40B4-BE49-F238E27FC236}">
                <a16:creationId xmlns:a16="http://schemas.microsoft.com/office/drawing/2014/main" id="{20A3D6C4-8551-AB32-41B6-B2BBA1472FD9}"/>
              </a:ext>
            </a:extLst>
          </p:cNvPr>
          <p:cNvGrpSpPr/>
          <p:nvPr/>
        </p:nvGrpSpPr>
        <p:grpSpPr>
          <a:xfrm>
            <a:off x="600710" y="5213139"/>
            <a:ext cx="7933690" cy="838763"/>
            <a:chOff x="600710" y="5255474"/>
            <a:chExt cx="7933690" cy="838763"/>
          </a:xfrm>
        </p:grpSpPr>
        <p:grpSp>
          <p:nvGrpSpPr>
            <p:cNvPr id="11" name="Group 10">
              <a:extLst>
                <a:ext uri="{FF2B5EF4-FFF2-40B4-BE49-F238E27FC236}">
                  <a16:creationId xmlns:a16="http://schemas.microsoft.com/office/drawing/2014/main" id="{632624F4-DBE7-FCD5-2432-A1361EA1C052}"/>
                </a:ext>
              </a:extLst>
            </p:cNvPr>
            <p:cNvGrpSpPr/>
            <p:nvPr/>
          </p:nvGrpSpPr>
          <p:grpSpPr>
            <a:xfrm>
              <a:off x="600710" y="5255474"/>
              <a:ext cx="3966845" cy="838200"/>
              <a:chOff x="600710" y="5255474"/>
              <a:chExt cx="3966845" cy="838200"/>
            </a:xfrm>
          </p:grpSpPr>
          <p:sp>
            <p:nvSpPr>
              <p:cNvPr id="6" name="Panel"/>
              <p:cNvSpPr/>
              <p:nvPr/>
            </p:nvSpPr>
            <p:spPr>
              <a:xfrm>
                <a:off x="600710" y="5255474"/>
                <a:ext cx="3911600" cy="838200"/>
              </a:xfrm>
              <a:prstGeom prst="roundRect">
                <a:avLst>
                  <a:gd name="adj" fmla="val 7575"/>
                </a:avLst>
              </a:prstGeom>
              <a:solidFill>
                <a:srgbClr val="F4F6F5"/>
              </a:solidFill>
              <a:ln>
                <a:noFill/>
              </a:ln>
            </p:spPr>
            <p:txBody>
              <a:bodyPr rtlCol="0" anchor="ctr"/>
              <a:lstStyle/>
              <a:p>
                <a:pPr algn="ctr"/>
                <a:endParaRPr/>
              </a:p>
            </p:txBody>
          </p:sp>
          <p:sp>
            <p:nvSpPr>
              <p:cNvPr id="7" name="Text: (a) Milestones (grey = commercial, blue "/>
              <p:cNvSpPr txBox="1"/>
              <p:nvPr/>
            </p:nvSpPr>
            <p:spPr>
              <a:xfrm>
                <a:off x="766445" y="5347538"/>
                <a:ext cx="3801110" cy="685800"/>
              </a:xfrm>
              <a:prstGeom prst="rect">
                <a:avLst/>
              </a:prstGeom>
              <a:noFill/>
            </p:spPr>
            <p:txBody>
              <a:bodyPr wrap="square" lIns="0" tIns="0" rIns="0" bIns="0" anchor="t">
                <a:noAutofit/>
              </a:bodyPr>
              <a:lstStyle/>
              <a:p>
                <a:pPr algn="l">
                  <a:lnSpc>
                    <a:spcPts val="1350"/>
                  </a:lnSpc>
                  <a:spcBef>
                    <a:spcPts val="0"/>
                  </a:spcBef>
                  <a:spcAft>
                    <a:spcPts val="0"/>
                  </a:spcAft>
                </a:pPr>
                <a:r>
                  <a:rPr sz="1000" b="1" i="0" dirty="0">
                    <a:solidFill>
                      <a:srgbClr val="333333"/>
                    </a:solidFill>
                    <a:latin typeface="Arial"/>
                  </a:rPr>
                  <a:t>(a) Milestones</a:t>
                </a:r>
                <a:r>
                  <a:rPr sz="1000" b="0" i="0" dirty="0">
                    <a:solidFill>
                      <a:srgbClr val="333333"/>
                    </a:solidFill>
                    <a:latin typeface="Arial"/>
                  </a:rPr>
                  <a:t> (grey = commercial, blue = research): heart first (Holter 1962, Polar 1982), then glucose (</a:t>
                </a:r>
                <a:r>
                  <a:rPr sz="1000" b="0" i="0" dirty="0" err="1">
                    <a:solidFill>
                      <a:srgbClr val="333333"/>
                    </a:solidFill>
                    <a:latin typeface="Arial"/>
                  </a:rPr>
                  <a:t>GlucoWatch</a:t>
                </a:r>
                <a:r>
                  <a:rPr sz="1000" b="0" i="0" dirty="0">
                    <a:solidFill>
                      <a:srgbClr val="333333"/>
                    </a:solidFill>
                    <a:latin typeface="Arial"/>
                  </a:rPr>
                  <a:t> 2002, </a:t>
                </a:r>
                <a:r>
                  <a:rPr sz="1000" b="0" i="0" dirty="0" err="1">
                    <a:solidFill>
                      <a:srgbClr val="333333"/>
                    </a:solidFill>
                    <a:latin typeface="Arial"/>
                  </a:rPr>
                  <a:t>FreeStyle</a:t>
                </a:r>
                <a:r>
                  <a:rPr sz="1000" b="0" i="0" dirty="0">
                    <a:solidFill>
                      <a:srgbClr val="333333"/>
                    </a:solidFill>
                    <a:latin typeface="Arial"/>
                  </a:rPr>
                  <a:t> Libre 2014), sweat chemistry (2016), microneedles (2019), biofuel-cell sensors (2021).</a:t>
                </a:r>
              </a:p>
            </p:txBody>
          </p:sp>
        </p:grpSp>
        <p:grpSp>
          <p:nvGrpSpPr>
            <p:cNvPr id="12" name="Group 11">
              <a:extLst>
                <a:ext uri="{FF2B5EF4-FFF2-40B4-BE49-F238E27FC236}">
                  <a16:creationId xmlns:a16="http://schemas.microsoft.com/office/drawing/2014/main" id="{F0C4491C-7855-57B3-1803-73BAF04BEA11}"/>
                </a:ext>
              </a:extLst>
            </p:cNvPr>
            <p:cNvGrpSpPr/>
            <p:nvPr/>
          </p:nvGrpSpPr>
          <p:grpSpPr>
            <a:xfrm>
              <a:off x="4622800" y="5256037"/>
              <a:ext cx="3911600" cy="838200"/>
              <a:chOff x="4622800" y="5256037"/>
              <a:chExt cx="3911600" cy="838200"/>
            </a:xfrm>
          </p:grpSpPr>
          <p:sp>
            <p:nvSpPr>
              <p:cNvPr id="8" name="Panel"/>
              <p:cNvSpPr/>
              <p:nvPr/>
            </p:nvSpPr>
            <p:spPr>
              <a:xfrm>
                <a:off x="4622800" y="5256037"/>
                <a:ext cx="3911600" cy="838200"/>
              </a:xfrm>
              <a:prstGeom prst="roundRect">
                <a:avLst>
                  <a:gd name="adj" fmla="val 7575"/>
                </a:avLst>
              </a:prstGeom>
              <a:solidFill>
                <a:srgbClr val="E7F0EB"/>
              </a:solidFill>
              <a:ln>
                <a:noFill/>
              </a:ln>
            </p:spPr>
            <p:txBody>
              <a:bodyPr rtlCol="0" anchor="ctr"/>
              <a:lstStyle/>
              <a:p>
                <a:pPr algn="ctr"/>
                <a:endParaRPr/>
              </a:p>
            </p:txBody>
          </p:sp>
          <p:sp>
            <p:nvSpPr>
              <p:cNvPr id="9" name="Text: (b) Building blocks: materials · sensing"/>
              <p:cNvSpPr txBox="1"/>
              <p:nvPr/>
            </p:nvSpPr>
            <p:spPr>
              <a:xfrm>
                <a:off x="4694979" y="5335855"/>
                <a:ext cx="3801110" cy="514350"/>
              </a:xfrm>
              <a:prstGeom prst="rect">
                <a:avLst/>
              </a:prstGeom>
              <a:noFill/>
            </p:spPr>
            <p:txBody>
              <a:bodyPr wrap="square" lIns="0" tIns="0" rIns="0" bIns="0" anchor="t">
                <a:noAutofit/>
              </a:bodyPr>
              <a:lstStyle/>
              <a:p>
                <a:pPr algn="l">
                  <a:lnSpc>
                    <a:spcPts val="1350"/>
                  </a:lnSpc>
                  <a:spcBef>
                    <a:spcPts val="0"/>
                  </a:spcBef>
                  <a:spcAft>
                    <a:spcPts val="0"/>
                  </a:spcAft>
                </a:pPr>
                <a:r>
                  <a:rPr sz="1000" b="1" i="0" dirty="0">
                    <a:solidFill>
                      <a:srgbClr val="333333"/>
                    </a:solidFill>
                    <a:latin typeface="Arial"/>
                  </a:rPr>
                  <a:t>(b) Building blocks:</a:t>
                </a:r>
                <a:r>
                  <a:rPr sz="1000" b="0" i="0" dirty="0">
                    <a:solidFill>
                      <a:srgbClr val="333333"/>
                    </a:solidFill>
                    <a:latin typeface="Arial"/>
                  </a:rPr>
                  <a:t> materials · sensing unit · sampling · power · </a:t>
                </a:r>
                <a:r>
                  <a:rPr sz="1000" b="1" i="0" dirty="0">
                    <a:solidFill>
                      <a:srgbClr val="333333"/>
                    </a:solidFill>
                    <a:latin typeface="Arial"/>
                  </a:rPr>
                  <a:t>decision-making</a:t>
                </a:r>
                <a:r>
                  <a:rPr sz="1000" b="0" i="0" dirty="0">
                    <a:solidFill>
                      <a:srgbClr val="333333"/>
                    </a:solidFill>
                    <a:latin typeface="Arial"/>
                  </a:rPr>
                  <a:t>, the youngest block and the one where AI enters. Source: Ates et al., Nat. Rev. Mater. 2022.</a:t>
                </a:r>
              </a:p>
            </p:txBody>
          </p:sp>
        </p:gr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9</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Three device archetypes: dissolve, conform, weave</a:t>
            </a:r>
          </a:p>
        </p:txBody>
      </p:sp>
      <p:sp>
        <p:nvSpPr>
          <p:cNvPr id="3" name="Text: METHODS · FORM FACTORS · FIGS. 3, 4, 5"/>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FORM FACTORS · FIGS. 3, 4, 5</a:t>
            </a:r>
          </a:p>
        </p:txBody>
      </p:sp>
      <p:grpSp>
        <p:nvGrpSpPr>
          <p:cNvPr id="21" name="Group 20">
            <a:extLst>
              <a:ext uri="{FF2B5EF4-FFF2-40B4-BE49-F238E27FC236}">
                <a16:creationId xmlns:a16="http://schemas.microsoft.com/office/drawing/2014/main" id="{6B6C9AD8-B0BE-A675-949C-42393736DF64}"/>
              </a:ext>
            </a:extLst>
          </p:cNvPr>
          <p:cNvGrpSpPr/>
          <p:nvPr/>
        </p:nvGrpSpPr>
        <p:grpSpPr>
          <a:xfrm>
            <a:off x="682942" y="1252934"/>
            <a:ext cx="7976235" cy="4352131"/>
            <a:chOff x="609600" y="1046460"/>
            <a:chExt cx="7976235" cy="4352131"/>
          </a:xfrm>
        </p:grpSpPr>
        <p:sp>
          <p:nvSpPr>
            <p:cNvPr id="4" name="Panel"/>
            <p:cNvSpPr/>
            <p:nvPr/>
          </p:nvSpPr>
          <p:spPr>
            <a:xfrm>
              <a:off x="609600" y="1046460"/>
              <a:ext cx="2556966" cy="3568700"/>
            </a:xfrm>
            <a:prstGeom prst="roundRect">
              <a:avLst>
                <a:gd name="adj" fmla="val 2483"/>
              </a:avLst>
            </a:prstGeom>
            <a:solidFill>
              <a:srgbClr val="F4F6F5"/>
            </a:solidFill>
            <a:ln>
              <a:noFill/>
            </a:ln>
          </p:spPr>
          <p:txBody>
            <a:bodyPr rtlCol="0" anchor="ctr"/>
            <a:lstStyle/>
            <a:p>
              <a:pPr algn="ctr"/>
              <a:endParaRPr/>
            </a:p>
          </p:txBody>
        </p:sp>
        <p:sp>
          <p:nvSpPr>
            <p:cNvPr id="5" name="Panel"/>
            <p:cNvSpPr/>
            <p:nvPr/>
          </p:nvSpPr>
          <p:spPr>
            <a:xfrm>
              <a:off x="711200" y="1148060"/>
              <a:ext cx="2324100" cy="2032000"/>
            </a:xfrm>
            <a:prstGeom prst="roundRect">
              <a:avLst>
                <a:gd name="adj" fmla="val 1875"/>
              </a:avLst>
            </a:prstGeom>
            <a:solidFill>
              <a:srgbClr val="FFFFFF"/>
            </a:solidFill>
            <a:ln>
              <a:noFill/>
            </a:ln>
          </p:spPr>
          <p:txBody>
            <a:bodyPr rtlCol="0" anchor="ctr"/>
            <a:lstStyle/>
            <a:p>
              <a:pPr algn="ctr"/>
              <a:endParaRPr/>
            </a:p>
          </p:txBody>
        </p:sp>
        <p:pic>
          <p:nvPicPr>
            <p:cNvPr id="6" name="Image (fig3)" descr="Figure 3: bioresorbable wireless battery-free electrotherapy device on a foot wound with NFC circuit, simulated field, and molybdenum electrode dissolving over 18 days"/>
            <p:cNvPicPr>
              <a:picLocks noChangeAspect="1"/>
            </p:cNvPicPr>
            <p:nvPr/>
          </p:nvPicPr>
          <p:blipFill>
            <a:blip r:embed="rId3"/>
            <a:stretch>
              <a:fillRect/>
            </a:stretch>
          </p:blipFill>
          <p:spPr>
            <a:xfrm>
              <a:off x="711200" y="1187486"/>
              <a:ext cx="2324100" cy="1953148"/>
            </a:xfrm>
            <a:prstGeom prst="rect">
              <a:avLst/>
            </a:prstGeom>
          </p:spPr>
        </p:pic>
        <p:sp>
          <p:nvSpPr>
            <p:cNvPr id="7" name="Text: Fig. 3 · Dissolve"/>
            <p:cNvSpPr txBox="1"/>
            <p:nvPr/>
          </p:nvSpPr>
          <p:spPr>
            <a:xfrm>
              <a:off x="711200" y="3243560"/>
              <a:ext cx="2412611"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Fig. 3 · Dissolve</a:t>
              </a:r>
            </a:p>
          </p:txBody>
        </p:sp>
        <p:sp>
          <p:nvSpPr>
            <p:cNvPr id="8" name="Text: Battery-free wound electrotherapy (Song,"/>
            <p:cNvSpPr txBox="1"/>
            <p:nvPr/>
          </p:nvSpPr>
          <p:spPr>
            <a:xfrm>
              <a:off x="711200" y="3484860"/>
              <a:ext cx="2412611" cy="85725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333333"/>
                  </a:solidFill>
                  <a:latin typeface="Arial"/>
                </a:rPr>
                <a:t>Battery-free wound electrotherapy (Song, Sci. Adv. 2023). A 13.56 MHz NFC link powers Mo electrodes; after healing, Mo oxidizes to MoO₄²⁻ and resorbs (~50–70 nm/day in a 75 °C accelerated test).</a:t>
              </a:r>
            </a:p>
          </p:txBody>
        </p:sp>
        <p:sp>
          <p:nvSpPr>
            <p:cNvPr id="9" name="Panel"/>
            <p:cNvSpPr/>
            <p:nvPr/>
          </p:nvSpPr>
          <p:spPr>
            <a:xfrm>
              <a:off x="3293566" y="1046460"/>
              <a:ext cx="2556966" cy="3568700"/>
            </a:xfrm>
            <a:prstGeom prst="roundRect">
              <a:avLst>
                <a:gd name="adj" fmla="val 2483"/>
              </a:avLst>
            </a:prstGeom>
            <a:solidFill>
              <a:srgbClr val="F4F6F5"/>
            </a:solidFill>
            <a:ln>
              <a:noFill/>
            </a:ln>
          </p:spPr>
          <p:txBody>
            <a:bodyPr rtlCol="0" anchor="ctr"/>
            <a:lstStyle/>
            <a:p>
              <a:pPr algn="ctr"/>
              <a:endParaRPr/>
            </a:p>
          </p:txBody>
        </p:sp>
        <p:sp>
          <p:nvSpPr>
            <p:cNvPr id="10" name="Panel"/>
            <p:cNvSpPr/>
            <p:nvPr/>
          </p:nvSpPr>
          <p:spPr>
            <a:xfrm>
              <a:off x="3395166" y="1148060"/>
              <a:ext cx="2324100" cy="2032000"/>
            </a:xfrm>
            <a:prstGeom prst="roundRect">
              <a:avLst>
                <a:gd name="adj" fmla="val 1875"/>
              </a:avLst>
            </a:prstGeom>
            <a:solidFill>
              <a:srgbClr val="FFFFFF"/>
            </a:solidFill>
            <a:ln>
              <a:noFill/>
            </a:ln>
          </p:spPr>
          <p:txBody>
            <a:bodyPr rtlCol="0" anchor="ctr"/>
            <a:lstStyle/>
            <a:p>
              <a:pPr algn="ctr"/>
              <a:endParaRPr/>
            </a:p>
          </p:txBody>
        </p:sp>
        <p:pic>
          <p:nvPicPr>
            <p:cNvPr id="11" name="Image (fig4)" descr="Figure 4: stretchable graphene-hydrogel implant with laser-induced graphene sensors and liquid-metal electrodes in PDMS, placed on the heart"/>
            <p:cNvPicPr>
              <a:picLocks noChangeAspect="1"/>
            </p:cNvPicPr>
            <p:nvPr/>
          </p:nvPicPr>
          <p:blipFill>
            <a:blip r:embed="rId4"/>
            <a:stretch>
              <a:fillRect/>
            </a:stretch>
          </p:blipFill>
          <p:spPr>
            <a:xfrm>
              <a:off x="3395166" y="1273801"/>
              <a:ext cx="2324100" cy="1780519"/>
            </a:xfrm>
            <a:prstGeom prst="rect">
              <a:avLst/>
            </a:prstGeom>
          </p:spPr>
        </p:pic>
        <p:sp>
          <p:nvSpPr>
            <p:cNvPr id="12" name="Text: Fig. 4 · Conform"/>
            <p:cNvSpPr txBox="1"/>
            <p:nvPr/>
          </p:nvSpPr>
          <p:spPr>
            <a:xfrm>
              <a:off x="3395166" y="3243560"/>
              <a:ext cx="2412611"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Fig. 4 · Conform</a:t>
              </a:r>
            </a:p>
          </p:txBody>
        </p:sp>
        <p:sp>
          <p:nvSpPr>
            <p:cNvPr id="13" name="Text: Graphene–hydrogel interface (Lu, Nat. El"/>
            <p:cNvSpPr txBox="1"/>
            <p:nvPr/>
          </p:nvSpPr>
          <p:spPr>
            <a:xfrm>
              <a:off x="3395166" y="3484860"/>
              <a:ext cx="2412611" cy="102870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333333"/>
                  </a:solidFill>
                  <a:latin typeface="Arial"/>
                </a:rPr>
                <a:t>Graphene–hydrogel interface (Lu, Nat. Electron. 2024). Laser-induced graphene sensors and liquid-metal electrodes in PDMS, coated with an antibacterial PPH hydrogel, soft enough for the beating heart.</a:t>
              </a:r>
            </a:p>
          </p:txBody>
        </p:sp>
        <p:sp>
          <p:nvSpPr>
            <p:cNvPr id="14" name="Panel"/>
            <p:cNvSpPr/>
            <p:nvPr/>
          </p:nvSpPr>
          <p:spPr>
            <a:xfrm>
              <a:off x="5977533" y="1046460"/>
              <a:ext cx="2556966" cy="3568700"/>
            </a:xfrm>
            <a:prstGeom prst="roundRect">
              <a:avLst>
                <a:gd name="adj" fmla="val 2483"/>
              </a:avLst>
            </a:prstGeom>
            <a:solidFill>
              <a:srgbClr val="F4F6F5"/>
            </a:solidFill>
            <a:ln>
              <a:noFill/>
            </a:ln>
          </p:spPr>
          <p:txBody>
            <a:bodyPr rtlCol="0" anchor="ctr"/>
            <a:lstStyle/>
            <a:p>
              <a:pPr algn="ctr"/>
              <a:endParaRPr/>
            </a:p>
          </p:txBody>
        </p:sp>
        <p:sp>
          <p:nvSpPr>
            <p:cNvPr id="15" name="Panel"/>
            <p:cNvSpPr/>
            <p:nvPr/>
          </p:nvSpPr>
          <p:spPr>
            <a:xfrm>
              <a:off x="6079133" y="1148060"/>
              <a:ext cx="2324100" cy="2032000"/>
            </a:xfrm>
            <a:prstGeom prst="roundRect">
              <a:avLst>
                <a:gd name="adj" fmla="val 1875"/>
              </a:avLst>
            </a:prstGeom>
            <a:solidFill>
              <a:srgbClr val="FFFFFF"/>
            </a:solidFill>
            <a:ln>
              <a:noFill/>
            </a:ln>
          </p:spPr>
          <p:txBody>
            <a:bodyPr rtlCol="0" anchor="ctr"/>
            <a:lstStyle/>
            <a:p>
              <a:pPr algn="ctr"/>
              <a:endParaRPr/>
            </a:p>
          </p:txBody>
        </p:sp>
        <p:pic>
          <p:nvPicPr>
            <p:cNvPr id="16" name="Image (fig5)" descr="Figure 5: in-textile wristband for sweat potassium sensing with ion-selective electrode layers, flexible circuit and Bluetooth phone display"/>
            <p:cNvPicPr>
              <a:picLocks noChangeAspect="1"/>
            </p:cNvPicPr>
            <p:nvPr/>
          </p:nvPicPr>
          <p:blipFill>
            <a:blip r:embed="rId5"/>
            <a:stretch>
              <a:fillRect/>
            </a:stretch>
          </p:blipFill>
          <p:spPr>
            <a:xfrm>
              <a:off x="6079133" y="1469045"/>
              <a:ext cx="2324100" cy="1390031"/>
            </a:xfrm>
            <a:prstGeom prst="rect">
              <a:avLst/>
            </a:prstGeom>
          </p:spPr>
        </p:pic>
        <p:sp>
          <p:nvSpPr>
            <p:cNvPr id="17" name="Text: Fig. 5 · Weave"/>
            <p:cNvSpPr txBox="1"/>
            <p:nvPr/>
          </p:nvSpPr>
          <p:spPr>
            <a:xfrm>
              <a:off x="6079133" y="3243560"/>
              <a:ext cx="2412611"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Fig. 5 · Weave</a:t>
              </a:r>
            </a:p>
          </p:txBody>
        </p:sp>
        <p:sp>
          <p:nvSpPr>
            <p:cNvPr id="18" name="Text: In-textile sweat-K⁺ wristband (Ma, Sci. "/>
            <p:cNvSpPr txBox="1"/>
            <p:nvPr/>
          </p:nvSpPr>
          <p:spPr>
            <a:xfrm>
              <a:off x="6079133" y="3484860"/>
              <a:ext cx="2412611" cy="85725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333333"/>
                  </a:solidFill>
                  <a:latin typeface="Arial"/>
                </a:rPr>
                <a:t>In-textile sweat-K⁺ wristband (Ma, Sci. Adv. 2023). Ion-selective membrane on Cu cloth vs Ag/AgCl reference; follower → amplifier → filter → ADC → Bluetooth on a 2.5 × 9 cm patch.</a:t>
              </a:r>
            </a:p>
          </p:txBody>
        </p:sp>
        <p:sp>
          <p:nvSpPr>
            <p:cNvPr id="19" name="Panel"/>
            <p:cNvSpPr/>
            <p:nvPr/>
          </p:nvSpPr>
          <p:spPr>
            <a:xfrm>
              <a:off x="609600" y="4767560"/>
              <a:ext cx="7924800" cy="631031"/>
            </a:xfrm>
            <a:prstGeom prst="roundRect">
              <a:avLst>
                <a:gd name="adj" fmla="val 10062"/>
              </a:avLst>
            </a:prstGeom>
            <a:solidFill>
              <a:srgbClr val="E7F0EB"/>
            </a:solidFill>
            <a:ln>
              <a:noFill/>
            </a:ln>
          </p:spPr>
          <p:txBody>
            <a:bodyPr rtlCol="0" anchor="ctr"/>
            <a:lstStyle/>
            <a:p>
              <a:pPr algn="ctr"/>
              <a:endParaRPr/>
            </a:p>
          </p:txBody>
        </p:sp>
        <p:sp>
          <p:nvSpPr>
            <p:cNvPr id="20" name="Text: Physics link: the K⁺ wristband is potent"/>
            <p:cNvSpPr txBox="1"/>
            <p:nvPr/>
          </p:nvSpPr>
          <p:spPr>
            <a:xfrm>
              <a:off x="749300" y="4894560"/>
              <a:ext cx="7836535" cy="377031"/>
            </a:xfrm>
            <a:prstGeom prst="rect">
              <a:avLst/>
            </a:prstGeom>
            <a:noFill/>
          </p:spPr>
          <p:txBody>
            <a:bodyPr wrap="square" lIns="0" tIns="0" rIns="0" bIns="0" anchor="t">
              <a:noAutofit/>
            </a:bodyPr>
            <a:lstStyle/>
            <a:p>
              <a:pPr algn="l">
                <a:lnSpc>
                  <a:spcPts val="1485"/>
                </a:lnSpc>
                <a:spcBef>
                  <a:spcPts val="0"/>
                </a:spcBef>
                <a:spcAft>
                  <a:spcPts val="0"/>
                </a:spcAft>
              </a:pPr>
              <a:r>
                <a:rPr sz="1100" b="0" i="0">
                  <a:solidFill>
                    <a:srgbClr val="333333"/>
                  </a:solidFill>
                  <a:latin typeface="Arial"/>
                </a:rPr>
                <a:t>Physics link: the K⁺ wristband is potentiometric, so its output follows the Nernst equation, ideally ≈59 mV per decade of [K⁺] at 25 °C; the Mo electrode's service life is set by its dissolution rate.</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10</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Materials: match the tissue, not just the circuit</a:t>
            </a:r>
          </a:p>
        </p:txBody>
      </p:sp>
      <p:sp>
        <p:nvSpPr>
          <p:cNvPr id="3" name="Text: METHODS · MATERIALS · TABLE 2"/>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MATERIALS · TABLE 2</a:t>
            </a:r>
          </a:p>
        </p:txBody>
      </p:sp>
      <p:grpSp>
        <p:nvGrpSpPr>
          <p:cNvPr id="46" name="Group 45">
            <a:extLst>
              <a:ext uri="{FF2B5EF4-FFF2-40B4-BE49-F238E27FC236}">
                <a16:creationId xmlns:a16="http://schemas.microsoft.com/office/drawing/2014/main" id="{2B2B7DE1-D049-EA9A-243A-56FC563C663F}"/>
              </a:ext>
            </a:extLst>
          </p:cNvPr>
          <p:cNvGrpSpPr/>
          <p:nvPr/>
        </p:nvGrpSpPr>
        <p:grpSpPr>
          <a:xfrm>
            <a:off x="774700" y="1340282"/>
            <a:ext cx="7594600" cy="831850"/>
            <a:chOff x="800100" y="1084560"/>
            <a:chExt cx="7594600" cy="831850"/>
          </a:xfrm>
        </p:grpSpPr>
        <p:grpSp>
          <p:nvGrpSpPr>
            <p:cNvPr id="4" name="Sketch: Log-scale strip of Young's modulus: hydrogel, Ecoflex, skin and PDMS sit"/>
            <p:cNvGrpSpPr/>
            <p:nvPr/>
          </p:nvGrpSpPr>
          <p:grpSpPr>
            <a:xfrm>
              <a:off x="800100" y="1325860"/>
              <a:ext cx="7543800" cy="425450"/>
              <a:chOff x="800100" y="1325860"/>
              <a:chExt cx="7543800" cy="425450"/>
            </a:xfrm>
          </p:grpSpPr>
          <p:sp>
            <p:nvSpPr>
              <p:cNvPr id="5" name="Band"/>
              <p:cNvSpPr/>
              <p:nvPr/>
            </p:nvSpPr>
            <p:spPr>
              <a:xfrm>
                <a:off x="1555750" y="1325860"/>
                <a:ext cx="2260600" cy="355600"/>
              </a:xfrm>
              <a:prstGeom prst="rect">
                <a:avLst/>
              </a:prstGeom>
              <a:solidFill>
                <a:srgbClr val="E7F0EB"/>
              </a:solidFill>
              <a:ln>
                <a:noFill/>
              </a:ln>
            </p:spPr>
            <p:txBody>
              <a:bodyPr rtlCol="0" anchor="ctr"/>
              <a:lstStyle/>
              <a:p>
                <a:pPr algn="ctr"/>
                <a:endParaRPr/>
              </a:p>
            </p:txBody>
          </p:sp>
          <p:cxnSp>
            <p:nvCxnSpPr>
              <p:cNvPr id="6" name="Connector 5"/>
              <p:cNvCxnSpPr/>
              <p:nvPr/>
            </p:nvCxnSpPr>
            <p:spPr>
              <a:xfrm>
                <a:off x="800100" y="1681460"/>
                <a:ext cx="7543800" cy="0"/>
              </a:xfrm>
              <a:prstGeom prst="line">
                <a:avLst/>
              </a:prstGeom>
              <a:ln w="19050" cap="flat">
                <a:solidFill>
                  <a:srgbClr val="154734"/>
                </a:solidFill>
              </a:ln>
            </p:spPr>
          </p:cxnSp>
          <p:cxnSp>
            <p:nvCxnSpPr>
              <p:cNvPr id="7" name="Connector 6"/>
              <p:cNvCxnSpPr/>
              <p:nvPr/>
            </p:nvCxnSpPr>
            <p:spPr>
              <a:xfrm>
                <a:off x="800100" y="1643360"/>
                <a:ext cx="0" cy="76200"/>
              </a:xfrm>
              <a:prstGeom prst="line">
                <a:avLst/>
              </a:prstGeom>
              <a:ln w="12700" cap="flat">
                <a:solidFill>
                  <a:srgbClr val="5B6770"/>
                </a:solidFill>
              </a:ln>
            </p:spPr>
          </p:cxnSp>
          <p:cxnSp>
            <p:nvCxnSpPr>
              <p:cNvPr id="8" name="Connector 7"/>
              <p:cNvCxnSpPr/>
              <p:nvPr/>
            </p:nvCxnSpPr>
            <p:spPr>
              <a:xfrm>
                <a:off x="1555750" y="1643360"/>
                <a:ext cx="0" cy="76200"/>
              </a:xfrm>
              <a:prstGeom prst="line">
                <a:avLst/>
              </a:prstGeom>
              <a:ln w="12700" cap="flat">
                <a:solidFill>
                  <a:srgbClr val="5B6770"/>
                </a:solidFill>
              </a:ln>
            </p:spPr>
          </p:cxnSp>
          <p:cxnSp>
            <p:nvCxnSpPr>
              <p:cNvPr id="9" name="Connector 8"/>
              <p:cNvCxnSpPr/>
              <p:nvPr/>
            </p:nvCxnSpPr>
            <p:spPr>
              <a:xfrm>
                <a:off x="2311400" y="1643360"/>
                <a:ext cx="0" cy="76200"/>
              </a:xfrm>
              <a:prstGeom prst="line">
                <a:avLst/>
              </a:prstGeom>
              <a:ln w="12700" cap="flat">
                <a:solidFill>
                  <a:srgbClr val="5B6770"/>
                </a:solidFill>
              </a:ln>
            </p:spPr>
          </p:cxnSp>
          <p:cxnSp>
            <p:nvCxnSpPr>
              <p:cNvPr id="10" name="Connector 9"/>
              <p:cNvCxnSpPr/>
              <p:nvPr/>
            </p:nvCxnSpPr>
            <p:spPr>
              <a:xfrm>
                <a:off x="3060700" y="1643360"/>
                <a:ext cx="0" cy="76200"/>
              </a:xfrm>
              <a:prstGeom prst="line">
                <a:avLst/>
              </a:prstGeom>
              <a:ln w="12700" cap="flat">
                <a:solidFill>
                  <a:srgbClr val="5B6770"/>
                </a:solidFill>
              </a:ln>
            </p:spPr>
          </p:cxnSp>
          <p:cxnSp>
            <p:nvCxnSpPr>
              <p:cNvPr id="11" name="Connector 10"/>
              <p:cNvCxnSpPr/>
              <p:nvPr/>
            </p:nvCxnSpPr>
            <p:spPr>
              <a:xfrm>
                <a:off x="3816350" y="1643360"/>
                <a:ext cx="0" cy="76200"/>
              </a:xfrm>
              <a:prstGeom prst="line">
                <a:avLst/>
              </a:prstGeom>
              <a:ln w="12700" cap="flat">
                <a:solidFill>
                  <a:srgbClr val="5B6770"/>
                </a:solidFill>
              </a:ln>
            </p:spPr>
          </p:cxnSp>
          <p:cxnSp>
            <p:nvCxnSpPr>
              <p:cNvPr id="12" name="Connector 11"/>
              <p:cNvCxnSpPr/>
              <p:nvPr/>
            </p:nvCxnSpPr>
            <p:spPr>
              <a:xfrm>
                <a:off x="4572000" y="1643360"/>
                <a:ext cx="0" cy="76200"/>
              </a:xfrm>
              <a:prstGeom prst="line">
                <a:avLst/>
              </a:prstGeom>
              <a:ln w="12700" cap="flat">
                <a:solidFill>
                  <a:srgbClr val="5B6770"/>
                </a:solidFill>
              </a:ln>
            </p:spPr>
          </p:cxnSp>
          <p:cxnSp>
            <p:nvCxnSpPr>
              <p:cNvPr id="13" name="Connector 12"/>
              <p:cNvCxnSpPr/>
              <p:nvPr/>
            </p:nvCxnSpPr>
            <p:spPr>
              <a:xfrm>
                <a:off x="5327650" y="1643360"/>
                <a:ext cx="0" cy="76200"/>
              </a:xfrm>
              <a:prstGeom prst="line">
                <a:avLst/>
              </a:prstGeom>
              <a:ln w="12700" cap="flat">
                <a:solidFill>
                  <a:srgbClr val="5B6770"/>
                </a:solidFill>
              </a:ln>
            </p:spPr>
          </p:cxnSp>
          <p:cxnSp>
            <p:nvCxnSpPr>
              <p:cNvPr id="14" name="Connector 13"/>
              <p:cNvCxnSpPr/>
              <p:nvPr/>
            </p:nvCxnSpPr>
            <p:spPr>
              <a:xfrm>
                <a:off x="6083300" y="1643360"/>
                <a:ext cx="0" cy="76200"/>
              </a:xfrm>
              <a:prstGeom prst="line">
                <a:avLst/>
              </a:prstGeom>
              <a:ln w="12700" cap="flat">
                <a:solidFill>
                  <a:srgbClr val="5B6770"/>
                </a:solidFill>
              </a:ln>
            </p:spPr>
          </p:cxnSp>
          <p:cxnSp>
            <p:nvCxnSpPr>
              <p:cNvPr id="15" name="Connector 14"/>
              <p:cNvCxnSpPr/>
              <p:nvPr/>
            </p:nvCxnSpPr>
            <p:spPr>
              <a:xfrm>
                <a:off x="6832600" y="1643360"/>
                <a:ext cx="0" cy="76200"/>
              </a:xfrm>
              <a:prstGeom prst="line">
                <a:avLst/>
              </a:prstGeom>
              <a:ln w="12700" cap="flat">
                <a:solidFill>
                  <a:srgbClr val="5B6770"/>
                </a:solidFill>
              </a:ln>
            </p:spPr>
          </p:cxnSp>
          <p:cxnSp>
            <p:nvCxnSpPr>
              <p:cNvPr id="16" name="Connector 15"/>
              <p:cNvCxnSpPr/>
              <p:nvPr/>
            </p:nvCxnSpPr>
            <p:spPr>
              <a:xfrm>
                <a:off x="7588250" y="1643360"/>
                <a:ext cx="0" cy="76200"/>
              </a:xfrm>
              <a:prstGeom prst="line">
                <a:avLst/>
              </a:prstGeom>
              <a:ln w="12700" cap="flat">
                <a:solidFill>
                  <a:srgbClr val="5B6770"/>
                </a:solidFill>
              </a:ln>
            </p:spPr>
          </p:cxnSp>
          <p:cxnSp>
            <p:nvCxnSpPr>
              <p:cNvPr id="17" name="Connector 16"/>
              <p:cNvCxnSpPr/>
              <p:nvPr/>
            </p:nvCxnSpPr>
            <p:spPr>
              <a:xfrm>
                <a:off x="8343900" y="1643360"/>
                <a:ext cx="0" cy="76200"/>
              </a:xfrm>
              <a:prstGeom prst="line">
                <a:avLst/>
              </a:prstGeom>
              <a:ln w="12700" cap="flat">
                <a:solidFill>
                  <a:srgbClr val="5B6770"/>
                </a:solidFill>
              </a:ln>
            </p:spPr>
          </p:cxnSp>
          <p:cxnSp>
            <p:nvCxnSpPr>
              <p:cNvPr id="18" name="Connector 17"/>
              <p:cNvCxnSpPr/>
              <p:nvPr/>
            </p:nvCxnSpPr>
            <p:spPr>
              <a:xfrm>
                <a:off x="1930400" y="1338560"/>
                <a:ext cx="0" cy="342900"/>
              </a:xfrm>
              <a:prstGeom prst="line">
                <a:avLst/>
              </a:prstGeom>
              <a:ln w="12700" cap="flat">
                <a:solidFill>
                  <a:srgbClr val="154734"/>
                </a:solidFill>
              </a:ln>
            </p:spPr>
          </p:cxnSp>
          <p:sp>
            <p:nvSpPr>
              <p:cNvPr id="19" name="Dot"/>
              <p:cNvSpPr/>
              <p:nvPr/>
            </p:nvSpPr>
            <p:spPr>
              <a:xfrm>
                <a:off x="1860550" y="1611610"/>
                <a:ext cx="139700" cy="139700"/>
              </a:xfrm>
              <a:prstGeom prst="ellipse">
                <a:avLst/>
              </a:prstGeom>
              <a:solidFill>
                <a:srgbClr val="2E8B57"/>
              </a:solidFill>
              <a:ln>
                <a:noFill/>
              </a:ln>
            </p:spPr>
            <p:txBody>
              <a:bodyPr rtlCol="0" anchor="ctr"/>
              <a:lstStyle/>
              <a:p>
                <a:pPr algn="ctr"/>
                <a:endParaRPr/>
              </a:p>
            </p:txBody>
          </p:sp>
          <p:cxnSp>
            <p:nvCxnSpPr>
              <p:cNvPr id="20" name="Connector 19"/>
              <p:cNvCxnSpPr/>
              <p:nvPr/>
            </p:nvCxnSpPr>
            <p:spPr>
              <a:xfrm>
                <a:off x="2914650" y="1338560"/>
                <a:ext cx="0" cy="342900"/>
              </a:xfrm>
              <a:prstGeom prst="line">
                <a:avLst/>
              </a:prstGeom>
              <a:ln w="12700" cap="flat">
                <a:solidFill>
                  <a:srgbClr val="154734"/>
                </a:solidFill>
              </a:ln>
            </p:spPr>
          </p:cxnSp>
          <p:sp>
            <p:nvSpPr>
              <p:cNvPr id="21" name="Dot"/>
              <p:cNvSpPr/>
              <p:nvPr/>
            </p:nvSpPr>
            <p:spPr>
              <a:xfrm>
                <a:off x="2844800" y="1611610"/>
                <a:ext cx="139700" cy="139700"/>
              </a:xfrm>
              <a:prstGeom prst="ellipse">
                <a:avLst/>
              </a:prstGeom>
              <a:solidFill>
                <a:srgbClr val="2E8B57"/>
              </a:solidFill>
              <a:ln>
                <a:noFill/>
              </a:ln>
            </p:spPr>
            <p:txBody>
              <a:bodyPr rtlCol="0" anchor="ctr"/>
              <a:lstStyle/>
              <a:p>
                <a:pPr algn="ctr"/>
                <a:endParaRPr/>
              </a:p>
            </p:txBody>
          </p:sp>
          <p:cxnSp>
            <p:nvCxnSpPr>
              <p:cNvPr id="22" name="Connector 21"/>
              <p:cNvCxnSpPr/>
              <p:nvPr/>
            </p:nvCxnSpPr>
            <p:spPr>
              <a:xfrm>
                <a:off x="3441700" y="1338560"/>
                <a:ext cx="0" cy="342900"/>
              </a:xfrm>
              <a:prstGeom prst="line">
                <a:avLst/>
              </a:prstGeom>
              <a:ln w="12700" cap="flat">
                <a:solidFill>
                  <a:srgbClr val="154734"/>
                </a:solidFill>
              </a:ln>
            </p:spPr>
          </p:cxnSp>
          <p:sp>
            <p:nvSpPr>
              <p:cNvPr id="23" name="Dot"/>
              <p:cNvSpPr/>
              <p:nvPr/>
            </p:nvSpPr>
            <p:spPr>
              <a:xfrm>
                <a:off x="3371850" y="1611610"/>
                <a:ext cx="139700" cy="139700"/>
              </a:xfrm>
              <a:prstGeom prst="ellipse">
                <a:avLst/>
              </a:prstGeom>
              <a:solidFill>
                <a:srgbClr val="2E8B57"/>
              </a:solidFill>
              <a:ln>
                <a:noFill/>
              </a:ln>
            </p:spPr>
            <p:txBody>
              <a:bodyPr rtlCol="0" anchor="ctr"/>
              <a:lstStyle/>
              <a:p>
                <a:pPr algn="ctr"/>
                <a:endParaRPr/>
              </a:p>
            </p:txBody>
          </p:sp>
          <p:cxnSp>
            <p:nvCxnSpPr>
              <p:cNvPr id="24" name="Connector 23"/>
              <p:cNvCxnSpPr/>
              <p:nvPr/>
            </p:nvCxnSpPr>
            <p:spPr>
              <a:xfrm>
                <a:off x="3968750" y="1338560"/>
                <a:ext cx="0" cy="342900"/>
              </a:xfrm>
              <a:prstGeom prst="line">
                <a:avLst/>
              </a:prstGeom>
              <a:ln w="12700" cap="flat">
                <a:solidFill>
                  <a:srgbClr val="154734"/>
                </a:solidFill>
              </a:ln>
            </p:spPr>
          </p:cxnSp>
          <p:sp>
            <p:nvSpPr>
              <p:cNvPr id="25" name="Dot"/>
              <p:cNvSpPr/>
              <p:nvPr/>
            </p:nvSpPr>
            <p:spPr>
              <a:xfrm>
                <a:off x="3898900" y="1611610"/>
                <a:ext cx="139700" cy="139700"/>
              </a:xfrm>
              <a:prstGeom prst="ellipse">
                <a:avLst/>
              </a:prstGeom>
              <a:solidFill>
                <a:srgbClr val="2E8B57"/>
              </a:solidFill>
              <a:ln>
                <a:noFill/>
              </a:ln>
            </p:spPr>
            <p:txBody>
              <a:bodyPr rtlCol="0" anchor="ctr"/>
              <a:lstStyle/>
              <a:p>
                <a:pPr algn="ctr"/>
                <a:endParaRPr/>
              </a:p>
            </p:txBody>
          </p:sp>
          <p:cxnSp>
            <p:nvCxnSpPr>
              <p:cNvPr id="45" name="Connector 25"/>
              <p:cNvCxnSpPr/>
              <p:nvPr/>
            </p:nvCxnSpPr>
            <p:spPr>
              <a:xfrm>
                <a:off x="6381750" y="1338560"/>
                <a:ext cx="0" cy="342900"/>
              </a:xfrm>
              <a:prstGeom prst="line">
                <a:avLst/>
              </a:prstGeom>
              <a:ln w="12700" cap="flat">
                <a:solidFill>
                  <a:srgbClr val="154734"/>
                </a:solidFill>
              </a:ln>
            </p:spPr>
          </p:cxnSp>
          <p:sp>
            <p:nvSpPr>
              <p:cNvPr id="27" name="Dot"/>
              <p:cNvSpPr/>
              <p:nvPr/>
            </p:nvSpPr>
            <p:spPr>
              <a:xfrm>
                <a:off x="6311900" y="1611610"/>
                <a:ext cx="139700" cy="139700"/>
              </a:xfrm>
              <a:prstGeom prst="ellipse">
                <a:avLst/>
              </a:prstGeom>
              <a:solidFill>
                <a:srgbClr val="D46A00"/>
              </a:solidFill>
              <a:ln>
                <a:noFill/>
              </a:ln>
            </p:spPr>
            <p:txBody>
              <a:bodyPr rtlCol="0" anchor="ctr"/>
              <a:lstStyle/>
              <a:p>
                <a:pPr algn="ctr"/>
                <a:endParaRPr/>
              </a:p>
            </p:txBody>
          </p:sp>
          <p:cxnSp>
            <p:nvCxnSpPr>
              <p:cNvPr id="28" name="Connector 27"/>
              <p:cNvCxnSpPr/>
              <p:nvPr/>
            </p:nvCxnSpPr>
            <p:spPr>
              <a:xfrm>
                <a:off x="7740650" y="1338560"/>
                <a:ext cx="0" cy="342900"/>
              </a:xfrm>
              <a:prstGeom prst="line">
                <a:avLst/>
              </a:prstGeom>
              <a:ln w="12700" cap="flat">
                <a:solidFill>
                  <a:srgbClr val="154734"/>
                </a:solidFill>
              </a:ln>
            </p:spPr>
          </p:cxnSp>
          <p:sp>
            <p:nvSpPr>
              <p:cNvPr id="29" name="Dot"/>
              <p:cNvSpPr/>
              <p:nvPr/>
            </p:nvSpPr>
            <p:spPr>
              <a:xfrm>
                <a:off x="7670800" y="1611610"/>
                <a:ext cx="139700" cy="139700"/>
              </a:xfrm>
              <a:prstGeom prst="ellipse">
                <a:avLst/>
              </a:prstGeom>
              <a:solidFill>
                <a:srgbClr val="D46A00"/>
              </a:solidFill>
              <a:ln>
                <a:noFill/>
              </a:ln>
            </p:spPr>
            <p:txBody>
              <a:bodyPr rtlCol="0" anchor="ctr"/>
              <a:lstStyle/>
              <a:p>
                <a:pPr algn="ctr"/>
                <a:endParaRPr/>
              </a:p>
            </p:txBody>
          </p:sp>
        </p:grpSp>
        <p:sp>
          <p:nvSpPr>
            <p:cNvPr id="30" name="Text: hydrogel ~kPa"/>
            <p:cNvSpPr txBox="1"/>
            <p:nvPr/>
          </p:nvSpPr>
          <p:spPr>
            <a:xfrm>
              <a:off x="1276350" y="1084560"/>
              <a:ext cx="1308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1" i="0">
                  <a:solidFill>
                    <a:srgbClr val="154734"/>
                  </a:solidFill>
                  <a:latin typeface="Arial"/>
                </a:rPr>
                <a:t>hydrogel ~kPa</a:t>
              </a:r>
            </a:p>
          </p:txBody>
        </p:sp>
        <p:sp>
          <p:nvSpPr>
            <p:cNvPr id="31" name="Text: Ecoflex"/>
            <p:cNvSpPr txBox="1"/>
            <p:nvPr/>
          </p:nvSpPr>
          <p:spPr>
            <a:xfrm>
              <a:off x="2260600" y="1084560"/>
              <a:ext cx="1308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1" i="0">
                  <a:solidFill>
                    <a:srgbClr val="154734"/>
                  </a:solidFill>
                  <a:latin typeface="Arial"/>
                </a:rPr>
                <a:t>Ecoflex</a:t>
              </a:r>
            </a:p>
          </p:txBody>
        </p:sp>
        <p:sp>
          <p:nvSpPr>
            <p:cNvPr id="32" name="Text: skin"/>
            <p:cNvSpPr txBox="1"/>
            <p:nvPr/>
          </p:nvSpPr>
          <p:spPr>
            <a:xfrm>
              <a:off x="2787650" y="1084560"/>
              <a:ext cx="1308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1" i="0">
                  <a:solidFill>
                    <a:srgbClr val="154734"/>
                  </a:solidFill>
                  <a:latin typeface="Arial"/>
                </a:rPr>
                <a:t>skin</a:t>
              </a:r>
            </a:p>
          </p:txBody>
        </p:sp>
        <p:sp>
          <p:nvSpPr>
            <p:cNvPr id="33" name="Text: PDMS"/>
            <p:cNvSpPr txBox="1"/>
            <p:nvPr/>
          </p:nvSpPr>
          <p:spPr>
            <a:xfrm>
              <a:off x="3314700" y="1084560"/>
              <a:ext cx="1308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1" i="0">
                  <a:solidFill>
                    <a:srgbClr val="154734"/>
                  </a:solidFill>
                  <a:latin typeface="Arial"/>
                </a:rPr>
                <a:t>PDMS</a:t>
              </a:r>
            </a:p>
          </p:txBody>
        </p:sp>
        <p:sp>
          <p:nvSpPr>
            <p:cNvPr id="34" name="Text: polyimide ~2.5 GPa"/>
            <p:cNvSpPr txBox="1"/>
            <p:nvPr/>
          </p:nvSpPr>
          <p:spPr>
            <a:xfrm>
              <a:off x="5727700" y="1084560"/>
              <a:ext cx="1308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1" i="0">
                  <a:solidFill>
                    <a:srgbClr val="154734"/>
                  </a:solidFill>
                  <a:latin typeface="Arial"/>
                </a:rPr>
                <a:t>polyimide ~2.5 GPa</a:t>
              </a:r>
            </a:p>
          </p:txBody>
        </p:sp>
        <p:sp>
          <p:nvSpPr>
            <p:cNvPr id="35" name="Text: silicon ~160 GPa"/>
            <p:cNvSpPr txBox="1"/>
            <p:nvPr/>
          </p:nvSpPr>
          <p:spPr>
            <a:xfrm>
              <a:off x="7086600" y="1084560"/>
              <a:ext cx="1308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1" i="0">
                  <a:solidFill>
                    <a:srgbClr val="154734"/>
                  </a:solidFill>
                  <a:latin typeface="Arial"/>
                </a:rPr>
                <a:t>silicon ~160 GPa</a:t>
              </a:r>
            </a:p>
          </p:txBody>
        </p:sp>
        <p:sp>
          <p:nvSpPr>
            <p:cNvPr id="36" name="Text: 1 kPa"/>
            <p:cNvSpPr txBox="1"/>
            <p:nvPr/>
          </p:nvSpPr>
          <p:spPr>
            <a:xfrm>
              <a:off x="1092200" y="1770360"/>
              <a:ext cx="927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0" i="0">
                  <a:solidFill>
                    <a:srgbClr val="5B6770"/>
                  </a:solidFill>
                  <a:latin typeface="Arial"/>
                </a:rPr>
                <a:t>1 kPa</a:t>
              </a:r>
            </a:p>
          </p:txBody>
        </p:sp>
        <p:sp>
          <p:nvSpPr>
            <p:cNvPr id="37" name="Text: 1 MPa"/>
            <p:cNvSpPr txBox="1"/>
            <p:nvPr/>
          </p:nvSpPr>
          <p:spPr>
            <a:xfrm>
              <a:off x="3352800" y="1770360"/>
              <a:ext cx="927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0" i="0">
                  <a:solidFill>
                    <a:srgbClr val="5B6770"/>
                  </a:solidFill>
                  <a:latin typeface="Arial"/>
                </a:rPr>
                <a:t>1 MPa</a:t>
              </a:r>
            </a:p>
          </p:txBody>
        </p:sp>
        <p:sp>
          <p:nvSpPr>
            <p:cNvPr id="38" name="Text: 1 GPa"/>
            <p:cNvSpPr txBox="1"/>
            <p:nvPr/>
          </p:nvSpPr>
          <p:spPr>
            <a:xfrm>
              <a:off x="5619750" y="1770360"/>
              <a:ext cx="927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0" i="0">
                  <a:solidFill>
                    <a:srgbClr val="5B6770"/>
                  </a:solidFill>
                  <a:latin typeface="Arial"/>
                </a:rPr>
                <a:t>1 GPa</a:t>
              </a:r>
            </a:p>
          </p:txBody>
        </p:sp>
        <p:sp>
          <p:nvSpPr>
            <p:cNvPr id="39" name="Text: 100 GPa"/>
            <p:cNvSpPr txBox="1"/>
            <p:nvPr/>
          </p:nvSpPr>
          <p:spPr>
            <a:xfrm>
              <a:off x="7124700" y="1770360"/>
              <a:ext cx="927100" cy="146050"/>
            </a:xfrm>
            <a:prstGeom prst="rect">
              <a:avLst/>
            </a:prstGeom>
            <a:noFill/>
          </p:spPr>
          <p:txBody>
            <a:bodyPr wrap="square" lIns="0" tIns="0" rIns="0" bIns="0" anchor="t">
              <a:noAutofit/>
            </a:bodyPr>
            <a:lstStyle/>
            <a:p>
              <a:pPr algn="ctr">
                <a:lnSpc>
                  <a:spcPts val="1150"/>
                </a:lnSpc>
                <a:spcBef>
                  <a:spcPts val="0"/>
                </a:spcBef>
                <a:spcAft>
                  <a:spcPts val="0"/>
                </a:spcAft>
              </a:pPr>
              <a:r>
                <a:rPr sz="1000" b="0" i="0">
                  <a:solidFill>
                    <a:srgbClr val="5B6770"/>
                  </a:solidFill>
                  <a:latin typeface="Arial"/>
                </a:rPr>
                <a:t>100 GPa</a:t>
              </a:r>
            </a:p>
          </p:txBody>
        </p:sp>
        <p:sp>
          <p:nvSpPr>
            <p:cNvPr id="40" name="Text: soft-tissue window"/>
            <p:cNvSpPr txBox="1"/>
            <p:nvPr/>
          </p:nvSpPr>
          <p:spPr>
            <a:xfrm>
              <a:off x="1816100" y="1770360"/>
              <a:ext cx="1562100" cy="14605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2E8B57"/>
                  </a:solidFill>
                  <a:latin typeface="Arial"/>
                </a:rPr>
                <a:t>soft-tissue window</a:t>
              </a:r>
            </a:p>
          </p:txBody>
        </p:sp>
        <p:sp>
          <p:nvSpPr>
            <p:cNvPr id="41" name="Text: ~10⁵–10⁶× stiffer than skin →"/>
            <p:cNvSpPr txBox="1"/>
            <p:nvPr/>
          </p:nvSpPr>
          <p:spPr>
            <a:xfrm>
              <a:off x="4267200" y="1376660"/>
              <a:ext cx="2473325" cy="14605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D46A00"/>
                  </a:solidFill>
                  <a:latin typeface="Arial"/>
                </a:rPr>
                <a:t>~10⁵–10⁶× stiffer than skin →</a:t>
              </a:r>
            </a:p>
          </p:txBody>
        </p:sp>
      </p:grpSp>
      <p:graphicFrame>
        <p:nvGraphicFramePr>
          <p:cNvPr id="42" name="Table"/>
          <p:cNvGraphicFramePr>
            <a:graphicFrameLocks noGrp="1"/>
          </p:cNvGraphicFramePr>
          <p:nvPr>
            <p:extLst>
              <p:ext uri="{D42A27DB-BD31-4B8C-83A1-F6EECF244321}">
                <p14:modId xmlns:p14="http://schemas.microsoft.com/office/powerpoint/2010/main" val="2164799720"/>
              </p:ext>
            </p:extLst>
          </p:nvPr>
        </p:nvGraphicFramePr>
        <p:xfrm>
          <a:off x="609600" y="2506940"/>
          <a:ext cx="7924800" cy="2796777"/>
        </p:xfrm>
        <a:graphic>
          <a:graphicData uri="http://schemas.openxmlformats.org/drawingml/2006/table">
            <a:tbl>
              <a:tblPr>
                <a:tableStyleId>{2D5ABB26-0587-4C30-8999-92F81FD0307C}</a:tableStyleId>
              </a:tblPr>
              <a:tblGrid>
                <a:gridCol w="1267940">
                  <a:extLst>
                    <a:ext uri="{9D8B030D-6E8A-4147-A177-3AD203B41FA5}">
                      <a16:colId xmlns:a16="http://schemas.microsoft.com/office/drawing/2014/main" val="20000"/>
                    </a:ext>
                  </a:extLst>
                </a:gridCol>
                <a:gridCol w="15849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gridCol w="1664140">
                  <a:extLst>
                    <a:ext uri="{9D8B030D-6E8A-4147-A177-3AD203B41FA5}">
                      <a16:colId xmlns:a16="http://schemas.microsoft.com/office/drawing/2014/main" val="20003"/>
                    </a:ext>
                  </a:extLst>
                </a:gridCol>
                <a:gridCol w="1426620">
                  <a:extLst>
                    <a:ext uri="{9D8B030D-6E8A-4147-A177-3AD203B41FA5}">
                      <a16:colId xmlns:a16="http://schemas.microsoft.com/office/drawing/2014/main" val="20004"/>
                    </a:ext>
                  </a:extLst>
                </a:gridCol>
              </a:tblGrid>
              <a:tr h="463153">
                <a:tc>
                  <a:txBody>
                    <a:bodyPr/>
                    <a:lstStyle/>
                    <a:p>
                      <a:pPr algn="l">
                        <a:lnSpc>
                          <a:spcPts val="1322"/>
                        </a:lnSpc>
                        <a:spcBef>
                          <a:spcPts val="0"/>
                        </a:spcBef>
                        <a:spcAft>
                          <a:spcPts val="0"/>
                        </a:spcAft>
                      </a:pPr>
                      <a:r>
                        <a:rPr sz="1150" b="1" i="0">
                          <a:solidFill>
                            <a:srgbClr val="FFFFFF"/>
                          </a:solidFill>
                          <a:latin typeface="Arial"/>
                        </a:rPr>
                        <a:t>Table 2 · Material</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22"/>
                        </a:lnSpc>
                        <a:spcBef>
                          <a:spcPts val="0"/>
                        </a:spcBef>
                        <a:spcAft>
                          <a:spcPts val="0"/>
                        </a:spcAft>
                      </a:pPr>
                      <a:r>
                        <a:rPr sz="1150" b="1" i="0">
                          <a:solidFill>
                            <a:srgbClr val="FFFFFF"/>
                          </a:solidFill>
                          <a:latin typeface="Arial"/>
                        </a:rPr>
                        <a:t>Key property</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22"/>
                        </a:lnSpc>
                        <a:spcBef>
                          <a:spcPts val="0"/>
                        </a:spcBef>
                        <a:spcAft>
                          <a:spcPts val="0"/>
                        </a:spcAft>
                      </a:pPr>
                      <a:r>
                        <a:rPr sz="1150" b="1" i="0">
                          <a:solidFill>
                            <a:srgbClr val="FFFFFF"/>
                          </a:solidFill>
                          <a:latin typeface="Arial"/>
                        </a:rPr>
                        <a:t>Reported metric</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22"/>
                        </a:lnSpc>
                        <a:spcBef>
                          <a:spcPts val="0"/>
                        </a:spcBef>
                        <a:spcAft>
                          <a:spcPts val="0"/>
                        </a:spcAft>
                      </a:pPr>
                      <a:r>
                        <a:rPr sz="1150" b="1" i="0">
                          <a:solidFill>
                            <a:srgbClr val="FFFFFF"/>
                          </a:solidFill>
                          <a:latin typeface="Arial"/>
                        </a:rPr>
                        <a:t>Used for</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22"/>
                        </a:lnSpc>
                        <a:spcBef>
                          <a:spcPts val="0"/>
                        </a:spcBef>
                        <a:spcAft>
                          <a:spcPts val="0"/>
                        </a:spcAft>
                      </a:pPr>
                      <a:r>
                        <a:rPr sz="1150" b="1" i="0">
                          <a:solidFill>
                            <a:srgbClr val="FFFFFF"/>
                          </a:solidFill>
                          <a:latin typeface="Arial"/>
                        </a:rPr>
                        <a:t>Limitation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extLst>
                  <a:ext uri="{0D108BD9-81ED-4DB2-BD59-A6C34878D82A}">
                    <a16:rowId xmlns:a16="http://schemas.microsoft.com/office/drawing/2014/main" val="10000"/>
                  </a:ext>
                </a:extLst>
              </a:tr>
              <a:tr h="291703">
                <a:tc>
                  <a:txBody>
                    <a:bodyPr/>
                    <a:lstStyle/>
                    <a:p>
                      <a:pPr algn="l">
                        <a:lnSpc>
                          <a:spcPts val="1322"/>
                        </a:lnSpc>
                        <a:spcBef>
                          <a:spcPts val="0"/>
                        </a:spcBef>
                        <a:spcAft>
                          <a:spcPts val="0"/>
                        </a:spcAft>
                      </a:pPr>
                      <a:r>
                        <a:rPr sz="1150" b="1" i="0">
                          <a:solidFill>
                            <a:srgbClr val="333333"/>
                          </a:solidFill>
                          <a:latin typeface="Arial"/>
                        </a:rPr>
                        <a:t>Graphene</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high σ, flexible</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glucose 0.1–10 µM, &lt;1 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ECG, sweat, strain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costly to make</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1"/>
                  </a:ext>
                </a:extLst>
              </a:tr>
              <a:tr h="291703">
                <a:tc>
                  <a:txBody>
                    <a:bodyPr/>
                    <a:lstStyle/>
                    <a:p>
                      <a:pPr algn="l">
                        <a:lnSpc>
                          <a:spcPts val="1322"/>
                        </a:lnSpc>
                        <a:spcBef>
                          <a:spcPts val="0"/>
                        </a:spcBef>
                        <a:spcAft>
                          <a:spcPts val="0"/>
                        </a:spcAft>
                      </a:pPr>
                      <a:r>
                        <a:rPr sz="1150" b="1" i="0">
                          <a:solidFill>
                            <a:srgbClr val="333333"/>
                          </a:solidFill>
                          <a:latin typeface="Arial"/>
                        </a:rPr>
                        <a:t>PDMS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stretch ≤ 300%</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E 0.1–3 MPa, &gt;10k cycles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substrates, patches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insulating</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2"/>
                  </a:ext>
                </a:extLst>
              </a:tr>
              <a:tr h="291703">
                <a:tc>
                  <a:txBody>
                    <a:bodyPr/>
                    <a:lstStyle/>
                    <a:p>
                      <a:pPr algn="l">
                        <a:lnSpc>
                          <a:spcPts val="1322"/>
                        </a:lnSpc>
                        <a:spcBef>
                          <a:spcPts val="0"/>
                        </a:spcBef>
                        <a:spcAft>
                          <a:spcPts val="0"/>
                        </a:spcAft>
                      </a:pPr>
                      <a:r>
                        <a:rPr sz="1150" b="1" i="0">
                          <a:solidFill>
                            <a:srgbClr val="333333"/>
                          </a:solidFill>
                          <a:latin typeface="Arial"/>
                        </a:rPr>
                        <a:t>PEDOT:PSS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σ 100–1000 S/cm</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50–300 Ω/sq, &gt;1 month</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OECTs, neural</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humidity-sensitive</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3"/>
                  </a:ext>
                </a:extLst>
              </a:tr>
              <a:tr h="291703">
                <a:tc>
                  <a:txBody>
                    <a:bodyPr/>
                    <a:lstStyle/>
                    <a:p>
                      <a:pPr algn="l">
                        <a:lnSpc>
                          <a:spcPts val="1322"/>
                        </a:lnSpc>
                        <a:spcBef>
                          <a:spcPts val="0"/>
                        </a:spcBef>
                        <a:spcAft>
                          <a:spcPts val="0"/>
                        </a:spcAft>
                      </a:pPr>
                      <a:r>
                        <a:rPr sz="1150" b="1" i="0">
                          <a:solidFill>
                            <a:srgbClr val="333333"/>
                          </a:solidFill>
                          <a:latin typeface="Arial"/>
                        </a:rPr>
                        <a:t>Hydrogel</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E ~ kPa, ionic</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swelling 200–500%</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wounds, drug delivery</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dehydrates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4"/>
                  </a:ext>
                </a:extLst>
              </a:tr>
              <a:tr h="291703">
                <a:tc>
                  <a:txBody>
                    <a:bodyPr/>
                    <a:lstStyle/>
                    <a:p>
                      <a:pPr algn="l">
                        <a:lnSpc>
                          <a:spcPts val="1322"/>
                        </a:lnSpc>
                        <a:spcBef>
                          <a:spcPts val="0"/>
                        </a:spcBef>
                        <a:spcAft>
                          <a:spcPts val="0"/>
                        </a:spcAft>
                      </a:pPr>
                      <a:r>
                        <a:rPr sz="1150" b="1" i="0">
                          <a:solidFill>
                            <a:srgbClr val="333333"/>
                          </a:solidFill>
                          <a:latin typeface="Arial"/>
                        </a:rPr>
                        <a:t>Ag nanowires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σ ~10⁶ S/m</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&gt;90% transparent</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clear electrodes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oxidation risk</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5"/>
                  </a:ext>
                </a:extLst>
              </a:tr>
              <a:tr h="291703">
                <a:tc>
                  <a:txBody>
                    <a:bodyPr/>
                    <a:lstStyle/>
                    <a:p>
                      <a:pPr algn="l">
                        <a:lnSpc>
                          <a:spcPts val="1322"/>
                        </a:lnSpc>
                        <a:spcBef>
                          <a:spcPts val="0"/>
                        </a:spcBef>
                        <a:spcAft>
                          <a:spcPts val="0"/>
                        </a:spcAft>
                      </a:pPr>
                      <a:r>
                        <a:rPr sz="1150" b="1" i="0">
                          <a:solidFill>
                            <a:srgbClr val="333333"/>
                          </a:solidFill>
                          <a:latin typeface="Arial"/>
                        </a:rPr>
                        <a:t>Ecoflex</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stretch ≤ 900%</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tensile ~1 MPa</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motion sensors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low conductivity</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6"/>
                  </a:ext>
                </a:extLst>
              </a:tr>
              <a:tr h="291703">
                <a:tc>
                  <a:txBody>
                    <a:bodyPr/>
                    <a:lstStyle/>
                    <a:p>
                      <a:pPr algn="l">
                        <a:lnSpc>
                          <a:spcPts val="1322"/>
                        </a:lnSpc>
                        <a:spcBef>
                          <a:spcPts val="0"/>
                        </a:spcBef>
                        <a:spcAft>
                          <a:spcPts val="0"/>
                        </a:spcAft>
                      </a:pPr>
                      <a:r>
                        <a:rPr sz="1150" b="1" i="0">
                          <a:solidFill>
                            <a:srgbClr val="333333"/>
                          </a:solidFill>
                          <a:latin typeface="Arial"/>
                        </a:rPr>
                        <a:t>MXene Ti₃C₂Tₓ</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metallic, hydrophilic</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500–1500 F/cm³</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energy storage</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oxidizes; scale-up</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7"/>
                  </a:ext>
                </a:extLst>
              </a:tr>
              <a:tr h="291703">
                <a:tc>
                  <a:txBody>
                    <a:bodyPr/>
                    <a:lstStyle/>
                    <a:p>
                      <a:pPr algn="l">
                        <a:lnSpc>
                          <a:spcPts val="1322"/>
                        </a:lnSpc>
                        <a:spcBef>
                          <a:spcPts val="0"/>
                        </a:spcBef>
                        <a:spcAft>
                          <a:spcPts val="0"/>
                        </a:spcAft>
                      </a:pPr>
                      <a:r>
                        <a:rPr sz="1150" b="1" i="0">
                          <a:solidFill>
                            <a:srgbClr val="333333"/>
                          </a:solidFill>
                          <a:latin typeface="Arial"/>
                        </a:rPr>
                        <a:t>Cellulose NF</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biodegradable, cheap</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(row incomplete in paper)</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dirty="0">
                          <a:solidFill>
                            <a:srgbClr val="333333"/>
                          </a:solidFill>
                          <a:latin typeface="Arial"/>
                        </a:rPr>
                        <a:t>—</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8"/>
                  </a:ext>
                </a:extLst>
              </a:tr>
            </a:tbl>
          </a:graphicData>
        </a:graphic>
      </p:graphicFrame>
      <p:sp>
        <p:nvSpPr>
          <p:cNvPr id="43" name="Text: Why thin films work: bending stiffness D"/>
          <p:cNvSpPr txBox="1"/>
          <p:nvPr/>
        </p:nvSpPr>
        <p:spPr>
          <a:xfrm>
            <a:off x="609600" y="5437068"/>
            <a:ext cx="8122920" cy="377031"/>
          </a:xfrm>
          <a:prstGeom prst="rect">
            <a:avLst/>
          </a:prstGeom>
          <a:noFill/>
        </p:spPr>
        <p:txBody>
          <a:bodyPr wrap="square" lIns="0" tIns="0" rIns="0" bIns="0" anchor="t">
            <a:noAutofit/>
          </a:bodyPr>
          <a:lstStyle/>
          <a:p>
            <a:pPr algn="l">
              <a:lnSpc>
                <a:spcPts val="1485"/>
              </a:lnSpc>
              <a:spcBef>
                <a:spcPts val="0"/>
              </a:spcBef>
              <a:spcAft>
                <a:spcPts val="0"/>
              </a:spcAft>
            </a:pPr>
            <a:r>
              <a:rPr sz="1100" b="0" i="0">
                <a:solidFill>
                  <a:srgbClr val="5B6770"/>
                </a:solidFill>
                <a:latin typeface="Arial"/>
              </a:rPr>
              <a:t>Why thin films work: bending stiffness D = E·t³ / 12(1−ν²), so a 1 µm film is 10⁹× less stiff in bending than a 1 mm slab of the same material.</a:t>
            </a:r>
          </a:p>
        </p:txBody>
      </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11</a:t>
            </a:fld>
            <a:endParaRPr lang="en-US" dirty="0">
              <a:solidFill>
                <a:srgbClr val="FFFFFF"/>
              </a:solidFill>
              <a:latin typeface="Arial" panose="020B0604020202020204"/>
            </a:endParaRPr>
          </a:p>
        </p:txBody>
      </p:sp>
      <p:sp>
        <p:nvSpPr>
          <p:cNvPr id="44"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Power is the hard ceiling on on-body intelligence</a:t>
            </a:r>
          </a:p>
        </p:txBody>
      </p:sp>
      <p:sp>
        <p:nvSpPr>
          <p:cNvPr id="3" name="Text: METHODS · POWER · FIG. 6"/>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POWER · FIG. 6</a:t>
            </a:r>
          </a:p>
        </p:txBody>
      </p:sp>
      <p:grpSp>
        <p:nvGrpSpPr>
          <p:cNvPr id="14" name="Group 13">
            <a:extLst>
              <a:ext uri="{FF2B5EF4-FFF2-40B4-BE49-F238E27FC236}">
                <a16:creationId xmlns:a16="http://schemas.microsoft.com/office/drawing/2014/main" id="{648C3D4A-E630-0984-3C9F-7A56ABD4159D}"/>
              </a:ext>
            </a:extLst>
          </p:cNvPr>
          <p:cNvGrpSpPr/>
          <p:nvPr/>
        </p:nvGrpSpPr>
        <p:grpSpPr>
          <a:xfrm>
            <a:off x="609600" y="1247262"/>
            <a:ext cx="8033808" cy="2717800"/>
            <a:chOff x="609600" y="1021060"/>
            <a:chExt cx="8033808" cy="2717800"/>
          </a:xfrm>
        </p:grpSpPr>
        <p:sp>
          <p:nvSpPr>
            <p:cNvPr id="4" name="Panel"/>
            <p:cNvSpPr/>
            <p:nvPr/>
          </p:nvSpPr>
          <p:spPr>
            <a:xfrm>
              <a:off x="609600" y="1021060"/>
              <a:ext cx="4064000" cy="2336800"/>
            </a:xfrm>
            <a:prstGeom prst="roundRect">
              <a:avLst>
                <a:gd name="adj" fmla="val 1630"/>
              </a:avLst>
            </a:prstGeom>
            <a:solidFill>
              <a:srgbClr val="FFFFFF"/>
            </a:solidFill>
            <a:ln w="6350" cap="flat">
              <a:solidFill>
                <a:srgbClr val="D8DDDA"/>
              </a:solidFill>
            </a:ln>
          </p:spPr>
          <p:txBody>
            <a:bodyPr rtlCol="0" anchor="ctr"/>
            <a:lstStyle/>
            <a:p>
              <a:pPr algn="ctr"/>
              <a:endParaRPr/>
            </a:p>
          </p:txBody>
        </p:sp>
        <p:pic>
          <p:nvPicPr>
            <p:cNvPr id="5" name="Image (fig6)" descr="Figure 6: self-powered wearable sensors: energy harvested from light, heat, motion, sweat and radio waves is converted by PV, biofuel cell, thermoelectric, piezoelectric, triboelectric, RF and electromagnetic generators or hybrids, stored, and powers a wearable biosensor"/>
            <p:cNvPicPr>
              <a:picLocks noChangeAspect="1"/>
            </p:cNvPicPr>
            <p:nvPr/>
          </p:nvPicPr>
          <p:blipFill>
            <a:blip r:embed="rId3"/>
            <a:stretch>
              <a:fillRect/>
            </a:stretch>
          </p:blipFill>
          <p:spPr>
            <a:xfrm>
              <a:off x="622594" y="1027410"/>
              <a:ext cx="4038012" cy="2324100"/>
            </a:xfrm>
            <a:prstGeom prst="rect">
              <a:avLst/>
            </a:prstGeom>
          </p:spPr>
        </p:pic>
        <p:sp>
          <p:nvSpPr>
            <p:cNvPr id="6" name="Text: Fig. 6 (Rong et al., Sensors 2021): harv"/>
            <p:cNvSpPr txBox="1"/>
            <p:nvPr/>
          </p:nvSpPr>
          <p:spPr>
            <a:xfrm>
              <a:off x="609600" y="3395960"/>
              <a:ext cx="4165600" cy="342900"/>
            </a:xfrm>
            <a:prstGeom prst="rect">
              <a:avLst/>
            </a:prstGeom>
            <a:noFill/>
          </p:spPr>
          <p:txBody>
            <a:bodyPr wrap="square" lIns="0" tIns="0" rIns="0" bIns="0" anchor="t">
              <a:noAutofit/>
            </a:bodyPr>
            <a:lstStyle/>
            <a:p>
              <a:pPr algn="l">
                <a:lnSpc>
                  <a:spcPts val="1350"/>
                </a:lnSpc>
                <a:spcBef>
                  <a:spcPts val="0"/>
                </a:spcBef>
                <a:spcAft>
                  <a:spcPts val="0"/>
                </a:spcAft>
              </a:pPr>
              <a:r>
                <a:rPr sz="1000" b="1" i="0">
                  <a:solidFill>
                    <a:srgbClr val="5B6770"/>
                  </a:solidFill>
                  <a:latin typeface="Arial"/>
                </a:rPr>
                <a:t>Fig. 6</a:t>
              </a:r>
              <a:r>
                <a:rPr sz="1000" b="0" i="0">
                  <a:solidFill>
                    <a:srgbClr val="5B6770"/>
                  </a:solidFill>
                  <a:latin typeface="Arial"/>
                </a:rPr>
                <a:t> (Rong et al., Sensors 2021): harvest → convert → store → sense.</a:t>
              </a:r>
            </a:p>
          </p:txBody>
        </p:sp>
        <p:sp>
          <p:nvSpPr>
            <p:cNvPr id="7" name="Text: Harvesters: photovoltaic, biofuel cell ("/>
            <p:cNvSpPr txBox="1"/>
            <p:nvPr/>
          </p:nvSpPr>
          <p:spPr>
            <a:xfrm>
              <a:off x="4868332" y="1081577"/>
              <a:ext cx="3775075" cy="539948"/>
            </a:xfrm>
            <a:prstGeom prst="rect">
              <a:avLst/>
            </a:prstGeom>
            <a:noFill/>
          </p:spPr>
          <p:txBody>
            <a:bodyPr wrap="square" lIns="0" tIns="0" rIns="0" bIns="0" anchor="t">
              <a:noAutofit/>
            </a:bodyPr>
            <a:lstStyle/>
            <a:p>
              <a:pPr algn="l">
                <a:lnSpc>
                  <a:spcPts val="1417"/>
                </a:lnSpc>
                <a:spcBef>
                  <a:spcPts val="0"/>
                </a:spcBef>
                <a:spcAft>
                  <a:spcPts val="0"/>
                </a:spcAft>
              </a:pPr>
              <a:r>
                <a:rPr sz="1050" b="1" i="0" dirty="0">
                  <a:solidFill>
                    <a:srgbClr val="333333"/>
                  </a:solidFill>
                  <a:latin typeface="Arial"/>
                </a:rPr>
                <a:t>Harvesters:</a:t>
              </a:r>
              <a:r>
                <a:rPr sz="1050" b="0" i="0" dirty="0">
                  <a:solidFill>
                    <a:srgbClr val="333333"/>
                  </a:solidFill>
                  <a:latin typeface="Arial"/>
                </a:rPr>
                <a:t> photovoltaic, biofuel cell (sweat lactate/glucose), thermoelectric, piezo- and triboelectric nanogenerators, RF and electromagnetic; hybrids pair two sources.</a:t>
              </a:r>
            </a:p>
          </p:txBody>
        </p:sp>
        <p:sp>
          <p:nvSpPr>
            <p:cNvPr id="8" name="Text: Reality check: skin-to-air ΔT of ~5 K at"/>
            <p:cNvSpPr txBox="1"/>
            <p:nvPr/>
          </p:nvSpPr>
          <p:spPr>
            <a:xfrm>
              <a:off x="4868333" y="1958478"/>
              <a:ext cx="3775075" cy="359966"/>
            </a:xfrm>
            <a:prstGeom prst="rect">
              <a:avLst/>
            </a:prstGeom>
            <a:noFill/>
          </p:spPr>
          <p:txBody>
            <a:bodyPr wrap="square" lIns="0" tIns="0" rIns="0" bIns="0" anchor="t">
              <a:noAutofit/>
            </a:bodyPr>
            <a:lstStyle/>
            <a:p>
              <a:pPr algn="l">
                <a:lnSpc>
                  <a:spcPts val="1417"/>
                </a:lnSpc>
                <a:spcBef>
                  <a:spcPts val="0"/>
                </a:spcBef>
                <a:spcAft>
                  <a:spcPts val="0"/>
                </a:spcAft>
              </a:pPr>
              <a:r>
                <a:rPr sz="1050" b="1" i="0">
                  <a:solidFill>
                    <a:srgbClr val="333333"/>
                  </a:solidFill>
                  <a:latin typeface="Arial"/>
                </a:rPr>
                <a:t>Reality check:</a:t>
              </a:r>
              <a:r>
                <a:rPr sz="1050" b="0" i="0">
                  <a:solidFill>
                    <a:srgbClr val="333333"/>
                  </a:solidFill>
                  <a:latin typeface="Arial"/>
                </a:rPr>
                <a:t> skin-to-air ΔT of ~5 K at 310 K caps a thermoelectric at the Carnot limit, 5/310 ≈ 1.6%.</a:t>
              </a:r>
            </a:p>
          </p:txBody>
        </p:sp>
        <p:sp>
          <p:nvSpPr>
            <p:cNvPr id="9" name="Text: Reported budgets: 100 mW per analysis (c"/>
            <p:cNvSpPr txBox="1"/>
            <p:nvPr/>
          </p:nvSpPr>
          <p:spPr>
            <a:xfrm>
              <a:off x="4868331" y="2655397"/>
              <a:ext cx="3775075" cy="539948"/>
            </a:xfrm>
            <a:prstGeom prst="rect">
              <a:avLst/>
            </a:prstGeom>
            <a:noFill/>
          </p:spPr>
          <p:txBody>
            <a:bodyPr wrap="square" lIns="0" tIns="0" rIns="0" bIns="0" anchor="t">
              <a:noAutofit/>
            </a:bodyPr>
            <a:lstStyle/>
            <a:p>
              <a:pPr algn="l">
                <a:lnSpc>
                  <a:spcPts val="1417"/>
                </a:lnSpc>
                <a:spcBef>
                  <a:spcPts val="0"/>
                </a:spcBef>
                <a:spcAft>
                  <a:spcPts val="0"/>
                </a:spcAft>
              </a:pPr>
              <a:r>
                <a:rPr sz="1050" b="1" i="0" dirty="0">
                  <a:solidFill>
                    <a:srgbClr val="333333"/>
                  </a:solidFill>
                  <a:latin typeface="Arial"/>
                </a:rPr>
                <a:t>Reported budgets:</a:t>
              </a:r>
              <a:r>
                <a:rPr sz="1050" b="0" i="0" dirty="0">
                  <a:solidFill>
                    <a:srgbClr val="333333"/>
                  </a:solidFill>
                  <a:latin typeface="Arial"/>
                </a:rPr>
                <a:t> 100 </a:t>
              </a:r>
              <a:r>
                <a:rPr sz="1050" b="0" i="0" dirty="0" err="1">
                  <a:solidFill>
                    <a:srgbClr val="333333"/>
                  </a:solidFill>
                  <a:latin typeface="Arial"/>
                </a:rPr>
                <a:t>mW</a:t>
              </a:r>
              <a:r>
                <a:rPr sz="1050" b="0" i="0" dirty="0">
                  <a:solidFill>
                    <a:srgbClr val="333333"/>
                  </a:solidFill>
                  <a:latin typeface="Arial"/>
                </a:rPr>
                <a:t> per analysis (cloud era) → &lt;5 </a:t>
              </a:r>
              <a:r>
                <a:rPr sz="1050" b="0" i="0" dirty="0" err="1">
                  <a:solidFill>
                    <a:srgbClr val="333333"/>
                  </a:solidFill>
                  <a:latin typeface="Arial"/>
                </a:rPr>
                <a:t>mW</a:t>
              </a:r>
              <a:r>
                <a:rPr sz="1050" b="0" i="0" dirty="0">
                  <a:solidFill>
                    <a:srgbClr val="333333"/>
                  </a:solidFill>
                  <a:latin typeface="Arial"/>
                </a:rPr>
                <a:t> </a:t>
              </a:r>
              <a:r>
                <a:rPr sz="1050" b="0" i="0" dirty="0" err="1">
                  <a:solidFill>
                    <a:srgbClr val="333333"/>
                  </a:solidFill>
                  <a:latin typeface="Arial"/>
                </a:rPr>
                <a:t>TinyML</a:t>
              </a:r>
              <a:r>
                <a:rPr sz="1050" b="0" i="0" dirty="0">
                  <a:solidFill>
                    <a:srgbClr val="333333"/>
                  </a:solidFill>
                  <a:latin typeface="Arial"/>
                </a:rPr>
                <a:t> → &lt;1 </a:t>
              </a:r>
              <a:r>
                <a:rPr sz="1050" b="0" i="0" dirty="0" err="1">
                  <a:solidFill>
                    <a:srgbClr val="333333"/>
                  </a:solidFill>
                  <a:latin typeface="Arial"/>
                </a:rPr>
                <a:t>mW</a:t>
              </a:r>
              <a:r>
                <a:rPr sz="1050" b="0" i="0" dirty="0">
                  <a:solidFill>
                    <a:srgbClr val="333333"/>
                  </a:solidFill>
                  <a:latin typeface="Arial"/>
                </a:rPr>
                <a:t> multi-analyte → &lt;10 µW neuromorphic target.</a:t>
              </a:r>
            </a:p>
          </p:txBody>
        </p:sp>
      </p:grpSp>
      <p:sp>
        <p:nvSpPr>
          <p:cNvPr id="10" name="Text: Runtime on a 200 mAh (0.74 Wh) battery a"/>
          <p:cNvSpPr txBox="1"/>
          <p:nvPr/>
        </p:nvSpPr>
        <p:spPr>
          <a:xfrm>
            <a:off x="622594" y="3964517"/>
            <a:ext cx="8160702"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dirty="0">
                <a:solidFill>
                  <a:srgbClr val="154734"/>
                </a:solidFill>
                <a:latin typeface="Arial"/>
              </a:rPr>
              <a:t>Runtime on a 200 </a:t>
            </a:r>
            <a:r>
              <a:rPr sz="1100" b="1" i="0" dirty="0" err="1">
                <a:solidFill>
                  <a:srgbClr val="154734"/>
                </a:solidFill>
                <a:latin typeface="Arial"/>
              </a:rPr>
              <a:t>mAh</a:t>
            </a:r>
            <a:r>
              <a:rPr sz="1100" b="1" i="0" dirty="0">
                <a:solidFill>
                  <a:srgbClr val="154734"/>
                </a:solidFill>
                <a:latin typeface="Arial"/>
              </a:rPr>
              <a:t> (0.74 </a:t>
            </a:r>
            <a:r>
              <a:rPr sz="1100" b="1" i="0" dirty="0" err="1">
                <a:solidFill>
                  <a:srgbClr val="154734"/>
                </a:solidFill>
                <a:latin typeface="Arial"/>
              </a:rPr>
              <a:t>Wh</a:t>
            </a:r>
            <a:r>
              <a:rPr sz="1100" b="1" i="0" dirty="0">
                <a:solidFill>
                  <a:srgbClr val="154734"/>
                </a:solidFill>
                <a:latin typeface="Arial"/>
              </a:rPr>
              <a:t>) battery at each budget</a:t>
            </a:r>
          </a:p>
        </p:txBody>
      </p:sp>
      <p:graphicFrame>
        <p:nvGraphicFramePr>
          <p:cNvPr id="11" name="Chart: battery runtime"/>
          <p:cNvGraphicFramePr>
            <a:graphicFrameLocks noGrp="1"/>
          </p:cNvGraphicFramePr>
          <p:nvPr>
            <p:extLst>
              <p:ext uri="{D42A27DB-BD31-4B8C-83A1-F6EECF244321}">
                <p14:modId xmlns:p14="http://schemas.microsoft.com/office/powerpoint/2010/main" val="1558022030"/>
              </p:ext>
            </p:extLst>
          </p:nvPr>
        </p:nvGraphicFramePr>
        <p:xfrm>
          <a:off x="622595" y="4200658"/>
          <a:ext cx="5829300" cy="1587500"/>
        </p:xfrm>
        <a:graphic>
          <a:graphicData uri="http://schemas.openxmlformats.org/drawingml/2006/chart">
            <c:chart xmlns:c="http://schemas.openxmlformats.org/drawingml/2006/chart" xmlns:r="http://schemas.openxmlformats.org/officeDocument/2006/relationships" r:id="rId4"/>
          </a:graphicData>
        </a:graphic>
      </p:graphicFrame>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12</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grpSp>
        <p:nvGrpSpPr>
          <p:cNvPr id="18" name="Group 17">
            <a:extLst>
              <a:ext uri="{FF2B5EF4-FFF2-40B4-BE49-F238E27FC236}">
                <a16:creationId xmlns:a16="http://schemas.microsoft.com/office/drawing/2014/main" id="{1B7A338C-E966-5936-CF8D-FF63A65FDB97}"/>
              </a:ext>
            </a:extLst>
          </p:cNvPr>
          <p:cNvGrpSpPr/>
          <p:nvPr/>
        </p:nvGrpSpPr>
        <p:grpSpPr>
          <a:xfrm>
            <a:off x="6819186" y="4389747"/>
            <a:ext cx="2048589" cy="870854"/>
            <a:chOff x="6485860" y="5193116"/>
            <a:chExt cx="2048589" cy="870854"/>
          </a:xfrm>
        </p:grpSpPr>
        <p:sp>
          <p:nvSpPr>
            <p:cNvPr id="15" name="Panel">
              <a:extLst>
                <a:ext uri="{FF2B5EF4-FFF2-40B4-BE49-F238E27FC236}">
                  <a16:creationId xmlns:a16="http://schemas.microsoft.com/office/drawing/2014/main" id="{59D67101-7AB9-BA14-9900-29505907717F}"/>
                </a:ext>
              </a:extLst>
            </p:cNvPr>
            <p:cNvSpPr/>
            <p:nvPr/>
          </p:nvSpPr>
          <p:spPr>
            <a:xfrm>
              <a:off x="6485860" y="5232097"/>
              <a:ext cx="2048589" cy="783420"/>
            </a:xfrm>
            <a:prstGeom prst="roundRect">
              <a:avLst>
                <a:gd name="adj" fmla="val 7562"/>
              </a:avLst>
            </a:prstGeom>
            <a:solidFill>
              <a:srgbClr val="EAF4FA"/>
            </a:solidFill>
            <a:ln>
              <a:noFill/>
            </a:ln>
          </p:spPr>
          <p:txBody>
            <a:bodyPr rtlCol="0" anchor="ctr"/>
            <a:lstStyle/>
            <a:p>
              <a:pPr algn="ctr"/>
              <a:endParaRPr/>
            </a:p>
          </p:txBody>
        </p:sp>
        <p:sp>
          <p:nvSpPr>
            <p:cNvPr id="16" name="Text: Interactive: episode-capture model (clin">
              <a:hlinkClick r:id="rId5"/>
              <a:extLst>
                <a:ext uri="{FF2B5EF4-FFF2-40B4-BE49-F238E27FC236}">
                  <a16:creationId xmlns:a16="http://schemas.microsoft.com/office/drawing/2014/main" id="{17B0F501-39E6-62ED-B9FF-4618F1DD6C2A}"/>
                </a:ext>
              </a:extLst>
            </p:cNvPr>
            <p:cNvSpPr txBox="1"/>
            <p:nvPr/>
          </p:nvSpPr>
          <p:spPr>
            <a:xfrm>
              <a:off x="6634716" y="5308297"/>
              <a:ext cx="967563" cy="544711"/>
            </a:xfrm>
            <a:prstGeom prst="rect">
              <a:avLst/>
            </a:prstGeom>
            <a:noFill/>
          </p:spPr>
          <p:txBody>
            <a:bodyPr wrap="square" lIns="0" tIns="0" rIns="0" bIns="0" anchor="t">
              <a:noAutofit/>
            </a:bodyPr>
            <a:lstStyle/>
            <a:p>
              <a:pPr algn="l">
                <a:lnSpc>
                  <a:spcPts val="1430"/>
                </a:lnSpc>
                <a:spcBef>
                  <a:spcPts val="0"/>
                </a:spcBef>
                <a:spcAft>
                  <a:spcPts val="0"/>
                </a:spcAft>
              </a:pPr>
              <a:endParaRPr lang="en-US" sz="1100" b="1" i="0" dirty="0">
                <a:solidFill>
                  <a:srgbClr val="0077A8"/>
                </a:solidFill>
                <a:latin typeface="Arial"/>
              </a:endParaRPr>
            </a:p>
            <a:p>
              <a:pPr algn="l">
                <a:lnSpc>
                  <a:spcPts val="1430"/>
                </a:lnSpc>
                <a:spcBef>
                  <a:spcPts val="0"/>
                </a:spcBef>
                <a:spcAft>
                  <a:spcPts val="0"/>
                </a:spcAft>
              </a:pPr>
              <a:r>
                <a:rPr sz="1100" b="1" i="0" dirty="0">
                  <a:solidFill>
                    <a:srgbClr val="0077A8"/>
                  </a:solidFill>
                  <a:latin typeface="Arial"/>
                </a:rPr>
                <a:t>Interactive</a:t>
              </a:r>
              <a:r>
                <a:rPr lang="en-US" sz="1100" b="1" dirty="0">
                  <a:solidFill>
                    <a:srgbClr val="0077A8"/>
                  </a:solidFill>
                  <a:latin typeface="Arial"/>
                </a:rPr>
                <a:t> </a:t>
              </a:r>
            </a:p>
            <a:p>
              <a:pPr algn="l">
                <a:lnSpc>
                  <a:spcPts val="1430"/>
                </a:lnSpc>
                <a:spcBef>
                  <a:spcPts val="0"/>
                </a:spcBef>
                <a:spcAft>
                  <a:spcPts val="0"/>
                </a:spcAft>
              </a:pPr>
              <a:r>
                <a:rPr lang="en-US" sz="1100" b="1" dirty="0">
                  <a:solidFill>
                    <a:srgbClr val="0077A8"/>
                  </a:solidFill>
                  <a:latin typeface="Arial"/>
                </a:rPr>
                <a:t>Visualization:</a:t>
              </a:r>
            </a:p>
            <a:p>
              <a:pPr>
                <a:lnSpc>
                  <a:spcPct val="150000"/>
                </a:lnSpc>
              </a:pPr>
              <a:endParaRPr sz="1100" b="0" i="0" dirty="0">
                <a:solidFill>
                  <a:schemeClr val="accent5">
                    <a:lumMod val="90000"/>
                    <a:lumOff val="10000"/>
                  </a:schemeClr>
                </a:solidFill>
                <a:latin typeface="Arial"/>
              </a:endParaRPr>
            </a:p>
          </p:txBody>
        </p:sp>
        <p:pic>
          <p:nvPicPr>
            <p:cNvPr id="17" name="Picture 16">
              <a:extLst>
                <a:ext uri="{FF2B5EF4-FFF2-40B4-BE49-F238E27FC236}">
                  <a16:creationId xmlns:a16="http://schemas.microsoft.com/office/drawing/2014/main" id="{28695EDD-CC6D-8E73-FA47-73EA59448C27}"/>
                </a:ext>
              </a:extLst>
            </p:cNvPr>
            <p:cNvPicPr>
              <a:picLocks noChangeAspect="1"/>
            </p:cNvPicPr>
            <p:nvPr/>
          </p:nvPicPr>
          <p:blipFill>
            <a:blip r:embed="rId6"/>
            <a:stretch>
              <a:fillRect/>
            </a:stretch>
          </p:blipFill>
          <p:spPr>
            <a:xfrm>
              <a:off x="7549624" y="5193116"/>
              <a:ext cx="870854" cy="870854"/>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The data: continuous, noisy, sparsely labeled</a:t>
            </a:r>
          </a:p>
        </p:txBody>
      </p:sp>
      <p:sp>
        <p:nvSpPr>
          <p:cNvPr id="3" name="Text: METHODS · DESCRIPTIONS OF DATA"/>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DESCRIPTIONS OF DATA</a:t>
            </a:r>
          </a:p>
        </p:txBody>
      </p:sp>
      <p:grpSp>
        <p:nvGrpSpPr>
          <p:cNvPr id="20" name="Sketch: noisy ECG with baseline wander"/>
          <p:cNvGrpSpPr/>
          <p:nvPr/>
        </p:nvGrpSpPr>
        <p:grpSpPr>
          <a:xfrm>
            <a:off x="0" y="0"/>
            <a:ext cx="0" cy="0"/>
            <a:chOff x="0" y="0"/>
            <a:chExt cx="0" cy="0"/>
          </a:xfrm>
        </p:grpSpPr>
        <p:sp>
          <p:nvSpPr>
            <p:cNvPr id="21" name="Trace"/>
            <p:cNvSpPr/>
            <p:nvPr/>
          </p:nvSpPr>
          <p:spPr>
            <a:xfrm>
              <a:off x="685800" y="3352800"/>
              <a:ext cx="1244600" cy="412750"/>
            </a:xfrm>
            <a:custGeom>
              <a:avLst/>
              <a:gdLst/>
              <a:ahLst/>
              <a:cxnLst/>
              <a:rect l="l" t="t" r="r" b="b"/>
              <a:pathLst>
                <a:path w="196" h="65">
                  <a:moveTo>
                    <a:pt x="0" y="47"/>
                  </a:moveTo>
                  <a:lnTo>
                    <a:pt x="1" y="43"/>
                  </a:lnTo>
                  <a:lnTo>
                    <a:pt x="2" y="45"/>
                  </a:lnTo>
                  <a:lnTo>
                    <a:pt x="3" y="41"/>
                  </a:lnTo>
                  <a:lnTo>
                    <a:pt x="4" y="41"/>
                  </a:lnTo>
                  <a:lnTo>
                    <a:pt x="5" y="48"/>
                  </a:lnTo>
                  <a:lnTo>
                    <a:pt x="6" y="48"/>
                  </a:lnTo>
                  <a:lnTo>
                    <a:pt x="7" y="37"/>
                  </a:lnTo>
                  <a:lnTo>
                    <a:pt x="8" y="44"/>
                  </a:lnTo>
                  <a:lnTo>
                    <a:pt x="9" y="43"/>
                  </a:lnTo>
                  <a:lnTo>
                    <a:pt x="10" y="31"/>
                  </a:lnTo>
                  <a:lnTo>
                    <a:pt x="11" y="35"/>
                  </a:lnTo>
                  <a:lnTo>
                    <a:pt x="12" y="29"/>
                  </a:lnTo>
                  <a:lnTo>
                    <a:pt x="13" y="36"/>
                  </a:lnTo>
                  <a:lnTo>
                    <a:pt x="14" y="35"/>
                  </a:lnTo>
                  <a:lnTo>
                    <a:pt x="15" y="43"/>
                  </a:lnTo>
                  <a:lnTo>
                    <a:pt x="16" y="36"/>
                  </a:lnTo>
                  <a:lnTo>
                    <a:pt x="17" y="33"/>
                  </a:lnTo>
                  <a:lnTo>
                    <a:pt x="18" y="37"/>
                  </a:lnTo>
                  <a:lnTo>
                    <a:pt x="19" y="34"/>
                  </a:lnTo>
                  <a:lnTo>
                    <a:pt x="20" y="35"/>
                  </a:lnTo>
                  <a:lnTo>
                    <a:pt x="21" y="43"/>
                  </a:lnTo>
                  <a:lnTo>
                    <a:pt x="22" y="33"/>
                  </a:lnTo>
                  <a:lnTo>
                    <a:pt x="23" y="36"/>
                  </a:lnTo>
                  <a:lnTo>
                    <a:pt x="24" y="43"/>
                  </a:lnTo>
                  <a:lnTo>
                    <a:pt x="25" y="9"/>
                  </a:lnTo>
                  <a:lnTo>
                    <a:pt x="26" y="2"/>
                  </a:lnTo>
                  <a:lnTo>
                    <a:pt x="27" y="48"/>
                  </a:lnTo>
                  <a:lnTo>
                    <a:pt x="28" y="36"/>
                  </a:lnTo>
                  <a:lnTo>
                    <a:pt x="29" y="30"/>
                  </a:lnTo>
                  <a:lnTo>
                    <a:pt x="30" y="32"/>
                  </a:lnTo>
                  <a:lnTo>
                    <a:pt x="31" y="29"/>
                  </a:lnTo>
                  <a:lnTo>
                    <a:pt x="32" y="36"/>
                  </a:lnTo>
                  <a:lnTo>
                    <a:pt x="33" y="30"/>
                  </a:lnTo>
                  <a:lnTo>
                    <a:pt x="34" y="35"/>
                  </a:lnTo>
                  <a:lnTo>
                    <a:pt x="35" y="28"/>
                  </a:lnTo>
                  <a:lnTo>
                    <a:pt x="36" y="28"/>
                  </a:lnTo>
                  <a:lnTo>
                    <a:pt x="37" y="36"/>
                  </a:lnTo>
                  <a:lnTo>
                    <a:pt x="38" y="33"/>
                  </a:lnTo>
                  <a:lnTo>
                    <a:pt x="39" y="28"/>
                  </a:lnTo>
                  <a:lnTo>
                    <a:pt x="40" y="15"/>
                  </a:lnTo>
                  <a:lnTo>
                    <a:pt x="41" y="20"/>
                  </a:lnTo>
                  <a:lnTo>
                    <a:pt x="42" y="18"/>
                  </a:lnTo>
                  <a:lnTo>
                    <a:pt x="43" y="26"/>
                  </a:lnTo>
                  <a:lnTo>
                    <a:pt x="44" y="27"/>
                  </a:lnTo>
                  <a:lnTo>
                    <a:pt x="45" y="31"/>
                  </a:lnTo>
                  <a:lnTo>
                    <a:pt x="46" y="34"/>
                  </a:lnTo>
                  <a:lnTo>
                    <a:pt x="47" y="32"/>
                  </a:lnTo>
                  <a:lnTo>
                    <a:pt x="48" y="32"/>
                  </a:lnTo>
                  <a:lnTo>
                    <a:pt x="49" y="28"/>
                  </a:lnTo>
                  <a:lnTo>
                    <a:pt x="50" y="31"/>
                  </a:lnTo>
                  <a:lnTo>
                    <a:pt x="51" y="28"/>
                  </a:lnTo>
                  <a:lnTo>
                    <a:pt x="52" y="29"/>
                  </a:lnTo>
                  <a:lnTo>
                    <a:pt x="53" y="27"/>
                  </a:lnTo>
                  <a:lnTo>
                    <a:pt x="54" y="32"/>
                  </a:lnTo>
                  <a:lnTo>
                    <a:pt x="55" y="39"/>
                  </a:lnTo>
                  <a:lnTo>
                    <a:pt x="56" y="30"/>
                  </a:lnTo>
                  <a:lnTo>
                    <a:pt x="57" y="28"/>
                  </a:lnTo>
                  <a:lnTo>
                    <a:pt x="58" y="29"/>
                  </a:lnTo>
                  <a:lnTo>
                    <a:pt x="59" y="34"/>
                  </a:lnTo>
                  <a:lnTo>
                    <a:pt x="60" y="32"/>
                  </a:lnTo>
                  <a:lnTo>
                    <a:pt x="61" y="39"/>
                  </a:lnTo>
                  <a:lnTo>
                    <a:pt x="62" y="31"/>
                  </a:lnTo>
                  <a:lnTo>
                    <a:pt x="63" y="35"/>
                  </a:lnTo>
                  <a:lnTo>
                    <a:pt x="64" y="39"/>
                  </a:lnTo>
                  <a:lnTo>
                    <a:pt x="65" y="42"/>
                  </a:lnTo>
                  <a:lnTo>
                    <a:pt x="66" y="32"/>
                  </a:lnTo>
                  <a:lnTo>
                    <a:pt x="67" y="30"/>
                  </a:lnTo>
                  <a:lnTo>
                    <a:pt x="68" y="42"/>
                  </a:lnTo>
                  <a:lnTo>
                    <a:pt x="69" y="33"/>
                  </a:lnTo>
                  <a:lnTo>
                    <a:pt x="70" y="39"/>
                  </a:lnTo>
                  <a:lnTo>
                    <a:pt x="71" y="43"/>
                  </a:lnTo>
                  <a:lnTo>
                    <a:pt x="72" y="41"/>
                  </a:lnTo>
                  <a:lnTo>
                    <a:pt x="73" y="35"/>
                  </a:lnTo>
                  <a:lnTo>
                    <a:pt x="74" y="33"/>
                  </a:lnTo>
                  <a:lnTo>
                    <a:pt x="75" y="44"/>
                  </a:lnTo>
                  <a:lnTo>
                    <a:pt x="76" y="34"/>
                  </a:lnTo>
                  <a:lnTo>
                    <a:pt x="77" y="40"/>
                  </a:lnTo>
                  <a:lnTo>
                    <a:pt x="78" y="33"/>
                  </a:lnTo>
                  <a:lnTo>
                    <a:pt x="79" y="41"/>
                  </a:lnTo>
                  <a:lnTo>
                    <a:pt x="80" y="35"/>
                  </a:lnTo>
                  <a:lnTo>
                    <a:pt x="81" y="35"/>
                  </a:lnTo>
                  <a:lnTo>
                    <a:pt x="82" y="42"/>
                  </a:lnTo>
                  <a:lnTo>
                    <a:pt x="83" y="35"/>
                  </a:lnTo>
                  <a:lnTo>
                    <a:pt x="84" y="45"/>
                  </a:lnTo>
                  <a:lnTo>
                    <a:pt x="85" y="48"/>
                  </a:lnTo>
                  <a:lnTo>
                    <a:pt x="86" y="42"/>
                  </a:lnTo>
                  <a:lnTo>
                    <a:pt x="87" y="50"/>
                  </a:lnTo>
                  <a:lnTo>
                    <a:pt x="88" y="48"/>
                  </a:lnTo>
                  <a:lnTo>
                    <a:pt x="89" y="51"/>
                  </a:lnTo>
                  <a:lnTo>
                    <a:pt x="90" y="28"/>
                  </a:lnTo>
                  <a:lnTo>
                    <a:pt x="91" y="5"/>
                  </a:lnTo>
                  <a:lnTo>
                    <a:pt x="92" y="56"/>
                  </a:lnTo>
                  <a:lnTo>
                    <a:pt x="93" y="49"/>
                  </a:lnTo>
                  <a:lnTo>
                    <a:pt x="94" y="49"/>
                  </a:lnTo>
                  <a:lnTo>
                    <a:pt x="95" y="40"/>
                  </a:lnTo>
                  <a:lnTo>
                    <a:pt x="96" y="42"/>
                  </a:lnTo>
                  <a:lnTo>
                    <a:pt x="97" y="49"/>
                  </a:lnTo>
                  <a:lnTo>
                    <a:pt x="98" y="48"/>
                  </a:lnTo>
                  <a:lnTo>
                    <a:pt x="99" y="48"/>
                  </a:lnTo>
                  <a:lnTo>
                    <a:pt x="100" y="46"/>
                  </a:lnTo>
                  <a:lnTo>
                    <a:pt x="101" y="47"/>
                  </a:lnTo>
                  <a:lnTo>
                    <a:pt x="102" y="46"/>
                  </a:lnTo>
                  <a:lnTo>
                    <a:pt x="103" y="43"/>
                  </a:lnTo>
                  <a:lnTo>
                    <a:pt x="104" y="36"/>
                  </a:lnTo>
                  <a:lnTo>
                    <a:pt x="105" y="38"/>
                  </a:lnTo>
                  <a:lnTo>
                    <a:pt x="106" y="37"/>
                  </a:lnTo>
                  <a:lnTo>
                    <a:pt x="107" y="33"/>
                  </a:lnTo>
                  <a:lnTo>
                    <a:pt x="108" y="43"/>
                  </a:lnTo>
                  <a:lnTo>
                    <a:pt x="109" y="46"/>
                  </a:lnTo>
                  <a:lnTo>
                    <a:pt x="110" y="40"/>
                  </a:lnTo>
                  <a:lnTo>
                    <a:pt x="111" y="49"/>
                  </a:lnTo>
                  <a:lnTo>
                    <a:pt x="112" y="50"/>
                  </a:lnTo>
                  <a:lnTo>
                    <a:pt x="113" y="58"/>
                  </a:lnTo>
                  <a:lnTo>
                    <a:pt x="114" y="53"/>
                  </a:lnTo>
                  <a:lnTo>
                    <a:pt x="115" y="51"/>
                  </a:lnTo>
                  <a:lnTo>
                    <a:pt x="116" y="59"/>
                  </a:lnTo>
                  <a:lnTo>
                    <a:pt x="117" y="51"/>
                  </a:lnTo>
                  <a:lnTo>
                    <a:pt x="118" y="51"/>
                  </a:lnTo>
                  <a:lnTo>
                    <a:pt x="119" y="59"/>
                  </a:lnTo>
                  <a:lnTo>
                    <a:pt x="120" y="52"/>
                  </a:lnTo>
                  <a:lnTo>
                    <a:pt x="121" y="54"/>
                  </a:lnTo>
                  <a:lnTo>
                    <a:pt x="122" y="51"/>
                  </a:lnTo>
                  <a:lnTo>
                    <a:pt x="123" y="56"/>
                  </a:lnTo>
                  <a:lnTo>
                    <a:pt x="124" y="51"/>
                  </a:lnTo>
                  <a:lnTo>
                    <a:pt x="125" y="51"/>
                  </a:lnTo>
                  <a:lnTo>
                    <a:pt x="126" y="61"/>
                  </a:lnTo>
                  <a:lnTo>
                    <a:pt x="127" y="60"/>
                  </a:lnTo>
                  <a:lnTo>
                    <a:pt x="128" y="52"/>
                  </a:lnTo>
                  <a:lnTo>
                    <a:pt x="129" y="48"/>
                  </a:lnTo>
                  <a:lnTo>
                    <a:pt x="130" y="58"/>
                  </a:lnTo>
                  <a:lnTo>
                    <a:pt x="131" y="55"/>
                  </a:lnTo>
                  <a:lnTo>
                    <a:pt x="132" y="53"/>
                  </a:lnTo>
                  <a:lnTo>
                    <a:pt x="133" y="57"/>
                  </a:lnTo>
                  <a:lnTo>
                    <a:pt x="134" y="56"/>
                  </a:lnTo>
                  <a:lnTo>
                    <a:pt x="135" y="57"/>
                  </a:lnTo>
                  <a:lnTo>
                    <a:pt x="136" y="56"/>
                  </a:lnTo>
                  <a:lnTo>
                    <a:pt x="137" y="53"/>
                  </a:lnTo>
                  <a:lnTo>
                    <a:pt x="138" y="57"/>
                  </a:lnTo>
                  <a:lnTo>
                    <a:pt x="139" y="56"/>
                  </a:lnTo>
                  <a:lnTo>
                    <a:pt x="140" y="49"/>
                  </a:lnTo>
                  <a:lnTo>
                    <a:pt x="141" y="57"/>
                  </a:lnTo>
                  <a:lnTo>
                    <a:pt x="142" y="47"/>
                  </a:lnTo>
                  <a:lnTo>
                    <a:pt x="143" y="45"/>
                  </a:lnTo>
                  <a:lnTo>
                    <a:pt x="144" y="53"/>
                  </a:lnTo>
                  <a:lnTo>
                    <a:pt x="145" y="56"/>
                  </a:lnTo>
                  <a:lnTo>
                    <a:pt x="146" y="49"/>
                  </a:lnTo>
                  <a:lnTo>
                    <a:pt x="147" y="57"/>
                  </a:lnTo>
                  <a:lnTo>
                    <a:pt x="148" y="57"/>
                  </a:lnTo>
                  <a:lnTo>
                    <a:pt x="149" y="54"/>
                  </a:lnTo>
                  <a:lnTo>
                    <a:pt x="150" y="50"/>
                  </a:lnTo>
                  <a:lnTo>
                    <a:pt x="151" y="58"/>
                  </a:lnTo>
                  <a:lnTo>
                    <a:pt x="152" y="54"/>
                  </a:lnTo>
                  <a:lnTo>
                    <a:pt x="153" y="54"/>
                  </a:lnTo>
                  <a:lnTo>
                    <a:pt x="154" y="50"/>
                  </a:lnTo>
                  <a:lnTo>
                    <a:pt x="155" y="50"/>
                  </a:lnTo>
                  <a:lnTo>
                    <a:pt x="156" y="0"/>
                  </a:lnTo>
                  <a:lnTo>
                    <a:pt x="157" y="45"/>
                  </a:lnTo>
                  <a:lnTo>
                    <a:pt x="158" y="65"/>
                  </a:lnTo>
                  <a:lnTo>
                    <a:pt x="159" y="49"/>
                  </a:lnTo>
                  <a:lnTo>
                    <a:pt x="160" y="45"/>
                  </a:lnTo>
                  <a:lnTo>
                    <a:pt x="161" y="50"/>
                  </a:lnTo>
                  <a:lnTo>
                    <a:pt x="162" y="53"/>
                  </a:lnTo>
                  <a:lnTo>
                    <a:pt x="163" y="54"/>
                  </a:lnTo>
                  <a:lnTo>
                    <a:pt x="164" y="48"/>
                  </a:lnTo>
                  <a:lnTo>
                    <a:pt x="165" y="52"/>
                  </a:lnTo>
                  <a:lnTo>
                    <a:pt x="166" y="43"/>
                  </a:lnTo>
                  <a:lnTo>
                    <a:pt x="167" y="41"/>
                  </a:lnTo>
                  <a:lnTo>
                    <a:pt x="168" y="48"/>
                  </a:lnTo>
                  <a:lnTo>
                    <a:pt x="169" y="43"/>
                  </a:lnTo>
                  <a:lnTo>
                    <a:pt x="170" y="32"/>
                  </a:lnTo>
                  <a:lnTo>
                    <a:pt x="171" y="31"/>
                  </a:lnTo>
                  <a:lnTo>
                    <a:pt x="172" y="27"/>
                  </a:lnTo>
                  <a:lnTo>
                    <a:pt x="173" y="35"/>
                  </a:lnTo>
                  <a:lnTo>
                    <a:pt x="174" y="41"/>
                  </a:lnTo>
                  <a:lnTo>
                    <a:pt x="175" y="42"/>
                  </a:lnTo>
                  <a:lnTo>
                    <a:pt x="176" y="37"/>
                  </a:lnTo>
                  <a:lnTo>
                    <a:pt x="177" y="46"/>
                  </a:lnTo>
                  <a:lnTo>
                    <a:pt x="178" y="45"/>
                  </a:lnTo>
                  <a:lnTo>
                    <a:pt x="179" y="44"/>
                  </a:lnTo>
                  <a:lnTo>
                    <a:pt x="180" y="44"/>
                  </a:lnTo>
                  <a:lnTo>
                    <a:pt x="181" y="44"/>
                  </a:lnTo>
                  <a:lnTo>
                    <a:pt x="182" y="36"/>
                  </a:lnTo>
                  <a:lnTo>
                    <a:pt x="183" y="46"/>
                  </a:lnTo>
                  <a:lnTo>
                    <a:pt x="184" y="48"/>
                  </a:lnTo>
                  <a:lnTo>
                    <a:pt x="185" y="35"/>
                  </a:lnTo>
                  <a:lnTo>
                    <a:pt x="186" y="35"/>
                  </a:lnTo>
                  <a:lnTo>
                    <a:pt x="187" y="33"/>
                  </a:lnTo>
                  <a:lnTo>
                    <a:pt x="188" y="41"/>
                  </a:lnTo>
                  <a:lnTo>
                    <a:pt x="189" y="33"/>
                  </a:lnTo>
                  <a:lnTo>
                    <a:pt x="190" y="33"/>
                  </a:lnTo>
                  <a:lnTo>
                    <a:pt x="191" y="42"/>
                  </a:lnTo>
                  <a:lnTo>
                    <a:pt x="192" y="35"/>
                  </a:lnTo>
                  <a:lnTo>
                    <a:pt x="193" y="34"/>
                  </a:lnTo>
                  <a:lnTo>
                    <a:pt x="194" y="36"/>
                  </a:lnTo>
                  <a:lnTo>
                    <a:pt x="195" y="37"/>
                  </a:lnTo>
                  <a:lnTo>
                    <a:pt x="196" y="40"/>
                  </a:lnTo>
                </a:path>
              </a:pathLst>
            </a:custGeom>
            <a:noFill/>
            <a:ln w="12700" cap="rnd">
              <a:solidFill>
                <a:srgbClr val="8A949C"/>
              </a:solidFill>
              <a:round/>
            </a:ln>
          </p:spPr>
          <p:txBody>
            <a:bodyPr rtlCol="0" anchor="ctr"/>
            <a:lstStyle/>
            <a:p>
              <a:pPr algn="ctr"/>
              <a:endParaRPr/>
            </a:p>
          </p:txBody>
        </p:sp>
      </p:grpSp>
      <p:grpSp>
        <p:nvGrpSpPr>
          <p:cNvPr id="27" name="Sketch: clean ECG"/>
          <p:cNvGrpSpPr/>
          <p:nvPr/>
        </p:nvGrpSpPr>
        <p:grpSpPr>
          <a:xfrm>
            <a:off x="0" y="0"/>
            <a:ext cx="0" cy="0"/>
            <a:chOff x="0" y="0"/>
            <a:chExt cx="0" cy="0"/>
          </a:xfrm>
        </p:grpSpPr>
        <p:sp>
          <p:nvSpPr>
            <p:cNvPr id="28" name="Trace"/>
            <p:cNvSpPr/>
            <p:nvPr/>
          </p:nvSpPr>
          <p:spPr>
            <a:xfrm>
              <a:off x="2298700" y="3340100"/>
              <a:ext cx="1244600" cy="368300"/>
            </a:xfrm>
            <a:custGeom>
              <a:avLst/>
              <a:gdLst/>
              <a:ahLst/>
              <a:cxnLst/>
              <a:rect l="l" t="t" r="r" b="b"/>
              <a:pathLst>
                <a:path w="196" h="58">
                  <a:moveTo>
                    <a:pt x="0" y="46"/>
                  </a:moveTo>
                  <a:lnTo>
                    <a:pt x="1" y="46"/>
                  </a:lnTo>
                  <a:lnTo>
                    <a:pt x="2" y="46"/>
                  </a:lnTo>
                  <a:lnTo>
                    <a:pt x="3" y="46"/>
                  </a:lnTo>
                  <a:lnTo>
                    <a:pt x="4" y="46"/>
                  </a:lnTo>
                  <a:lnTo>
                    <a:pt x="5" y="46"/>
                  </a:lnTo>
                  <a:lnTo>
                    <a:pt x="6" y="46"/>
                  </a:lnTo>
                  <a:lnTo>
                    <a:pt x="7" y="46"/>
                  </a:lnTo>
                  <a:lnTo>
                    <a:pt x="8" y="46"/>
                  </a:lnTo>
                  <a:lnTo>
                    <a:pt x="9" y="45"/>
                  </a:lnTo>
                  <a:lnTo>
                    <a:pt x="10" y="43"/>
                  </a:lnTo>
                  <a:lnTo>
                    <a:pt x="11" y="41"/>
                  </a:lnTo>
                  <a:lnTo>
                    <a:pt x="12" y="40"/>
                  </a:lnTo>
                  <a:lnTo>
                    <a:pt x="13" y="42"/>
                  </a:lnTo>
                  <a:lnTo>
                    <a:pt x="14" y="44"/>
                  </a:lnTo>
                  <a:lnTo>
                    <a:pt x="15" y="46"/>
                  </a:lnTo>
                  <a:lnTo>
                    <a:pt x="16" y="46"/>
                  </a:lnTo>
                  <a:lnTo>
                    <a:pt x="17" y="46"/>
                  </a:lnTo>
                  <a:lnTo>
                    <a:pt x="18" y="46"/>
                  </a:lnTo>
                  <a:lnTo>
                    <a:pt x="19" y="46"/>
                  </a:lnTo>
                  <a:lnTo>
                    <a:pt x="20" y="46"/>
                  </a:lnTo>
                  <a:lnTo>
                    <a:pt x="21" y="46"/>
                  </a:lnTo>
                  <a:lnTo>
                    <a:pt x="22" y="46"/>
                  </a:lnTo>
                  <a:lnTo>
                    <a:pt x="23" y="47"/>
                  </a:lnTo>
                  <a:lnTo>
                    <a:pt x="24" y="50"/>
                  </a:lnTo>
                  <a:lnTo>
                    <a:pt x="25" y="13"/>
                  </a:lnTo>
                  <a:lnTo>
                    <a:pt x="26" y="17"/>
                  </a:lnTo>
                  <a:lnTo>
                    <a:pt x="27" y="58"/>
                  </a:lnTo>
                  <a:lnTo>
                    <a:pt x="28" y="50"/>
                  </a:lnTo>
                  <a:lnTo>
                    <a:pt x="29" y="46"/>
                  </a:lnTo>
                  <a:lnTo>
                    <a:pt x="30" y="46"/>
                  </a:lnTo>
                  <a:lnTo>
                    <a:pt x="31" y="46"/>
                  </a:lnTo>
                  <a:lnTo>
                    <a:pt x="32" y="46"/>
                  </a:lnTo>
                  <a:lnTo>
                    <a:pt x="33" y="46"/>
                  </a:lnTo>
                  <a:lnTo>
                    <a:pt x="34" y="46"/>
                  </a:lnTo>
                  <a:lnTo>
                    <a:pt x="35" y="46"/>
                  </a:lnTo>
                  <a:lnTo>
                    <a:pt x="36" y="45"/>
                  </a:lnTo>
                  <a:lnTo>
                    <a:pt x="37" y="43"/>
                  </a:lnTo>
                  <a:lnTo>
                    <a:pt x="38" y="40"/>
                  </a:lnTo>
                  <a:lnTo>
                    <a:pt x="39" y="37"/>
                  </a:lnTo>
                  <a:lnTo>
                    <a:pt x="40" y="33"/>
                  </a:lnTo>
                  <a:lnTo>
                    <a:pt x="41" y="32"/>
                  </a:lnTo>
                  <a:lnTo>
                    <a:pt x="42" y="32"/>
                  </a:lnTo>
                  <a:lnTo>
                    <a:pt x="43" y="35"/>
                  </a:lnTo>
                  <a:lnTo>
                    <a:pt x="44" y="39"/>
                  </a:lnTo>
                  <a:lnTo>
                    <a:pt x="45" y="42"/>
                  </a:lnTo>
                  <a:lnTo>
                    <a:pt x="46" y="44"/>
                  </a:lnTo>
                  <a:lnTo>
                    <a:pt x="47" y="45"/>
                  </a:lnTo>
                  <a:lnTo>
                    <a:pt x="48" y="46"/>
                  </a:lnTo>
                  <a:lnTo>
                    <a:pt x="49" y="46"/>
                  </a:lnTo>
                  <a:lnTo>
                    <a:pt x="50" y="46"/>
                  </a:lnTo>
                  <a:lnTo>
                    <a:pt x="51" y="46"/>
                  </a:lnTo>
                  <a:lnTo>
                    <a:pt x="52" y="46"/>
                  </a:lnTo>
                  <a:lnTo>
                    <a:pt x="53" y="46"/>
                  </a:lnTo>
                  <a:lnTo>
                    <a:pt x="54" y="46"/>
                  </a:lnTo>
                  <a:lnTo>
                    <a:pt x="55" y="46"/>
                  </a:lnTo>
                  <a:lnTo>
                    <a:pt x="56" y="46"/>
                  </a:lnTo>
                  <a:lnTo>
                    <a:pt x="57" y="46"/>
                  </a:lnTo>
                  <a:lnTo>
                    <a:pt x="58" y="46"/>
                  </a:lnTo>
                  <a:lnTo>
                    <a:pt x="59" y="46"/>
                  </a:lnTo>
                  <a:lnTo>
                    <a:pt x="60" y="46"/>
                  </a:lnTo>
                  <a:lnTo>
                    <a:pt x="61" y="46"/>
                  </a:lnTo>
                  <a:lnTo>
                    <a:pt x="62" y="46"/>
                  </a:lnTo>
                  <a:lnTo>
                    <a:pt x="63" y="46"/>
                  </a:lnTo>
                  <a:lnTo>
                    <a:pt x="64" y="46"/>
                  </a:lnTo>
                  <a:lnTo>
                    <a:pt x="65" y="46"/>
                  </a:lnTo>
                  <a:lnTo>
                    <a:pt x="66" y="46"/>
                  </a:lnTo>
                  <a:lnTo>
                    <a:pt x="67" y="46"/>
                  </a:lnTo>
                  <a:lnTo>
                    <a:pt x="68" y="46"/>
                  </a:lnTo>
                  <a:lnTo>
                    <a:pt x="69" y="46"/>
                  </a:lnTo>
                  <a:lnTo>
                    <a:pt x="70" y="46"/>
                  </a:lnTo>
                  <a:lnTo>
                    <a:pt x="71" y="46"/>
                  </a:lnTo>
                  <a:lnTo>
                    <a:pt x="72" y="46"/>
                  </a:lnTo>
                  <a:lnTo>
                    <a:pt x="73" y="46"/>
                  </a:lnTo>
                  <a:lnTo>
                    <a:pt x="74" y="46"/>
                  </a:lnTo>
                  <a:lnTo>
                    <a:pt x="75" y="44"/>
                  </a:lnTo>
                  <a:lnTo>
                    <a:pt x="76" y="42"/>
                  </a:lnTo>
                  <a:lnTo>
                    <a:pt x="77" y="40"/>
                  </a:lnTo>
                  <a:lnTo>
                    <a:pt x="78" y="41"/>
                  </a:lnTo>
                  <a:lnTo>
                    <a:pt x="79" y="44"/>
                  </a:lnTo>
                  <a:lnTo>
                    <a:pt x="80" y="45"/>
                  </a:lnTo>
                  <a:lnTo>
                    <a:pt x="81" y="46"/>
                  </a:lnTo>
                  <a:lnTo>
                    <a:pt x="82" y="46"/>
                  </a:lnTo>
                  <a:lnTo>
                    <a:pt x="83" y="46"/>
                  </a:lnTo>
                  <a:lnTo>
                    <a:pt x="84" y="46"/>
                  </a:lnTo>
                  <a:lnTo>
                    <a:pt x="85" y="46"/>
                  </a:lnTo>
                  <a:lnTo>
                    <a:pt x="86" y="46"/>
                  </a:lnTo>
                  <a:lnTo>
                    <a:pt x="87" y="46"/>
                  </a:lnTo>
                  <a:lnTo>
                    <a:pt x="88" y="46"/>
                  </a:lnTo>
                  <a:lnTo>
                    <a:pt x="89" y="51"/>
                  </a:lnTo>
                  <a:lnTo>
                    <a:pt x="90" y="31"/>
                  </a:lnTo>
                  <a:lnTo>
                    <a:pt x="91" y="1"/>
                  </a:lnTo>
                  <a:lnTo>
                    <a:pt x="92" y="51"/>
                  </a:lnTo>
                  <a:lnTo>
                    <a:pt x="93" y="54"/>
                  </a:lnTo>
                  <a:lnTo>
                    <a:pt x="94" y="46"/>
                  </a:lnTo>
                  <a:lnTo>
                    <a:pt x="95" y="46"/>
                  </a:lnTo>
                  <a:lnTo>
                    <a:pt x="96" y="46"/>
                  </a:lnTo>
                  <a:lnTo>
                    <a:pt x="97" y="46"/>
                  </a:lnTo>
                  <a:lnTo>
                    <a:pt x="98" y="46"/>
                  </a:lnTo>
                  <a:lnTo>
                    <a:pt x="99" y="46"/>
                  </a:lnTo>
                  <a:lnTo>
                    <a:pt x="100" y="46"/>
                  </a:lnTo>
                  <a:lnTo>
                    <a:pt x="101" y="45"/>
                  </a:lnTo>
                  <a:lnTo>
                    <a:pt x="102" y="44"/>
                  </a:lnTo>
                  <a:lnTo>
                    <a:pt x="103" y="41"/>
                  </a:lnTo>
                  <a:lnTo>
                    <a:pt x="104" y="38"/>
                  </a:lnTo>
                  <a:lnTo>
                    <a:pt x="105" y="34"/>
                  </a:lnTo>
                  <a:lnTo>
                    <a:pt x="106" y="32"/>
                  </a:lnTo>
                  <a:lnTo>
                    <a:pt x="107" y="32"/>
                  </a:lnTo>
                  <a:lnTo>
                    <a:pt x="108" y="34"/>
                  </a:lnTo>
                  <a:lnTo>
                    <a:pt x="109" y="38"/>
                  </a:lnTo>
                  <a:lnTo>
                    <a:pt x="110" y="41"/>
                  </a:lnTo>
                  <a:lnTo>
                    <a:pt x="111" y="44"/>
                  </a:lnTo>
                  <a:lnTo>
                    <a:pt x="112" y="45"/>
                  </a:lnTo>
                  <a:lnTo>
                    <a:pt x="113" y="46"/>
                  </a:lnTo>
                  <a:lnTo>
                    <a:pt x="114" y="46"/>
                  </a:lnTo>
                  <a:lnTo>
                    <a:pt x="115" y="46"/>
                  </a:lnTo>
                  <a:lnTo>
                    <a:pt x="116" y="46"/>
                  </a:lnTo>
                  <a:lnTo>
                    <a:pt x="117" y="46"/>
                  </a:lnTo>
                  <a:lnTo>
                    <a:pt x="118" y="46"/>
                  </a:lnTo>
                  <a:lnTo>
                    <a:pt x="119" y="46"/>
                  </a:lnTo>
                  <a:lnTo>
                    <a:pt x="120" y="46"/>
                  </a:lnTo>
                  <a:lnTo>
                    <a:pt x="121" y="46"/>
                  </a:lnTo>
                  <a:lnTo>
                    <a:pt x="122" y="46"/>
                  </a:lnTo>
                  <a:lnTo>
                    <a:pt x="123" y="46"/>
                  </a:lnTo>
                  <a:lnTo>
                    <a:pt x="124" y="46"/>
                  </a:lnTo>
                  <a:lnTo>
                    <a:pt x="125" y="46"/>
                  </a:lnTo>
                  <a:lnTo>
                    <a:pt x="126" y="46"/>
                  </a:lnTo>
                  <a:lnTo>
                    <a:pt x="127" y="46"/>
                  </a:lnTo>
                  <a:lnTo>
                    <a:pt x="128" y="46"/>
                  </a:lnTo>
                  <a:lnTo>
                    <a:pt x="129" y="46"/>
                  </a:lnTo>
                  <a:lnTo>
                    <a:pt x="130" y="46"/>
                  </a:lnTo>
                  <a:lnTo>
                    <a:pt x="131" y="46"/>
                  </a:lnTo>
                  <a:lnTo>
                    <a:pt x="132" y="46"/>
                  </a:lnTo>
                  <a:lnTo>
                    <a:pt x="133" y="46"/>
                  </a:lnTo>
                  <a:lnTo>
                    <a:pt x="134" y="46"/>
                  </a:lnTo>
                  <a:lnTo>
                    <a:pt x="135" y="46"/>
                  </a:lnTo>
                  <a:lnTo>
                    <a:pt x="136" y="46"/>
                  </a:lnTo>
                  <a:lnTo>
                    <a:pt x="137" y="46"/>
                  </a:lnTo>
                  <a:lnTo>
                    <a:pt x="138" y="46"/>
                  </a:lnTo>
                  <a:lnTo>
                    <a:pt x="139" y="46"/>
                  </a:lnTo>
                  <a:lnTo>
                    <a:pt x="140" y="45"/>
                  </a:lnTo>
                  <a:lnTo>
                    <a:pt x="141" y="43"/>
                  </a:lnTo>
                  <a:lnTo>
                    <a:pt x="142" y="40"/>
                  </a:lnTo>
                  <a:lnTo>
                    <a:pt x="143" y="41"/>
                  </a:lnTo>
                  <a:lnTo>
                    <a:pt x="144" y="43"/>
                  </a:lnTo>
                  <a:lnTo>
                    <a:pt x="145" y="45"/>
                  </a:lnTo>
                  <a:lnTo>
                    <a:pt x="146" y="46"/>
                  </a:lnTo>
                  <a:lnTo>
                    <a:pt x="147" y="46"/>
                  </a:lnTo>
                  <a:lnTo>
                    <a:pt x="148" y="46"/>
                  </a:lnTo>
                  <a:lnTo>
                    <a:pt x="149" y="46"/>
                  </a:lnTo>
                  <a:lnTo>
                    <a:pt x="150" y="46"/>
                  </a:lnTo>
                  <a:lnTo>
                    <a:pt x="151" y="46"/>
                  </a:lnTo>
                  <a:lnTo>
                    <a:pt x="152" y="46"/>
                  </a:lnTo>
                  <a:lnTo>
                    <a:pt x="153" y="46"/>
                  </a:lnTo>
                  <a:lnTo>
                    <a:pt x="154" y="49"/>
                  </a:lnTo>
                  <a:lnTo>
                    <a:pt x="155" y="44"/>
                  </a:lnTo>
                  <a:lnTo>
                    <a:pt x="156" y="0"/>
                  </a:lnTo>
                  <a:lnTo>
                    <a:pt x="157" y="36"/>
                  </a:lnTo>
                  <a:lnTo>
                    <a:pt x="158" y="58"/>
                  </a:lnTo>
                  <a:lnTo>
                    <a:pt x="159" y="47"/>
                  </a:lnTo>
                  <a:lnTo>
                    <a:pt x="160" y="46"/>
                  </a:lnTo>
                  <a:lnTo>
                    <a:pt x="161" y="46"/>
                  </a:lnTo>
                  <a:lnTo>
                    <a:pt x="162" y="46"/>
                  </a:lnTo>
                  <a:lnTo>
                    <a:pt x="163" y="46"/>
                  </a:lnTo>
                  <a:lnTo>
                    <a:pt x="164" y="46"/>
                  </a:lnTo>
                  <a:lnTo>
                    <a:pt x="165" y="46"/>
                  </a:lnTo>
                  <a:lnTo>
                    <a:pt x="166" y="45"/>
                  </a:lnTo>
                  <a:lnTo>
                    <a:pt x="167" y="44"/>
                  </a:lnTo>
                  <a:lnTo>
                    <a:pt x="168" y="42"/>
                  </a:lnTo>
                  <a:lnTo>
                    <a:pt x="169" y="39"/>
                  </a:lnTo>
                  <a:lnTo>
                    <a:pt x="170" y="35"/>
                  </a:lnTo>
                  <a:lnTo>
                    <a:pt x="171" y="32"/>
                  </a:lnTo>
                  <a:lnTo>
                    <a:pt x="172" y="32"/>
                  </a:lnTo>
                  <a:lnTo>
                    <a:pt x="173" y="33"/>
                  </a:lnTo>
                  <a:lnTo>
                    <a:pt x="174" y="37"/>
                  </a:lnTo>
                  <a:lnTo>
                    <a:pt x="175" y="40"/>
                  </a:lnTo>
                  <a:lnTo>
                    <a:pt x="176" y="43"/>
                  </a:lnTo>
                  <a:lnTo>
                    <a:pt x="177" y="45"/>
                  </a:lnTo>
                  <a:lnTo>
                    <a:pt x="178" y="46"/>
                  </a:lnTo>
                  <a:lnTo>
                    <a:pt x="179" y="46"/>
                  </a:lnTo>
                  <a:lnTo>
                    <a:pt x="180" y="46"/>
                  </a:lnTo>
                  <a:lnTo>
                    <a:pt x="181" y="46"/>
                  </a:lnTo>
                  <a:lnTo>
                    <a:pt x="182" y="46"/>
                  </a:lnTo>
                  <a:lnTo>
                    <a:pt x="183" y="46"/>
                  </a:lnTo>
                  <a:lnTo>
                    <a:pt x="184" y="46"/>
                  </a:lnTo>
                  <a:lnTo>
                    <a:pt x="185" y="46"/>
                  </a:lnTo>
                  <a:lnTo>
                    <a:pt x="186" y="46"/>
                  </a:lnTo>
                  <a:lnTo>
                    <a:pt x="187" y="46"/>
                  </a:lnTo>
                  <a:lnTo>
                    <a:pt x="188" y="46"/>
                  </a:lnTo>
                  <a:lnTo>
                    <a:pt x="189" y="46"/>
                  </a:lnTo>
                  <a:lnTo>
                    <a:pt x="190" y="46"/>
                  </a:lnTo>
                  <a:lnTo>
                    <a:pt x="191" y="46"/>
                  </a:lnTo>
                  <a:lnTo>
                    <a:pt x="192" y="46"/>
                  </a:lnTo>
                  <a:lnTo>
                    <a:pt x="193" y="46"/>
                  </a:lnTo>
                  <a:lnTo>
                    <a:pt x="194" y="46"/>
                  </a:lnTo>
                  <a:lnTo>
                    <a:pt x="195" y="46"/>
                  </a:lnTo>
                  <a:lnTo>
                    <a:pt x="196" y="46"/>
                  </a:lnTo>
                </a:path>
              </a:pathLst>
            </a:custGeom>
            <a:noFill/>
            <a:ln w="15875" cap="rnd">
              <a:solidFill>
                <a:srgbClr val="2E8B57"/>
              </a:solidFill>
              <a:round/>
            </a:ln>
          </p:spPr>
          <p:txBody>
            <a:bodyPr rtlCol="0" anchor="ctr"/>
            <a:lstStyle/>
            <a:p>
              <a:pPr algn="ctr"/>
              <a:endParaRPr/>
            </a:p>
          </p:txBody>
        </p:sp>
      </p:grpSp>
      <p:grpSp>
        <p:nvGrpSpPr>
          <p:cNvPr id="88" name="Group 87">
            <a:extLst>
              <a:ext uri="{FF2B5EF4-FFF2-40B4-BE49-F238E27FC236}">
                <a16:creationId xmlns:a16="http://schemas.microsoft.com/office/drawing/2014/main" id="{BA9A1251-13F0-5A6E-D583-2BA8BFC813B0}"/>
              </a:ext>
            </a:extLst>
          </p:cNvPr>
          <p:cNvGrpSpPr/>
          <p:nvPr/>
        </p:nvGrpSpPr>
        <p:grpSpPr>
          <a:xfrm>
            <a:off x="609600" y="1313160"/>
            <a:ext cx="8122920" cy="4231680"/>
            <a:chOff x="609600" y="1059160"/>
            <a:chExt cx="8122920" cy="4231680"/>
          </a:xfrm>
        </p:grpSpPr>
        <p:sp>
          <p:nvSpPr>
            <p:cNvPr id="4" name="Panel"/>
            <p:cNvSpPr/>
            <p:nvPr/>
          </p:nvSpPr>
          <p:spPr>
            <a:xfrm>
              <a:off x="609600" y="1059160"/>
              <a:ext cx="2573834" cy="1299666"/>
            </a:xfrm>
            <a:prstGeom prst="roundRect">
              <a:avLst>
                <a:gd name="adj" fmla="val 4885"/>
              </a:avLst>
            </a:prstGeom>
            <a:solidFill>
              <a:srgbClr val="F4F6F5"/>
            </a:solidFill>
            <a:ln>
              <a:noFill/>
            </a:ln>
          </p:spPr>
          <p:txBody>
            <a:bodyPr rtlCol="0" anchor="ctr"/>
            <a:lstStyle/>
            <a:p>
              <a:pPr algn="ctr"/>
              <a:endParaRPr/>
            </a:p>
          </p:txBody>
        </p:sp>
        <p:sp>
          <p:nvSpPr>
            <p:cNvPr id="5" name="Text: Biophysical"/>
            <p:cNvSpPr txBox="1"/>
            <p:nvPr/>
          </p:nvSpPr>
          <p:spPr>
            <a:xfrm>
              <a:off x="736600" y="1186160"/>
              <a:ext cx="2377829"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Biophysical</a:t>
              </a:r>
            </a:p>
          </p:txBody>
        </p:sp>
        <p:sp>
          <p:nvSpPr>
            <p:cNvPr id="6" name="Text: ECG, PPG, accelerometer / gyroscope, tem"/>
            <p:cNvSpPr txBox="1"/>
            <p:nvPr/>
          </p:nvSpPr>
          <p:spPr>
            <a:xfrm>
              <a:off x="736600" y="1427460"/>
              <a:ext cx="2377829" cy="569416"/>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ECG, PPG, accelerometer / gyroscope, temperature, skin conductance, respiration</a:t>
              </a:r>
            </a:p>
          </p:txBody>
        </p:sp>
        <p:sp>
          <p:nvSpPr>
            <p:cNvPr id="7" name="Text: sampled ~0.1–100 Hz"/>
            <p:cNvSpPr txBox="1"/>
            <p:nvPr/>
          </p:nvSpPr>
          <p:spPr>
            <a:xfrm>
              <a:off x="736600" y="2060377"/>
              <a:ext cx="2377829" cy="171450"/>
            </a:xfrm>
            <a:prstGeom prst="rect">
              <a:avLst/>
            </a:prstGeom>
            <a:noFill/>
          </p:spPr>
          <p:txBody>
            <a:bodyPr wrap="square" lIns="0" tIns="0" rIns="0" bIns="0" anchor="t">
              <a:noAutofit/>
            </a:bodyPr>
            <a:lstStyle/>
            <a:p>
              <a:pPr algn="l">
                <a:lnSpc>
                  <a:spcPts val="1322"/>
                </a:lnSpc>
                <a:spcBef>
                  <a:spcPts val="0"/>
                </a:spcBef>
                <a:spcAft>
                  <a:spcPts val="0"/>
                </a:spcAft>
              </a:pPr>
              <a:r>
                <a:rPr sz="1150" b="1" i="0">
                  <a:solidFill>
                    <a:srgbClr val="A84D00"/>
                  </a:solidFill>
                  <a:latin typeface="Arial"/>
                </a:rPr>
                <a:t>sampled ~0.1–100 Hz</a:t>
              </a:r>
            </a:p>
          </p:txBody>
        </p:sp>
        <p:sp>
          <p:nvSpPr>
            <p:cNvPr id="8" name="Panel"/>
            <p:cNvSpPr/>
            <p:nvPr/>
          </p:nvSpPr>
          <p:spPr>
            <a:xfrm>
              <a:off x="3285034" y="1059160"/>
              <a:ext cx="2573834" cy="1299666"/>
            </a:xfrm>
            <a:prstGeom prst="roundRect">
              <a:avLst>
                <a:gd name="adj" fmla="val 4885"/>
              </a:avLst>
            </a:prstGeom>
            <a:solidFill>
              <a:srgbClr val="F4F6F5"/>
            </a:solidFill>
            <a:ln>
              <a:noFill/>
            </a:ln>
          </p:spPr>
          <p:txBody>
            <a:bodyPr rtlCol="0" anchor="ctr"/>
            <a:lstStyle/>
            <a:p>
              <a:pPr algn="ctr"/>
              <a:endParaRPr/>
            </a:p>
          </p:txBody>
        </p:sp>
        <p:sp>
          <p:nvSpPr>
            <p:cNvPr id="9" name="Text: Biochemical"/>
            <p:cNvSpPr txBox="1"/>
            <p:nvPr/>
          </p:nvSpPr>
          <p:spPr>
            <a:xfrm>
              <a:off x="3412034" y="1186160"/>
              <a:ext cx="2377829"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Biochemical</a:t>
              </a:r>
            </a:p>
          </p:txBody>
        </p:sp>
        <p:sp>
          <p:nvSpPr>
            <p:cNvPr id="10" name="Text: glucose, lactate, cortisol, K⁺/Na⁺, uric"/>
            <p:cNvSpPr txBox="1"/>
            <p:nvPr/>
          </p:nvSpPr>
          <p:spPr>
            <a:xfrm>
              <a:off x="3412034" y="1427460"/>
              <a:ext cx="2377829" cy="379611"/>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glucose, lactate, cortisol, K⁺/Na⁺, uric acid, CRP, H₂O₂, NO, pH</a:t>
              </a:r>
            </a:p>
          </p:txBody>
        </p:sp>
        <p:sp>
          <p:nvSpPr>
            <p:cNvPr id="11" name="Text: sweat · ISF · saliva · tears · breath"/>
            <p:cNvSpPr txBox="1"/>
            <p:nvPr/>
          </p:nvSpPr>
          <p:spPr>
            <a:xfrm>
              <a:off x="3412034" y="1870571"/>
              <a:ext cx="2377829" cy="342900"/>
            </a:xfrm>
            <a:prstGeom prst="rect">
              <a:avLst/>
            </a:prstGeom>
            <a:noFill/>
          </p:spPr>
          <p:txBody>
            <a:bodyPr wrap="square" lIns="0" tIns="0" rIns="0" bIns="0" anchor="t">
              <a:noAutofit/>
            </a:bodyPr>
            <a:lstStyle/>
            <a:p>
              <a:pPr algn="l">
                <a:lnSpc>
                  <a:spcPts val="1322"/>
                </a:lnSpc>
                <a:spcBef>
                  <a:spcPts val="0"/>
                </a:spcBef>
                <a:spcAft>
                  <a:spcPts val="0"/>
                </a:spcAft>
              </a:pPr>
              <a:r>
                <a:rPr sz="1150" b="1" i="0">
                  <a:solidFill>
                    <a:srgbClr val="A84D00"/>
                  </a:solidFill>
                  <a:latin typeface="Arial"/>
                </a:rPr>
                <a:t>sweat · ISF · saliva · tears · breath</a:t>
              </a:r>
            </a:p>
          </p:txBody>
        </p:sp>
        <p:sp>
          <p:nvSpPr>
            <p:cNvPr id="12" name="Panel"/>
            <p:cNvSpPr/>
            <p:nvPr/>
          </p:nvSpPr>
          <p:spPr>
            <a:xfrm>
              <a:off x="5960467" y="1059160"/>
              <a:ext cx="2573834" cy="1299666"/>
            </a:xfrm>
            <a:prstGeom prst="roundRect">
              <a:avLst>
                <a:gd name="adj" fmla="val 4885"/>
              </a:avLst>
            </a:prstGeom>
            <a:solidFill>
              <a:srgbClr val="F4F6F5"/>
            </a:solidFill>
            <a:ln>
              <a:noFill/>
            </a:ln>
          </p:spPr>
          <p:txBody>
            <a:bodyPr rtlCol="0" anchor="ctr"/>
            <a:lstStyle/>
            <a:p>
              <a:pPr algn="ctr"/>
              <a:endParaRPr/>
            </a:p>
          </p:txBody>
        </p:sp>
        <p:sp>
          <p:nvSpPr>
            <p:cNvPr id="13" name="Text: Clinical context"/>
            <p:cNvSpPr txBox="1"/>
            <p:nvPr/>
          </p:nvSpPr>
          <p:spPr>
            <a:xfrm>
              <a:off x="6087467" y="1186160"/>
              <a:ext cx="2377829"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Clinical context</a:t>
              </a:r>
            </a:p>
          </p:txBody>
        </p:sp>
        <p:sp>
          <p:nvSpPr>
            <p:cNvPr id="14" name="Text: EHR records (FHIR); fundus, CT, mammogra"/>
            <p:cNvSpPr txBox="1"/>
            <p:nvPr/>
          </p:nvSpPr>
          <p:spPr>
            <a:xfrm>
              <a:off x="6087467" y="1427460"/>
              <a:ext cx="2377829" cy="569416"/>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EHR records (FHIR); fundus, CT, mammography, H&amp;E images; stethoscope audio</a:t>
              </a:r>
            </a:p>
          </p:txBody>
        </p:sp>
        <p:sp>
          <p:nvSpPr>
            <p:cNvPr id="15" name="Text: the inputs behind Table 5"/>
            <p:cNvSpPr txBox="1"/>
            <p:nvPr/>
          </p:nvSpPr>
          <p:spPr>
            <a:xfrm>
              <a:off x="6087467" y="2060377"/>
              <a:ext cx="2377829" cy="171450"/>
            </a:xfrm>
            <a:prstGeom prst="rect">
              <a:avLst/>
            </a:prstGeom>
            <a:noFill/>
          </p:spPr>
          <p:txBody>
            <a:bodyPr wrap="square" lIns="0" tIns="0" rIns="0" bIns="0" anchor="t">
              <a:noAutofit/>
            </a:bodyPr>
            <a:lstStyle/>
            <a:p>
              <a:pPr algn="l">
                <a:lnSpc>
                  <a:spcPts val="1322"/>
                </a:lnSpc>
                <a:spcBef>
                  <a:spcPts val="0"/>
                </a:spcBef>
                <a:spcAft>
                  <a:spcPts val="0"/>
                </a:spcAft>
              </a:pPr>
              <a:r>
                <a:rPr sz="1150" b="1" i="0">
                  <a:solidFill>
                    <a:srgbClr val="A84D00"/>
                  </a:solidFill>
                  <a:latin typeface="Arial"/>
                </a:rPr>
                <a:t>the inputs behind Table 5</a:t>
              </a:r>
            </a:p>
          </p:txBody>
        </p:sp>
        <p:sp>
          <p:nvSpPr>
            <p:cNvPr id="16" name="Text: Processing chain described in §2.4 and §"/>
            <p:cNvSpPr txBox="1"/>
            <p:nvPr/>
          </p:nvSpPr>
          <p:spPr>
            <a:xfrm>
              <a:off x="609600" y="2523927"/>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Processing chain described in §2.4 and §3.2 (my sketch)</a:t>
              </a:r>
            </a:p>
          </p:txBody>
        </p:sp>
        <p:sp>
          <p:nvSpPr>
            <p:cNvPr id="17" name="Panel"/>
            <p:cNvSpPr/>
            <p:nvPr/>
          </p:nvSpPr>
          <p:spPr>
            <a:xfrm>
              <a:off x="609600" y="2854127"/>
              <a:ext cx="1473200" cy="1426170"/>
            </a:xfrm>
            <a:prstGeom prst="roundRect">
              <a:avLst>
                <a:gd name="adj" fmla="val 4452"/>
              </a:avLst>
            </a:prstGeom>
            <a:solidFill>
              <a:srgbClr val="F4F6F5"/>
            </a:solidFill>
            <a:ln>
              <a:noFill/>
            </a:ln>
          </p:spPr>
          <p:txBody>
            <a:bodyPr rtlCol="0" anchor="ctr"/>
            <a:lstStyle/>
            <a:p>
              <a:pPr algn="ctr"/>
              <a:endParaRPr/>
            </a:p>
          </p:txBody>
        </p:sp>
        <p:sp>
          <p:nvSpPr>
            <p:cNvPr id="18" name="Badge 1"/>
            <p:cNvSpPr/>
            <p:nvPr/>
          </p:nvSpPr>
          <p:spPr>
            <a:xfrm>
              <a:off x="685800" y="2943027"/>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1</a:t>
              </a:r>
            </a:p>
          </p:txBody>
        </p:sp>
        <p:sp>
          <p:nvSpPr>
            <p:cNvPr id="19" name="Text: Raw"/>
            <p:cNvSpPr txBox="1"/>
            <p:nvPr/>
          </p:nvSpPr>
          <p:spPr>
            <a:xfrm>
              <a:off x="927100" y="2955727"/>
              <a:ext cx="325438"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Raw</a:t>
              </a:r>
            </a:p>
          </p:txBody>
        </p:sp>
        <p:sp>
          <p:nvSpPr>
            <p:cNvPr id="22" name="Text: ECG + motion artifact"/>
            <p:cNvSpPr txBox="1"/>
            <p:nvPr/>
          </p:nvSpPr>
          <p:spPr>
            <a:xfrm>
              <a:off x="685800" y="3844727"/>
              <a:ext cx="1358900" cy="173355"/>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ECG + motion artifact</a:t>
              </a:r>
            </a:p>
          </p:txBody>
        </p:sp>
        <p:cxnSp>
          <p:nvCxnSpPr>
            <p:cNvPr id="23" name="Arrow"/>
            <p:cNvCxnSpPr/>
            <p:nvPr/>
          </p:nvCxnSpPr>
          <p:spPr>
            <a:xfrm>
              <a:off x="2108200" y="3567212"/>
              <a:ext cx="88900" cy="0"/>
            </a:xfrm>
            <a:prstGeom prst="line">
              <a:avLst/>
            </a:prstGeom>
            <a:ln w="19050" cap="flat">
              <a:solidFill>
                <a:srgbClr val="154734"/>
              </a:solidFill>
              <a:tailEnd type="triangle" w="med" len="med"/>
            </a:ln>
          </p:spPr>
        </p:cxnSp>
        <p:sp>
          <p:nvSpPr>
            <p:cNvPr id="24" name="Panel"/>
            <p:cNvSpPr/>
            <p:nvPr/>
          </p:nvSpPr>
          <p:spPr>
            <a:xfrm>
              <a:off x="2222500" y="2854127"/>
              <a:ext cx="1473200" cy="1426170"/>
            </a:xfrm>
            <a:prstGeom prst="roundRect">
              <a:avLst>
                <a:gd name="adj" fmla="val 4452"/>
              </a:avLst>
            </a:prstGeom>
            <a:solidFill>
              <a:srgbClr val="F4F6F5"/>
            </a:solidFill>
            <a:ln>
              <a:noFill/>
            </a:ln>
          </p:spPr>
          <p:txBody>
            <a:bodyPr rtlCol="0" anchor="ctr"/>
            <a:lstStyle/>
            <a:p>
              <a:pPr algn="ctr"/>
              <a:endParaRPr/>
            </a:p>
          </p:txBody>
        </p:sp>
        <p:sp>
          <p:nvSpPr>
            <p:cNvPr id="25" name="Badge 2"/>
            <p:cNvSpPr/>
            <p:nvPr/>
          </p:nvSpPr>
          <p:spPr>
            <a:xfrm>
              <a:off x="2298700" y="2943027"/>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2</a:t>
              </a:r>
            </a:p>
          </p:txBody>
        </p:sp>
        <p:sp>
          <p:nvSpPr>
            <p:cNvPr id="26" name="Text: Denoise"/>
            <p:cNvSpPr txBox="1"/>
            <p:nvPr/>
          </p:nvSpPr>
          <p:spPr>
            <a:xfrm>
              <a:off x="2540000" y="2955727"/>
              <a:ext cx="5816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Denoise</a:t>
              </a:r>
            </a:p>
          </p:txBody>
        </p:sp>
        <p:sp>
          <p:nvSpPr>
            <p:cNvPr id="29" name="Text: band-pass, wavelet, 1D-CNN"/>
            <p:cNvSpPr txBox="1"/>
            <p:nvPr/>
          </p:nvSpPr>
          <p:spPr>
            <a:xfrm>
              <a:off x="2298700" y="3844727"/>
              <a:ext cx="1358900" cy="346670"/>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band-pass, wavelet, 1D-CNN</a:t>
              </a:r>
            </a:p>
          </p:txBody>
        </p:sp>
        <p:cxnSp>
          <p:nvCxnSpPr>
            <p:cNvPr id="30" name="Arrow"/>
            <p:cNvCxnSpPr/>
            <p:nvPr/>
          </p:nvCxnSpPr>
          <p:spPr>
            <a:xfrm>
              <a:off x="3721100" y="3567212"/>
              <a:ext cx="88900" cy="0"/>
            </a:xfrm>
            <a:prstGeom prst="line">
              <a:avLst/>
            </a:prstGeom>
            <a:ln w="19050" cap="flat">
              <a:solidFill>
                <a:srgbClr val="154734"/>
              </a:solidFill>
              <a:tailEnd type="triangle" w="med" len="med"/>
            </a:ln>
          </p:spPr>
        </p:cxnSp>
        <p:sp>
          <p:nvSpPr>
            <p:cNvPr id="31" name="Panel"/>
            <p:cNvSpPr/>
            <p:nvPr/>
          </p:nvSpPr>
          <p:spPr>
            <a:xfrm>
              <a:off x="3835400" y="2854127"/>
              <a:ext cx="1473200" cy="1426170"/>
            </a:xfrm>
            <a:prstGeom prst="roundRect">
              <a:avLst>
                <a:gd name="adj" fmla="val 4452"/>
              </a:avLst>
            </a:prstGeom>
            <a:solidFill>
              <a:srgbClr val="F4F6F5"/>
            </a:solidFill>
            <a:ln>
              <a:noFill/>
            </a:ln>
          </p:spPr>
          <p:txBody>
            <a:bodyPr rtlCol="0" anchor="ctr"/>
            <a:lstStyle/>
            <a:p>
              <a:pPr algn="ctr"/>
              <a:endParaRPr/>
            </a:p>
          </p:txBody>
        </p:sp>
        <p:sp>
          <p:nvSpPr>
            <p:cNvPr id="32" name="Badge 3"/>
            <p:cNvSpPr/>
            <p:nvPr/>
          </p:nvSpPr>
          <p:spPr>
            <a:xfrm>
              <a:off x="3911600" y="2943027"/>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3</a:t>
              </a:r>
            </a:p>
          </p:txBody>
        </p:sp>
        <p:sp>
          <p:nvSpPr>
            <p:cNvPr id="33" name="Text: Features"/>
            <p:cNvSpPr txBox="1"/>
            <p:nvPr/>
          </p:nvSpPr>
          <p:spPr>
            <a:xfrm>
              <a:off x="4152900" y="2955727"/>
              <a:ext cx="620514"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Features</a:t>
              </a:r>
            </a:p>
          </p:txBody>
        </p:sp>
        <p:grpSp>
          <p:nvGrpSpPr>
            <p:cNvPr id="34" name="Sketch: R peaks with R-R interval"/>
            <p:cNvGrpSpPr/>
            <p:nvPr/>
          </p:nvGrpSpPr>
          <p:grpSpPr>
            <a:xfrm>
              <a:off x="3911600" y="3231952"/>
              <a:ext cx="1244600" cy="476448"/>
              <a:chOff x="3911600" y="3231952"/>
              <a:chExt cx="1244600" cy="476448"/>
            </a:xfrm>
          </p:grpSpPr>
          <p:sp>
            <p:nvSpPr>
              <p:cNvPr id="35" name="Trace"/>
              <p:cNvSpPr/>
              <p:nvPr/>
            </p:nvSpPr>
            <p:spPr>
              <a:xfrm>
                <a:off x="3911600" y="3340100"/>
                <a:ext cx="1244600" cy="368300"/>
              </a:xfrm>
              <a:custGeom>
                <a:avLst/>
                <a:gdLst/>
                <a:ahLst/>
                <a:cxnLst/>
                <a:rect l="l" t="t" r="r" b="b"/>
                <a:pathLst>
                  <a:path w="196" h="58">
                    <a:moveTo>
                      <a:pt x="0" y="46"/>
                    </a:moveTo>
                    <a:lnTo>
                      <a:pt x="1" y="46"/>
                    </a:lnTo>
                    <a:lnTo>
                      <a:pt x="2" y="46"/>
                    </a:lnTo>
                    <a:lnTo>
                      <a:pt x="3" y="46"/>
                    </a:lnTo>
                    <a:lnTo>
                      <a:pt x="4" y="46"/>
                    </a:lnTo>
                    <a:lnTo>
                      <a:pt x="5" y="46"/>
                    </a:lnTo>
                    <a:lnTo>
                      <a:pt x="6" y="46"/>
                    </a:lnTo>
                    <a:lnTo>
                      <a:pt x="7" y="46"/>
                    </a:lnTo>
                    <a:lnTo>
                      <a:pt x="8" y="46"/>
                    </a:lnTo>
                    <a:lnTo>
                      <a:pt x="9" y="45"/>
                    </a:lnTo>
                    <a:lnTo>
                      <a:pt x="10" y="43"/>
                    </a:lnTo>
                    <a:lnTo>
                      <a:pt x="11" y="41"/>
                    </a:lnTo>
                    <a:lnTo>
                      <a:pt x="12" y="40"/>
                    </a:lnTo>
                    <a:lnTo>
                      <a:pt x="13" y="42"/>
                    </a:lnTo>
                    <a:lnTo>
                      <a:pt x="14" y="44"/>
                    </a:lnTo>
                    <a:lnTo>
                      <a:pt x="15" y="46"/>
                    </a:lnTo>
                    <a:lnTo>
                      <a:pt x="16" y="46"/>
                    </a:lnTo>
                    <a:lnTo>
                      <a:pt x="17" y="46"/>
                    </a:lnTo>
                    <a:lnTo>
                      <a:pt x="18" y="46"/>
                    </a:lnTo>
                    <a:lnTo>
                      <a:pt x="19" y="46"/>
                    </a:lnTo>
                    <a:lnTo>
                      <a:pt x="20" y="46"/>
                    </a:lnTo>
                    <a:lnTo>
                      <a:pt x="21" y="46"/>
                    </a:lnTo>
                    <a:lnTo>
                      <a:pt x="22" y="46"/>
                    </a:lnTo>
                    <a:lnTo>
                      <a:pt x="23" y="47"/>
                    </a:lnTo>
                    <a:lnTo>
                      <a:pt x="24" y="50"/>
                    </a:lnTo>
                    <a:lnTo>
                      <a:pt x="25" y="13"/>
                    </a:lnTo>
                    <a:lnTo>
                      <a:pt x="26" y="17"/>
                    </a:lnTo>
                    <a:lnTo>
                      <a:pt x="27" y="58"/>
                    </a:lnTo>
                    <a:lnTo>
                      <a:pt x="28" y="50"/>
                    </a:lnTo>
                    <a:lnTo>
                      <a:pt x="29" y="46"/>
                    </a:lnTo>
                    <a:lnTo>
                      <a:pt x="30" y="46"/>
                    </a:lnTo>
                    <a:lnTo>
                      <a:pt x="31" y="46"/>
                    </a:lnTo>
                    <a:lnTo>
                      <a:pt x="32" y="46"/>
                    </a:lnTo>
                    <a:lnTo>
                      <a:pt x="33" y="46"/>
                    </a:lnTo>
                    <a:lnTo>
                      <a:pt x="34" y="46"/>
                    </a:lnTo>
                    <a:lnTo>
                      <a:pt x="35" y="46"/>
                    </a:lnTo>
                    <a:lnTo>
                      <a:pt x="36" y="45"/>
                    </a:lnTo>
                    <a:lnTo>
                      <a:pt x="37" y="43"/>
                    </a:lnTo>
                    <a:lnTo>
                      <a:pt x="38" y="40"/>
                    </a:lnTo>
                    <a:lnTo>
                      <a:pt x="39" y="37"/>
                    </a:lnTo>
                    <a:lnTo>
                      <a:pt x="40" y="33"/>
                    </a:lnTo>
                    <a:lnTo>
                      <a:pt x="41" y="32"/>
                    </a:lnTo>
                    <a:lnTo>
                      <a:pt x="42" y="32"/>
                    </a:lnTo>
                    <a:lnTo>
                      <a:pt x="43" y="35"/>
                    </a:lnTo>
                    <a:lnTo>
                      <a:pt x="44" y="39"/>
                    </a:lnTo>
                    <a:lnTo>
                      <a:pt x="45" y="42"/>
                    </a:lnTo>
                    <a:lnTo>
                      <a:pt x="46" y="44"/>
                    </a:lnTo>
                    <a:lnTo>
                      <a:pt x="47" y="45"/>
                    </a:lnTo>
                    <a:lnTo>
                      <a:pt x="48" y="46"/>
                    </a:lnTo>
                    <a:lnTo>
                      <a:pt x="49" y="46"/>
                    </a:lnTo>
                    <a:lnTo>
                      <a:pt x="50" y="46"/>
                    </a:lnTo>
                    <a:lnTo>
                      <a:pt x="51" y="46"/>
                    </a:lnTo>
                    <a:lnTo>
                      <a:pt x="52" y="46"/>
                    </a:lnTo>
                    <a:lnTo>
                      <a:pt x="53" y="46"/>
                    </a:lnTo>
                    <a:lnTo>
                      <a:pt x="54" y="46"/>
                    </a:lnTo>
                    <a:lnTo>
                      <a:pt x="55" y="46"/>
                    </a:lnTo>
                    <a:lnTo>
                      <a:pt x="56" y="46"/>
                    </a:lnTo>
                    <a:lnTo>
                      <a:pt x="57" y="46"/>
                    </a:lnTo>
                    <a:lnTo>
                      <a:pt x="58" y="46"/>
                    </a:lnTo>
                    <a:lnTo>
                      <a:pt x="59" y="46"/>
                    </a:lnTo>
                    <a:lnTo>
                      <a:pt x="60" y="46"/>
                    </a:lnTo>
                    <a:lnTo>
                      <a:pt x="61" y="46"/>
                    </a:lnTo>
                    <a:lnTo>
                      <a:pt x="62" y="46"/>
                    </a:lnTo>
                    <a:lnTo>
                      <a:pt x="63" y="46"/>
                    </a:lnTo>
                    <a:lnTo>
                      <a:pt x="64" y="46"/>
                    </a:lnTo>
                    <a:lnTo>
                      <a:pt x="65" y="46"/>
                    </a:lnTo>
                    <a:lnTo>
                      <a:pt x="66" y="46"/>
                    </a:lnTo>
                    <a:lnTo>
                      <a:pt x="67" y="46"/>
                    </a:lnTo>
                    <a:lnTo>
                      <a:pt x="68" y="46"/>
                    </a:lnTo>
                    <a:lnTo>
                      <a:pt x="69" y="46"/>
                    </a:lnTo>
                    <a:lnTo>
                      <a:pt x="70" y="46"/>
                    </a:lnTo>
                    <a:lnTo>
                      <a:pt x="71" y="46"/>
                    </a:lnTo>
                    <a:lnTo>
                      <a:pt x="72" y="46"/>
                    </a:lnTo>
                    <a:lnTo>
                      <a:pt x="73" y="46"/>
                    </a:lnTo>
                    <a:lnTo>
                      <a:pt x="74" y="46"/>
                    </a:lnTo>
                    <a:lnTo>
                      <a:pt x="75" y="44"/>
                    </a:lnTo>
                    <a:lnTo>
                      <a:pt x="76" y="42"/>
                    </a:lnTo>
                    <a:lnTo>
                      <a:pt x="77" y="40"/>
                    </a:lnTo>
                    <a:lnTo>
                      <a:pt x="78" y="41"/>
                    </a:lnTo>
                    <a:lnTo>
                      <a:pt x="79" y="44"/>
                    </a:lnTo>
                    <a:lnTo>
                      <a:pt x="80" y="45"/>
                    </a:lnTo>
                    <a:lnTo>
                      <a:pt x="81" y="46"/>
                    </a:lnTo>
                    <a:lnTo>
                      <a:pt x="82" y="46"/>
                    </a:lnTo>
                    <a:lnTo>
                      <a:pt x="83" y="46"/>
                    </a:lnTo>
                    <a:lnTo>
                      <a:pt x="84" y="46"/>
                    </a:lnTo>
                    <a:lnTo>
                      <a:pt x="85" y="46"/>
                    </a:lnTo>
                    <a:lnTo>
                      <a:pt x="86" y="46"/>
                    </a:lnTo>
                    <a:lnTo>
                      <a:pt x="87" y="46"/>
                    </a:lnTo>
                    <a:lnTo>
                      <a:pt x="88" y="46"/>
                    </a:lnTo>
                    <a:lnTo>
                      <a:pt x="89" y="51"/>
                    </a:lnTo>
                    <a:lnTo>
                      <a:pt x="90" y="31"/>
                    </a:lnTo>
                    <a:lnTo>
                      <a:pt x="91" y="1"/>
                    </a:lnTo>
                    <a:lnTo>
                      <a:pt x="92" y="51"/>
                    </a:lnTo>
                    <a:lnTo>
                      <a:pt x="93" y="54"/>
                    </a:lnTo>
                    <a:lnTo>
                      <a:pt x="94" y="46"/>
                    </a:lnTo>
                    <a:lnTo>
                      <a:pt x="95" y="46"/>
                    </a:lnTo>
                    <a:lnTo>
                      <a:pt x="96" y="46"/>
                    </a:lnTo>
                    <a:lnTo>
                      <a:pt x="97" y="46"/>
                    </a:lnTo>
                    <a:lnTo>
                      <a:pt x="98" y="46"/>
                    </a:lnTo>
                    <a:lnTo>
                      <a:pt x="99" y="46"/>
                    </a:lnTo>
                    <a:lnTo>
                      <a:pt x="100" y="46"/>
                    </a:lnTo>
                    <a:lnTo>
                      <a:pt x="101" y="45"/>
                    </a:lnTo>
                    <a:lnTo>
                      <a:pt x="102" y="44"/>
                    </a:lnTo>
                    <a:lnTo>
                      <a:pt x="103" y="41"/>
                    </a:lnTo>
                    <a:lnTo>
                      <a:pt x="104" y="38"/>
                    </a:lnTo>
                    <a:lnTo>
                      <a:pt x="105" y="34"/>
                    </a:lnTo>
                    <a:lnTo>
                      <a:pt x="106" y="32"/>
                    </a:lnTo>
                    <a:lnTo>
                      <a:pt x="107" y="32"/>
                    </a:lnTo>
                    <a:lnTo>
                      <a:pt x="108" y="34"/>
                    </a:lnTo>
                    <a:lnTo>
                      <a:pt x="109" y="38"/>
                    </a:lnTo>
                    <a:lnTo>
                      <a:pt x="110" y="41"/>
                    </a:lnTo>
                    <a:lnTo>
                      <a:pt x="111" y="44"/>
                    </a:lnTo>
                    <a:lnTo>
                      <a:pt x="112" y="45"/>
                    </a:lnTo>
                    <a:lnTo>
                      <a:pt x="113" y="46"/>
                    </a:lnTo>
                    <a:lnTo>
                      <a:pt x="114" y="46"/>
                    </a:lnTo>
                    <a:lnTo>
                      <a:pt x="115" y="46"/>
                    </a:lnTo>
                    <a:lnTo>
                      <a:pt x="116" y="46"/>
                    </a:lnTo>
                    <a:lnTo>
                      <a:pt x="117" y="46"/>
                    </a:lnTo>
                    <a:lnTo>
                      <a:pt x="118" y="46"/>
                    </a:lnTo>
                    <a:lnTo>
                      <a:pt x="119" y="46"/>
                    </a:lnTo>
                    <a:lnTo>
                      <a:pt x="120" y="46"/>
                    </a:lnTo>
                    <a:lnTo>
                      <a:pt x="121" y="46"/>
                    </a:lnTo>
                    <a:lnTo>
                      <a:pt x="122" y="46"/>
                    </a:lnTo>
                    <a:lnTo>
                      <a:pt x="123" y="46"/>
                    </a:lnTo>
                    <a:lnTo>
                      <a:pt x="124" y="46"/>
                    </a:lnTo>
                    <a:lnTo>
                      <a:pt x="125" y="46"/>
                    </a:lnTo>
                    <a:lnTo>
                      <a:pt x="126" y="46"/>
                    </a:lnTo>
                    <a:lnTo>
                      <a:pt x="127" y="46"/>
                    </a:lnTo>
                    <a:lnTo>
                      <a:pt x="128" y="46"/>
                    </a:lnTo>
                    <a:lnTo>
                      <a:pt x="129" y="46"/>
                    </a:lnTo>
                    <a:lnTo>
                      <a:pt x="130" y="46"/>
                    </a:lnTo>
                    <a:lnTo>
                      <a:pt x="131" y="46"/>
                    </a:lnTo>
                    <a:lnTo>
                      <a:pt x="132" y="46"/>
                    </a:lnTo>
                    <a:lnTo>
                      <a:pt x="133" y="46"/>
                    </a:lnTo>
                    <a:lnTo>
                      <a:pt x="134" y="46"/>
                    </a:lnTo>
                    <a:lnTo>
                      <a:pt x="135" y="46"/>
                    </a:lnTo>
                    <a:lnTo>
                      <a:pt x="136" y="46"/>
                    </a:lnTo>
                    <a:lnTo>
                      <a:pt x="137" y="46"/>
                    </a:lnTo>
                    <a:lnTo>
                      <a:pt x="138" y="46"/>
                    </a:lnTo>
                    <a:lnTo>
                      <a:pt x="139" y="46"/>
                    </a:lnTo>
                    <a:lnTo>
                      <a:pt x="140" y="45"/>
                    </a:lnTo>
                    <a:lnTo>
                      <a:pt x="141" y="43"/>
                    </a:lnTo>
                    <a:lnTo>
                      <a:pt x="142" y="40"/>
                    </a:lnTo>
                    <a:lnTo>
                      <a:pt x="143" y="41"/>
                    </a:lnTo>
                    <a:lnTo>
                      <a:pt x="144" y="43"/>
                    </a:lnTo>
                    <a:lnTo>
                      <a:pt x="145" y="45"/>
                    </a:lnTo>
                    <a:lnTo>
                      <a:pt x="146" y="46"/>
                    </a:lnTo>
                    <a:lnTo>
                      <a:pt x="147" y="46"/>
                    </a:lnTo>
                    <a:lnTo>
                      <a:pt x="148" y="46"/>
                    </a:lnTo>
                    <a:lnTo>
                      <a:pt x="149" y="46"/>
                    </a:lnTo>
                    <a:lnTo>
                      <a:pt x="150" y="46"/>
                    </a:lnTo>
                    <a:lnTo>
                      <a:pt x="151" y="46"/>
                    </a:lnTo>
                    <a:lnTo>
                      <a:pt x="152" y="46"/>
                    </a:lnTo>
                    <a:lnTo>
                      <a:pt x="153" y="46"/>
                    </a:lnTo>
                    <a:lnTo>
                      <a:pt x="154" y="49"/>
                    </a:lnTo>
                    <a:lnTo>
                      <a:pt x="155" y="44"/>
                    </a:lnTo>
                    <a:lnTo>
                      <a:pt x="156" y="0"/>
                    </a:lnTo>
                    <a:lnTo>
                      <a:pt x="157" y="36"/>
                    </a:lnTo>
                    <a:lnTo>
                      <a:pt x="158" y="58"/>
                    </a:lnTo>
                    <a:lnTo>
                      <a:pt x="159" y="47"/>
                    </a:lnTo>
                    <a:lnTo>
                      <a:pt x="160" y="46"/>
                    </a:lnTo>
                    <a:lnTo>
                      <a:pt x="161" y="46"/>
                    </a:lnTo>
                    <a:lnTo>
                      <a:pt x="162" y="46"/>
                    </a:lnTo>
                    <a:lnTo>
                      <a:pt x="163" y="46"/>
                    </a:lnTo>
                    <a:lnTo>
                      <a:pt x="164" y="46"/>
                    </a:lnTo>
                    <a:lnTo>
                      <a:pt x="165" y="46"/>
                    </a:lnTo>
                    <a:lnTo>
                      <a:pt x="166" y="45"/>
                    </a:lnTo>
                    <a:lnTo>
                      <a:pt x="167" y="44"/>
                    </a:lnTo>
                    <a:lnTo>
                      <a:pt x="168" y="42"/>
                    </a:lnTo>
                    <a:lnTo>
                      <a:pt x="169" y="39"/>
                    </a:lnTo>
                    <a:lnTo>
                      <a:pt x="170" y="35"/>
                    </a:lnTo>
                    <a:lnTo>
                      <a:pt x="171" y="32"/>
                    </a:lnTo>
                    <a:lnTo>
                      <a:pt x="172" y="32"/>
                    </a:lnTo>
                    <a:lnTo>
                      <a:pt x="173" y="33"/>
                    </a:lnTo>
                    <a:lnTo>
                      <a:pt x="174" y="37"/>
                    </a:lnTo>
                    <a:lnTo>
                      <a:pt x="175" y="40"/>
                    </a:lnTo>
                    <a:lnTo>
                      <a:pt x="176" y="43"/>
                    </a:lnTo>
                    <a:lnTo>
                      <a:pt x="177" y="45"/>
                    </a:lnTo>
                    <a:lnTo>
                      <a:pt x="178" y="46"/>
                    </a:lnTo>
                    <a:lnTo>
                      <a:pt x="179" y="46"/>
                    </a:lnTo>
                    <a:lnTo>
                      <a:pt x="180" y="46"/>
                    </a:lnTo>
                    <a:lnTo>
                      <a:pt x="181" y="46"/>
                    </a:lnTo>
                    <a:lnTo>
                      <a:pt x="182" y="46"/>
                    </a:lnTo>
                    <a:lnTo>
                      <a:pt x="183" y="46"/>
                    </a:lnTo>
                    <a:lnTo>
                      <a:pt x="184" y="46"/>
                    </a:lnTo>
                    <a:lnTo>
                      <a:pt x="185" y="46"/>
                    </a:lnTo>
                    <a:lnTo>
                      <a:pt x="186" y="46"/>
                    </a:lnTo>
                    <a:lnTo>
                      <a:pt x="187" y="46"/>
                    </a:lnTo>
                    <a:lnTo>
                      <a:pt x="188" y="46"/>
                    </a:lnTo>
                    <a:lnTo>
                      <a:pt x="189" y="46"/>
                    </a:lnTo>
                    <a:lnTo>
                      <a:pt x="190" y="46"/>
                    </a:lnTo>
                    <a:lnTo>
                      <a:pt x="191" y="46"/>
                    </a:lnTo>
                    <a:lnTo>
                      <a:pt x="192" y="46"/>
                    </a:lnTo>
                    <a:lnTo>
                      <a:pt x="193" y="46"/>
                    </a:lnTo>
                    <a:lnTo>
                      <a:pt x="194" y="46"/>
                    </a:lnTo>
                    <a:lnTo>
                      <a:pt x="195" y="46"/>
                    </a:lnTo>
                    <a:lnTo>
                      <a:pt x="196" y="46"/>
                    </a:lnTo>
                  </a:path>
                </a:pathLst>
              </a:custGeom>
              <a:noFill/>
              <a:ln w="15875" cap="rnd">
                <a:solidFill>
                  <a:srgbClr val="2E8B57"/>
                </a:solidFill>
                <a:round/>
              </a:ln>
            </p:spPr>
            <p:txBody>
              <a:bodyPr rtlCol="0" anchor="ctr"/>
              <a:lstStyle/>
              <a:p>
                <a:pPr algn="ctr"/>
                <a:endParaRPr/>
              </a:p>
            </p:txBody>
          </p:sp>
          <p:sp>
            <p:nvSpPr>
              <p:cNvPr id="36" name="Dot"/>
              <p:cNvSpPr/>
              <p:nvPr/>
            </p:nvSpPr>
            <p:spPr>
              <a:xfrm>
                <a:off x="4044950" y="3301802"/>
                <a:ext cx="50800" cy="50800"/>
              </a:xfrm>
              <a:prstGeom prst="ellipse">
                <a:avLst/>
              </a:prstGeom>
              <a:solidFill>
                <a:srgbClr val="D46A00"/>
              </a:solidFill>
              <a:ln>
                <a:noFill/>
              </a:ln>
            </p:spPr>
            <p:txBody>
              <a:bodyPr rtlCol="0" anchor="ctr"/>
              <a:lstStyle/>
              <a:p>
                <a:pPr algn="ctr"/>
                <a:endParaRPr/>
              </a:p>
            </p:txBody>
          </p:sp>
          <p:sp>
            <p:nvSpPr>
              <p:cNvPr id="37" name="Dot"/>
              <p:cNvSpPr/>
              <p:nvPr/>
            </p:nvSpPr>
            <p:spPr>
              <a:xfrm>
                <a:off x="4464050" y="3301802"/>
                <a:ext cx="50800" cy="50800"/>
              </a:xfrm>
              <a:prstGeom prst="ellipse">
                <a:avLst/>
              </a:prstGeom>
              <a:solidFill>
                <a:srgbClr val="D46A00"/>
              </a:solidFill>
              <a:ln>
                <a:noFill/>
              </a:ln>
            </p:spPr>
            <p:txBody>
              <a:bodyPr rtlCol="0" anchor="ctr"/>
              <a:lstStyle/>
              <a:p>
                <a:pPr algn="ctr"/>
                <a:endParaRPr/>
              </a:p>
            </p:txBody>
          </p:sp>
          <p:sp>
            <p:nvSpPr>
              <p:cNvPr id="38" name="Dot"/>
              <p:cNvSpPr/>
              <p:nvPr/>
            </p:nvSpPr>
            <p:spPr>
              <a:xfrm>
                <a:off x="4876800" y="3301802"/>
                <a:ext cx="50800" cy="50800"/>
              </a:xfrm>
              <a:prstGeom prst="ellipse">
                <a:avLst/>
              </a:prstGeom>
              <a:solidFill>
                <a:srgbClr val="D46A00"/>
              </a:solidFill>
              <a:ln>
                <a:noFill/>
              </a:ln>
            </p:spPr>
            <p:txBody>
              <a:bodyPr rtlCol="0" anchor="ctr"/>
              <a:lstStyle/>
              <a:p>
                <a:pPr algn="ctr"/>
                <a:endParaRPr/>
              </a:p>
            </p:txBody>
          </p:sp>
          <p:cxnSp>
            <p:nvCxnSpPr>
              <p:cNvPr id="39" name="Connector 38"/>
              <p:cNvCxnSpPr/>
              <p:nvPr/>
            </p:nvCxnSpPr>
            <p:spPr>
              <a:xfrm>
                <a:off x="4070350" y="3231952"/>
                <a:ext cx="419100" cy="0"/>
              </a:xfrm>
              <a:prstGeom prst="line">
                <a:avLst/>
              </a:prstGeom>
              <a:ln w="12700" cap="flat">
                <a:solidFill>
                  <a:srgbClr val="154734"/>
                </a:solidFill>
              </a:ln>
            </p:spPr>
          </p:cxnSp>
          <p:cxnSp>
            <p:nvCxnSpPr>
              <p:cNvPr id="40" name="Connector 39"/>
              <p:cNvCxnSpPr/>
              <p:nvPr/>
            </p:nvCxnSpPr>
            <p:spPr>
              <a:xfrm>
                <a:off x="4489450" y="3231952"/>
                <a:ext cx="412750" cy="0"/>
              </a:xfrm>
              <a:prstGeom prst="line">
                <a:avLst/>
              </a:prstGeom>
              <a:ln w="12700" cap="flat">
                <a:solidFill>
                  <a:srgbClr val="154734"/>
                </a:solidFill>
                <a:custDash>
                  <a:ds d="250000" sp="200000"/>
                </a:custDash>
              </a:ln>
            </p:spPr>
          </p:cxnSp>
        </p:grpSp>
        <p:sp>
          <p:nvSpPr>
            <p:cNvPr id="41" name="Text: R–R → HRV; FFT; PCA"/>
            <p:cNvSpPr txBox="1"/>
            <p:nvPr/>
          </p:nvSpPr>
          <p:spPr>
            <a:xfrm>
              <a:off x="3911600" y="3844727"/>
              <a:ext cx="1358900" cy="346670"/>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R–R → HRV; FFT; PCA</a:t>
              </a:r>
            </a:p>
          </p:txBody>
        </p:sp>
        <p:cxnSp>
          <p:nvCxnSpPr>
            <p:cNvPr id="42" name="Arrow"/>
            <p:cNvCxnSpPr/>
            <p:nvPr/>
          </p:nvCxnSpPr>
          <p:spPr>
            <a:xfrm>
              <a:off x="5334000" y="3567212"/>
              <a:ext cx="88900" cy="0"/>
            </a:xfrm>
            <a:prstGeom prst="line">
              <a:avLst/>
            </a:prstGeom>
            <a:ln w="19050" cap="flat">
              <a:solidFill>
                <a:srgbClr val="154734"/>
              </a:solidFill>
              <a:tailEnd type="triangle" w="med" len="med"/>
            </a:ln>
          </p:spPr>
        </p:cxnSp>
        <p:sp>
          <p:nvSpPr>
            <p:cNvPr id="43" name="Panel"/>
            <p:cNvSpPr/>
            <p:nvPr/>
          </p:nvSpPr>
          <p:spPr>
            <a:xfrm>
              <a:off x="5448300" y="2854127"/>
              <a:ext cx="1473200" cy="1426170"/>
            </a:xfrm>
            <a:prstGeom prst="roundRect">
              <a:avLst>
                <a:gd name="adj" fmla="val 4452"/>
              </a:avLst>
            </a:prstGeom>
            <a:solidFill>
              <a:srgbClr val="F4F6F5"/>
            </a:solidFill>
            <a:ln>
              <a:noFill/>
            </a:ln>
          </p:spPr>
          <p:txBody>
            <a:bodyPr rtlCol="0" anchor="ctr"/>
            <a:lstStyle/>
            <a:p>
              <a:pPr algn="ctr"/>
              <a:endParaRPr/>
            </a:p>
          </p:txBody>
        </p:sp>
        <p:sp>
          <p:nvSpPr>
            <p:cNvPr id="44" name="Badge 4"/>
            <p:cNvSpPr/>
            <p:nvPr/>
          </p:nvSpPr>
          <p:spPr>
            <a:xfrm>
              <a:off x="5524500" y="2943027"/>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4</a:t>
              </a:r>
            </a:p>
          </p:txBody>
        </p:sp>
        <p:sp>
          <p:nvSpPr>
            <p:cNvPr id="45" name="Text: Infer"/>
            <p:cNvSpPr txBox="1"/>
            <p:nvPr/>
          </p:nvSpPr>
          <p:spPr>
            <a:xfrm>
              <a:off x="5765800" y="2955727"/>
              <a:ext cx="340916"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Infer</a:t>
              </a:r>
            </a:p>
          </p:txBody>
        </p:sp>
        <p:grpSp>
          <p:nvGrpSpPr>
            <p:cNvPr id="46" name="Sketch: two clusters split by a boundary"/>
            <p:cNvGrpSpPr/>
            <p:nvPr/>
          </p:nvGrpSpPr>
          <p:grpSpPr>
            <a:xfrm>
              <a:off x="5657850" y="3203377"/>
              <a:ext cx="869950" cy="571500"/>
              <a:chOff x="5657850" y="3203377"/>
              <a:chExt cx="869950" cy="571500"/>
            </a:xfrm>
          </p:grpSpPr>
          <p:sp>
            <p:nvSpPr>
              <p:cNvPr id="47" name="Dot"/>
              <p:cNvSpPr/>
              <p:nvPr/>
            </p:nvSpPr>
            <p:spPr>
              <a:xfrm>
                <a:off x="5803900" y="3587552"/>
                <a:ext cx="50800" cy="50800"/>
              </a:xfrm>
              <a:prstGeom prst="ellipse">
                <a:avLst/>
              </a:prstGeom>
              <a:solidFill>
                <a:srgbClr val="2E8B57"/>
              </a:solidFill>
              <a:ln>
                <a:noFill/>
              </a:ln>
            </p:spPr>
            <p:txBody>
              <a:bodyPr rtlCol="0" anchor="ctr"/>
              <a:lstStyle/>
              <a:p>
                <a:pPr algn="ctr"/>
                <a:endParaRPr/>
              </a:p>
            </p:txBody>
          </p:sp>
          <p:sp>
            <p:nvSpPr>
              <p:cNvPr id="48" name="Dot"/>
              <p:cNvSpPr/>
              <p:nvPr/>
            </p:nvSpPr>
            <p:spPr>
              <a:xfrm>
                <a:off x="5803900" y="3511352"/>
                <a:ext cx="50800" cy="50800"/>
              </a:xfrm>
              <a:prstGeom prst="ellipse">
                <a:avLst/>
              </a:prstGeom>
              <a:solidFill>
                <a:srgbClr val="2E8B57"/>
              </a:solidFill>
              <a:ln>
                <a:noFill/>
              </a:ln>
            </p:spPr>
            <p:txBody>
              <a:bodyPr rtlCol="0" anchor="ctr"/>
              <a:lstStyle/>
              <a:p>
                <a:pPr algn="ctr"/>
                <a:endParaRPr/>
              </a:p>
            </p:txBody>
          </p:sp>
          <p:sp>
            <p:nvSpPr>
              <p:cNvPr id="49" name="Dot"/>
              <p:cNvSpPr/>
              <p:nvPr/>
            </p:nvSpPr>
            <p:spPr>
              <a:xfrm>
                <a:off x="5734050" y="3520877"/>
                <a:ext cx="50800" cy="50800"/>
              </a:xfrm>
              <a:prstGeom prst="ellipse">
                <a:avLst/>
              </a:prstGeom>
              <a:solidFill>
                <a:srgbClr val="2E8B57"/>
              </a:solidFill>
              <a:ln>
                <a:noFill/>
              </a:ln>
            </p:spPr>
            <p:txBody>
              <a:bodyPr rtlCol="0" anchor="ctr"/>
              <a:lstStyle/>
              <a:p>
                <a:pPr algn="ctr"/>
                <a:endParaRPr/>
              </a:p>
            </p:txBody>
          </p:sp>
          <p:sp>
            <p:nvSpPr>
              <p:cNvPr id="50" name="Dot"/>
              <p:cNvSpPr/>
              <p:nvPr/>
            </p:nvSpPr>
            <p:spPr>
              <a:xfrm>
                <a:off x="5943600" y="3578027"/>
                <a:ext cx="50800" cy="50800"/>
              </a:xfrm>
              <a:prstGeom prst="ellipse">
                <a:avLst/>
              </a:prstGeom>
              <a:solidFill>
                <a:srgbClr val="2E8B57"/>
              </a:solidFill>
              <a:ln>
                <a:noFill/>
              </a:ln>
            </p:spPr>
            <p:txBody>
              <a:bodyPr rtlCol="0" anchor="ctr"/>
              <a:lstStyle/>
              <a:p>
                <a:pPr algn="ctr"/>
                <a:endParaRPr/>
              </a:p>
            </p:txBody>
          </p:sp>
          <p:sp>
            <p:nvSpPr>
              <p:cNvPr id="51" name="Dot"/>
              <p:cNvSpPr/>
              <p:nvPr/>
            </p:nvSpPr>
            <p:spPr>
              <a:xfrm>
                <a:off x="5937250" y="3558977"/>
                <a:ext cx="50800" cy="50800"/>
              </a:xfrm>
              <a:prstGeom prst="ellipse">
                <a:avLst/>
              </a:prstGeom>
              <a:solidFill>
                <a:srgbClr val="2E8B57"/>
              </a:solidFill>
              <a:ln>
                <a:noFill/>
              </a:ln>
            </p:spPr>
            <p:txBody>
              <a:bodyPr rtlCol="0" anchor="ctr"/>
              <a:lstStyle/>
              <a:p>
                <a:pPr algn="ctr"/>
                <a:endParaRPr/>
              </a:p>
            </p:txBody>
          </p:sp>
          <p:sp>
            <p:nvSpPr>
              <p:cNvPr id="52" name="Dot"/>
              <p:cNvSpPr/>
              <p:nvPr/>
            </p:nvSpPr>
            <p:spPr>
              <a:xfrm>
                <a:off x="5867400" y="3558977"/>
                <a:ext cx="50800" cy="50800"/>
              </a:xfrm>
              <a:prstGeom prst="ellipse">
                <a:avLst/>
              </a:prstGeom>
              <a:solidFill>
                <a:srgbClr val="2E8B57"/>
              </a:solidFill>
              <a:ln>
                <a:noFill/>
              </a:ln>
            </p:spPr>
            <p:txBody>
              <a:bodyPr rtlCol="0" anchor="ctr"/>
              <a:lstStyle/>
              <a:p>
                <a:pPr algn="ctr"/>
                <a:endParaRPr/>
              </a:p>
            </p:txBody>
          </p:sp>
          <p:sp>
            <p:nvSpPr>
              <p:cNvPr id="53" name="Dot"/>
              <p:cNvSpPr/>
              <p:nvPr/>
            </p:nvSpPr>
            <p:spPr>
              <a:xfrm>
                <a:off x="5657850" y="3616127"/>
                <a:ext cx="50800" cy="50800"/>
              </a:xfrm>
              <a:prstGeom prst="ellipse">
                <a:avLst/>
              </a:prstGeom>
              <a:solidFill>
                <a:srgbClr val="2E8B57"/>
              </a:solidFill>
              <a:ln>
                <a:noFill/>
              </a:ln>
            </p:spPr>
            <p:txBody>
              <a:bodyPr rtlCol="0" anchor="ctr"/>
              <a:lstStyle/>
              <a:p>
                <a:pPr algn="ctr"/>
                <a:endParaRPr/>
              </a:p>
            </p:txBody>
          </p:sp>
          <p:sp>
            <p:nvSpPr>
              <p:cNvPr id="54" name="Dot"/>
              <p:cNvSpPr/>
              <p:nvPr/>
            </p:nvSpPr>
            <p:spPr>
              <a:xfrm>
                <a:off x="5880100" y="3578027"/>
                <a:ext cx="50800" cy="50800"/>
              </a:xfrm>
              <a:prstGeom prst="ellipse">
                <a:avLst/>
              </a:prstGeom>
              <a:solidFill>
                <a:srgbClr val="2E8B57"/>
              </a:solidFill>
              <a:ln>
                <a:noFill/>
              </a:ln>
            </p:spPr>
            <p:txBody>
              <a:bodyPr rtlCol="0" anchor="ctr"/>
              <a:lstStyle/>
              <a:p>
                <a:pPr algn="ctr"/>
                <a:endParaRPr/>
              </a:p>
            </p:txBody>
          </p:sp>
          <p:sp>
            <p:nvSpPr>
              <p:cNvPr id="55" name="Dot"/>
              <p:cNvSpPr/>
              <p:nvPr/>
            </p:nvSpPr>
            <p:spPr>
              <a:xfrm>
                <a:off x="5657850" y="3387527"/>
                <a:ext cx="50800" cy="50800"/>
              </a:xfrm>
              <a:prstGeom prst="ellipse">
                <a:avLst/>
              </a:prstGeom>
              <a:solidFill>
                <a:srgbClr val="2E8B57"/>
              </a:solidFill>
              <a:ln>
                <a:noFill/>
              </a:ln>
            </p:spPr>
            <p:txBody>
              <a:bodyPr rtlCol="0" anchor="ctr"/>
              <a:lstStyle/>
              <a:p>
                <a:pPr algn="ctr"/>
                <a:endParaRPr/>
              </a:p>
            </p:txBody>
          </p:sp>
          <p:sp>
            <p:nvSpPr>
              <p:cNvPr id="56" name="Dot"/>
              <p:cNvSpPr/>
              <p:nvPr/>
            </p:nvSpPr>
            <p:spPr>
              <a:xfrm>
                <a:off x="5740400" y="3501827"/>
                <a:ext cx="50800" cy="50800"/>
              </a:xfrm>
              <a:prstGeom prst="ellipse">
                <a:avLst/>
              </a:prstGeom>
              <a:solidFill>
                <a:srgbClr val="2E8B57"/>
              </a:solidFill>
              <a:ln>
                <a:noFill/>
              </a:ln>
            </p:spPr>
            <p:txBody>
              <a:bodyPr rtlCol="0" anchor="ctr"/>
              <a:lstStyle/>
              <a:p>
                <a:pPr algn="ctr"/>
                <a:endParaRPr/>
              </a:p>
            </p:txBody>
          </p:sp>
          <p:sp>
            <p:nvSpPr>
              <p:cNvPr id="57" name="Dot"/>
              <p:cNvSpPr/>
              <p:nvPr/>
            </p:nvSpPr>
            <p:spPr>
              <a:xfrm>
                <a:off x="5861050" y="3539927"/>
                <a:ext cx="50800" cy="50800"/>
              </a:xfrm>
              <a:prstGeom prst="ellipse">
                <a:avLst/>
              </a:prstGeom>
              <a:solidFill>
                <a:srgbClr val="2E8B57"/>
              </a:solidFill>
              <a:ln>
                <a:noFill/>
              </a:ln>
            </p:spPr>
            <p:txBody>
              <a:bodyPr rtlCol="0" anchor="ctr"/>
              <a:lstStyle/>
              <a:p>
                <a:pPr algn="ctr"/>
                <a:endParaRPr/>
              </a:p>
            </p:txBody>
          </p:sp>
          <p:sp>
            <p:nvSpPr>
              <p:cNvPr id="58" name="Dot"/>
              <p:cNvSpPr/>
              <p:nvPr/>
            </p:nvSpPr>
            <p:spPr>
              <a:xfrm>
                <a:off x="5880100" y="3482777"/>
                <a:ext cx="50800" cy="50800"/>
              </a:xfrm>
              <a:prstGeom prst="ellipse">
                <a:avLst/>
              </a:prstGeom>
              <a:solidFill>
                <a:srgbClr val="2E8B57"/>
              </a:solidFill>
              <a:ln>
                <a:noFill/>
              </a:ln>
            </p:spPr>
            <p:txBody>
              <a:bodyPr rtlCol="0" anchor="ctr"/>
              <a:lstStyle/>
              <a:p>
                <a:pPr algn="ctr"/>
                <a:endParaRPr/>
              </a:p>
            </p:txBody>
          </p:sp>
          <p:sp>
            <p:nvSpPr>
              <p:cNvPr id="59" name="Dot"/>
              <p:cNvSpPr/>
              <p:nvPr/>
            </p:nvSpPr>
            <p:spPr>
              <a:xfrm>
                <a:off x="6445250" y="3425627"/>
                <a:ext cx="50800" cy="50800"/>
              </a:xfrm>
              <a:prstGeom prst="ellipse">
                <a:avLst/>
              </a:prstGeom>
              <a:solidFill>
                <a:srgbClr val="D46A00"/>
              </a:solidFill>
              <a:ln>
                <a:noFill/>
              </a:ln>
            </p:spPr>
            <p:txBody>
              <a:bodyPr rtlCol="0" anchor="ctr"/>
              <a:lstStyle/>
              <a:p>
                <a:pPr algn="ctr"/>
                <a:endParaRPr/>
              </a:p>
            </p:txBody>
          </p:sp>
          <p:sp>
            <p:nvSpPr>
              <p:cNvPr id="60" name="Dot"/>
              <p:cNvSpPr/>
              <p:nvPr/>
            </p:nvSpPr>
            <p:spPr>
              <a:xfrm>
                <a:off x="6343650" y="3530402"/>
                <a:ext cx="50800" cy="50800"/>
              </a:xfrm>
              <a:prstGeom prst="ellipse">
                <a:avLst/>
              </a:prstGeom>
              <a:solidFill>
                <a:srgbClr val="D46A00"/>
              </a:solidFill>
              <a:ln>
                <a:noFill/>
              </a:ln>
            </p:spPr>
            <p:txBody>
              <a:bodyPr rtlCol="0" anchor="ctr"/>
              <a:lstStyle/>
              <a:p>
                <a:pPr algn="ctr"/>
                <a:endParaRPr/>
              </a:p>
            </p:txBody>
          </p:sp>
          <p:sp>
            <p:nvSpPr>
              <p:cNvPr id="61" name="Dot"/>
              <p:cNvSpPr/>
              <p:nvPr/>
            </p:nvSpPr>
            <p:spPr>
              <a:xfrm>
                <a:off x="6470650" y="3492302"/>
                <a:ext cx="50800" cy="50800"/>
              </a:xfrm>
              <a:prstGeom prst="ellipse">
                <a:avLst/>
              </a:prstGeom>
              <a:solidFill>
                <a:srgbClr val="D46A00"/>
              </a:solidFill>
              <a:ln>
                <a:noFill/>
              </a:ln>
            </p:spPr>
            <p:txBody>
              <a:bodyPr rtlCol="0" anchor="ctr"/>
              <a:lstStyle/>
              <a:p>
                <a:pPr algn="ctr"/>
                <a:endParaRPr/>
              </a:p>
            </p:txBody>
          </p:sp>
          <p:sp>
            <p:nvSpPr>
              <p:cNvPr id="62" name="Dot"/>
              <p:cNvSpPr/>
              <p:nvPr/>
            </p:nvSpPr>
            <p:spPr>
              <a:xfrm>
                <a:off x="6350000" y="3320852"/>
                <a:ext cx="50800" cy="50800"/>
              </a:xfrm>
              <a:prstGeom prst="ellipse">
                <a:avLst/>
              </a:prstGeom>
              <a:solidFill>
                <a:srgbClr val="D46A00"/>
              </a:solidFill>
              <a:ln>
                <a:noFill/>
              </a:ln>
            </p:spPr>
            <p:txBody>
              <a:bodyPr rtlCol="0" anchor="ctr"/>
              <a:lstStyle/>
              <a:p>
                <a:pPr algn="ctr"/>
                <a:endParaRPr/>
              </a:p>
            </p:txBody>
          </p:sp>
          <p:sp>
            <p:nvSpPr>
              <p:cNvPr id="63" name="Dot"/>
              <p:cNvSpPr/>
              <p:nvPr/>
            </p:nvSpPr>
            <p:spPr>
              <a:xfrm>
                <a:off x="6375400" y="3378002"/>
                <a:ext cx="50800" cy="50800"/>
              </a:xfrm>
              <a:prstGeom prst="ellipse">
                <a:avLst/>
              </a:prstGeom>
              <a:solidFill>
                <a:srgbClr val="D46A00"/>
              </a:solidFill>
              <a:ln>
                <a:noFill/>
              </a:ln>
            </p:spPr>
            <p:txBody>
              <a:bodyPr rtlCol="0" anchor="ctr"/>
              <a:lstStyle/>
              <a:p>
                <a:pPr algn="ctr"/>
                <a:endParaRPr/>
              </a:p>
            </p:txBody>
          </p:sp>
          <p:sp>
            <p:nvSpPr>
              <p:cNvPr id="64" name="Dot"/>
              <p:cNvSpPr/>
              <p:nvPr/>
            </p:nvSpPr>
            <p:spPr>
              <a:xfrm>
                <a:off x="6477000" y="3406577"/>
                <a:ext cx="50800" cy="50800"/>
              </a:xfrm>
              <a:prstGeom prst="ellipse">
                <a:avLst/>
              </a:prstGeom>
              <a:solidFill>
                <a:srgbClr val="D46A00"/>
              </a:solidFill>
              <a:ln>
                <a:noFill/>
              </a:ln>
            </p:spPr>
            <p:txBody>
              <a:bodyPr rtlCol="0" anchor="ctr"/>
              <a:lstStyle/>
              <a:p>
                <a:pPr algn="ctr"/>
                <a:endParaRPr/>
              </a:p>
            </p:txBody>
          </p:sp>
          <p:sp>
            <p:nvSpPr>
              <p:cNvPr id="65" name="Dot"/>
              <p:cNvSpPr/>
              <p:nvPr/>
            </p:nvSpPr>
            <p:spPr>
              <a:xfrm>
                <a:off x="6369050" y="3301802"/>
                <a:ext cx="50800" cy="50800"/>
              </a:xfrm>
              <a:prstGeom prst="ellipse">
                <a:avLst/>
              </a:prstGeom>
              <a:solidFill>
                <a:srgbClr val="D46A00"/>
              </a:solidFill>
              <a:ln>
                <a:noFill/>
              </a:ln>
            </p:spPr>
            <p:txBody>
              <a:bodyPr rtlCol="0" anchor="ctr"/>
              <a:lstStyle/>
              <a:p>
                <a:pPr algn="ctr"/>
                <a:endParaRPr/>
              </a:p>
            </p:txBody>
          </p:sp>
          <p:sp>
            <p:nvSpPr>
              <p:cNvPr id="66" name="Dot"/>
              <p:cNvSpPr/>
              <p:nvPr/>
            </p:nvSpPr>
            <p:spPr>
              <a:xfrm>
                <a:off x="6362700" y="3492302"/>
                <a:ext cx="50800" cy="50800"/>
              </a:xfrm>
              <a:prstGeom prst="ellipse">
                <a:avLst/>
              </a:prstGeom>
              <a:solidFill>
                <a:srgbClr val="D46A00"/>
              </a:solidFill>
              <a:ln>
                <a:noFill/>
              </a:ln>
            </p:spPr>
            <p:txBody>
              <a:bodyPr rtlCol="0" anchor="ctr"/>
              <a:lstStyle/>
              <a:p>
                <a:pPr algn="ctr"/>
                <a:endParaRPr/>
              </a:p>
            </p:txBody>
          </p:sp>
          <p:sp>
            <p:nvSpPr>
              <p:cNvPr id="67" name="Dot"/>
              <p:cNvSpPr/>
              <p:nvPr/>
            </p:nvSpPr>
            <p:spPr>
              <a:xfrm>
                <a:off x="6330950" y="3406577"/>
                <a:ext cx="50800" cy="50800"/>
              </a:xfrm>
              <a:prstGeom prst="ellipse">
                <a:avLst/>
              </a:prstGeom>
              <a:solidFill>
                <a:srgbClr val="D46A00"/>
              </a:solidFill>
              <a:ln>
                <a:noFill/>
              </a:ln>
            </p:spPr>
            <p:txBody>
              <a:bodyPr rtlCol="0" anchor="ctr"/>
              <a:lstStyle/>
              <a:p>
                <a:pPr algn="ctr"/>
                <a:endParaRPr/>
              </a:p>
            </p:txBody>
          </p:sp>
          <p:sp>
            <p:nvSpPr>
              <p:cNvPr id="68" name="Dot"/>
              <p:cNvSpPr/>
              <p:nvPr/>
            </p:nvSpPr>
            <p:spPr>
              <a:xfrm>
                <a:off x="6457950" y="3263702"/>
                <a:ext cx="50800" cy="50800"/>
              </a:xfrm>
              <a:prstGeom prst="ellipse">
                <a:avLst/>
              </a:prstGeom>
              <a:solidFill>
                <a:srgbClr val="D46A00"/>
              </a:solidFill>
              <a:ln>
                <a:noFill/>
              </a:ln>
            </p:spPr>
            <p:txBody>
              <a:bodyPr rtlCol="0" anchor="ctr"/>
              <a:lstStyle/>
              <a:p>
                <a:pPr algn="ctr"/>
                <a:endParaRPr/>
              </a:p>
            </p:txBody>
          </p:sp>
          <p:sp>
            <p:nvSpPr>
              <p:cNvPr id="69" name="Dot"/>
              <p:cNvSpPr/>
              <p:nvPr/>
            </p:nvSpPr>
            <p:spPr>
              <a:xfrm>
                <a:off x="6419850" y="3501827"/>
                <a:ext cx="50800" cy="50800"/>
              </a:xfrm>
              <a:prstGeom prst="ellipse">
                <a:avLst/>
              </a:prstGeom>
              <a:solidFill>
                <a:srgbClr val="D46A00"/>
              </a:solidFill>
              <a:ln>
                <a:noFill/>
              </a:ln>
            </p:spPr>
            <p:txBody>
              <a:bodyPr rtlCol="0" anchor="ctr"/>
              <a:lstStyle/>
              <a:p>
                <a:pPr algn="ctr"/>
                <a:endParaRPr/>
              </a:p>
            </p:txBody>
          </p:sp>
          <p:sp>
            <p:nvSpPr>
              <p:cNvPr id="70" name="Dot"/>
              <p:cNvSpPr/>
              <p:nvPr/>
            </p:nvSpPr>
            <p:spPr>
              <a:xfrm>
                <a:off x="6210300" y="3358952"/>
                <a:ext cx="50800" cy="50800"/>
              </a:xfrm>
              <a:prstGeom prst="ellipse">
                <a:avLst/>
              </a:prstGeom>
              <a:solidFill>
                <a:srgbClr val="D46A00"/>
              </a:solidFill>
              <a:ln>
                <a:noFill/>
              </a:ln>
            </p:spPr>
            <p:txBody>
              <a:bodyPr rtlCol="0" anchor="ctr"/>
              <a:lstStyle/>
              <a:p>
                <a:pPr algn="ctr"/>
                <a:endParaRPr/>
              </a:p>
            </p:txBody>
          </p:sp>
          <p:cxnSp>
            <p:nvCxnSpPr>
              <p:cNvPr id="71" name="Connector 70"/>
              <p:cNvCxnSpPr/>
              <p:nvPr/>
            </p:nvCxnSpPr>
            <p:spPr>
              <a:xfrm flipV="1">
                <a:off x="5969000" y="3203377"/>
                <a:ext cx="355600" cy="571500"/>
              </a:xfrm>
              <a:prstGeom prst="line">
                <a:avLst/>
              </a:prstGeom>
              <a:ln w="12700" cap="flat">
                <a:solidFill>
                  <a:srgbClr val="154734"/>
                </a:solidFill>
                <a:custDash>
                  <a:ds d="300000" sp="250000"/>
                </a:custDash>
              </a:ln>
            </p:spPr>
          </p:cxnSp>
        </p:grpSp>
        <p:sp>
          <p:nvSpPr>
            <p:cNvPr id="72" name="Text: AF vs sinus; LSTM forecast"/>
            <p:cNvSpPr txBox="1"/>
            <p:nvPr/>
          </p:nvSpPr>
          <p:spPr>
            <a:xfrm>
              <a:off x="5524500" y="3844727"/>
              <a:ext cx="1358900" cy="346670"/>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AF vs sinus; LSTM forecast</a:t>
              </a:r>
            </a:p>
          </p:txBody>
        </p:sp>
        <p:cxnSp>
          <p:nvCxnSpPr>
            <p:cNvPr id="73" name="Arrow"/>
            <p:cNvCxnSpPr/>
            <p:nvPr/>
          </p:nvCxnSpPr>
          <p:spPr>
            <a:xfrm>
              <a:off x="6946900" y="3567212"/>
              <a:ext cx="88900" cy="0"/>
            </a:xfrm>
            <a:prstGeom prst="line">
              <a:avLst/>
            </a:prstGeom>
            <a:ln w="19050" cap="flat">
              <a:solidFill>
                <a:srgbClr val="154734"/>
              </a:solidFill>
              <a:tailEnd type="triangle" w="med" len="med"/>
            </a:ln>
          </p:spPr>
        </p:cxnSp>
        <p:sp>
          <p:nvSpPr>
            <p:cNvPr id="74" name="Panel"/>
            <p:cNvSpPr/>
            <p:nvPr/>
          </p:nvSpPr>
          <p:spPr>
            <a:xfrm>
              <a:off x="7061200" y="2854127"/>
              <a:ext cx="1473200" cy="1426170"/>
            </a:xfrm>
            <a:prstGeom prst="roundRect">
              <a:avLst>
                <a:gd name="adj" fmla="val 4452"/>
              </a:avLst>
            </a:prstGeom>
            <a:solidFill>
              <a:srgbClr val="F4F6F5"/>
            </a:solidFill>
            <a:ln>
              <a:noFill/>
            </a:ln>
          </p:spPr>
          <p:txBody>
            <a:bodyPr rtlCol="0" anchor="ctr"/>
            <a:lstStyle/>
            <a:p>
              <a:pPr algn="ctr"/>
              <a:endParaRPr/>
            </a:p>
          </p:txBody>
        </p:sp>
        <p:sp>
          <p:nvSpPr>
            <p:cNvPr id="75" name="Badge 5"/>
            <p:cNvSpPr/>
            <p:nvPr/>
          </p:nvSpPr>
          <p:spPr>
            <a:xfrm>
              <a:off x="7137400" y="2943027"/>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5</a:t>
              </a:r>
            </a:p>
          </p:txBody>
        </p:sp>
        <p:sp>
          <p:nvSpPr>
            <p:cNvPr id="76" name="Text: Act"/>
            <p:cNvSpPr txBox="1"/>
            <p:nvPr/>
          </p:nvSpPr>
          <p:spPr>
            <a:xfrm>
              <a:off x="7378700" y="2955727"/>
              <a:ext cx="263227"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Act</a:t>
              </a:r>
            </a:p>
          </p:txBody>
        </p:sp>
        <p:grpSp>
          <p:nvGrpSpPr>
            <p:cNvPr id="77" name="Sketch: trend crossing an alert threshold"/>
            <p:cNvGrpSpPr/>
            <p:nvPr/>
          </p:nvGrpSpPr>
          <p:grpSpPr>
            <a:xfrm>
              <a:off x="7137400" y="3308350"/>
              <a:ext cx="1244600" cy="400050"/>
              <a:chOff x="7137400" y="3308350"/>
              <a:chExt cx="1244600" cy="400050"/>
            </a:xfrm>
          </p:grpSpPr>
          <p:cxnSp>
            <p:nvCxnSpPr>
              <p:cNvPr id="78" name="Connector 77"/>
              <p:cNvCxnSpPr/>
              <p:nvPr/>
            </p:nvCxnSpPr>
            <p:spPr>
              <a:xfrm>
                <a:off x="7137400" y="3393877"/>
                <a:ext cx="1244600" cy="0"/>
              </a:xfrm>
              <a:prstGeom prst="line">
                <a:avLst/>
              </a:prstGeom>
              <a:ln w="12700" cap="flat">
                <a:solidFill>
                  <a:srgbClr val="B3261E"/>
                </a:solidFill>
                <a:custDash>
                  <a:ds d="350000" sp="250000"/>
                </a:custDash>
              </a:ln>
            </p:spPr>
          </p:cxnSp>
          <p:sp>
            <p:nvSpPr>
              <p:cNvPr id="79" name="Trace"/>
              <p:cNvSpPr/>
              <p:nvPr/>
            </p:nvSpPr>
            <p:spPr>
              <a:xfrm>
                <a:off x="7137400" y="3308350"/>
                <a:ext cx="1244600" cy="400050"/>
              </a:xfrm>
              <a:custGeom>
                <a:avLst/>
                <a:gdLst/>
                <a:ahLst/>
                <a:cxnLst/>
                <a:rect l="l" t="t" r="r" b="b"/>
                <a:pathLst>
                  <a:path w="196" h="63">
                    <a:moveTo>
                      <a:pt x="0" y="58"/>
                    </a:moveTo>
                    <a:lnTo>
                      <a:pt x="4" y="55"/>
                    </a:lnTo>
                    <a:lnTo>
                      <a:pt x="8" y="52"/>
                    </a:lnTo>
                    <a:lnTo>
                      <a:pt x="12" y="51"/>
                    </a:lnTo>
                    <a:lnTo>
                      <a:pt x="16" y="51"/>
                    </a:lnTo>
                    <a:lnTo>
                      <a:pt x="20" y="54"/>
                    </a:lnTo>
                    <a:lnTo>
                      <a:pt x="24" y="57"/>
                    </a:lnTo>
                    <a:lnTo>
                      <a:pt x="28" y="60"/>
                    </a:lnTo>
                    <a:lnTo>
                      <a:pt x="32" y="63"/>
                    </a:lnTo>
                    <a:lnTo>
                      <a:pt x="36" y="63"/>
                    </a:lnTo>
                    <a:lnTo>
                      <a:pt x="40" y="63"/>
                    </a:lnTo>
                    <a:lnTo>
                      <a:pt x="44" y="60"/>
                    </a:lnTo>
                    <a:lnTo>
                      <a:pt x="48" y="57"/>
                    </a:lnTo>
                    <a:lnTo>
                      <a:pt x="52" y="52"/>
                    </a:lnTo>
                    <a:lnTo>
                      <a:pt x="56" y="48"/>
                    </a:lnTo>
                    <a:lnTo>
                      <a:pt x="60" y="45"/>
                    </a:lnTo>
                    <a:lnTo>
                      <a:pt x="64" y="45"/>
                    </a:lnTo>
                    <a:lnTo>
                      <a:pt x="68" y="45"/>
                    </a:lnTo>
                    <a:lnTo>
                      <a:pt x="72" y="46"/>
                    </a:lnTo>
                    <a:lnTo>
                      <a:pt x="76" y="49"/>
                    </a:lnTo>
                    <a:lnTo>
                      <a:pt x="80" y="52"/>
                    </a:lnTo>
                    <a:lnTo>
                      <a:pt x="84" y="54"/>
                    </a:lnTo>
                    <a:lnTo>
                      <a:pt x="88" y="52"/>
                    </a:lnTo>
                    <a:lnTo>
                      <a:pt x="92" y="51"/>
                    </a:lnTo>
                    <a:lnTo>
                      <a:pt x="96" y="48"/>
                    </a:lnTo>
                    <a:lnTo>
                      <a:pt x="100" y="42"/>
                    </a:lnTo>
                    <a:lnTo>
                      <a:pt x="104" y="37"/>
                    </a:lnTo>
                    <a:lnTo>
                      <a:pt x="108" y="33"/>
                    </a:lnTo>
                    <a:lnTo>
                      <a:pt x="112" y="30"/>
                    </a:lnTo>
                    <a:lnTo>
                      <a:pt x="116" y="30"/>
                    </a:lnTo>
                    <a:lnTo>
                      <a:pt x="120" y="30"/>
                    </a:lnTo>
                    <a:lnTo>
                      <a:pt x="124" y="31"/>
                    </a:lnTo>
                    <a:lnTo>
                      <a:pt x="128" y="33"/>
                    </a:lnTo>
                    <a:lnTo>
                      <a:pt x="132" y="34"/>
                    </a:lnTo>
                    <a:lnTo>
                      <a:pt x="136" y="34"/>
                    </a:lnTo>
                    <a:lnTo>
                      <a:pt x="140" y="33"/>
                    </a:lnTo>
                    <a:lnTo>
                      <a:pt x="144" y="30"/>
                    </a:lnTo>
                    <a:lnTo>
                      <a:pt x="148" y="25"/>
                    </a:lnTo>
                    <a:lnTo>
                      <a:pt x="152" y="19"/>
                    </a:lnTo>
                    <a:lnTo>
                      <a:pt x="156" y="13"/>
                    </a:lnTo>
                    <a:lnTo>
                      <a:pt x="160" y="9"/>
                    </a:lnTo>
                    <a:lnTo>
                      <a:pt x="164" y="6"/>
                    </a:lnTo>
                    <a:lnTo>
                      <a:pt x="168" y="6"/>
                    </a:lnTo>
                    <a:lnTo>
                      <a:pt x="172" y="6"/>
                    </a:lnTo>
                    <a:lnTo>
                      <a:pt x="176" y="7"/>
                    </a:lnTo>
                    <a:lnTo>
                      <a:pt x="180" y="9"/>
                    </a:lnTo>
                    <a:lnTo>
                      <a:pt x="184" y="9"/>
                    </a:lnTo>
                    <a:lnTo>
                      <a:pt x="188" y="7"/>
                    </a:lnTo>
                    <a:lnTo>
                      <a:pt x="192" y="4"/>
                    </a:lnTo>
                    <a:lnTo>
                      <a:pt x="196" y="0"/>
                    </a:lnTo>
                  </a:path>
                </a:pathLst>
              </a:custGeom>
              <a:noFill/>
              <a:ln w="15875" cap="rnd">
                <a:solidFill>
                  <a:srgbClr val="2E8B57"/>
                </a:solidFill>
                <a:round/>
              </a:ln>
            </p:spPr>
            <p:txBody>
              <a:bodyPr rtlCol="0" anchor="ctr"/>
              <a:lstStyle/>
              <a:p>
                <a:pPr algn="ctr"/>
                <a:endParaRPr/>
              </a:p>
            </p:txBody>
          </p:sp>
          <p:sp>
            <p:nvSpPr>
              <p:cNvPr id="80" name="Dot"/>
              <p:cNvSpPr/>
              <p:nvPr/>
            </p:nvSpPr>
            <p:spPr>
              <a:xfrm>
                <a:off x="8039100" y="3431977"/>
                <a:ext cx="76200" cy="76200"/>
              </a:xfrm>
              <a:prstGeom prst="ellipse">
                <a:avLst/>
              </a:prstGeom>
              <a:solidFill>
                <a:srgbClr val="B3261E"/>
              </a:solidFill>
              <a:ln>
                <a:noFill/>
              </a:ln>
            </p:spPr>
            <p:txBody>
              <a:bodyPr rtlCol="0" anchor="ctr"/>
              <a:lstStyle/>
              <a:p>
                <a:pPr algn="ctr"/>
                <a:endParaRPr/>
              </a:p>
            </p:txBody>
          </p:sp>
        </p:grpSp>
        <p:sp>
          <p:nvSpPr>
            <p:cNvPr id="81" name="Text: alert &lt;100 ms; to EHR"/>
            <p:cNvSpPr txBox="1"/>
            <p:nvPr/>
          </p:nvSpPr>
          <p:spPr>
            <a:xfrm>
              <a:off x="7137400" y="3844727"/>
              <a:ext cx="1358900" cy="173355"/>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alert &lt;100 ms; to EHR</a:t>
              </a:r>
            </a:p>
          </p:txBody>
        </p:sp>
        <p:sp>
          <p:nvSpPr>
            <p:cNvPr id="82" name="Panel"/>
            <p:cNvSpPr/>
            <p:nvPr/>
          </p:nvSpPr>
          <p:spPr>
            <a:xfrm>
              <a:off x="609600" y="4445397"/>
              <a:ext cx="3911600" cy="845443"/>
            </a:xfrm>
            <a:prstGeom prst="roundRect">
              <a:avLst>
                <a:gd name="adj" fmla="val 7510"/>
              </a:avLst>
            </a:prstGeom>
            <a:solidFill>
              <a:srgbClr val="FBEAE8"/>
            </a:solidFill>
            <a:ln>
              <a:noFill/>
            </a:ln>
          </p:spPr>
          <p:txBody>
            <a:bodyPr rtlCol="0" anchor="ctr"/>
            <a:lstStyle/>
            <a:p>
              <a:pPr algn="ctr"/>
              <a:endParaRPr/>
            </a:p>
          </p:txBody>
        </p:sp>
        <p:sp>
          <p:nvSpPr>
            <p:cNvPr id="83" name="Text: No new dataset. The review aggregates me"/>
            <p:cNvSpPr txBox="1"/>
            <p:nvPr/>
          </p:nvSpPr>
          <p:spPr>
            <a:xfrm>
              <a:off x="749300" y="4572397"/>
              <a:ext cx="3723005" cy="591443"/>
            </a:xfrm>
            <a:prstGeom prst="rect">
              <a:avLst/>
            </a:prstGeom>
            <a:noFill/>
          </p:spPr>
          <p:txBody>
            <a:bodyPr wrap="square" lIns="0" tIns="0" rIns="0" bIns="0" anchor="t">
              <a:noAutofit/>
            </a:bodyPr>
            <a:lstStyle/>
            <a:p>
              <a:pPr algn="l">
                <a:lnSpc>
                  <a:spcPts val="1552"/>
                </a:lnSpc>
                <a:spcBef>
                  <a:spcPts val="0"/>
                </a:spcBef>
                <a:spcAft>
                  <a:spcPts val="0"/>
                </a:spcAft>
              </a:pPr>
              <a:r>
                <a:rPr sz="1150" b="1" i="0">
                  <a:solidFill>
                    <a:srgbClr val="333333"/>
                  </a:solidFill>
                  <a:latin typeface="Arial"/>
                </a:rPr>
                <a:t>No new dataset.</a:t>
              </a:r>
              <a:r>
                <a:rPr sz="1150" b="0" i="0">
                  <a:solidFill>
                    <a:srgbClr val="333333"/>
                  </a:solidFill>
                  <a:latin typeface="Arial"/>
                </a:rPr>
                <a:t> The review aggregates metrics reported elsewhere, usually without n, cohort or task definition.</a:t>
              </a:r>
            </a:p>
          </p:txBody>
        </p:sp>
        <p:sp>
          <p:nvSpPr>
            <p:cNvPr id="84" name="Panel"/>
            <p:cNvSpPr/>
            <p:nvPr/>
          </p:nvSpPr>
          <p:spPr>
            <a:xfrm>
              <a:off x="4622800" y="4445397"/>
              <a:ext cx="3911600" cy="845443"/>
            </a:xfrm>
            <a:prstGeom prst="roundRect">
              <a:avLst>
                <a:gd name="adj" fmla="val 7510"/>
              </a:avLst>
            </a:prstGeom>
            <a:solidFill>
              <a:srgbClr val="F4F6F5"/>
            </a:solidFill>
            <a:ln>
              <a:noFill/>
            </a:ln>
          </p:spPr>
          <p:txBody>
            <a:bodyPr rtlCol="0" anchor="ctr"/>
            <a:lstStyle/>
            <a:p>
              <a:pPr algn="ctr"/>
              <a:endParaRPr/>
            </a:p>
          </p:txBody>
        </p:sp>
        <p:sp>
          <p:nvSpPr>
            <p:cNvPr id="85" name="Text: Data limits it names: &gt;10,000 labelled s"/>
            <p:cNvSpPr txBox="1"/>
            <p:nvPr/>
          </p:nvSpPr>
          <p:spPr>
            <a:xfrm>
              <a:off x="4762500" y="4572397"/>
              <a:ext cx="3723005" cy="591443"/>
            </a:xfrm>
            <a:prstGeom prst="rect">
              <a:avLst/>
            </a:prstGeom>
            <a:noFill/>
          </p:spPr>
          <p:txBody>
            <a:bodyPr wrap="square" lIns="0" tIns="0" rIns="0" bIns="0" anchor="t">
              <a:noAutofit/>
            </a:bodyPr>
            <a:lstStyle/>
            <a:p>
              <a:pPr algn="l">
                <a:lnSpc>
                  <a:spcPts val="1552"/>
                </a:lnSpc>
                <a:spcBef>
                  <a:spcPts val="0"/>
                </a:spcBef>
                <a:spcAft>
                  <a:spcPts val="0"/>
                </a:spcAft>
              </a:pPr>
              <a:r>
                <a:rPr sz="1150" b="1" i="0">
                  <a:solidFill>
                    <a:srgbClr val="333333"/>
                  </a:solidFill>
                  <a:latin typeface="Arial"/>
                </a:rPr>
                <a:t>Data limits it names:</a:t>
              </a:r>
              <a:r>
                <a:rPr sz="1150" b="0" i="0">
                  <a:solidFill>
                    <a:srgbClr val="333333"/>
                  </a:solidFill>
                  <a:latin typeface="Arial"/>
                </a:rPr>
                <a:t> &gt;10,000 labelled samples per model; rare events are label-starved; BLE/NFC links risk eavesdropping and tampering.</a:t>
              </a:r>
            </a:p>
          </p:txBody>
        </p:sp>
      </p:grpSp>
      <p:sp>
        <p:nvSpPr>
          <p:cNvPr id="87"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13</a:t>
            </a:fld>
            <a:endParaRPr lang="en-US" dirty="0">
              <a:solidFill>
                <a:srgbClr val="FFFFFF"/>
              </a:solidFill>
              <a:latin typeface="Arial" panose="020B0604020202020204"/>
            </a:endParaRPr>
          </a:p>
        </p:txBody>
      </p:sp>
      <p:sp>
        <p:nvSpPr>
          <p:cNvPr id="86"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An algorithm toolbox for on-body constraints</a:t>
            </a:r>
          </a:p>
        </p:txBody>
      </p:sp>
      <p:sp>
        <p:nvSpPr>
          <p:cNvPr id="3" name="Text: METHODS · ALGORITHMS · TABLE 3 · FIG. 7"/>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ALGORITHMS · TABLE 3 · FIG. 7</a:t>
            </a:r>
          </a:p>
        </p:txBody>
      </p:sp>
      <p:grpSp>
        <p:nvGrpSpPr>
          <p:cNvPr id="31" name="Group 30">
            <a:extLst>
              <a:ext uri="{FF2B5EF4-FFF2-40B4-BE49-F238E27FC236}">
                <a16:creationId xmlns:a16="http://schemas.microsoft.com/office/drawing/2014/main" id="{31B0C423-00F3-560E-4848-ED9FC8704DD4}"/>
              </a:ext>
            </a:extLst>
          </p:cNvPr>
          <p:cNvGrpSpPr/>
          <p:nvPr/>
        </p:nvGrpSpPr>
        <p:grpSpPr>
          <a:xfrm>
            <a:off x="577215" y="1319808"/>
            <a:ext cx="7989570" cy="4218384"/>
            <a:chOff x="609600" y="1059160"/>
            <a:chExt cx="7989570" cy="4218384"/>
          </a:xfrm>
        </p:grpSpPr>
        <p:sp>
          <p:nvSpPr>
            <p:cNvPr id="4" name="Panel"/>
            <p:cNvSpPr/>
            <p:nvPr/>
          </p:nvSpPr>
          <p:spPr>
            <a:xfrm>
              <a:off x="609600" y="1059160"/>
              <a:ext cx="2692400" cy="1758752"/>
            </a:xfrm>
            <a:prstGeom prst="roundRect">
              <a:avLst>
                <a:gd name="adj" fmla="val 3610"/>
              </a:avLst>
            </a:prstGeom>
            <a:solidFill>
              <a:srgbClr val="F4F6F5"/>
            </a:solidFill>
            <a:ln>
              <a:noFill/>
            </a:ln>
          </p:spPr>
          <p:txBody>
            <a:bodyPr rtlCol="0" anchor="ctr"/>
            <a:lstStyle/>
            <a:p>
              <a:pPr algn="ctr"/>
              <a:endParaRPr/>
            </a:p>
          </p:txBody>
        </p:sp>
        <p:sp>
          <p:nvSpPr>
            <p:cNvPr id="5" name="Text: Classical supervised"/>
            <p:cNvSpPr txBox="1"/>
            <p:nvPr/>
          </p:nvSpPr>
          <p:spPr>
            <a:xfrm>
              <a:off x="736600" y="1173460"/>
              <a:ext cx="2499360"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Classical supervised</a:t>
              </a:r>
            </a:p>
          </p:txBody>
        </p:sp>
        <p:sp>
          <p:nvSpPr>
            <p:cNvPr id="6" name="Text: LR · decision tree · random forest · SVM"/>
            <p:cNvSpPr txBox="1"/>
            <p:nvPr/>
          </p:nvSpPr>
          <p:spPr>
            <a:xfrm>
              <a:off x="736600" y="1402060"/>
              <a:ext cx="2499360" cy="292100"/>
            </a:xfrm>
            <a:prstGeom prst="rect">
              <a:avLst/>
            </a:prstGeom>
            <a:noFill/>
          </p:spPr>
          <p:txBody>
            <a:bodyPr wrap="square" lIns="0" tIns="0" rIns="0" bIns="0" anchor="t">
              <a:noAutofit/>
            </a:bodyPr>
            <a:lstStyle/>
            <a:p>
              <a:pPr algn="l">
                <a:lnSpc>
                  <a:spcPts val="1150"/>
                </a:lnSpc>
                <a:spcBef>
                  <a:spcPts val="0"/>
                </a:spcBef>
                <a:spcAft>
                  <a:spcPts val="0"/>
                </a:spcAft>
              </a:pPr>
              <a:r>
                <a:rPr sz="1000" b="0" i="0">
                  <a:solidFill>
                    <a:srgbClr val="5B6770"/>
                  </a:solidFill>
                  <a:latin typeface="Arial"/>
                </a:rPr>
                <a:t>LR · decision tree · random forest · SVM · KNN · naïve Bayes</a:t>
              </a:r>
            </a:p>
          </p:txBody>
        </p:sp>
        <p:sp>
          <p:nvSpPr>
            <p:cNvPr id="7" name="Text: Interpretable, tiny, fast; limited on ra"/>
            <p:cNvSpPr txBox="1"/>
            <p:nvPr/>
          </p:nvSpPr>
          <p:spPr>
            <a:xfrm>
              <a:off x="736600" y="1744960"/>
              <a:ext cx="249936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Interpretable, tiny, fast; limited on raw waveforms.</a:t>
              </a:r>
            </a:p>
          </p:txBody>
        </p:sp>
        <p:sp>
          <p:nvSpPr>
            <p:cNvPr id="8" name="Text: Random-forest fall detection: &gt;90% withi"/>
            <p:cNvSpPr txBox="1"/>
            <p:nvPr/>
          </p:nvSpPr>
          <p:spPr>
            <a:xfrm>
              <a:off x="736600" y="2158901"/>
              <a:ext cx="2499360" cy="544711"/>
            </a:xfrm>
            <a:prstGeom prst="rect">
              <a:avLst/>
            </a:prstGeom>
            <a:noFill/>
          </p:spPr>
          <p:txBody>
            <a:bodyPr wrap="square" lIns="0" tIns="0" rIns="0" bIns="0" anchor="t">
              <a:noAutofit/>
            </a:bodyPr>
            <a:lstStyle/>
            <a:p>
              <a:pPr algn="l">
                <a:lnSpc>
                  <a:spcPts val="1430"/>
                </a:lnSpc>
                <a:spcBef>
                  <a:spcPts val="0"/>
                </a:spcBef>
                <a:spcAft>
                  <a:spcPts val="0"/>
                </a:spcAft>
              </a:pPr>
              <a:r>
                <a:rPr sz="1100" b="1" i="0">
                  <a:solidFill>
                    <a:srgbClr val="A84D00"/>
                  </a:solidFill>
                  <a:latin typeface="Arial"/>
                </a:rPr>
                <a:t>Random-forest fall detection: &gt;90% within 100 ms on a Cortex-M4; ~40% less power than DL</a:t>
              </a:r>
            </a:p>
          </p:txBody>
        </p:sp>
        <p:sp>
          <p:nvSpPr>
            <p:cNvPr id="9" name="Panel"/>
            <p:cNvSpPr/>
            <p:nvPr/>
          </p:nvSpPr>
          <p:spPr>
            <a:xfrm>
              <a:off x="3403600" y="1059160"/>
              <a:ext cx="2692400" cy="1758752"/>
            </a:xfrm>
            <a:prstGeom prst="roundRect">
              <a:avLst>
                <a:gd name="adj" fmla="val 3610"/>
              </a:avLst>
            </a:prstGeom>
            <a:solidFill>
              <a:srgbClr val="F4F6F5"/>
            </a:solidFill>
            <a:ln>
              <a:noFill/>
            </a:ln>
          </p:spPr>
          <p:txBody>
            <a:bodyPr rtlCol="0" anchor="ctr"/>
            <a:lstStyle/>
            <a:p>
              <a:pPr algn="ctr"/>
              <a:endParaRPr/>
            </a:p>
          </p:txBody>
        </p:sp>
        <p:sp>
          <p:nvSpPr>
            <p:cNvPr id="10" name="Text: Deep learning"/>
            <p:cNvSpPr txBox="1"/>
            <p:nvPr/>
          </p:nvSpPr>
          <p:spPr>
            <a:xfrm>
              <a:off x="3530600" y="1173460"/>
              <a:ext cx="2499360"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Deep learning</a:t>
              </a:r>
            </a:p>
          </p:txBody>
        </p:sp>
        <p:sp>
          <p:nvSpPr>
            <p:cNvPr id="11" name="Text: MLP · CNN · RNN / LSTM · Transformer"/>
            <p:cNvSpPr txBox="1"/>
            <p:nvPr/>
          </p:nvSpPr>
          <p:spPr>
            <a:xfrm>
              <a:off x="3530600" y="1402060"/>
              <a:ext cx="2499360" cy="146050"/>
            </a:xfrm>
            <a:prstGeom prst="rect">
              <a:avLst/>
            </a:prstGeom>
            <a:noFill/>
          </p:spPr>
          <p:txBody>
            <a:bodyPr wrap="square" lIns="0" tIns="0" rIns="0" bIns="0" anchor="t">
              <a:noAutofit/>
            </a:bodyPr>
            <a:lstStyle/>
            <a:p>
              <a:pPr algn="l">
                <a:lnSpc>
                  <a:spcPts val="1150"/>
                </a:lnSpc>
                <a:spcBef>
                  <a:spcPts val="0"/>
                </a:spcBef>
                <a:spcAft>
                  <a:spcPts val="0"/>
                </a:spcAft>
              </a:pPr>
              <a:r>
                <a:rPr sz="1000" b="0" i="0">
                  <a:solidFill>
                    <a:srgbClr val="5B6770"/>
                  </a:solidFill>
                  <a:latin typeface="Arial"/>
                </a:rPr>
                <a:t>MLP · CNN · RNN / LSTM · Transformer</a:t>
              </a:r>
            </a:p>
          </p:txBody>
        </p:sp>
        <p:sp>
          <p:nvSpPr>
            <p:cNvPr id="12" name="Text: Learns features from raw signals; data-h"/>
            <p:cNvSpPr txBox="1"/>
            <p:nvPr/>
          </p:nvSpPr>
          <p:spPr>
            <a:xfrm>
              <a:off x="3530600" y="1598910"/>
              <a:ext cx="249936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Learns features from raw signals; data-hungry, opaque.</a:t>
              </a:r>
            </a:p>
          </p:txBody>
        </p:sp>
        <p:sp>
          <p:nvSpPr>
            <p:cNvPr id="13" name="Text: TinyCNN arrhythmia: 95–98% sensitivity a"/>
            <p:cNvSpPr txBox="1"/>
            <p:nvPr/>
          </p:nvSpPr>
          <p:spPr>
            <a:xfrm>
              <a:off x="3530600" y="2012851"/>
              <a:ext cx="2499360" cy="544711"/>
            </a:xfrm>
            <a:prstGeom prst="rect">
              <a:avLst/>
            </a:prstGeom>
            <a:noFill/>
          </p:spPr>
          <p:txBody>
            <a:bodyPr wrap="square" lIns="0" tIns="0" rIns="0" bIns="0" anchor="t">
              <a:noAutofit/>
            </a:bodyPr>
            <a:lstStyle/>
            <a:p>
              <a:pPr algn="l">
                <a:lnSpc>
                  <a:spcPts val="1430"/>
                </a:lnSpc>
                <a:spcBef>
                  <a:spcPts val="0"/>
                </a:spcBef>
                <a:spcAft>
                  <a:spcPts val="0"/>
                </a:spcAft>
              </a:pPr>
              <a:r>
                <a:rPr sz="1100" b="1" i="0">
                  <a:solidFill>
                    <a:srgbClr val="A84D00"/>
                  </a:solidFill>
                  <a:latin typeface="Arial"/>
                </a:rPr>
                <a:t>TinyCNN arrhythmia: 95–98% sensitivity at &lt;5 mW; RNN glucose forecast: Se 78–95%, Sp 85–95%</a:t>
              </a:r>
            </a:p>
          </p:txBody>
        </p:sp>
        <p:sp>
          <p:nvSpPr>
            <p:cNvPr id="14" name="Panel"/>
            <p:cNvSpPr/>
            <p:nvPr/>
          </p:nvSpPr>
          <p:spPr>
            <a:xfrm>
              <a:off x="609600" y="2919512"/>
              <a:ext cx="2692400" cy="1612702"/>
            </a:xfrm>
            <a:prstGeom prst="roundRect">
              <a:avLst>
                <a:gd name="adj" fmla="val 3937"/>
              </a:avLst>
            </a:prstGeom>
            <a:solidFill>
              <a:srgbClr val="F4F6F5"/>
            </a:solidFill>
            <a:ln>
              <a:noFill/>
            </a:ln>
          </p:spPr>
          <p:txBody>
            <a:bodyPr rtlCol="0" anchor="ctr"/>
            <a:lstStyle/>
            <a:p>
              <a:pPr algn="ctr"/>
              <a:endParaRPr/>
            </a:p>
          </p:txBody>
        </p:sp>
        <p:sp>
          <p:nvSpPr>
            <p:cNvPr id="15" name="Text: Unsupervised / generative"/>
            <p:cNvSpPr txBox="1"/>
            <p:nvPr/>
          </p:nvSpPr>
          <p:spPr>
            <a:xfrm>
              <a:off x="736600" y="3033812"/>
              <a:ext cx="2499360"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Unsupervised / generative</a:t>
              </a:r>
            </a:p>
          </p:txBody>
        </p:sp>
        <p:sp>
          <p:nvSpPr>
            <p:cNvPr id="16" name="Text: k-means · PCA · t-SNE · VAE"/>
            <p:cNvSpPr txBox="1"/>
            <p:nvPr/>
          </p:nvSpPr>
          <p:spPr>
            <a:xfrm>
              <a:off x="736600" y="3262412"/>
              <a:ext cx="2499360" cy="146050"/>
            </a:xfrm>
            <a:prstGeom prst="rect">
              <a:avLst/>
            </a:prstGeom>
            <a:noFill/>
          </p:spPr>
          <p:txBody>
            <a:bodyPr wrap="square" lIns="0" tIns="0" rIns="0" bIns="0" anchor="t">
              <a:noAutofit/>
            </a:bodyPr>
            <a:lstStyle/>
            <a:p>
              <a:pPr algn="l">
                <a:lnSpc>
                  <a:spcPts val="1150"/>
                </a:lnSpc>
                <a:spcBef>
                  <a:spcPts val="0"/>
                </a:spcBef>
                <a:spcAft>
                  <a:spcPts val="0"/>
                </a:spcAft>
              </a:pPr>
              <a:r>
                <a:rPr sz="1000" b="0" i="0">
                  <a:solidFill>
                    <a:srgbClr val="5B6770"/>
                  </a:solidFill>
                  <a:latin typeface="Arial"/>
                </a:rPr>
                <a:t>k-means · PCA · t-SNE · VAE</a:t>
              </a:r>
            </a:p>
          </p:txBody>
        </p:sp>
        <p:sp>
          <p:nvSpPr>
            <p:cNvPr id="17" name="Text: Structure without labels; personal basel"/>
            <p:cNvSpPr txBox="1"/>
            <p:nvPr/>
          </p:nvSpPr>
          <p:spPr>
            <a:xfrm>
              <a:off x="736600" y="3459262"/>
              <a:ext cx="249936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Structure without labels; personal baselines.</a:t>
              </a:r>
            </a:p>
          </p:txBody>
        </p:sp>
        <p:sp>
          <p:nvSpPr>
            <p:cNvPr id="18" name="Text: VAE hypoglycemia detection: 85–90% preci"/>
            <p:cNvSpPr txBox="1"/>
            <p:nvPr/>
          </p:nvSpPr>
          <p:spPr>
            <a:xfrm>
              <a:off x="736600" y="3873202"/>
              <a:ext cx="2499360" cy="544711"/>
            </a:xfrm>
            <a:prstGeom prst="rect">
              <a:avLst/>
            </a:prstGeom>
            <a:noFill/>
          </p:spPr>
          <p:txBody>
            <a:bodyPr wrap="square" lIns="0" tIns="0" rIns="0" bIns="0" anchor="t">
              <a:noAutofit/>
            </a:bodyPr>
            <a:lstStyle/>
            <a:p>
              <a:pPr algn="l">
                <a:lnSpc>
                  <a:spcPts val="1430"/>
                </a:lnSpc>
                <a:spcBef>
                  <a:spcPts val="0"/>
                </a:spcBef>
                <a:spcAft>
                  <a:spcPts val="0"/>
                </a:spcAft>
              </a:pPr>
              <a:r>
                <a:rPr sz="1100" b="1" i="0">
                  <a:solidFill>
                    <a:srgbClr val="A84D00"/>
                  </a:solidFill>
                  <a:latin typeface="Arial"/>
                </a:rPr>
                <a:t>VAE hypoglycemia detection: 85–90% precision, &lt;200 KB, 30% fewer false alarms</a:t>
              </a:r>
            </a:p>
          </p:txBody>
        </p:sp>
        <p:sp>
          <p:nvSpPr>
            <p:cNvPr id="19" name="Panel"/>
            <p:cNvSpPr/>
            <p:nvPr/>
          </p:nvSpPr>
          <p:spPr>
            <a:xfrm>
              <a:off x="3403600" y="2919512"/>
              <a:ext cx="2692400" cy="1612702"/>
            </a:xfrm>
            <a:prstGeom prst="roundRect">
              <a:avLst>
                <a:gd name="adj" fmla="val 3937"/>
              </a:avLst>
            </a:prstGeom>
            <a:solidFill>
              <a:srgbClr val="F4F6F5"/>
            </a:solidFill>
            <a:ln>
              <a:noFill/>
            </a:ln>
          </p:spPr>
          <p:txBody>
            <a:bodyPr rtlCol="0" anchor="ctr"/>
            <a:lstStyle/>
            <a:p>
              <a:pPr algn="ctr"/>
              <a:endParaRPr/>
            </a:p>
          </p:txBody>
        </p:sp>
        <p:sp>
          <p:nvSpPr>
            <p:cNvPr id="20" name="Text: Reinforcement learning"/>
            <p:cNvSpPr txBox="1"/>
            <p:nvPr/>
          </p:nvSpPr>
          <p:spPr>
            <a:xfrm>
              <a:off x="3530600" y="3033812"/>
              <a:ext cx="2499360"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154734"/>
                  </a:solidFill>
                  <a:latin typeface="Arial"/>
                </a:rPr>
                <a:t>Reinforcement learning</a:t>
              </a:r>
            </a:p>
          </p:txBody>
        </p:sp>
        <p:sp>
          <p:nvSpPr>
            <p:cNvPr id="21" name="Text: policy learned from reward"/>
            <p:cNvSpPr txBox="1"/>
            <p:nvPr/>
          </p:nvSpPr>
          <p:spPr>
            <a:xfrm>
              <a:off x="3530600" y="3262412"/>
              <a:ext cx="2499360" cy="146050"/>
            </a:xfrm>
            <a:prstGeom prst="rect">
              <a:avLst/>
            </a:prstGeom>
            <a:noFill/>
          </p:spPr>
          <p:txBody>
            <a:bodyPr wrap="square" lIns="0" tIns="0" rIns="0" bIns="0" anchor="t">
              <a:noAutofit/>
            </a:bodyPr>
            <a:lstStyle/>
            <a:p>
              <a:pPr algn="l">
                <a:lnSpc>
                  <a:spcPts val="1150"/>
                </a:lnSpc>
                <a:spcBef>
                  <a:spcPts val="0"/>
                </a:spcBef>
                <a:spcAft>
                  <a:spcPts val="0"/>
                </a:spcAft>
              </a:pPr>
              <a:r>
                <a:rPr sz="1000" b="0" i="0">
                  <a:solidFill>
                    <a:srgbClr val="5B6770"/>
                  </a:solidFill>
                  <a:latin typeface="Arial"/>
                </a:rPr>
                <a:t>policy learned from reward</a:t>
              </a:r>
            </a:p>
          </p:txBody>
        </p:sp>
        <p:sp>
          <p:nvSpPr>
            <p:cNvPr id="22" name="Text: Adapts dosing or stimulation online; rew"/>
            <p:cNvSpPr txBox="1"/>
            <p:nvPr/>
          </p:nvSpPr>
          <p:spPr>
            <a:xfrm>
              <a:off x="3530600" y="3459262"/>
              <a:ext cx="2499360" cy="54471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Adapts dosing or stimulation online; reward design and safety are open problems.</a:t>
              </a:r>
            </a:p>
          </p:txBody>
        </p:sp>
        <p:sp>
          <p:nvSpPr>
            <p:cNvPr id="23" name="Text: Closed-loop insulin dosing; deep-brain-s"/>
            <p:cNvSpPr txBox="1"/>
            <p:nvPr/>
          </p:nvSpPr>
          <p:spPr>
            <a:xfrm>
              <a:off x="3530600" y="4054773"/>
              <a:ext cx="2499360" cy="363141"/>
            </a:xfrm>
            <a:prstGeom prst="rect">
              <a:avLst/>
            </a:prstGeom>
            <a:noFill/>
          </p:spPr>
          <p:txBody>
            <a:bodyPr wrap="square" lIns="0" tIns="0" rIns="0" bIns="0" anchor="t">
              <a:noAutofit/>
            </a:bodyPr>
            <a:lstStyle/>
            <a:p>
              <a:pPr algn="l">
                <a:lnSpc>
                  <a:spcPts val="1430"/>
                </a:lnSpc>
                <a:spcBef>
                  <a:spcPts val="0"/>
                </a:spcBef>
                <a:spcAft>
                  <a:spcPts val="0"/>
                </a:spcAft>
              </a:pPr>
              <a:r>
                <a:rPr sz="1100" b="1" i="0">
                  <a:solidFill>
                    <a:srgbClr val="A84D00"/>
                  </a:solidFill>
                  <a:latin typeface="Arial"/>
                </a:rPr>
                <a:t>Closed-loop insulin dosing; deep-brain-stimulation tuning</a:t>
              </a:r>
            </a:p>
          </p:txBody>
        </p:sp>
        <p:sp>
          <p:nvSpPr>
            <p:cNvPr id="24" name="Panel"/>
            <p:cNvSpPr/>
            <p:nvPr/>
          </p:nvSpPr>
          <p:spPr>
            <a:xfrm>
              <a:off x="6248400" y="1059160"/>
              <a:ext cx="2286000" cy="2501900"/>
            </a:xfrm>
            <a:prstGeom prst="roundRect">
              <a:avLst>
                <a:gd name="adj" fmla="val 1666"/>
              </a:avLst>
            </a:prstGeom>
            <a:solidFill>
              <a:srgbClr val="FFFFFF"/>
            </a:solidFill>
            <a:ln w="6350" cap="flat">
              <a:solidFill>
                <a:srgbClr val="D8DDDA"/>
              </a:solidFill>
            </a:ln>
          </p:spPr>
          <p:txBody>
            <a:bodyPr rtlCol="0" anchor="ctr"/>
            <a:lstStyle/>
            <a:p>
              <a:pPr algn="ctr"/>
              <a:endParaRPr/>
            </a:p>
          </p:txBody>
        </p:sp>
        <p:pic>
          <p:nvPicPr>
            <p:cNvPr id="25" name="Image (fig7)" descr="Figure 7: wheel of AI applications in healthcare: accurate diagnosis, improved access, identity verification, robot-assisted surgery, electronic health records, rare diseases, virtual assistants, chatbots"/>
            <p:cNvPicPr>
              <a:picLocks noChangeAspect="1"/>
            </p:cNvPicPr>
            <p:nvPr/>
          </p:nvPicPr>
          <p:blipFill>
            <a:blip r:embed="rId3"/>
            <a:stretch>
              <a:fillRect/>
            </a:stretch>
          </p:blipFill>
          <p:spPr>
            <a:xfrm>
              <a:off x="6255508" y="1065510"/>
              <a:ext cx="2271783" cy="2489200"/>
            </a:xfrm>
            <a:prstGeom prst="rect">
              <a:avLst/>
            </a:prstGeom>
          </p:spPr>
        </p:pic>
        <p:sp>
          <p:nvSpPr>
            <p:cNvPr id="26" name="Text: Fig. 7 — AI across healthcare. Conceptua"/>
            <p:cNvSpPr txBox="1"/>
            <p:nvPr/>
          </p:nvSpPr>
          <p:spPr>
            <a:xfrm>
              <a:off x="6248400" y="3611860"/>
              <a:ext cx="2343150" cy="342900"/>
            </a:xfrm>
            <a:prstGeom prst="rect">
              <a:avLst/>
            </a:prstGeom>
            <a:noFill/>
          </p:spPr>
          <p:txBody>
            <a:bodyPr wrap="square" lIns="0" tIns="0" rIns="0" bIns="0" anchor="t">
              <a:noAutofit/>
            </a:bodyPr>
            <a:lstStyle/>
            <a:p>
              <a:pPr algn="l">
                <a:lnSpc>
                  <a:spcPts val="1350"/>
                </a:lnSpc>
                <a:spcBef>
                  <a:spcPts val="0"/>
                </a:spcBef>
                <a:spcAft>
                  <a:spcPts val="0"/>
                </a:spcAft>
              </a:pPr>
              <a:r>
                <a:rPr sz="1000" b="1" i="0">
                  <a:solidFill>
                    <a:srgbClr val="5B6770"/>
                  </a:solidFill>
                  <a:latin typeface="Arial"/>
                </a:rPr>
                <a:t>Fig. 7</a:t>
              </a:r>
              <a:r>
                <a:rPr sz="1000" b="0" i="0">
                  <a:solidFill>
                    <a:srgbClr val="5B6770"/>
                  </a:solidFill>
                  <a:latin typeface="Arial"/>
                </a:rPr>
                <a:t> — AI across healthcare. Conceptual, not wearable-specific.</a:t>
              </a:r>
            </a:p>
          </p:txBody>
        </p:sp>
        <p:sp>
          <p:nvSpPr>
            <p:cNvPr id="27" name="Panel"/>
            <p:cNvSpPr/>
            <p:nvPr/>
          </p:nvSpPr>
          <p:spPr>
            <a:xfrm>
              <a:off x="609600" y="4697313"/>
              <a:ext cx="7924800" cy="580231"/>
            </a:xfrm>
            <a:prstGeom prst="roundRect">
              <a:avLst>
                <a:gd name="adj" fmla="val 10943"/>
              </a:avLst>
            </a:prstGeom>
            <a:solidFill>
              <a:srgbClr val="E7F0EB"/>
            </a:solidFill>
            <a:ln>
              <a:noFill/>
            </a:ln>
          </p:spPr>
          <p:txBody>
            <a:bodyPr rtlCol="0" anchor="ctr"/>
            <a:lstStyle/>
            <a:p>
              <a:pPr algn="ctr"/>
              <a:endParaRPr/>
            </a:p>
          </p:txBody>
        </p:sp>
        <p:sp>
          <p:nvSpPr>
            <p:cNvPr id="28" name="Text: Table 3 lists 13 algorithm families with"/>
            <p:cNvSpPr txBox="1"/>
            <p:nvPr/>
          </p:nvSpPr>
          <p:spPr>
            <a:xfrm>
              <a:off x="736600" y="4798913"/>
              <a:ext cx="7862570"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Table 3</a:t>
              </a:r>
              <a:r>
                <a:rPr sz="1100" b="0" i="0">
                  <a:solidFill>
                    <a:srgbClr val="333333"/>
                  </a:solidFill>
                  <a:latin typeface="Arial"/>
                </a:rPr>
                <a:t> lists 13 algorithm families with applications, advantages and limitations. The trade-off that matters on the body: </a:t>
              </a:r>
              <a:r>
                <a:rPr sz="1100" b="1" i="0">
                  <a:solidFill>
                    <a:srgbClr val="333333"/>
                  </a:solidFill>
                  <a:latin typeface="Arial"/>
                </a:rPr>
                <a:t>interpretability and energy</a:t>
              </a:r>
              <a:r>
                <a:rPr sz="1100" b="0" i="0">
                  <a:solidFill>
                    <a:srgbClr val="333333"/>
                  </a:solidFill>
                  <a:latin typeface="Arial"/>
                </a:rPr>
                <a:t> (classical) versus </a:t>
              </a:r>
              <a:r>
                <a:rPr sz="1100" b="1" i="0">
                  <a:solidFill>
                    <a:srgbClr val="333333"/>
                  </a:solidFill>
                  <a:latin typeface="Arial"/>
                </a:rPr>
                <a:t>representational power</a:t>
              </a:r>
              <a:r>
                <a:rPr sz="1100" b="0" i="0">
                  <a:solidFill>
                    <a:srgbClr val="333333"/>
                  </a:solidFill>
                  <a:latin typeface="Arial"/>
                </a:rPr>
                <a:t> (deep).</a:t>
              </a:r>
            </a:p>
          </p:txBody>
        </p:sp>
      </p:grpSp>
      <p:sp>
        <p:nvSpPr>
          <p:cNvPr id="30"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14</a:t>
            </a:fld>
            <a:endParaRPr lang="en-US" dirty="0">
              <a:solidFill>
                <a:srgbClr val="FFFFFF"/>
              </a:solidFill>
              <a:latin typeface="Arial" panose="020B0604020202020204"/>
            </a:endParaRPr>
          </a:p>
        </p:txBody>
      </p:sp>
      <p:sp>
        <p:nvSpPr>
          <p:cNvPr id="29"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Edge AI: move inference onto the wrist</a:t>
            </a:r>
          </a:p>
        </p:txBody>
      </p:sp>
      <p:sp>
        <p:nvSpPr>
          <p:cNvPr id="3" name="Text: METHODS · EDGE COMPUTING · FIG. 8"/>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EDGE COMPUTING · FIG. 8</a:t>
            </a:r>
          </a:p>
        </p:txBody>
      </p:sp>
      <p:graphicFrame>
        <p:nvGraphicFramePr>
          <p:cNvPr id="8" name="Chart: decision latency"/>
          <p:cNvGraphicFramePr>
            <a:graphicFrameLocks noGrp="1"/>
          </p:cNvGraphicFramePr>
          <p:nvPr>
            <p:extLst>
              <p:ext uri="{D42A27DB-BD31-4B8C-83A1-F6EECF244321}">
                <p14:modId xmlns:p14="http://schemas.microsoft.com/office/powerpoint/2010/main" val="3499651440"/>
              </p:ext>
            </p:extLst>
          </p:nvPr>
        </p:nvGraphicFramePr>
        <p:xfrm>
          <a:off x="4820920" y="1688875"/>
          <a:ext cx="3708400" cy="20955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Decision latency reported in the review "/>
          <p:cNvSpPr txBox="1"/>
          <p:nvPr/>
        </p:nvSpPr>
        <p:spPr>
          <a:xfrm>
            <a:off x="4820920" y="1498375"/>
            <a:ext cx="380111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dirty="0">
                <a:solidFill>
                  <a:srgbClr val="154734"/>
                </a:solidFill>
                <a:latin typeface="Arial"/>
              </a:rPr>
              <a:t>Decision latency reported in the review (</a:t>
            </a:r>
            <a:r>
              <a:rPr sz="1100" b="1" i="0" dirty="0" err="1">
                <a:solidFill>
                  <a:srgbClr val="154734"/>
                </a:solidFill>
                <a:latin typeface="Arial"/>
              </a:rPr>
              <a:t>ms</a:t>
            </a:r>
            <a:r>
              <a:rPr sz="1100" b="1" i="0" dirty="0">
                <a:solidFill>
                  <a:srgbClr val="154734"/>
                </a:solidFill>
                <a:latin typeface="Arial"/>
              </a:rPr>
              <a:t>)</a:t>
            </a:r>
          </a:p>
        </p:txBody>
      </p:sp>
      <p:grpSp>
        <p:nvGrpSpPr>
          <p:cNvPr id="21" name="Group 20">
            <a:extLst>
              <a:ext uri="{FF2B5EF4-FFF2-40B4-BE49-F238E27FC236}">
                <a16:creationId xmlns:a16="http://schemas.microsoft.com/office/drawing/2014/main" id="{09877E61-27EF-052C-F4F9-367DE932D013}"/>
              </a:ext>
            </a:extLst>
          </p:cNvPr>
          <p:cNvGrpSpPr/>
          <p:nvPr/>
        </p:nvGrpSpPr>
        <p:grpSpPr>
          <a:xfrm>
            <a:off x="609600" y="1341834"/>
            <a:ext cx="7976235" cy="4174332"/>
            <a:chOff x="609600" y="1341834"/>
            <a:chExt cx="7976235" cy="4174332"/>
          </a:xfrm>
        </p:grpSpPr>
        <p:sp>
          <p:nvSpPr>
            <p:cNvPr id="13" name="Panel"/>
            <p:cNvSpPr/>
            <p:nvPr/>
          </p:nvSpPr>
          <p:spPr>
            <a:xfrm>
              <a:off x="4631491" y="4237434"/>
              <a:ext cx="1914525" cy="537766"/>
            </a:xfrm>
            <a:prstGeom prst="roundRect">
              <a:avLst>
                <a:gd name="adj" fmla="val 11808"/>
              </a:avLst>
            </a:prstGeom>
            <a:solidFill>
              <a:srgbClr val="F4F6F5"/>
            </a:solidFill>
            <a:ln>
              <a:noFill/>
            </a:ln>
          </p:spPr>
          <p:txBody>
            <a:bodyPr rtlCol="0" anchor="ctr"/>
            <a:lstStyle/>
            <a:p>
              <a:pPr algn="ctr"/>
              <a:endParaRPr/>
            </a:p>
          </p:txBody>
        </p:sp>
        <p:grpSp>
          <p:nvGrpSpPr>
            <p:cNvPr id="20" name="Group 19">
              <a:extLst>
                <a:ext uri="{FF2B5EF4-FFF2-40B4-BE49-F238E27FC236}">
                  <a16:creationId xmlns:a16="http://schemas.microsoft.com/office/drawing/2014/main" id="{02A35692-501D-1A31-EA30-2DDEAB3B218C}"/>
                </a:ext>
              </a:extLst>
            </p:cNvPr>
            <p:cNvGrpSpPr/>
            <p:nvPr/>
          </p:nvGrpSpPr>
          <p:grpSpPr>
            <a:xfrm>
              <a:off x="609600" y="1341834"/>
              <a:ext cx="7976235" cy="4174332"/>
              <a:chOff x="609600" y="1021060"/>
              <a:chExt cx="7976235" cy="4174332"/>
            </a:xfrm>
          </p:grpSpPr>
          <p:sp>
            <p:nvSpPr>
              <p:cNvPr id="4" name="Panel"/>
              <p:cNvSpPr/>
              <p:nvPr/>
            </p:nvSpPr>
            <p:spPr>
              <a:xfrm>
                <a:off x="609600" y="1021060"/>
                <a:ext cx="4064000" cy="2387600"/>
              </a:xfrm>
              <a:prstGeom prst="roundRect">
                <a:avLst>
                  <a:gd name="adj" fmla="val 1595"/>
                </a:avLst>
              </a:prstGeom>
              <a:solidFill>
                <a:srgbClr val="FFFFFF"/>
              </a:solidFill>
              <a:ln w="6350" cap="flat">
                <a:solidFill>
                  <a:srgbClr val="D8DDDA"/>
                </a:solidFill>
              </a:ln>
            </p:spPr>
            <p:txBody>
              <a:bodyPr rtlCol="0" anchor="ctr"/>
              <a:lstStyle/>
              <a:p>
                <a:pPr algn="ctr"/>
                <a:endParaRPr/>
              </a:p>
            </p:txBody>
          </p:sp>
          <p:pic>
            <p:nvPicPr>
              <p:cNvPr id="5" name="Image (fig8)" descr="Figure 8: smartwatch with on-device AI for ECG and PPG; real-time analytics, privacy and security, energy efficiency, scalability; traditional cloud AI with delays versus edge AI with immediate feedback"/>
              <p:cNvPicPr>
                <a:picLocks noChangeAspect="1"/>
              </p:cNvPicPr>
              <p:nvPr/>
            </p:nvPicPr>
            <p:blipFill>
              <a:blip r:embed="rId4"/>
              <a:stretch>
                <a:fillRect/>
              </a:stretch>
            </p:blipFill>
            <p:spPr>
              <a:xfrm>
                <a:off x="619512" y="1027410"/>
                <a:ext cx="4044176" cy="2374900"/>
              </a:xfrm>
              <a:prstGeom prst="rect">
                <a:avLst/>
              </a:prstGeom>
            </p:spPr>
          </p:pic>
          <p:sp>
            <p:nvSpPr>
              <p:cNvPr id="6" name="Text: Fig. 8 — four edge benefits; cloud (dela"/>
              <p:cNvSpPr txBox="1"/>
              <p:nvPr/>
            </p:nvSpPr>
            <p:spPr>
              <a:xfrm>
                <a:off x="609600" y="3446760"/>
                <a:ext cx="4165600" cy="342900"/>
              </a:xfrm>
              <a:prstGeom prst="rect">
                <a:avLst/>
              </a:prstGeom>
              <a:noFill/>
            </p:spPr>
            <p:txBody>
              <a:bodyPr wrap="square" lIns="0" tIns="0" rIns="0" bIns="0" anchor="t">
                <a:noAutofit/>
              </a:bodyPr>
              <a:lstStyle/>
              <a:p>
                <a:pPr algn="l">
                  <a:lnSpc>
                    <a:spcPts val="1350"/>
                  </a:lnSpc>
                  <a:spcBef>
                    <a:spcPts val="0"/>
                  </a:spcBef>
                  <a:spcAft>
                    <a:spcPts val="0"/>
                  </a:spcAft>
                </a:pPr>
                <a:r>
                  <a:rPr sz="1000" b="1" i="0">
                    <a:solidFill>
                      <a:srgbClr val="5B6770"/>
                    </a:solidFill>
                    <a:latin typeface="Arial"/>
                  </a:rPr>
                  <a:t>Fig. 8</a:t>
                </a:r>
                <a:r>
                  <a:rPr sz="1000" b="0" i="0">
                    <a:solidFill>
                      <a:srgbClr val="5B6770"/>
                    </a:solidFill>
                    <a:latin typeface="Arial"/>
                  </a:rPr>
                  <a:t> — four edge benefits; cloud (delays) vs edge (immediate feedback).</a:t>
                </a:r>
              </a:p>
            </p:txBody>
          </p:sp>
          <p:sp>
            <p:nvSpPr>
              <p:cNvPr id="9" name="Panel"/>
              <p:cNvSpPr/>
              <p:nvPr/>
            </p:nvSpPr>
            <p:spPr>
              <a:xfrm>
                <a:off x="609600" y="3916660"/>
                <a:ext cx="1914525" cy="537766"/>
              </a:xfrm>
              <a:prstGeom prst="roundRect">
                <a:avLst>
                  <a:gd name="adj" fmla="val 11808"/>
                </a:avLst>
              </a:prstGeom>
              <a:solidFill>
                <a:srgbClr val="F4F6F5"/>
              </a:solidFill>
              <a:ln>
                <a:noFill/>
              </a:ln>
            </p:spPr>
            <p:txBody>
              <a:bodyPr rtlCol="0" anchor="ctr"/>
              <a:lstStyle/>
              <a:p>
                <a:pPr algn="ctr"/>
                <a:endParaRPr/>
              </a:p>
            </p:txBody>
          </p:sp>
          <p:sp>
            <p:nvSpPr>
              <p:cNvPr id="10" name="Text: Real-time: alerts inside the 100 ms wind"/>
              <p:cNvSpPr txBox="1"/>
              <p:nvPr/>
            </p:nvSpPr>
            <p:spPr>
              <a:xfrm>
                <a:off x="711200" y="4005560"/>
                <a:ext cx="1754108" cy="359966"/>
              </a:xfrm>
              <a:prstGeom prst="rect">
                <a:avLst/>
              </a:prstGeom>
              <a:noFill/>
            </p:spPr>
            <p:txBody>
              <a:bodyPr wrap="square" lIns="0" tIns="0" rIns="0" bIns="0" anchor="t">
                <a:noAutofit/>
              </a:bodyPr>
              <a:lstStyle/>
              <a:p>
                <a:pPr algn="l">
                  <a:lnSpc>
                    <a:spcPts val="1417"/>
                  </a:lnSpc>
                  <a:spcBef>
                    <a:spcPts val="0"/>
                  </a:spcBef>
                  <a:spcAft>
                    <a:spcPts val="0"/>
                  </a:spcAft>
                </a:pPr>
                <a:r>
                  <a:rPr sz="1050" b="1" i="0">
                    <a:solidFill>
                      <a:srgbClr val="154734"/>
                    </a:solidFill>
                    <a:latin typeface="Arial"/>
                  </a:rPr>
                  <a:t>Real-time:</a:t>
                </a:r>
                <a:r>
                  <a:rPr sz="1050" b="0" i="0">
                    <a:solidFill>
                      <a:srgbClr val="333333"/>
                    </a:solidFill>
                    <a:latin typeface="Arial"/>
                  </a:rPr>
                  <a:t> alerts inside the 100 ms window</a:t>
                </a:r>
              </a:p>
            </p:txBody>
          </p:sp>
          <p:sp>
            <p:nvSpPr>
              <p:cNvPr id="11" name="Panel"/>
              <p:cNvSpPr/>
              <p:nvPr/>
            </p:nvSpPr>
            <p:spPr>
              <a:xfrm>
                <a:off x="2613025" y="3916660"/>
                <a:ext cx="1914525" cy="537766"/>
              </a:xfrm>
              <a:prstGeom prst="roundRect">
                <a:avLst>
                  <a:gd name="adj" fmla="val 11808"/>
                </a:avLst>
              </a:prstGeom>
              <a:solidFill>
                <a:srgbClr val="F4F6F5"/>
              </a:solidFill>
              <a:ln>
                <a:noFill/>
              </a:ln>
            </p:spPr>
            <p:txBody>
              <a:bodyPr rtlCol="0" anchor="ctr"/>
              <a:lstStyle/>
              <a:p>
                <a:pPr algn="ctr"/>
                <a:endParaRPr/>
              </a:p>
            </p:txBody>
          </p:sp>
          <p:sp>
            <p:nvSpPr>
              <p:cNvPr id="12" name="Text: Privacy: raw physiology stays on the dev"/>
              <p:cNvSpPr txBox="1"/>
              <p:nvPr/>
            </p:nvSpPr>
            <p:spPr>
              <a:xfrm>
                <a:off x="2714625" y="4005560"/>
                <a:ext cx="1754108" cy="359966"/>
              </a:xfrm>
              <a:prstGeom prst="rect">
                <a:avLst/>
              </a:prstGeom>
              <a:noFill/>
            </p:spPr>
            <p:txBody>
              <a:bodyPr wrap="square" lIns="0" tIns="0" rIns="0" bIns="0" anchor="t">
                <a:noAutofit/>
              </a:bodyPr>
              <a:lstStyle/>
              <a:p>
                <a:pPr algn="l">
                  <a:lnSpc>
                    <a:spcPts val="1417"/>
                  </a:lnSpc>
                  <a:spcBef>
                    <a:spcPts val="0"/>
                  </a:spcBef>
                  <a:spcAft>
                    <a:spcPts val="0"/>
                  </a:spcAft>
                </a:pPr>
                <a:r>
                  <a:rPr sz="1050" b="1" i="0">
                    <a:solidFill>
                      <a:srgbClr val="154734"/>
                    </a:solidFill>
                    <a:latin typeface="Arial"/>
                  </a:rPr>
                  <a:t>Privacy:</a:t>
                </a:r>
                <a:r>
                  <a:rPr sz="1050" b="0" i="0">
                    <a:solidFill>
                      <a:srgbClr val="333333"/>
                    </a:solidFill>
                    <a:latin typeface="Arial"/>
                  </a:rPr>
                  <a:t> raw physiology stays on the device</a:t>
                </a:r>
              </a:p>
            </p:txBody>
          </p:sp>
          <p:sp>
            <p:nvSpPr>
              <p:cNvPr id="14" name="Text: Energy: the radio, not the math, drains "/>
              <p:cNvSpPr txBox="1"/>
              <p:nvPr/>
            </p:nvSpPr>
            <p:spPr>
              <a:xfrm>
                <a:off x="4718050" y="4005560"/>
                <a:ext cx="1754108" cy="359966"/>
              </a:xfrm>
              <a:prstGeom prst="rect">
                <a:avLst/>
              </a:prstGeom>
              <a:noFill/>
            </p:spPr>
            <p:txBody>
              <a:bodyPr wrap="square" lIns="0" tIns="0" rIns="0" bIns="0" anchor="t">
                <a:noAutofit/>
              </a:bodyPr>
              <a:lstStyle/>
              <a:p>
                <a:pPr algn="l">
                  <a:lnSpc>
                    <a:spcPts val="1417"/>
                  </a:lnSpc>
                  <a:spcBef>
                    <a:spcPts val="0"/>
                  </a:spcBef>
                  <a:spcAft>
                    <a:spcPts val="0"/>
                  </a:spcAft>
                </a:pPr>
                <a:r>
                  <a:rPr sz="1050" b="1" i="0">
                    <a:solidFill>
                      <a:srgbClr val="154734"/>
                    </a:solidFill>
                    <a:latin typeface="Arial"/>
                  </a:rPr>
                  <a:t>Energy:</a:t>
                </a:r>
                <a:r>
                  <a:rPr sz="1050" b="0" i="0">
                    <a:solidFill>
                      <a:srgbClr val="333333"/>
                    </a:solidFill>
                    <a:latin typeface="Arial"/>
                  </a:rPr>
                  <a:t> the radio, not the math, drains the battery</a:t>
                </a:r>
              </a:p>
            </p:txBody>
          </p:sp>
          <p:sp>
            <p:nvSpPr>
              <p:cNvPr id="15" name="Panel"/>
              <p:cNvSpPr/>
              <p:nvPr/>
            </p:nvSpPr>
            <p:spPr>
              <a:xfrm>
                <a:off x="6619875" y="3916660"/>
                <a:ext cx="1914525" cy="537766"/>
              </a:xfrm>
              <a:prstGeom prst="roundRect">
                <a:avLst>
                  <a:gd name="adj" fmla="val 11808"/>
                </a:avLst>
              </a:prstGeom>
              <a:solidFill>
                <a:srgbClr val="F4F6F5"/>
              </a:solidFill>
              <a:ln>
                <a:noFill/>
              </a:ln>
            </p:spPr>
            <p:txBody>
              <a:bodyPr rtlCol="0" anchor="ctr"/>
              <a:lstStyle/>
              <a:p>
                <a:pPr algn="ctr"/>
                <a:endParaRPr/>
              </a:p>
            </p:txBody>
          </p:sp>
          <p:sp>
            <p:nvSpPr>
              <p:cNvPr id="16" name="Text: Scale: works offline in low-connectivity"/>
              <p:cNvSpPr txBox="1"/>
              <p:nvPr/>
            </p:nvSpPr>
            <p:spPr>
              <a:xfrm>
                <a:off x="6721475" y="4005560"/>
                <a:ext cx="1754108" cy="359966"/>
              </a:xfrm>
              <a:prstGeom prst="rect">
                <a:avLst/>
              </a:prstGeom>
              <a:noFill/>
            </p:spPr>
            <p:txBody>
              <a:bodyPr wrap="square" lIns="0" tIns="0" rIns="0" bIns="0" anchor="t">
                <a:noAutofit/>
              </a:bodyPr>
              <a:lstStyle/>
              <a:p>
                <a:pPr algn="l">
                  <a:lnSpc>
                    <a:spcPts val="1417"/>
                  </a:lnSpc>
                  <a:spcBef>
                    <a:spcPts val="0"/>
                  </a:spcBef>
                  <a:spcAft>
                    <a:spcPts val="0"/>
                  </a:spcAft>
                </a:pPr>
                <a:r>
                  <a:rPr sz="1050" b="1" i="0">
                    <a:solidFill>
                      <a:srgbClr val="154734"/>
                    </a:solidFill>
                    <a:latin typeface="Arial"/>
                  </a:rPr>
                  <a:t>Scale:</a:t>
                </a:r>
                <a:r>
                  <a:rPr sz="1050" b="0" i="0">
                    <a:solidFill>
                      <a:srgbClr val="333333"/>
                    </a:solidFill>
                    <a:latin typeface="Arial"/>
                  </a:rPr>
                  <a:t> works offline in low-connectivity settings</a:t>
                </a:r>
              </a:p>
            </p:txBody>
          </p:sp>
          <p:sp>
            <p:nvSpPr>
              <p:cNvPr id="17" name="Panel"/>
              <p:cNvSpPr/>
              <p:nvPr/>
            </p:nvSpPr>
            <p:spPr>
              <a:xfrm>
                <a:off x="609600" y="4581426"/>
                <a:ext cx="7924800" cy="613966"/>
              </a:xfrm>
              <a:prstGeom prst="roundRect">
                <a:avLst>
                  <a:gd name="adj" fmla="val 10342"/>
                </a:avLst>
              </a:prstGeom>
              <a:solidFill>
                <a:srgbClr val="FDEFE2"/>
              </a:solidFill>
              <a:ln>
                <a:noFill/>
              </a:ln>
            </p:spPr>
            <p:txBody>
              <a:bodyPr rtlCol="0" anchor="ctr"/>
              <a:lstStyle/>
              <a:p>
                <a:pPr algn="ctr"/>
                <a:endParaRPr/>
              </a:p>
            </p:txBody>
          </p:sp>
          <p:sp>
            <p:nvSpPr>
              <p:cNvPr id="18" name="Text: Reported gains: 30–50% fewer cloud calls"/>
              <p:cNvSpPr txBox="1"/>
              <p:nvPr/>
            </p:nvSpPr>
            <p:spPr>
              <a:xfrm>
                <a:off x="749300" y="4708426"/>
                <a:ext cx="7836535" cy="359966"/>
              </a:xfrm>
              <a:prstGeom prst="rect">
                <a:avLst/>
              </a:prstGeom>
              <a:noFill/>
            </p:spPr>
            <p:txBody>
              <a:bodyPr wrap="square" lIns="0" tIns="0" rIns="0" bIns="0" anchor="t">
                <a:noAutofit/>
              </a:bodyPr>
              <a:lstStyle/>
              <a:p>
                <a:pPr algn="l">
                  <a:lnSpc>
                    <a:spcPts val="1417"/>
                  </a:lnSpc>
                  <a:spcBef>
                    <a:spcPts val="0"/>
                  </a:spcBef>
                  <a:spcAft>
                    <a:spcPts val="0"/>
                  </a:spcAft>
                </a:pPr>
                <a:r>
                  <a:rPr sz="1050" b="1" i="0">
                    <a:solidFill>
                      <a:srgbClr val="333333"/>
                    </a:solidFill>
                    <a:latin typeface="Arial"/>
                  </a:rPr>
                  <a:t>Reported gains:</a:t>
                </a:r>
                <a:r>
                  <a:rPr sz="1050" b="0" i="0">
                    <a:solidFill>
                      <a:srgbClr val="333333"/>
                    </a:solidFill>
                    <a:latin typeface="Arial"/>
                  </a:rPr>
                  <a:t> 30–50% fewer cloud calls and false alarms. </a:t>
                </a:r>
                <a:r>
                  <a:rPr sz="1050" b="1" i="0">
                    <a:solidFill>
                      <a:srgbClr val="333333"/>
                    </a:solidFill>
                    <a:latin typeface="Arial"/>
                  </a:rPr>
                  <a:t>Cost:</a:t>
                </a:r>
                <a:r>
                  <a:rPr sz="1050" b="0" i="0">
                    <a:solidFill>
                      <a:srgbClr val="333333"/>
                    </a:solidFill>
                    <a:latin typeface="Arial"/>
                  </a:rPr>
                  <a:t> below 8-bit, compression loses 15–20% accuracy → hybrid design: &lt;100 kB model on the device for urgent detection, cloud for long-term trends.</a:t>
                </a:r>
              </a:p>
            </p:txBody>
          </p:sp>
        </p:gr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15</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The authors' AI–biosensor fusion framework</a:t>
            </a:r>
          </a:p>
        </p:txBody>
      </p:sp>
      <p:sp>
        <p:nvSpPr>
          <p:cNvPr id="3" name="Text: METHODS · ALGORITHMS &amp; EVALUATION / VALI"/>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METHODS · ALGORITHMS &amp; EVALUATION / VALIDATION (§3.4)</a:t>
            </a:r>
          </a:p>
        </p:txBody>
      </p:sp>
      <p:sp>
        <p:nvSpPr>
          <p:cNvPr id="4" name="Panel"/>
          <p:cNvSpPr/>
          <p:nvPr/>
        </p:nvSpPr>
        <p:spPr>
          <a:xfrm>
            <a:off x="609600" y="1021060"/>
            <a:ext cx="3911600" cy="1470422"/>
          </a:xfrm>
          <a:prstGeom prst="roundRect">
            <a:avLst>
              <a:gd name="adj" fmla="val 4318"/>
            </a:avLst>
          </a:prstGeom>
          <a:solidFill>
            <a:srgbClr val="F4F6F5"/>
          </a:solidFill>
          <a:ln>
            <a:noFill/>
          </a:ln>
        </p:spPr>
        <p:txBody>
          <a:bodyPr rtlCol="0" anchor="ctr"/>
          <a:lstStyle/>
          <a:p>
            <a:pPr algn="ctr"/>
            <a:endParaRPr/>
          </a:p>
        </p:txBody>
      </p:sp>
      <p:sp>
        <p:nvSpPr>
          <p:cNvPr id="10" name="Panel"/>
          <p:cNvSpPr/>
          <p:nvPr/>
        </p:nvSpPr>
        <p:spPr>
          <a:xfrm>
            <a:off x="4622800" y="1021060"/>
            <a:ext cx="3911600" cy="1470422"/>
          </a:xfrm>
          <a:prstGeom prst="roundRect">
            <a:avLst>
              <a:gd name="adj" fmla="val 4318"/>
            </a:avLst>
          </a:prstGeom>
          <a:solidFill>
            <a:srgbClr val="F4F6F5"/>
          </a:solidFill>
          <a:ln>
            <a:noFill/>
          </a:ln>
        </p:spPr>
        <p:txBody>
          <a:bodyPr rtlCol="0" anchor="ctr"/>
          <a:lstStyle/>
          <a:p>
            <a:pPr algn="ctr"/>
            <a:endParaRPr/>
          </a:p>
        </p:txBody>
      </p:sp>
      <p:grpSp>
        <p:nvGrpSpPr>
          <p:cNvPr id="38" name="Group 37">
            <a:extLst>
              <a:ext uri="{FF2B5EF4-FFF2-40B4-BE49-F238E27FC236}">
                <a16:creationId xmlns:a16="http://schemas.microsoft.com/office/drawing/2014/main" id="{648FD6D9-41ED-D4C4-1746-04CB0DC56787}"/>
              </a:ext>
            </a:extLst>
          </p:cNvPr>
          <p:cNvGrpSpPr/>
          <p:nvPr/>
        </p:nvGrpSpPr>
        <p:grpSpPr>
          <a:xfrm>
            <a:off x="609600" y="1218952"/>
            <a:ext cx="8002905" cy="4420096"/>
            <a:chOff x="609600" y="1148060"/>
            <a:chExt cx="8002905" cy="4420096"/>
          </a:xfrm>
        </p:grpSpPr>
        <p:sp>
          <p:nvSpPr>
            <p:cNvPr id="5" name="Badge 1"/>
            <p:cNvSpPr/>
            <p:nvPr/>
          </p:nvSpPr>
          <p:spPr>
            <a:xfrm>
              <a:off x="749300" y="1148060"/>
              <a:ext cx="266700" cy="2667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1</a:t>
              </a:r>
            </a:p>
          </p:txBody>
        </p:sp>
        <p:sp>
          <p:nvSpPr>
            <p:cNvPr id="6" name="Text: AI-enhanced sensing"/>
            <p:cNvSpPr txBox="1"/>
            <p:nvPr/>
          </p:nvSpPr>
          <p:spPr>
            <a:xfrm>
              <a:off x="1092200" y="1182985"/>
              <a:ext cx="1702038" cy="196850"/>
            </a:xfrm>
            <a:prstGeom prst="rect">
              <a:avLst/>
            </a:prstGeom>
            <a:noFill/>
          </p:spPr>
          <p:txBody>
            <a:bodyPr wrap="square" lIns="0" tIns="0" rIns="0" bIns="0" anchor="t">
              <a:noAutofit/>
            </a:bodyPr>
            <a:lstStyle/>
            <a:p>
              <a:pPr algn="l">
                <a:lnSpc>
                  <a:spcPts val="1495"/>
                </a:lnSpc>
                <a:spcBef>
                  <a:spcPts val="0"/>
                </a:spcBef>
                <a:spcAft>
                  <a:spcPts val="0"/>
                </a:spcAft>
              </a:pPr>
              <a:r>
                <a:rPr sz="1300" b="1" i="0">
                  <a:solidFill>
                    <a:srgbClr val="154734"/>
                  </a:solidFill>
                  <a:latin typeface="Arial"/>
                </a:rPr>
                <a:t>AI-enhanced sensing</a:t>
              </a:r>
            </a:p>
          </p:txBody>
        </p:sp>
        <p:sp>
          <p:nvSpPr>
            <p:cNvPr id="7" name="Text: • 1D-CNN denoising: &gt;90% noise suppressi"/>
            <p:cNvSpPr txBox="1"/>
            <p:nvPr/>
          </p:nvSpPr>
          <p:spPr>
            <a:xfrm>
              <a:off x="749300" y="1478260"/>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1D-CNN denoising: &gt;90% noise suppression</a:t>
              </a:r>
            </a:p>
          </p:txBody>
        </p:sp>
        <p:sp>
          <p:nvSpPr>
            <p:cNvPr id="8" name="Text: • Cross-attention fusion: +40–60% specif"/>
            <p:cNvSpPr txBox="1"/>
            <p:nvPr/>
          </p:nvSpPr>
          <p:spPr>
            <a:xfrm>
              <a:off x="749300" y="1731566"/>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Cross-attention fusion: +40–60% specificity</a:t>
              </a:r>
            </a:p>
          </p:txBody>
        </p:sp>
        <p:sp>
          <p:nvSpPr>
            <p:cNvPr id="9" name="Text: • RL adaptive sampling (0.1–100 Hz): −75"/>
            <p:cNvSpPr txBox="1"/>
            <p:nvPr/>
          </p:nvSpPr>
          <p:spPr>
            <a:xfrm>
              <a:off x="749300" y="1984871"/>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RL adaptive sampling (0.1–100 Hz): −75% power</a:t>
              </a:r>
            </a:p>
          </p:txBody>
        </p:sp>
        <p:sp>
          <p:nvSpPr>
            <p:cNvPr id="11" name="Badge 2"/>
            <p:cNvSpPr/>
            <p:nvPr/>
          </p:nvSpPr>
          <p:spPr>
            <a:xfrm>
              <a:off x="4762500" y="1148060"/>
              <a:ext cx="266700" cy="2667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2</a:t>
              </a:r>
            </a:p>
          </p:txBody>
        </p:sp>
        <p:sp>
          <p:nvSpPr>
            <p:cNvPr id="12" name="Text: Closed-loop design"/>
            <p:cNvSpPr txBox="1"/>
            <p:nvPr/>
          </p:nvSpPr>
          <p:spPr>
            <a:xfrm>
              <a:off x="5105400" y="1182985"/>
              <a:ext cx="1570134" cy="196850"/>
            </a:xfrm>
            <a:prstGeom prst="rect">
              <a:avLst/>
            </a:prstGeom>
            <a:noFill/>
          </p:spPr>
          <p:txBody>
            <a:bodyPr wrap="square" lIns="0" tIns="0" rIns="0" bIns="0" anchor="t">
              <a:noAutofit/>
            </a:bodyPr>
            <a:lstStyle/>
            <a:p>
              <a:pPr algn="l">
                <a:lnSpc>
                  <a:spcPts val="1495"/>
                </a:lnSpc>
                <a:spcBef>
                  <a:spcPts val="0"/>
                </a:spcBef>
                <a:spcAft>
                  <a:spcPts val="0"/>
                </a:spcAft>
              </a:pPr>
              <a:r>
                <a:rPr sz="1300" b="1" i="0">
                  <a:solidFill>
                    <a:srgbClr val="154734"/>
                  </a:solidFill>
                  <a:latin typeface="Arial"/>
                </a:rPr>
                <a:t>Closed-loop design</a:t>
              </a:r>
            </a:p>
          </p:txBody>
        </p:sp>
        <p:sp>
          <p:nvSpPr>
            <p:cNvPr id="13" name="Text: • Graph NNs: 15 new sensing composites, "/>
            <p:cNvSpPr txBox="1"/>
            <p:nvPr/>
          </p:nvSpPr>
          <p:spPr>
            <a:xfrm>
              <a:off x="4762500" y="1478260"/>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dirty="0">
                  <a:solidFill>
                    <a:srgbClr val="333333"/>
                  </a:solidFill>
                  <a:latin typeface="Arial"/>
                </a:rPr>
                <a:t>• Graph NNs: 15 new sensing composites, 10× faster</a:t>
              </a:r>
            </a:p>
          </p:txBody>
        </p:sp>
        <p:sp>
          <p:nvSpPr>
            <p:cNvPr id="14" name="Text: • GANs: bioreceptors with +35% binding a"/>
            <p:cNvSpPr txBox="1"/>
            <p:nvPr/>
          </p:nvSpPr>
          <p:spPr>
            <a:xfrm>
              <a:off x="4762500" y="1731566"/>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GANs: bioreceptors with +35% binding affinity</a:t>
              </a:r>
            </a:p>
          </p:txBody>
        </p:sp>
        <p:sp>
          <p:nvSpPr>
            <p:cNvPr id="15" name="Text: • NAS balances &lt;50 ms, pM sensitivity, &lt;"/>
            <p:cNvSpPr txBox="1"/>
            <p:nvPr/>
          </p:nvSpPr>
          <p:spPr>
            <a:xfrm>
              <a:off x="4762500" y="1984871"/>
              <a:ext cx="3723005" cy="379611"/>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NAS balances &lt;50 ms, pM sensitivity, &lt;1 mJ per measurement</a:t>
              </a:r>
            </a:p>
          </p:txBody>
        </p:sp>
        <p:sp>
          <p:nvSpPr>
            <p:cNvPr id="16" name="Panel"/>
            <p:cNvSpPr/>
            <p:nvPr/>
          </p:nvSpPr>
          <p:spPr>
            <a:xfrm>
              <a:off x="609600" y="2593082"/>
              <a:ext cx="3911600" cy="1660227"/>
            </a:xfrm>
            <a:prstGeom prst="roundRect">
              <a:avLst>
                <a:gd name="adj" fmla="val 3824"/>
              </a:avLst>
            </a:prstGeom>
            <a:solidFill>
              <a:srgbClr val="F4F6F5"/>
            </a:solidFill>
            <a:ln>
              <a:noFill/>
            </a:ln>
          </p:spPr>
          <p:txBody>
            <a:bodyPr rtlCol="0" anchor="ctr"/>
            <a:lstStyle/>
            <a:p>
              <a:pPr algn="ctr"/>
              <a:endParaRPr/>
            </a:p>
          </p:txBody>
        </p:sp>
        <p:sp>
          <p:nvSpPr>
            <p:cNvPr id="17" name="Badge 3"/>
            <p:cNvSpPr/>
            <p:nvPr/>
          </p:nvSpPr>
          <p:spPr>
            <a:xfrm>
              <a:off x="749300" y="2720082"/>
              <a:ext cx="266700" cy="2667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3</a:t>
              </a:r>
            </a:p>
          </p:txBody>
        </p:sp>
        <p:sp>
          <p:nvSpPr>
            <p:cNvPr id="18" name="Text: Intelligent diagnostics"/>
            <p:cNvSpPr txBox="1"/>
            <p:nvPr/>
          </p:nvSpPr>
          <p:spPr>
            <a:xfrm>
              <a:off x="1092200" y="2755007"/>
              <a:ext cx="1786550" cy="196850"/>
            </a:xfrm>
            <a:prstGeom prst="rect">
              <a:avLst/>
            </a:prstGeom>
            <a:noFill/>
          </p:spPr>
          <p:txBody>
            <a:bodyPr wrap="square" lIns="0" tIns="0" rIns="0" bIns="0" anchor="t">
              <a:noAutofit/>
            </a:bodyPr>
            <a:lstStyle/>
            <a:p>
              <a:pPr algn="l">
                <a:lnSpc>
                  <a:spcPts val="1495"/>
                </a:lnSpc>
                <a:spcBef>
                  <a:spcPts val="0"/>
                </a:spcBef>
                <a:spcAft>
                  <a:spcPts val="0"/>
                </a:spcAft>
              </a:pPr>
              <a:r>
                <a:rPr sz="1300" b="1" i="0">
                  <a:solidFill>
                    <a:srgbClr val="154734"/>
                  </a:solidFill>
                  <a:latin typeface="Arial"/>
                </a:rPr>
                <a:t>Intelligent diagnostics</a:t>
              </a:r>
            </a:p>
          </p:txBody>
        </p:sp>
        <p:sp>
          <p:nvSpPr>
            <p:cNvPr id="19" name="Text: • Federated learning on each wearer's ba"/>
            <p:cNvSpPr txBox="1"/>
            <p:nvPr/>
          </p:nvSpPr>
          <p:spPr>
            <a:xfrm>
              <a:off x="749300" y="3050282"/>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Federated learning on each wearer's baseline</a:t>
              </a:r>
            </a:p>
          </p:txBody>
        </p:sp>
        <p:sp>
          <p:nvSpPr>
            <p:cNvPr id="20" name="Text: • LSTM predicts sensor drift (MAE &lt;0.5%)"/>
            <p:cNvSpPr txBox="1"/>
            <p:nvPr/>
          </p:nvSpPr>
          <p:spPr>
            <a:xfrm>
              <a:off x="749300" y="3303588"/>
              <a:ext cx="3723005" cy="379611"/>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LSTM predicts sensor drift (MAE &lt;0.5%) → recalibration, 3–5× stability</a:t>
              </a:r>
            </a:p>
          </p:txBody>
        </p:sp>
        <p:sp>
          <p:nvSpPr>
            <p:cNvPr id="21" name="Text: • Uncertainty flags route low-confidence"/>
            <p:cNvSpPr txBox="1"/>
            <p:nvPr/>
          </p:nvSpPr>
          <p:spPr>
            <a:xfrm>
              <a:off x="749300" y="3746698"/>
              <a:ext cx="3723005" cy="379611"/>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Uncertainty flags route low-confidence calls to clinicians</a:t>
              </a:r>
            </a:p>
          </p:txBody>
        </p:sp>
        <p:sp>
          <p:nvSpPr>
            <p:cNvPr id="22" name="Panel"/>
            <p:cNvSpPr/>
            <p:nvPr/>
          </p:nvSpPr>
          <p:spPr>
            <a:xfrm>
              <a:off x="4622800" y="2593082"/>
              <a:ext cx="3911600" cy="1660227"/>
            </a:xfrm>
            <a:prstGeom prst="roundRect">
              <a:avLst>
                <a:gd name="adj" fmla="val 3824"/>
              </a:avLst>
            </a:prstGeom>
            <a:solidFill>
              <a:srgbClr val="F4F6F5"/>
            </a:solidFill>
            <a:ln>
              <a:noFill/>
            </a:ln>
          </p:spPr>
          <p:txBody>
            <a:bodyPr rtlCol="0" anchor="ctr"/>
            <a:lstStyle/>
            <a:p>
              <a:pPr algn="ctr"/>
              <a:endParaRPr/>
            </a:p>
          </p:txBody>
        </p:sp>
        <p:sp>
          <p:nvSpPr>
            <p:cNvPr id="23" name="Badge 4"/>
            <p:cNvSpPr/>
            <p:nvPr/>
          </p:nvSpPr>
          <p:spPr>
            <a:xfrm>
              <a:off x="4762500" y="2720082"/>
              <a:ext cx="266700" cy="266700"/>
            </a:xfrm>
            <a:prstGeom prst="ellipse">
              <a:avLst/>
            </a:prstGeom>
            <a:solidFill>
              <a:srgbClr val="E87500"/>
            </a:solidFill>
            <a:ln>
              <a:noFill/>
            </a:ln>
          </p:spPr>
          <p:txBody>
            <a:bodyPr wrap="none" lIns="0" tIns="0" rIns="0" bIns="0" rtlCol="0" anchor="ctr">
              <a:noAutofit/>
            </a:bodyPr>
            <a:lstStyle/>
            <a:p>
              <a:pPr algn="ctr"/>
              <a:r>
                <a:rPr sz="1100" b="1">
                  <a:solidFill>
                    <a:srgbClr val="FFFFFF"/>
                  </a:solidFill>
                  <a:latin typeface="Arial"/>
                </a:rPr>
                <a:t>4</a:t>
              </a:r>
            </a:p>
          </p:txBody>
        </p:sp>
        <p:sp>
          <p:nvSpPr>
            <p:cNvPr id="24" name="Text: Implementation roadmap"/>
            <p:cNvSpPr txBox="1"/>
            <p:nvPr/>
          </p:nvSpPr>
          <p:spPr>
            <a:xfrm>
              <a:off x="5105400" y="2755007"/>
              <a:ext cx="2012221" cy="196850"/>
            </a:xfrm>
            <a:prstGeom prst="rect">
              <a:avLst/>
            </a:prstGeom>
            <a:noFill/>
          </p:spPr>
          <p:txBody>
            <a:bodyPr wrap="square" lIns="0" tIns="0" rIns="0" bIns="0" anchor="t">
              <a:noAutofit/>
            </a:bodyPr>
            <a:lstStyle/>
            <a:p>
              <a:pPr algn="l">
                <a:lnSpc>
                  <a:spcPts val="1495"/>
                </a:lnSpc>
                <a:spcBef>
                  <a:spcPts val="0"/>
                </a:spcBef>
                <a:spcAft>
                  <a:spcPts val="0"/>
                </a:spcAft>
              </a:pPr>
              <a:r>
                <a:rPr sz="1300" b="1" i="0">
                  <a:solidFill>
                    <a:srgbClr val="154734"/>
                  </a:solidFill>
                  <a:latin typeface="Arial"/>
                </a:rPr>
                <a:t>Implementation roadmap</a:t>
              </a:r>
            </a:p>
          </p:txBody>
        </p:sp>
        <p:sp>
          <p:nvSpPr>
            <p:cNvPr id="25" name="Text: • Phase 1: PyTorch toolkits for benchtop"/>
            <p:cNvSpPr txBox="1"/>
            <p:nvPr/>
          </p:nvSpPr>
          <p:spPr>
            <a:xfrm>
              <a:off x="4762500" y="3050282"/>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Phase 1: PyTorch toolkits for benchtop sensors</a:t>
              </a:r>
            </a:p>
          </p:txBody>
        </p:sp>
        <p:sp>
          <p:nvSpPr>
            <p:cNvPr id="26" name="Text: • Phase 2: TensorFlow Lite on Cortex-M7 "/>
            <p:cNvSpPr txBox="1"/>
            <p:nvPr/>
          </p:nvSpPr>
          <p:spPr>
            <a:xfrm>
              <a:off x="4762500" y="3303588"/>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Phase 2: TensorFlow Lite on Cortex-M7 / RISC-V</a:t>
              </a:r>
            </a:p>
          </p:txBody>
        </p:sp>
        <p:sp>
          <p:nvSpPr>
            <p:cNvPr id="27" name="Text: • Phase 3: FDA-aligned validation, drift"/>
            <p:cNvSpPr txBox="1"/>
            <p:nvPr/>
          </p:nvSpPr>
          <p:spPr>
            <a:xfrm>
              <a:off x="4762500" y="3556893"/>
              <a:ext cx="3723005"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 Phase 3: FDA-aligned validation, drift monitoring</a:t>
              </a:r>
            </a:p>
          </p:txBody>
        </p:sp>
        <p:sp>
          <p:nvSpPr>
            <p:cNvPr id="28" name="Panel"/>
            <p:cNvSpPr/>
            <p:nvPr/>
          </p:nvSpPr>
          <p:spPr>
            <a:xfrm>
              <a:off x="609600" y="4380309"/>
              <a:ext cx="7924800" cy="1187847"/>
            </a:xfrm>
            <a:prstGeom prst="roundRect">
              <a:avLst>
                <a:gd name="adj" fmla="val 5345"/>
              </a:avLst>
            </a:prstGeom>
            <a:solidFill>
              <a:srgbClr val="E7F0EB"/>
            </a:solidFill>
            <a:ln>
              <a:noFill/>
            </a:ln>
          </p:spPr>
          <p:txBody>
            <a:bodyPr rtlCol="0" anchor="ctr"/>
            <a:lstStyle/>
            <a:p>
              <a:pPr algn="ctr"/>
              <a:endParaRPr/>
            </a:p>
          </p:txBody>
        </p:sp>
        <p:sp>
          <p:nvSpPr>
            <p:cNvPr id="29" name="Text: Evaluation &amp; validation criteria the aut"/>
            <p:cNvSpPr txBox="1"/>
            <p:nvPr/>
          </p:nvSpPr>
          <p:spPr>
            <a:xfrm>
              <a:off x="723900" y="4481909"/>
              <a:ext cx="7888605"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Evaluation &amp; validation criteria the authors propose </a:t>
              </a:r>
              <a:r>
                <a:rPr sz="1100" b="1" i="0">
                  <a:solidFill>
                    <a:srgbClr val="B3261E"/>
                  </a:solidFill>
                  <a:latin typeface="Arial"/>
                </a:rPr>
                <a:t>(not tested in the review)</a:t>
              </a:r>
            </a:p>
          </p:txBody>
        </p:sp>
        <p:sp>
          <p:nvSpPr>
            <p:cNvPr id="30" name="Panel"/>
            <p:cNvSpPr/>
            <p:nvPr/>
          </p:nvSpPr>
          <p:spPr>
            <a:xfrm>
              <a:off x="723900" y="4723209"/>
              <a:ext cx="2514600" cy="743347"/>
            </a:xfrm>
            <a:prstGeom prst="roundRect">
              <a:avLst>
                <a:gd name="adj" fmla="val 8542"/>
              </a:avLst>
            </a:prstGeom>
            <a:solidFill>
              <a:srgbClr val="FFFFFF"/>
            </a:solidFill>
            <a:ln>
              <a:noFill/>
            </a:ln>
          </p:spPr>
          <p:txBody>
            <a:bodyPr rtlCol="0" anchor="ctr"/>
            <a:lstStyle/>
            <a:p>
              <a:pPr algn="ctr"/>
              <a:endParaRPr/>
            </a:p>
          </p:txBody>
        </p:sp>
        <p:sp>
          <p:nvSpPr>
            <p:cNvPr id="31" name="Text: Reliability: &lt;5% CV over 1,000 test cycl"/>
            <p:cNvSpPr txBox="1"/>
            <p:nvPr/>
          </p:nvSpPr>
          <p:spPr>
            <a:xfrm>
              <a:off x="825500" y="4812109"/>
              <a:ext cx="2369185"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Reliability:</a:t>
              </a:r>
              <a:r>
                <a:rPr sz="1100" b="0" i="0">
                  <a:solidFill>
                    <a:srgbClr val="333333"/>
                  </a:solidFill>
                  <a:latin typeface="Arial"/>
                </a:rPr>
                <a:t> &lt;5% CV over 1,000 test cycles</a:t>
              </a:r>
            </a:p>
          </p:txBody>
        </p:sp>
        <p:sp>
          <p:nvSpPr>
            <p:cNvPr id="32" name="Panel"/>
            <p:cNvSpPr/>
            <p:nvPr/>
          </p:nvSpPr>
          <p:spPr>
            <a:xfrm>
              <a:off x="3314700" y="4723209"/>
              <a:ext cx="2514600" cy="743347"/>
            </a:xfrm>
            <a:prstGeom prst="roundRect">
              <a:avLst>
                <a:gd name="adj" fmla="val 8542"/>
              </a:avLst>
            </a:prstGeom>
            <a:solidFill>
              <a:srgbClr val="FFFFFF"/>
            </a:solidFill>
            <a:ln>
              <a:noFill/>
            </a:ln>
          </p:spPr>
          <p:txBody>
            <a:bodyPr rtlCol="0" anchor="ctr"/>
            <a:lstStyle/>
            <a:p>
              <a:pPr algn="ctr"/>
              <a:endParaRPr/>
            </a:p>
          </p:txBody>
        </p:sp>
        <p:sp>
          <p:nvSpPr>
            <p:cNvPr id="33" name="Text: Critical biomarkers: ≥80% specificity at"/>
            <p:cNvSpPr txBox="1"/>
            <p:nvPr/>
          </p:nvSpPr>
          <p:spPr>
            <a:xfrm>
              <a:off x="3416300" y="4812109"/>
              <a:ext cx="2369185"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Critical biomarkers:</a:t>
              </a:r>
              <a:r>
                <a:rPr sz="1100" b="0" i="0">
                  <a:solidFill>
                    <a:srgbClr val="333333"/>
                  </a:solidFill>
                  <a:latin typeface="Arial"/>
                </a:rPr>
                <a:t> ≥80% specificity at 99% sensitivity</a:t>
              </a:r>
            </a:p>
          </p:txBody>
        </p:sp>
        <p:sp>
          <p:nvSpPr>
            <p:cNvPr id="34" name="Panel"/>
            <p:cNvSpPr/>
            <p:nvPr/>
          </p:nvSpPr>
          <p:spPr>
            <a:xfrm>
              <a:off x="5905500" y="4723209"/>
              <a:ext cx="2514600" cy="743347"/>
            </a:xfrm>
            <a:prstGeom prst="roundRect">
              <a:avLst>
                <a:gd name="adj" fmla="val 8542"/>
              </a:avLst>
            </a:prstGeom>
            <a:solidFill>
              <a:srgbClr val="FFFFFF"/>
            </a:solidFill>
            <a:ln>
              <a:noFill/>
            </a:ln>
          </p:spPr>
          <p:txBody>
            <a:bodyPr rtlCol="0" anchor="ctr"/>
            <a:lstStyle/>
            <a:p>
              <a:pPr algn="ctr"/>
              <a:endParaRPr/>
            </a:p>
          </p:txBody>
        </p:sp>
        <p:sp>
          <p:nvSpPr>
            <p:cNvPr id="35" name="Text: Deployment: diverse-cohort pre-market te"/>
            <p:cNvSpPr txBox="1"/>
            <p:nvPr/>
          </p:nvSpPr>
          <p:spPr>
            <a:xfrm>
              <a:off x="6007100" y="4812109"/>
              <a:ext cx="2369185"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Deployment:</a:t>
              </a:r>
              <a:r>
                <a:rPr sz="1100" b="0" i="0">
                  <a:solidFill>
                    <a:srgbClr val="333333"/>
                  </a:solidFill>
                  <a:latin typeface="Arial"/>
                </a:rPr>
                <a:t> diverse-cohort pre-market tests, post-market monitoring, annual bias audits</a:t>
              </a:r>
            </a:p>
          </p:txBody>
        </p:sp>
      </p:grpSp>
      <p:sp>
        <p:nvSpPr>
          <p:cNvPr id="37"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16</a:t>
            </a:fld>
            <a:endParaRPr lang="en-US" dirty="0">
              <a:solidFill>
                <a:srgbClr val="FFFFFF"/>
              </a:solidFill>
              <a:latin typeface="Arial" panose="020B0604020202020204"/>
            </a:endParaRPr>
          </a:p>
        </p:txBody>
      </p:sp>
      <p:sp>
        <p:nvSpPr>
          <p:cNvPr id="36"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From signal to clinical use: what the review catalogs</a:t>
            </a:r>
          </a:p>
        </p:txBody>
      </p:sp>
      <p:sp>
        <p:nvSpPr>
          <p:cNvPr id="3" name="Text: RESULTS · APPLICATIONS IN DIGITAL HEALTH"/>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RESULTS · APPLICATIONS IN DIGITAL HEALTHCARE (§4)</a:t>
            </a:r>
          </a:p>
        </p:txBody>
      </p:sp>
      <p:graphicFrame>
        <p:nvGraphicFramePr>
          <p:cNvPr id="4" name="Table"/>
          <p:cNvGraphicFramePr>
            <a:graphicFrameLocks noGrp="1"/>
          </p:cNvGraphicFramePr>
          <p:nvPr>
            <p:extLst>
              <p:ext uri="{D42A27DB-BD31-4B8C-83A1-F6EECF244321}">
                <p14:modId xmlns:p14="http://schemas.microsoft.com/office/powerpoint/2010/main" val="3910895487"/>
              </p:ext>
            </p:extLst>
          </p:nvPr>
        </p:nvGraphicFramePr>
        <p:xfrm>
          <a:off x="609600" y="1250339"/>
          <a:ext cx="7924800" cy="3362324"/>
        </p:xfrm>
        <a:graphic>
          <a:graphicData uri="http://schemas.openxmlformats.org/drawingml/2006/table">
            <a:tbl>
              <a:tblPr>
                <a:tableStyleId>{2D5ABB26-0587-4C30-8999-92F81FD0307C}</a:tableStyleId>
              </a:tblPr>
              <a:tblGrid>
                <a:gridCol w="1981200">
                  <a:extLst>
                    <a:ext uri="{9D8B030D-6E8A-4147-A177-3AD203B41FA5}">
                      <a16:colId xmlns:a16="http://schemas.microsoft.com/office/drawing/2014/main" val="20000"/>
                    </a:ext>
                  </a:extLst>
                </a:gridCol>
                <a:gridCol w="2218920">
                  <a:extLst>
                    <a:ext uri="{9D8B030D-6E8A-4147-A177-3AD203B41FA5}">
                      <a16:colId xmlns:a16="http://schemas.microsoft.com/office/drawing/2014/main" val="20001"/>
                    </a:ext>
                  </a:extLst>
                </a:gridCol>
                <a:gridCol w="2615120">
                  <a:extLst>
                    <a:ext uri="{9D8B030D-6E8A-4147-A177-3AD203B41FA5}">
                      <a16:colId xmlns:a16="http://schemas.microsoft.com/office/drawing/2014/main" val="20002"/>
                    </a:ext>
                  </a:extLst>
                </a:gridCol>
                <a:gridCol w="1109560">
                  <a:extLst>
                    <a:ext uri="{9D8B030D-6E8A-4147-A177-3AD203B41FA5}">
                      <a16:colId xmlns:a16="http://schemas.microsoft.com/office/drawing/2014/main" val="20003"/>
                    </a:ext>
                  </a:extLst>
                </a:gridCol>
              </a:tblGrid>
              <a:tr h="291703">
                <a:tc>
                  <a:txBody>
                    <a:bodyPr/>
                    <a:lstStyle/>
                    <a:p>
                      <a:pPr algn="l">
                        <a:lnSpc>
                          <a:spcPts val="1322"/>
                        </a:lnSpc>
                        <a:spcBef>
                          <a:spcPts val="0"/>
                        </a:spcBef>
                        <a:spcAft>
                          <a:spcPts val="0"/>
                        </a:spcAft>
                      </a:pPr>
                      <a:r>
                        <a:rPr sz="1150" b="1" i="0">
                          <a:solidFill>
                            <a:srgbClr val="FFFFFF"/>
                          </a:solidFill>
                          <a:latin typeface="Arial"/>
                        </a:rPr>
                        <a:t>Signal (sensor)</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22"/>
                        </a:lnSpc>
                        <a:spcBef>
                          <a:spcPts val="0"/>
                        </a:spcBef>
                        <a:spcAft>
                          <a:spcPts val="0"/>
                        </a:spcAft>
                      </a:pPr>
                      <a:r>
                        <a:rPr sz="1150" b="1" i="0">
                          <a:solidFill>
                            <a:srgbClr val="FFFFFF"/>
                          </a:solidFill>
                          <a:latin typeface="Arial"/>
                        </a:rPr>
                        <a:t>AI task</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22"/>
                        </a:lnSpc>
                        <a:spcBef>
                          <a:spcPts val="0"/>
                        </a:spcBef>
                        <a:spcAft>
                          <a:spcPts val="0"/>
                        </a:spcAft>
                      </a:pPr>
                      <a:r>
                        <a:rPr sz="1150" b="1" i="0">
                          <a:solidFill>
                            <a:srgbClr val="FFFFFF"/>
                          </a:solidFill>
                          <a:latin typeface="Arial"/>
                        </a:rPr>
                        <a:t>Clinical use</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22"/>
                        </a:lnSpc>
                        <a:spcBef>
                          <a:spcPts val="0"/>
                        </a:spcBef>
                        <a:spcAft>
                          <a:spcPts val="0"/>
                        </a:spcAft>
                      </a:pPr>
                      <a:r>
                        <a:rPr sz="1150" b="1" i="0">
                          <a:solidFill>
                            <a:srgbClr val="FFFFFF"/>
                          </a:solidFill>
                          <a:latin typeface="Arial"/>
                        </a:rPr>
                        <a:t>Review §</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extLst>
                  <a:ext uri="{0D108BD9-81ED-4DB2-BD59-A6C34878D82A}">
                    <a16:rowId xmlns:a16="http://schemas.microsoft.com/office/drawing/2014/main" val="10000"/>
                  </a:ext>
                </a:extLst>
              </a:tr>
              <a:tr h="463153">
                <a:tc>
                  <a:txBody>
                    <a:bodyPr/>
                    <a:lstStyle/>
                    <a:p>
                      <a:pPr algn="l">
                        <a:lnSpc>
                          <a:spcPts val="1322"/>
                        </a:lnSpc>
                        <a:spcBef>
                          <a:spcPts val="0"/>
                        </a:spcBef>
                        <a:spcAft>
                          <a:spcPts val="0"/>
                        </a:spcAft>
                      </a:pPr>
                      <a:r>
                        <a:rPr sz="1150" b="1" i="0">
                          <a:solidFill>
                            <a:srgbClr val="333333"/>
                          </a:solidFill>
                          <a:latin typeface="Arial"/>
                        </a:rPr>
                        <a:t>ECG / PPG (watch, patch)</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1D-CNN rhythm classification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AF and arrhythmia alerts; stroke prevention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§4.1.2, §4.2.1</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1"/>
                  </a:ext>
                </a:extLst>
              </a:tr>
              <a:tr h="463153">
                <a:tc>
                  <a:txBody>
                    <a:bodyPr/>
                    <a:lstStyle/>
                    <a:p>
                      <a:pPr algn="l">
                        <a:lnSpc>
                          <a:spcPts val="1322"/>
                        </a:lnSpc>
                        <a:spcBef>
                          <a:spcPts val="0"/>
                        </a:spcBef>
                        <a:spcAft>
                          <a:spcPts val="0"/>
                        </a:spcAft>
                      </a:pPr>
                      <a:r>
                        <a:rPr sz="1150" b="1" i="0">
                          <a:solidFill>
                            <a:srgbClr val="333333"/>
                          </a:solidFill>
                          <a:latin typeface="Arial"/>
                        </a:rPr>
                        <a:t>Interstitial glucose (CGM)</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RNN / LSTM forecasting; VAE anomaly detection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early warning of hypo- and hyperglycemia</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§3.1, §4.1.2</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2"/>
                  </a:ext>
                </a:extLst>
              </a:tr>
              <a:tr h="463153">
                <a:tc>
                  <a:txBody>
                    <a:bodyPr/>
                    <a:lstStyle/>
                    <a:p>
                      <a:pPr algn="l">
                        <a:lnSpc>
                          <a:spcPts val="1322"/>
                        </a:lnSpc>
                        <a:spcBef>
                          <a:spcPts val="0"/>
                        </a:spcBef>
                        <a:spcAft>
                          <a:spcPts val="0"/>
                        </a:spcAft>
                      </a:pPr>
                      <a:r>
                        <a:rPr sz="1150" b="1" i="0">
                          <a:solidFill>
                            <a:srgbClr val="333333"/>
                          </a:solidFill>
                          <a:latin typeface="Arial"/>
                        </a:rPr>
                        <a:t>Accelerometer / gyroscope</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random forest; gait and tremor features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falls in older adults; Parkinson's gait and tremor</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§3.1, §4.2.1</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3"/>
                  </a:ext>
                </a:extLst>
              </a:tr>
              <a:tr h="463153">
                <a:tc>
                  <a:txBody>
                    <a:bodyPr/>
                    <a:lstStyle/>
                    <a:p>
                      <a:pPr algn="l">
                        <a:lnSpc>
                          <a:spcPts val="1322"/>
                        </a:lnSpc>
                        <a:spcBef>
                          <a:spcPts val="0"/>
                        </a:spcBef>
                        <a:spcAft>
                          <a:spcPts val="0"/>
                        </a:spcAft>
                      </a:pPr>
                      <a:r>
                        <a:rPr sz="1150" b="1" i="0">
                          <a:solidFill>
                            <a:srgbClr val="333333"/>
                          </a:solidFill>
                          <a:latin typeface="Arial"/>
                        </a:rPr>
                        <a:t>HRV, skin conductance, sleep</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stress and sleep-stage classification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stress, insomnia, apnea screening; CBT prompts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§4.1.3</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4"/>
                  </a:ext>
                </a:extLst>
              </a:tr>
              <a:tr h="463153">
                <a:tc>
                  <a:txBody>
                    <a:bodyPr/>
                    <a:lstStyle/>
                    <a:p>
                      <a:pPr algn="l">
                        <a:lnSpc>
                          <a:spcPts val="1322"/>
                        </a:lnSpc>
                        <a:spcBef>
                          <a:spcPts val="0"/>
                        </a:spcBef>
                        <a:spcAft>
                          <a:spcPts val="0"/>
                        </a:spcAft>
                      </a:pPr>
                      <a:r>
                        <a:rPr sz="1150" b="1" i="0">
                          <a:solidFill>
                            <a:srgbClr val="333333"/>
                          </a:solidFill>
                          <a:latin typeface="Arial"/>
                        </a:rPr>
                        <a:t>Respiration, SpO₂, temperature</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trend and anomaly detection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COPD, sleep apnea, infection, post-operative risk</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§4.1.2, §4.2.2</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5"/>
                  </a:ext>
                </a:extLst>
              </a:tr>
              <a:tr h="463153">
                <a:tc>
                  <a:txBody>
                    <a:bodyPr/>
                    <a:lstStyle/>
                    <a:p>
                      <a:pPr algn="l">
                        <a:lnSpc>
                          <a:spcPts val="1322"/>
                        </a:lnSpc>
                        <a:spcBef>
                          <a:spcPts val="0"/>
                        </a:spcBef>
                        <a:spcAft>
                          <a:spcPts val="0"/>
                        </a:spcAft>
                      </a:pPr>
                      <a:r>
                        <a:rPr sz="1150" b="1" i="0">
                          <a:solidFill>
                            <a:srgbClr val="333333"/>
                          </a:solidFill>
                          <a:latin typeface="Arial"/>
                        </a:rPr>
                        <a:t>Sweat CRP (Fig. 9)</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on-patch immunoassay + analytics</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inflammation in heart failure, COPD, infection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22"/>
                        </a:lnSpc>
                        <a:spcBef>
                          <a:spcPts val="0"/>
                        </a:spcBef>
                        <a:spcAft>
                          <a:spcPts val="0"/>
                        </a:spcAft>
                      </a:pPr>
                      <a:r>
                        <a:rPr sz="1150" b="0" i="0">
                          <a:solidFill>
                            <a:srgbClr val="333333"/>
                          </a:solidFill>
                          <a:latin typeface="Arial"/>
                        </a:rPr>
                        <a:t>§4.1</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6"/>
                  </a:ext>
                </a:extLst>
              </a:tr>
              <a:tr h="291703">
                <a:tc>
                  <a:txBody>
                    <a:bodyPr/>
                    <a:lstStyle/>
                    <a:p>
                      <a:pPr algn="l">
                        <a:lnSpc>
                          <a:spcPts val="1322"/>
                        </a:lnSpc>
                        <a:spcBef>
                          <a:spcPts val="0"/>
                        </a:spcBef>
                        <a:spcAft>
                          <a:spcPts val="0"/>
                        </a:spcAft>
                      </a:pPr>
                      <a:r>
                        <a:rPr sz="1150" b="1" i="0">
                          <a:solidFill>
                            <a:srgbClr val="333333"/>
                          </a:solidFill>
                          <a:latin typeface="Arial"/>
                        </a:rPr>
                        <a:t>Wound exudate (Fig. 10)</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ML wound classification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chronic-wound healing prediction</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22"/>
                        </a:lnSpc>
                        <a:spcBef>
                          <a:spcPts val="0"/>
                        </a:spcBef>
                        <a:spcAft>
                          <a:spcPts val="0"/>
                        </a:spcAft>
                      </a:pPr>
                      <a:r>
                        <a:rPr sz="1150" b="0" i="0">
                          <a:solidFill>
                            <a:srgbClr val="333333"/>
                          </a:solidFill>
                          <a:latin typeface="Arial"/>
                        </a:rPr>
                        <a:t>§4.2</a:t>
                      </a:r>
                    </a:p>
                  </a:txBody>
                  <a:tcPr marL="65008" marR="5200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5" name="Panel"/>
          <p:cNvSpPr/>
          <p:nvPr/>
        </p:nvSpPr>
        <p:spPr>
          <a:xfrm>
            <a:off x="609600" y="4746014"/>
            <a:ext cx="5029200" cy="1008062"/>
          </a:xfrm>
          <a:prstGeom prst="roundRect">
            <a:avLst>
              <a:gd name="adj" fmla="val 6299"/>
            </a:avLst>
          </a:prstGeom>
          <a:solidFill>
            <a:srgbClr val="E7F0EB"/>
          </a:solidFill>
          <a:ln>
            <a:noFill/>
          </a:ln>
        </p:spPr>
        <p:txBody>
          <a:bodyPr rtlCol="0" anchor="ctr"/>
          <a:lstStyle/>
          <a:p>
            <a:pPr algn="ctr"/>
            <a:endParaRPr/>
          </a:p>
        </p:txBody>
      </p:sp>
      <p:sp>
        <p:nvSpPr>
          <p:cNvPr id="6" name="Text: Into the record (§4.2.3): FHIR standards"/>
          <p:cNvSpPr txBox="1"/>
          <p:nvPr/>
        </p:nvSpPr>
        <p:spPr>
          <a:xfrm>
            <a:off x="749300" y="4873014"/>
            <a:ext cx="4868545"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Into the record (§4.2.3):</a:t>
            </a:r>
            <a:r>
              <a:rPr sz="1100" b="0" i="0">
                <a:solidFill>
                  <a:srgbClr val="333333"/>
                </a:solidFill>
                <a:latin typeface="Arial"/>
              </a:rPr>
              <a:t> FHIR standards, Apple HealthKit and Google Fit feed EHRs; Fitbit–Epic and Withings–Cerner partnerships; CGM data populating diabetes records in pilots.</a:t>
            </a:r>
          </a:p>
        </p:txBody>
      </p:sp>
      <p:sp>
        <p:nvSpPr>
          <p:cNvPr id="7" name="Panel"/>
          <p:cNvSpPr/>
          <p:nvPr/>
        </p:nvSpPr>
        <p:spPr>
          <a:xfrm>
            <a:off x="5740400" y="4746014"/>
            <a:ext cx="2794000" cy="1008062"/>
          </a:xfrm>
          <a:prstGeom prst="roundRect">
            <a:avLst>
              <a:gd name="adj" fmla="val 6299"/>
            </a:avLst>
          </a:prstGeom>
          <a:solidFill>
            <a:srgbClr val="FBEAE8"/>
          </a:solidFill>
          <a:ln>
            <a:noFill/>
          </a:ln>
        </p:spPr>
        <p:txBody>
          <a:bodyPr rtlCol="0" anchor="ctr"/>
          <a:lstStyle/>
          <a:p>
            <a:pPr algn="ctr"/>
            <a:endParaRPr/>
          </a:p>
        </p:txBody>
      </p:sp>
      <p:sp>
        <p:nvSpPr>
          <p:cNvPr id="8" name="Text: What is missing: no pooled outcome data "/>
          <p:cNvSpPr txBox="1"/>
          <p:nvPr/>
        </p:nvSpPr>
        <p:spPr>
          <a:xfrm>
            <a:off x="5880100" y="4873014"/>
            <a:ext cx="2577465" cy="754062"/>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What is missing:</a:t>
            </a:r>
            <a:r>
              <a:rPr sz="1100" b="0" i="0">
                <a:solidFill>
                  <a:srgbClr val="333333"/>
                </a:solidFill>
                <a:latin typeface="Arial"/>
              </a:rPr>
              <a:t> no pooled outcome data (readmissions, mortality, cost) for any of these uses; claims are qualitative.</a:t>
            </a:r>
          </a:p>
        </p:txBody>
      </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17</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Two exemplars: sweat CRP patch, smart bandage</a:t>
            </a:r>
          </a:p>
        </p:txBody>
      </p:sp>
      <p:sp>
        <p:nvSpPr>
          <p:cNvPr id="3" name="Text: RESULTS · APPLICATION EXEMPLARS · FIGS. "/>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RESULTS · APPLICATION EXEMPLARS · FIGS. 9, 10</a:t>
            </a:r>
          </a:p>
        </p:txBody>
      </p:sp>
      <p:grpSp>
        <p:nvGrpSpPr>
          <p:cNvPr id="14" name="Group 13">
            <a:extLst>
              <a:ext uri="{FF2B5EF4-FFF2-40B4-BE49-F238E27FC236}">
                <a16:creationId xmlns:a16="http://schemas.microsoft.com/office/drawing/2014/main" id="{91B0A986-60D4-AF24-2B8B-9879F39D7DBF}"/>
              </a:ext>
            </a:extLst>
          </p:cNvPr>
          <p:cNvGrpSpPr/>
          <p:nvPr/>
        </p:nvGrpSpPr>
        <p:grpSpPr>
          <a:xfrm>
            <a:off x="561657" y="1144587"/>
            <a:ext cx="8020685" cy="4568825"/>
            <a:chOff x="609600" y="1046460"/>
            <a:chExt cx="8020685" cy="4568825"/>
          </a:xfrm>
        </p:grpSpPr>
        <p:sp>
          <p:nvSpPr>
            <p:cNvPr id="4" name="Panel"/>
            <p:cNvSpPr/>
            <p:nvPr/>
          </p:nvSpPr>
          <p:spPr>
            <a:xfrm>
              <a:off x="609600" y="1046460"/>
              <a:ext cx="3835400" cy="2311400"/>
            </a:xfrm>
            <a:prstGeom prst="roundRect">
              <a:avLst>
                <a:gd name="adj" fmla="val 1648"/>
              </a:avLst>
            </a:prstGeom>
            <a:solidFill>
              <a:srgbClr val="FFFFFF"/>
            </a:solidFill>
            <a:ln w="6350" cap="flat">
              <a:solidFill>
                <a:srgbClr val="D8DDDA"/>
              </a:solidFill>
            </a:ln>
          </p:spPr>
          <p:txBody>
            <a:bodyPr rtlCol="0" anchor="ctr"/>
            <a:lstStyle/>
            <a:p>
              <a:pPr algn="ctr"/>
              <a:endParaRPr/>
            </a:p>
          </p:txBody>
        </p:sp>
        <p:pic>
          <p:nvPicPr>
            <p:cNvPr id="5" name="Image (fig9)" descr="Figure 9: wireless sweat patch for C-reactive protein: inflammation raises liver CRP that reaches sweat; layered patch with carbachol gel, microfluidics and graphene sensor array; five-step on-chip immunoassay read by square-wave voltammetry"/>
            <p:cNvPicPr>
              <a:picLocks noChangeAspect="1"/>
            </p:cNvPicPr>
            <p:nvPr/>
          </p:nvPicPr>
          <p:blipFill>
            <a:blip r:embed="rId3"/>
            <a:stretch>
              <a:fillRect/>
            </a:stretch>
          </p:blipFill>
          <p:spPr>
            <a:xfrm>
              <a:off x="617023" y="1052810"/>
              <a:ext cx="3820554" cy="2298700"/>
            </a:xfrm>
            <a:prstGeom prst="rect">
              <a:avLst/>
            </a:prstGeom>
          </p:spPr>
        </p:pic>
        <p:sp>
          <p:nvSpPr>
            <p:cNvPr id="6" name="Text: Fig. 9 · Inflammation read from sweat"/>
            <p:cNvSpPr txBox="1"/>
            <p:nvPr/>
          </p:nvSpPr>
          <p:spPr>
            <a:xfrm>
              <a:off x="609600" y="3421360"/>
              <a:ext cx="3931285" cy="196850"/>
            </a:xfrm>
            <a:prstGeom prst="rect">
              <a:avLst/>
            </a:prstGeom>
            <a:noFill/>
          </p:spPr>
          <p:txBody>
            <a:bodyPr wrap="square" lIns="0" tIns="0" rIns="0" bIns="0" anchor="t">
              <a:noAutofit/>
            </a:bodyPr>
            <a:lstStyle/>
            <a:p>
              <a:pPr algn="l">
                <a:lnSpc>
                  <a:spcPts val="1495"/>
                </a:lnSpc>
                <a:spcBef>
                  <a:spcPts val="0"/>
                </a:spcBef>
                <a:spcAft>
                  <a:spcPts val="0"/>
                </a:spcAft>
              </a:pPr>
              <a:r>
                <a:rPr sz="1300" b="1" i="0">
                  <a:solidFill>
                    <a:srgbClr val="154734"/>
                  </a:solidFill>
                  <a:latin typeface="Arial"/>
                </a:rPr>
                <a:t>Fig. 9 · Inflammation read from sweat</a:t>
              </a:r>
            </a:p>
          </p:txBody>
        </p:sp>
        <p:sp>
          <p:nvSpPr>
            <p:cNvPr id="7" name="Text: Tu et al., Nat. Biomed. Eng. 2023. Liver"/>
            <p:cNvSpPr txBox="1"/>
            <p:nvPr/>
          </p:nvSpPr>
          <p:spPr>
            <a:xfrm>
              <a:off x="609600" y="3681710"/>
              <a:ext cx="3931285" cy="1226344"/>
            </a:xfrm>
            <a:prstGeom prst="rect">
              <a:avLst/>
            </a:prstGeom>
            <a:noFill/>
          </p:spPr>
          <p:txBody>
            <a:bodyPr wrap="square" lIns="0" tIns="0" rIns="0" bIns="0" anchor="t">
              <a:noAutofit/>
            </a:bodyPr>
            <a:lstStyle/>
            <a:p>
              <a:pPr algn="l">
                <a:lnSpc>
                  <a:spcPts val="1610"/>
                </a:lnSpc>
                <a:spcBef>
                  <a:spcPts val="0"/>
                </a:spcBef>
                <a:spcAft>
                  <a:spcPts val="0"/>
                </a:spcAft>
              </a:pPr>
              <a:r>
                <a:rPr sz="1150" b="0" i="0">
                  <a:solidFill>
                    <a:srgbClr val="333333"/>
                  </a:solidFill>
                  <a:latin typeface="Arial"/>
                </a:rPr>
                <a:t>Tu et al., Nat. Biomed. Eng. 2023. Liver CRP reaches sweat; the patch induces sweat iontophoretically (carbachol gel), runs a 5-step microfluidic immunoassay (reconstitute, mix, incubate, refresh, detect) on laser-engraved graphene, and reads a thionine redox label by square-wave voltammetry.</a:t>
              </a:r>
            </a:p>
          </p:txBody>
        </p:sp>
        <p:sp>
          <p:nvSpPr>
            <p:cNvPr id="8" name="Panel"/>
            <p:cNvSpPr/>
            <p:nvPr/>
          </p:nvSpPr>
          <p:spPr>
            <a:xfrm>
              <a:off x="4699000" y="1046460"/>
              <a:ext cx="3835400" cy="2311400"/>
            </a:xfrm>
            <a:prstGeom prst="roundRect">
              <a:avLst>
                <a:gd name="adj" fmla="val 1648"/>
              </a:avLst>
            </a:prstGeom>
            <a:solidFill>
              <a:srgbClr val="FFFFFF"/>
            </a:solidFill>
            <a:ln w="6350" cap="flat">
              <a:solidFill>
                <a:srgbClr val="D8DDDA"/>
              </a:solidFill>
            </a:ln>
          </p:spPr>
          <p:txBody>
            <a:bodyPr rtlCol="0" anchor="ctr"/>
            <a:lstStyle/>
            <a:p>
              <a:pPr algn="ctr"/>
              <a:endParaRPr/>
            </a:p>
          </p:txBody>
        </p:sp>
        <p:pic>
          <p:nvPicPr>
            <p:cNvPr id="9" name="Image (fig10)" descr="Figure 10: wireless smart bandage: Janus membrane, wedged channels and graded micropillars pump wound exudate to a sensor array for hydrogen peroxide, oxygen, nitric oxide, pH and temperature; machine learning classifies the wound"/>
            <p:cNvPicPr>
              <a:picLocks noChangeAspect="1"/>
            </p:cNvPicPr>
            <p:nvPr/>
          </p:nvPicPr>
          <p:blipFill>
            <a:blip r:embed="rId4"/>
            <a:stretch>
              <a:fillRect/>
            </a:stretch>
          </p:blipFill>
          <p:spPr>
            <a:xfrm>
              <a:off x="4752889" y="1052810"/>
              <a:ext cx="3727622" cy="2298700"/>
            </a:xfrm>
            <a:prstGeom prst="rect">
              <a:avLst/>
            </a:prstGeom>
          </p:spPr>
        </p:pic>
        <p:sp>
          <p:nvSpPr>
            <p:cNvPr id="10" name="Text: Fig. 10 · Wound-exudate analytics"/>
            <p:cNvSpPr txBox="1"/>
            <p:nvPr/>
          </p:nvSpPr>
          <p:spPr>
            <a:xfrm>
              <a:off x="4699000" y="3421360"/>
              <a:ext cx="3931285" cy="196850"/>
            </a:xfrm>
            <a:prstGeom prst="rect">
              <a:avLst/>
            </a:prstGeom>
            <a:noFill/>
          </p:spPr>
          <p:txBody>
            <a:bodyPr wrap="square" lIns="0" tIns="0" rIns="0" bIns="0" anchor="t">
              <a:noAutofit/>
            </a:bodyPr>
            <a:lstStyle/>
            <a:p>
              <a:pPr algn="l">
                <a:lnSpc>
                  <a:spcPts val="1495"/>
                </a:lnSpc>
                <a:spcBef>
                  <a:spcPts val="0"/>
                </a:spcBef>
                <a:spcAft>
                  <a:spcPts val="0"/>
                </a:spcAft>
              </a:pPr>
              <a:r>
                <a:rPr sz="1300" b="1" i="0">
                  <a:solidFill>
                    <a:srgbClr val="154734"/>
                  </a:solidFill>
                  <a:latin typeface="Arial"/>
                </a:rPr>
                <a:t>Fig. 10 · Wound-exudate analytics</a:t>
              </a:r>
            </a:p>
          </p:txBody>
        </p:sp>
        <p:sp>
          <p:nvSpPr>
            <p:cNvPr id="11" name="Text: Wang et al., Sci. Transl. Med. 2025. A J"/>
            <p:cNvSpPr txBox="1"/>
            <p:nvPr/>
          </p:nvSpPr>
          <p:spPr>
            <a:xfrm>
              <a:off x="4699000" y="3681710"/>
              <a:ext cx="3931285" cy="1021953"/>
            </a:xfrm>
            <a:prstGeom prst="rect">
              <a:avLst/>
            </a:prstGeom>
            <a:noFill/>
          </p:spPr>
          <p:txBody>
            <a:bodyPr wrap="square" lIns="0" tIns="0" rIns="0" bIns="0" anchor="t">
              <a:noAutofit/>
            </a:bodyPr>
            <a:lstStyle/>
            <a:p>
              <a:pPr algn="l">
                <a:lnSpc>
                  <a:spcPts val="1610"/>
                </a:lnSpc>
                <a:spcBef>
                  <a:spcPts val="0"/>
                </a:spcBef>
                <a:spcAft>
                  <a:spcPts val="0"/>
                </a:spcAft>
              </a:pPr>
              <a:r>
                <a:rPr sz="1150" b="0" i="0">
                  <a:solidFill>
                    <a:srgbClr val="333333"/>
                  </a:solidFill>
                  <a:latin typeface="Arial"/>
                </a:rPr>
                <a:t>Wang et al., Sci. Transl. Med. 2025. A Janus membrane, wedged channels and graded micropillars move exudate by wettability gradient and Laplace pressure; an electrochemical array reads H₂O₂, O₂, NO, pH and temperature; ML classifies the wound and predicts healing.</a:t>
              </a:r>
            </a:p>
          </p:txBody>
        </p:sp>
        <p:sp>
          <p:nvSpPr>
            <p:cNvPr id="12" name="Panel"/>
            <p:cNvSpPr/>
            <p:nvPr/>
          </p:nvSpPr>
          <p:spPr>
            <a:xfrm>
              <a:off x="609600" y="5060454"/>
              <a:ext cx="7924800" cy="554831"/>
            </a:xfrm>
            <a:prstGeom prst="roundRect">
              <a:avLst>
                <a:gd name="adj" fmla="val 11444"/>
              </a:avLst>
            </a:prstGeom>
            <a:solidFill>
              <a:srgbClr val="E7F0EB"/>
            </a:solidFill>
            <a:ln>
              <a:noFill/>
            </a:ln>
          </p:spPr>
          <p:txBody>
            <a:bodyPr rtlCol="0" anchor="ctr"/>
            <a:lstStyle/>
            <a:p>
              <a:pPr algn="ctr"/>
              <a:endParaRPr/>
            </a:p>
          </p:txBody>
        </p:sp>
        <p:sp>
          <p:nvSpPr>
            <p:cNvPr id="13" name="Text: Why they matter: each closes the full lo"/>
            <p:cNvSpPr txBox="1"/>
            <p:nvPr/>
          </p:nvSpPr>
          <p:spPr>
            <a:xfrm>
              <a:off x="723900" y="5149354"/>
              <a:ext cx="7888605"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Why they matter:</a:t>
              </a:r>
              <a:r>
                <a:rPr sz="1100" b="0" i="0">
                  <a:solidFill>
                    <a:srgbClr val="333333"/>
                  </a:solidFill>
                  <a:latin typeface="Arial"/>
                </a:rPr>
                <a:t> each closes the full loop (biofluid sampling → transduction → wireless link → ML decision). </a:t>
              </a:r>
              <a:r>
                <a:rPr sz="1100" b="1" i="0">
                  <a:solidFill>
                    <a:srgbClr val="333333"/>
                  </a:solidFill>
                  <a:latin typeface="Arial"/>
                </a:rPr>
                <a:t>Gap:</a:t>
              </a:r>
              <a:r>
                <a:rPr sz="1100" b="0" i="0">
                  <a:solidFill>
                    <a:srgbClr val="333333"/>
                  </a:solidFill>
                  <a:latin typeface="Arial"/>
                </a:rPr>
                <a:t> the review reports no clinical-outcome data for either device.</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18</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Table 4: traditional vs AI-enhanced biosensing</a:t>
            </a:r>
          </a:p>
        </p:txBody>
      </p:sp>
      <p:sp>
        <p:nvSpPr>
          <p:cNvPr id="3" name="Text: RESULTS · TABLE 4"/>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RESULTS · TABLE 4</a:t>
            </a:r>
          </a:p>
        </p:txBody>
      </p:sp>
      <p:graphicFrame>
        <p:nvGraphicFramePr>
          <p:cNvPr id="4" name="Table"/>
          <p:cNvGraphicFramePr>
            <a:graphicFrameLocks noGrp="1"/>
          </p:cNvGraphicFramePr>
          <p:nvPr>
            <p:extLst>
              <p:ext uri="{D42A27DB-BD31-4B8C-83A1-F6EECF244321}">
                <p14:modId xmlns:p14="http://schemas.microsoft.com/office/powerpoint/2010/main" val="3757632707"/>
              </p:ext>
            </p:extLst>
          </p:nvPr>
        </p:nvGraphicFramePr>
        <p:xfrm>
          <a:off x="609600" y="1251806"/>
          <a:ext cx="7924800" cy="1784150"/>
        </p:xfrm>
        <a:graphic>
          <a:graphicData uri="http://schemas.openxmlformats.org/drawingml/2006/table">
            <a:tbl>
              <a:tblPr>
                <a:tableStyleId>{2D5ABB26-0587-4C30-8999-92F81FD0307C}</a:tableStyleId>
              </a:tblPr>
              <a:tblGrid>
                <a:gridCol w="1743381">
                  <a:extLst>
                    <a:ext uri="{9D8B030D-6E8A-4147-A177-3AD203B41FA5}">
                      <a16:colId xmlns:a16="http://schemas.microsoft.com/office/drawing/2014/main" val="20000"/>
                    </a:ext>
                  </a:extLst>
                </a:gridCol>
                <a:gridCol w="1426420">
                  <a:extLst>
                    <a:ext uri="{9D8B030D-6E8A-4147-A177-3AD203B41FA5}">
                      <a16:colId xmlns:a16="http://schemas.microsoft.com/office/drawing/2014/main" val="20001"/>
                    </a:ext>
                  </a:extLst>
                </a:gridCol>
                <a:gridCol w="1505660">
                  <a:extLst>
                    <a:ext uri="{9D8B030D-6E8A-4147-A177-3AD203B41FA5}">
                      <a16:colId xmlns:a16="http://schemas.microsoft.com/office/drawing/2014/main" val="20002"/>
                    </a:ext>
                  </a:extLst>
                </a:gridCol>
                <a:gridCol w="1267940">
                  <a:extLst>
                    <a:ext uri="{9D8B030D-6E8A-4147-A177-3AD203B41FA5}">
                      <a16:colId xmlns:a16="http://schemas.microsoft.com/office/drawing/2014/main" val="20003"/>
                    </a:ext>
                  </a:extLst>
                </a:gridCol>
                <a:gridCol w="1981399">
                  <a:extLst>
                    <a:ext uri="{9D8B030D-6E8A-4147-A177-3AD203B41FA5}">
                      <a16:colId xmlns:a16="http://schemas.microsoft.com/office/drawing/2014/main" val="20004"/>
                    </a:ext>
                  </a:extLst>
                </a:gridCol>
              </a:tblGrid>
              <a:tr h="321270">
                <a:tc>
                  <a:txBody>
                    <a:bodyPr/>
                    <a:lstStyle/>
                    <a:p>
                      <a:pPr algn="l">
                        <a:lnSpc>
                          <a:spcPts val="1380"/>
                        </a:lnSpc>
                        <a:spcBef>
                          <a:spcPts val="0"/>
                        </a:spcBef>
                        <a:spcAft>
                          <a:spcPts val="0"/>
                        </a:spcAft>
                      </a:pPr>
                      <a:r>
                        <a:rPr sz="1200" b="1" i="0">
                          <a:solidFill>
                            <a:srgbClr val="FFFFFF"/>
                          </a:solidFill>
                          <a:latin typeface="Arial"/>
                        </a:rPr>
                        <a:t>Table 4 · Metric</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80"/>
                        </a:lnSpc>
                        <a:spcBef>
                          <a:spcPts val="0"/>
                        </a:spcBef>
                        <a:spcAft>
                          <a:spcPts val="0"/>
                        </a:spcAft>
                      </a:pPr>
                      <a:r>
                        <a:rPr sz="1200" b="1" i="0">
                          <a:solidFill>
                            <a:srgbClr val="FFFFFF"/>
                          </a:solidFill>
                          <a:latin typeface="Arial"/>
                        </a:rPr>
                        <a:t>Traditional</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80"/>
                        </a:lnSpc>
                        <a:spcBef>
                          <a:spcPts val="0"/>
                        </a:spcBef>
                        <a:spcAft>
                          <a:spcPts val="0"/>
                        </a:spcAft>
                      </a:pPr>
                      <a:r>
                        <a:rPr sz="1200" b="1" i="0">
                          <a:solidFill>
                            <a:srgbClr val="FFFFFF"/>
                          </a:solidFill>
                          <a:latin typeface="Arial"/>
                        </a:rPr>
                        <a:t>AI-enhanced</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80"/>
                        </a:lnSpc>
                        <a:spcBef>
                          <a:spcPts val="0"/>
                        </a:spcBef>
                        <a:spcAft>
                          <a:spcPts val="0"/>
                        </a:spcAft>
                      </a:pPr>
                      <a:r>
                        <a:rPr sz="1200" b="1" i="0">
                          <a:solidFill>
                            <a:srgbClr val="FFFFFF"/>
                          </a:solidFill>
                          <a:latin typeface="Arial"/>
                        </a:rPr>
                        <a:t>Improvement</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380"/>
                        </a:lnSpc>
                        <a:spcBef>
                          <a:spcPts val="0"/>
                        </a:spcBef>
                        <a:spcAft>
                          <a:spcPts val="0"/>
                        </a:spcAft>
                      </a:pPr>
                      <a:r>
                        <a:rPr sz="1200" b="1" i="0">
                          <a:solidFill>
                            <a:srgbClr val="FFFFFF"/>
                          </a:solidFill>
                          <a:latin typeface="Arial"/>
                        </a:rPr>
                        <a:t>Claimed clinical impact</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extLst>
                  <a:ext uri="{0D108BD9-81ED-4DB2-BD59-A6C34878D82A}">
                    <a16:rowId xmlns:a16="http://schemas.microsoft.com/office/drawing/2014/main" val="10000"/>
                  </a:ext>
                </a:extLst>
              </a:tr>
              <a:tr h="321270">
                <a:tc>
                  <a:txBody>
                    <a:bodyPr/>
                    <a:lstStyle/>
                    <a:p>
                      <a:pPr algn="l">
                        <a:lnSpc>
                          <a:spcPts val="1380"/>
                        </a:lnSpc>
                        <a:spcBef>
                          <a:spcPts val="0"/>
                        </a:spcBef>
                        <a:spcAft>
                          <a:spcPts val="0"/>
                        </a:spcAft>
                      </a:pPr>
                      <a:r>
                        <a:rPr sz="1200" b="1" i="0">
                          <a:solidFill>
                            <a:srgbClr val="333333"/>
                          </a:solidFill>
                          <a:latin typeface="Arial"/>
                        </a:rPr>
                        <a:t>Diagnostic accuracy</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80"/>
                        </a:lnSpc>
                        <a:spcBef>
                          <a:spcPts val="0"/>
                        </a:spcBef>
                        <a:spcAft>
                          <a:spcPts val="0"/>
                        </a:spcAft>
                      </a:pPr>
                      <a:r>
                        <a:rPr sz="1200" b="0" i="0">
                          <a:solidFill>
                            <a:srgbClr val="333333"/>
                          </a:solidFill>
                          <a:latin typeface="Arial"/>
                        </a:rPr>
                        <a:t>72.3 ± 5.1%</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80"/>
                        </a:lnSpc>
                        <a:spcBef>
                          <a:spcPts val="0"/>
                        </a:spcBef>
                        <a:spcAft>
                          <a:spcPts val="0"/>
                        </a:spcAft>
                      </a:pPr>
                      <a:r>
                        <a:rPr sz="1200" b="1" i="0">
                          <a:solidFill>
                            <a:srgbClr val="333333"/>
                          </a:solidFill>
                          <a:latin typeface="Arial"/>
                        </a:rPr>
                        <a:t>89.7 ± 2.3%</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80"/>
                        </a:lnSpc>
                        <a:spcBef>
                          <a:spcPts val="0"/>
                        </a:spcBef>
                        <a:spcAft>
                          <a:spcPts val="0"/>
                        </a:spcAft>
                      </a:pPr>
                      <a:r>
                        <a:rPr sz="1200" b="0" i="0">
                          <a:solidFill>
                            <a:srgbClr val="333333"/>
                          </a:solidFill>
                          <a:latin typeface="Arial"/>
                        </a:rPr>
                        <a:t>+24% (relative)</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80"/>
                        </a:lnSpc>
                        <a:spcBef>
                          <a:spcPts val="0"/>
                        </a:spcBef>
                        <a:spcAft>
                          <a:spcPts val="0"/>
                        </a:spcAft>
                      </a:pPr>
                      <a:r>
                        <a:rPr sz="1200" b="0" i="0">
                          <a:solidFill>
                            <a:srgbClr val="333333"/>
                          </a:solidFill>
                          <a:latin typeface="Arial"/>
                        </a:rPr>
                        <a:t>38% fewer false negatives</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1"/>
                  </a:ext>
                </a:extLst>
              </a:tr>
              <a:tr h="321270">
                <a:tc>
                  <a:txBody>
                    <a:bodyPr/>
                    <a:lstStyle/>
                    <a:p>
                      <a:pPr algn="l">
                        <a:lnSpc>
                          <a:spcPts val="1380"/>
                        </a:lnSpc>
                        <a:spcBef>
                          <a:spcPts val="0"/>
                        </a:spcBef>
                        <a:spcAft>
                          <a:spcPts val="0"/>
                        </a:spcAft>
                      </a:pPr>
                      <a:r>
                        <a:rPr sz="1200" b="1" i="0">
                          <a:solidFill>
                            <a:srgbClr val="333333"/>
                          </a:solidFill>
                          <a:latin typeface="Arial"/>
                        </a:rPr>
                        <a:t>Prediction latency</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80"/>
                        </a:lnSpc>
                        <a:spcBef>
                          <a:spcPts val="0"/>
                        </a:spcBef>
                        <a:spcAft>
                          <a:spcPts val="0"/>
                        </a:spcAft>
                      </a:pPr>
                      <a:r>
                        <a:rPr sz="1200" b="0" i="0">
                          <a:solidFill>
                            <a:srgbClr val="333333"/>
                          </a:solidFill>
                          <a:latin typeface="Arial"/>
                        </a:rPr>
                        <a:t>2.1 ± 0.3 s</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80"/>
                        </a:lnSpc>
                        <a:spcBef>
                          <a:spcPts val="0"/>
                        </a:spcBef>
                        <a:spcAft>
                          <a:spcPts val="0"/>
                        </a:spcAft>
                      </a:pPr>
                      <a:r>
                        <a:rPr sz="1200" b="1" i="0">
                          <a:solidFill>
                            <a:srgbClr val="333333"/>
                          </a:solidFill>
                          <a:latin typeface="Arial"/>
                        </a:rPr>
                        <a:t>0.4 ± 0.1 s</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80"/>
                        </a:lnSpc>
                        <a:spcBef>
                          <a:spcPts val="0"/>
                        </a:spcBef>
                        <a:spcAft>
                          <a:spcPts val="0"/>
                        </a:spcAft>
                      </a:pPr>
                      <a:r>
                        <a:rPr sz="1200" b="0" i="0">
                          <a:solidFill>
                            <a:srgbClr val="333333"/>
                          </a:solidFill>
                          <a:latin typeface="Arial"/>
                        </a:rPr>
                        <a:t>5.2× faster</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80"/>
                        </a:lnSpc>
                        <a:spcBef>
                          <a:spcPts val="0"/>
                        </a:spcBef>
                        <a:spcAft>
                          <a:spcPts val="0"/>
                        </a:spcAft>
                      </a:pPr>
                      <a:r>
                        <a:rPr sz="1200" b="0" i="0">
                          <a:solidFill>
                            <a:srgbClr val="333333"/>
                          </a:solidFill>
                          <a:latin typeface="Arial"/>
                        </a:rPr>
                        <a:t>real-time intervention</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2"/>
                  </a:ext>
                </a:extLst>
              </a:tr>
              <a:tr h="499070">
                <a:tc>
                  <a:txBody>
                    <a:bodyPr/>
                    <a:lstStyle/>
                    <a:p>
                      <a:pPr algn="l">
                        <a:lnSpc>
                          <a:spcPts val="1380"/>
                        </a:lnSpc>
                        <a:spcBef>
                          <a:spcPts val="0"/>
                        </a:spcBef>
                        <a:spcAft>
                          <a:spcPts val="0"/>
                        </a:spcAft>
                      </a:pPr>
                      <a:r>
                        <a:rPr sz="1200" b="1" i="0">
                          <a:solidFill>
                            <a:srgbClr val="333333"/>
                          </a:solidFill>
                          <a:latin typeface="Arial"/>
                        </a:rPr>
                        <a:t>Multi-analyte resolution</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80"/>
                        </a:lnSpc>
                        <a:spcBef>
                          <a:spcPts val="0"/>
                        </a:spcBef>
                        <a:spcAft>
                          <a:spcPts val="0"/>
                        </a:spcAft>
                      </a:pPr>
                      <a:r>
                        <a:rPr sz="1200" b="0" i="0">
                          <a:solidFill>
                            <a:srgbClr val="333333"/>
                          </a:solidFill>
                          <a:latin typeface="Arial"/>
                        </a:rPr>
                        <a:t>3–5 biomarkers</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80"/>
                        </a:lnSpc>
                        <a:spcBef>
                          <a:spcPts val="0"/>
                        </a:spcBef>
                        <a:spcAft>
                          <a:spcPts val="0"/>
                        </a:spcAft>
                      </a:pPr>
                      <a:r>
                        <a:rPr sz="1200" b="1" i="0">
                          <a:solidFill>
                            <a:srgbClr val="333333"/>
                          </a:solidFill>
                          <a:latin typeface="Arial"/>
                        </a:rPr>
                        <a:t>9–12 biomarkers</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80"/>
                        </a:lnSpc>
                        <a:spcBef>
                          <a:spcPts val="0"/>
                        </a:spcBef>
                        <a:spcAft>
                          <a:spcPts val="0"/>
                        </a:spcAft>
                      </a:pPr>
                      <a:r>
                        <a:rPr sz="1200" b="0" i="0">
                          <a:solidFill>
                            <a:srgbClr val="333333"/>
                          </a:solidFill>
                          <a:latin typeface="Arial"/>
                        </a:rPr>
                        <a:t>~3× capacity</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380"/>
                        </a:lnSpc>
                        <a:spcBef>
                          <a:spcPts val="0"/>
                        </a:spcBef>
                        <a:spcAft>
                          <a:spcPts val="0"/>
                        </a:spcAft>
                      </a:pPr>
                      <a:r>
                        <a:rPr sz="1200" b="0" i="0">
                          <a:solidFill>
                            <a:srgbClr val="333333"/>
                          </a:solidFill>
                          <a:latin typeface="Arial"/>
                        </a:rPr>
                        <a:t>comprehensive profiling</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3"/>
                  </a:ext>
                </a:extLst>
              </a:tr>
              <a:tr h="321270">
                <a:tc>
                  <a:txBody>
                    <a:bodyPr/>
                    <a:lstStyle/>
                    <a:p>
                      <a:pPr algn="l">
                        <a:lnSpc>
                          <a:spcPts val="1380"/>
                        </a:lnSpc>
                        <a:spcBef>
                          <a:spcPts val="0"/>
                        </a:spcBef>
                        <a:spcAft>
                          <a:spcPts val="0"/>
                        </a:spcAft>
                      </a:pPr>
                      <a:r>
                        <a:rPr sz="1200" b="1" i="0">
                          <a:solidFill>
                            <a:srgbClr val="333333"/>
                          </a:solidFill>
                          <a:latin typeface="Arial"/>
                        </a:rPr>
                        <a:t>Long-term stability</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80"/>
                        </a:lnSpc>
                        <a:spcBef>
                          <a:spcPts val="0"/>
                        </a:spcBef>
                        <a:spcAft>
                          <a:spcPts val="0"/>
                        </a:spcAft>
                      </a:pPr>
                      <a:r>
                        <a:rPr sz="1200" b="0" i="0">
                          <a:solidFill>
                            <a:srgbClr val="333333"/>
                          </a:solidFill>
                          <a:latin typeface="Arial"/>
                        </a:rPr>
                        <a:t>15% drift / week</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80"/>
                        </a:lnSpc>
                        <a:spcBef>
                          <a:spcPts val="0"/>
                        </a:spcBef>
                        <a:spcAft>
                          <a:spcPts val="0"/>
                        </a:spcAft>
                      </a:pPr>
                      <a:r>
                        <a:rPr sz="1200" b="1" i="0">
                          <a:solidFill>
                            <a:srgbClr val="333333"/>
                          </a:solidFill>
                          <a:latin typeface="Arial"/>
                        </a:rPr>
                        <a:t>4% drift / week</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80"/>
                        </a:lnSpc>
                        <a:spcBef>
                          <a:spcPts val="0"/>
                        </a:spcBef>
                        <a:spcAft>
                          <a:spcPts val="0"/>
                        </a:spcAft>
                      </a:pPr>
                      <a:r>
                        <a:rPr sz="1200" b="0" i="0">
                          <a:solidFill>
                            <a:srgbClr val="333333"/>
                          </a:solidFill>
                          <a:latin typeface="Arial"/>
                        </a:rPr>
                        <a:t>−73% drift</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380"/>
                        </a:lnSpc>
                        <a:spcBef>
                          <a:spcPts val="0"/>
                        </a:spcBef>
                        <a:spcAft>
                          <a:spcPts val="0"/>
                        </a:spcAft>
                      </a:pPr>
                      <a:r>
                        <a:rPr sz="1200" b="0" i="0">
                          <a:solidFill>
                            <a:srgbClr val="333333"/>
                          </a:solidFill>
                          <a:latin typeface="Arial"/>
                        </a:rPr>
                        <a:t>“fewer relapse”</a:t>
                      </a:r>
                    </a:p>
                  </a:txBody>
                  <a:tcPr marL="67627" marR="54102"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4"/>
                  </a:ext>
                </a:extLst>
              </a:tr>
            </a:tbl>
          </a:graphicData>
        </a:graphic>
      </p:graphicFrame>
      <p:sp>
        <p:nvSpPr>
          <p:cNvPr id="5" name="Text: Fold improvement implied by Table 4 (AI "/>
          <p:cNvSpPr txBox="1"/>
          <p:nvPr/>
        </p:nvSpPr>
        <p:spPr>
          <a:xfrm>
            <a:off x="609600" y="3169308"/>
            <a:ext cx="4556125"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Fold improvement implied by Table 4 (AI ÷ traditional)</a:t>
            </a:r>
          </a:p>
        </p:txBody>
      </p:sp>
      <p:graphicFrame>
        <p:nvGraphicFramePr>
          <p:cNvPr id="6" name="Chart: fold improvement (Table 4)"/>
          <p:cNvGraphicFramePr>
            <a:graphicFrameLocks noGrp="1"/>
          </p:cNvGraphicFramePr>
          <p:nvPr>
            <p:extLst>
              <p:ext uri="{D42A27DB-BD31-4B8C-83A1-F6EECF244321}">
                <p14:modId xmlns:p14="http://schemas.microsoft.com/office/powerpoint/2010/main" val="2929994401"/>
              </p:ext>
            </p:extLst>
          </p:nvPr>
        </p:nvGraphicFramePr>
        <p:xfrm>
          <a:off x="609600" y="3359808"/>
          <a:ext cx="4445000" cy="2349500"/>
        </p:xfrm>
        <a:graphic>
          <a:graphicData uri="http://schemas.openxmlformats.org/drawingml/2006/chart">
            <c:chart xmlns:c="http://schemas.openxmlformats.org/drawingml/2006/chart" xmlns:r="http://schemas.openxmlformats.org/officeDocument/2006/relationships" r:id="rId3"/>
          </a:graphicData>
        </a:graphic>
      </p:graphicFrame>
      <p:grpSp>
        <p:nvGrpSpPr>
          <p:cNvPr id="11" name="Group 10">
            <a:extLst>
              <a:ext uri="{FF2B5EF4-FFF2-40B4-BE49-F238E27FC236}">
                <a16:creationId xmlns:a16="http://schemas.microsoft.com/office/drawing/2014/main" id="{1CB283DB-8313-2B99-9951-B5E6BC802D27}"/>
              </a:ext>
            </a:extLst>
          </p:cNvPr>
          <p:cNvGrpSpPr/>
          <p:nvPr/>
        </p:nvGrpSpPr>
        <p:grpSpPr>
          <a:xfrm>
            <a:off x="5207000" y="3577841"/>
            <a:ext cx="3327400" cy="1913433"/>
            <a:chOff x="5207000" y="3169308"/>
            <a:chExt cx="3327400" cy="1913433"/>
          </a:xfrm>
        </p:grpSpPr>
        <p:sp>
          <p:nvSpPr>
            <p:cNvPr id="7" name="Panel"/>
            <p:cNvSpPr/>
            <p:nvPr/>
          </p:nvSpPr>
          <p:spPr>
            <a:xfrm>
              <a:off x="5207000" y="3169308"/>
              <a:ext cx="3327400" cy="622895"/>
            </a:xfrm>
            <a:prstGeom prst="roundRect">
              <a:avLst>
                <a:gd name="adj" fmla="val 10194"/>
              </a:avLst>
            </a:prstGeom>
            <a:solidFill>
              <a:srgbClr val="E7F0EB"/>
            </a:solidFill>
            <a:ln>
              <a:noFill/>
            </a:ln>
          </p:spPr>
          <p:txBody>
            <a:bodyPr rtlCol="0" anchor="ctr"/>
            <a:lstStyle/>
            <a:p>
              <a:pPr algn="ctr"/>
              <a:endParaRPr/>
            </a:p>
          </p:txBody>
        </p:sp>
        <p:sp>
          <p:nvSpPr>
            <p:cNvPr id="8" name="Text: Arithmetic checks out: 89.7 / 72.3 = 1.2"/>
            <p:cNvSpPr txBox="1"/>
            <p:nvPr/>
          </p:nvSpPr>
          <p:spPr>
            <a:xfrm>
              <a:off x="5334000" y="3283608"/>
              <a:ext cx="3150235" cy="394295"/>
            </a:xfrm>
            <a:prstGeom prst="rect">
              <a:avLst/>
            </a:prstGeom>
            <a:noFill/>
          </p:spPr>
          <p:txBody>
            <a:bodyPr wrap="square" lIns="0" tIns="0" rIns="0" bIns="0" anchor="t">
              <a:noAutofit/>
            </a:bodyPr>
            <a:lstStyle/>
            <a:p>
              <a:pPr algn="l">
                <a:lnSpc>
                  <a:spcPts val="1552"/>
                </a:lnSpc>
                <a:spcBef>
                  <a:spcPts val="0"/>
                </a:spcBef>
                <a:spcAft>
                  <a:spcPts val="0"/>
                </a:spcAft>
              </a:pPr>
              <a:r>
                <a:rPr sz="1150" b="1" i="0">
                  <a:solidFill>
                    <a:srgbClr val="333333"/>
                  </a:solidFill>
                  <a:latin typeface="Arial"/>
                </a:rPr>
                <a:t>Arithmetic checks out:</a:t>
              </a:r>
              <a:r>
                <a:rPr sz="1150" b="0" i="0">
                  <a:solidFill>
                    <a:srgbClr val="333333"/>
                  </a:solidFill>
                  <a:latin typeface="Arial"/>
                </a:rPr>
                <a:t> 89.7 / 72.3 = 1.24; 2.1 / 0.4 = 5.25; (15 − 4) / 15 = 73%.</a:t>
              </a:r>
            </a:p>
          </p:txBody>
        </p:sp>
        <p:sp>
          <p:nvSpPr>
            <p:cNvPr id="9" name="Panel"/>
            <p:cNvSpPr/>
            <p:nvPr/>
          </p:nvSpPr>
          <p:spPr>
            <a:xfrm>
              <a:off x="5207000" y="3868403"/>
              <a:ext cx="3327400" cy="1214338"/>
            </a:xfrm>
            <a:prstGeom prst="roundRect">
              <a:avLst>
                <a:gd name="adj" fmla="val 5229"/>
              </a:avLst>
            </a:prstGeom>
            <a:solidFill>
              <a:srgbClr val="FBEAE8"/>
            </a:solidFill>
            <a:ln>
              <a:noFill/>
            </a:ln>
          </p:spPr>
          <p:txBody>
            <a:bodyPr rtlCol="0" anchor="ctr"/>
            <a:lstStyle/>
            <a:p>
              <a:pPr algn="ctr"/>
              <a:endParaRPr/>
            </a:p>
          </p:txBody>
        </p:sp>
        <p:sp>
          <p:nvSpPr>
            <p:cNvPr id="10" name="Text: Read critically: no citation, task, data"/>
            <p:cNvSpPr txBox="1"/>
            <p:nvPr/>
          </p:nvSpPr>
          <p:spPr>
            <a:xfrm>
              <a:off x="5334000" y="3982703"/>
              <a:ext cx="3150235" cy="985738"/>
            </a:xfrm>
            <a:prstGeom prst="rect">
              <a:avLst/>
            </a:prstGeom>
            <a:noFill/>
          </p:spPr>
          <p:txBody>
            <a:bodyPr wrap="square" lIns="0" tIns="0" rIns="0" bIns="0" anchor="t">
              <a:noAutofit/>
            </a:bodyPr>
            <a:lstStyle/>
            <a:p>
              <a:pPr algn="l">
                <a:lnSpc>
                  <a:spcPts val="1552"/>
                </a:lnSpc>
                <a:spcBef>
                  <a:spcPts val="0"/>
                </a:spcBef>
                <a:spcAft>
                  <a:spcPts val="0"/>
                </a:spcAft>
              </a:pPr>
              <a:r>
                <a:rPr sz="1150" b="1" i="0">
                  <a:solidFill>
                    <a:srgbClr val="B3261E"/>
                  </a:solidFill>
                  <a:latin typeface="Arial"/>
                </a:rPr>
                <a:t>Read critically:</a:t>
              </a:r>
              <a:r>
                <a:rPr sz="1150" b="0" i="0">
                  <a:solidFill>
                    <a:srgbClr val="B3261E"/>
                  </a:solidFill>
                  <a:latin typeface="Arial"/>
                </a:rPr>
                <a:t> no citation, task, dataset or n for any row; “accuracy” pooled across unnamed tasks and prevalence-dependent; ± without n cannot be tested; “fewer relapse” is undefined.</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19</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Table 5 in ROC space: strong, but mostly not wearable</a:t>
            </a:r>
          </a:p>
        </p:txBody>
      </p:sp>
      <p:sp>
        <p:nvSpPr>
          <p:cNvPr id="3" name="Text: RESULTS · TABLE 5"/>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RESULTS · TABLE 5</a:t>
            </a:r>
          </a:p>
        </p:txBody>
      </p:sp>
      <p:sp>
        <p:nvSpPr>
          <p:cNvPr id="4" name="Text: Sensitivity vs false-positive rate (1 − "/>
          <p:cNvSpPr txBox="1"/>
          <p:nvPr/>
        </p:nvSpPr>
        <p:spPr>
          <a:xfrm>
            <a:off x="609600" y="1286417"/>
            <a:ext cx="4035425"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Sensitivity vs false-positive rate (1 − Sp)</a:t>
            </a:r>
          </a:p>
        </p:txBody>
      </p:sp>
      <p:graphicFrame>
        <p:nvGraphicFramePr>
          <p:cNvPr id="5" name="Chart: Table 5 ROC space"/>
          <p:cNvGraphicFramePr>
            <a:graphicFrameLocks noGrp="1"/>
          </p:cNvGraphicFramePr>
          <p:nvPr>
            <p:extLst>
              <p:ext uri="{D42A27DB-BD31-4B8C-83A1-F6EECF244321}">
                <p14:modId xmlns:p14="http://schemas.microsoft.com/office/powerpoint/2010/main" val="3614191914"/>
              </p:ext>
            </p:extLst>
          </p:nvPr>
        </p:nvGraphicFramePr>
        <p:xfrm>
          <a:off x="609600" y="1476917"/>
          <a:ext cx="3937000" cy="3302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p:cNvGraphicFramePr>
            <a:graphicFrameLocks noGrp="1"/>
          </p:cNvGraphicFramePr>
          <p:nvPr>
            <p:extLst>
              <p:ext uri="{D42A27DB-BD31-4B8C-83A1-F6EECF244321}">
                <p14:modId xmlns:p14="http://schemas.microsoft.com/office/powerpoint/2010/main" val="1112916037"/>
              </p:ext>
            </p:extLst>
          </p:nvPr>
        </p:nvGraphicFramePr>
        <p:xfrm>
          <a:off x="4724400" y="1451517"/>
          <a:ext cx="3810000" cy="2933700"/>
        </p:xfrm>
        <a:graphic>
          <a:graphicData uri="http://schemas.openxmlformats.org/drawingml/2006/table">
            <a:tbl>
              <a:tblPr>
                <a:tableStyleId>{2D5ABB26-0587-4C30-8999-92F81FD0307C}</a:tableStyleId>
              </a:tblPr>
              <a:tblGrid>
                <a:gridCol w="1057450">
                  <a:extLst>
                    <a:ext uri="{9D8B030D-6E8A-4147-A177-3AD203B41FA5}">
                      <a16:colId xmlns:a16="http://schemas.microsoft.com/office/drawing/2014/main" val="20000"/>
                    </a:ext>
                  </a:extLst>
                </a:gridCol>
                <a:gridCol w="1427359">
                  <a:extLst>
                    <a:ext uri="{9D8B030D-6E8A-4147-A177-3AD203B41FA5}">
                      <a16:colId xmlns:a16="http://schemas.microsoft.com/office/drawing/2014/main" val="20001"/>
                    </a:ext>
                  </a:extLst>
                </a:gridCol>
                <a:gridCol w="418706">
                  <a:extLst>
                    <a:ext uri="{9D8B030D-6E8A-4147-A177-3AD203B41FA5}">
                      <a16:colId xmlns:a16="http://schemas.microsoft.com/office/drawing/2014/main" val="20002"/>
                    </a:ext>
                  </a:extLst>
                </a:gridCol>
                <a:gridCol w="418706">
                  <a:extLst>
                    <a:ext uri="{9D8B030D-6E8A-4147-A177-3AD203B41FA5}">
                      <a16:colId xmlns:a16="http://schemas.microsoft.com/office/drawing/2014/main" val="20003"/>
                    </a:ext>
                  </a:extLst>
                </a:gridCol>
                <a:gridCol w="487779">
                  <a:extLst>
                    <a:ext uri="{9D8B030D-6E8A-4147-A177-3AD203B41FA5}">
                      <a16:colId xmlns:a16="http://schemas.microsoft.com/office/drawing/2014/main" val="20004"/>
                    </a:ext>
                  </a:extLst>
                </a:gridCol>
              </a:tblGrid>
              <a:tr h="292100">
                <a:tc>
                  <a:txBody>
                    <a:bodyPr/>
                    <a:lstStyle/>
                    <a:p>
                      <a:pPr algn="l">
                        <a:lnSpc>
                          <a:spcPts val="1207"/>
                        </a:lnSpc>
                        <a:spcBef>
                          <a:spcPts val="0"/>
                        </a:spcBef>
                        <a:spcAft>
                          <a:spcPts val="0"/>
                        </a:spcAft>
                      </a:pPr>
                      <a:r>
                        <a:rPr sz="1050" b="1" i="0">
                          <a:solidFill>
                            <a:srgbClr val="FFFFFF"/>
                          </a:solidFill>
                          <a:latin typeface="Arial"/>
                        </a:rPr>
                        <a:t>Table 5</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207"/>
                        </a:lnSpc>
                        <a:spcBef>
                          <a:spcPts val="0"/>
                        </a:spcBef>
                        <a:spcAft>
                          <a:spcPts val="0"/>
                        </a:spcAft>
                      </a:pPr>
                      <a:r>
                        <a:rPr sz="1050" b="1" i="0">
                          <a:solidFill>
                            <a:srgbClr val="FFFFFF"/>
                          </a:solidFill>
                          <a:latin typeface="Arial"/>
                        </a:rPr>
                        <a:t>Task · data</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207"/>
                        </a:lnSpc>
                        <a:spcBef>
                          <a:spcPts val="0"/>
                        </a:spcBef>
                        <a:spcAft>
                          <a:spcPts val="0"/>
                        </a:spcAft>
                      </a:pPr>
                      <a:r>
                        <a:rPr sz="1050" b="1" i="0">
                          <a:solidFill>
                            <a:srgbClr val="FFFFFF"/>
                          </a:solidFill>
                          <a:latin typeface="Arial"/>
                        </a:rPr>
                        <a:t>Se</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207"/>
                        </a:lnSpc>
                        <a:spcBef>
                          <a:spcPts val="0"/>
                        </a:spcBef>
                        <a:spcAft>
                          <a:spcPts val="0"/>
                        </a:spcAft>
                      </a:pPr>
                      <a:r>
                        <a:rPr sz="1050" b="1" i="0">
                          <a:solidFill>
                            <a:srgbClr val="FFFFFF"/>
                          </a:solidFill>
                          <a:latin typeface="Arial"/>
                        </a:rPr>
                        <a:t>Sp</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tc>
                  <a:txBody>
                    <a:bodyPr/>
                    <a:lstStyle/>
                    <a:p>
                      <a:pPr algn="l">
                        <a:lnSpc>
                          <a:spcPts val="1207"/>
                        </a:lnSpc>
                        <a:spcBef>
                          <a:spcPts val="0"/>
                        </a:spcBef>
                        <a:spcAft>
                          <a:spcPts val="0"/>
                        </a:spcAft>
                      </a:pPr>
                      <a:r>
                        <a:rPr sz="1050" b="1" i="0">
                          <a:solidFill>
                            <a:srgbClr val="FFFFFF"/>
                          </a:solidFill>
                          <a:latin typeface="Arial"/>
                        </a:rPr>
                        <a:t>AUC</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154734"/>
                    </a:solidFill>
                  </a:tcPr>
                </a:tc>
                <a:extLst>
                  <a:ext uri="{0D108BD9-81ED-4DB2-BD59-A6C34878D82A}">
                    <a16:rowId xmlns:a16="http://schemas.microsoft.com/office/drawing/2014/main" val="10000"/>
                  </a:ext>
                </a:extLst>
              </a:tr>
              <a:tr h="292100">
                <a:tc>
                  <a:txBody>
                    <a:bodyPr/>
                    <a:lstStyle/>
                    <a:p>
                      <a:pPr algn="l">
                        <a:lnSpc>
                          <a:spcPts val="1207"/>
                        </a:lnSpc>
                        <a:spcBef>
                          <a:spcPts val="0"/>
                        </a:spcBef>
                        <a:spcAft>
                          <a:spcPts val="0"/>
                        </a:spcAft>
                      </a:pPr>
                      <a:r>
                        <a:rPr sz="1050" b="1" i="0">
                          <a:solidFill>
                            <a:srgbClr val="333333"/>
                          </a:solidFill>
                          <a:latin typeface="Arial"/>
                        </a:rPr>
                        <a:t>DL CNN</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Retinopathy · fundus</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90.5</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91.6</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0.963</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1"/>
                  </a:ext>
                </a:extLst>
              </a:tr>
              <a:tr h="292100">
                <a:tc>
                  <a:txBody>
                    <a:bodyPr/>
                    <a:lstStyle/>
                    <a:p>
                      <a:pPr algn="l">
                        <a:lnSpc>
                          <a:spcPts val="1207"/>
                        </a:lnSpc>
                        <a:spcBef>
                          <a:spcPts val="0"/>
                        </a:spcBef>
                        <a:spcAft>
                          <a:spcPts val="0"/>
                        </a:spcAft>
                      </a:pPr>
                      <a:r>
                        <a:rPr sz="1050" b="1" i="0">
                          <a:solidFill>
                            <a:srgbClr val="333333"/>
                          </a:solidFill>
                          <a:latin typeface="Arial"/>
                        </a:rPr>
                        <a:t>AI-Rad</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Lung nodule · CT</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92.0</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86.5</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0.94</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2"/>
                  </a:ext>
                </a:extLst>
              </a:tr>
              <a:tr h="292100">
                <a:tc>
                  <a:txBody>
                    <a:bodyPr/>
                    <a:lstStyle/>
                    <a:p>
                      <a:pPr algn="l">
                        <a:lnSpc>
                          <a:spcPts val="1207"/>
                        </a:lnSpc>
                        <a:spcBef>
                          <a:spcPts val="0"/>
                        </a:spcBef>
                        <a:spcAft>
                          <a:spcPts val="0"/>
                        </a:spcAft>
                      </a:pPr>
                      <a:r>
                        <a:rPr sz="1050" b="1" i="0">
                          <a:solidFill>
                            <a:srgbClr val="333333"/>
                          </a:solidFill>
                          <a:latin typeface="Arial"/>
                        </a:rPr>
                        <a:t>Aidoc</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Brain bleed · CT</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89.4</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93.6</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0.91</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3"/>
                  </a:ext>
                </a:extLst>
              </a:tr>
              <a:tr h="444500">
                <a:tc>
                  <a:txBody>
                    <a:bodyPr/>
                    <a:lstStyle/>
                    <a:p>
                      <a:pPr algn="l">
                        <a:lnSpc>
                          <a:spcPts val="1207"/>
                        </a:lnSpc>
                        <a:spcBef>
                          <a:spcPts val="0"/>
                        </a:spcBef>
                        <a:spcAft>
                          <a:spcPts val="0"/>
                        </a:spcAft>
                      </a:pPr>
                      <a:r>
                        <a:rPr sz="1050" b="1" i="0">
                          <a:solidFill>
                            <a:srgbClr val="333333"/>
                          </a:solidFill>
                          <a:latin typeface="Arial"/>
                        </a:rPr>
                        <a:t>Google Health</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Breast · mammogram</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89.0</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94.5</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0.945</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4"/>
                  </a:ext>
                </a:extLst>
              </a:tr>
              <a:tr h="292100">
                <a:tc>
                  <a:txBody>
                    <a:bodyPr/>
                    <a:lstStyle/>
                    <a:p>
                      <a:pPr algn="l">
                        <a:lnSpc>
                          <a:spcPts val="1207"/>
                        </a:lnSpc>
                        <a:spcBef>
                          <a:spcPts val="0"/>
                        </a:spcBef>
                        <a:spcAft>
                          <a:spcPts val="0"/>
                        </a:spcAft>
                      </a:pPr>
                      <a:r>
                        <a:rPr sz="1050" b="1" i="0">
                          <a:solidFill>
                            <a:srgbClr val="333333"/>
                          </a:solidFill>
                          <a:latin typeface="Arial"/>
                        </a:rPr>
                        <a:t>PathAI</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Breast · H&amp;E slides</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94.6</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93.8</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tc>
                  <a:txBody>
                    <a:bodyPr/>
                    <a:lstStyle/>
                    <a:p>
                      <a:pPr algn="l">
                        <a:lnSpc>
                          <a:spcPts val="1207"/>
                        </a:lnSpc>
                        <a:spcBef>
                          <a:spcPts val="0"/>
                        </a:spcBef>
                        <a:spcAft>
                          <a:spcPts val="0"/>
                        </a:spcAft>
                      </a:pPr>
                      <a:r>
                        <a:rPr sz="1050" b="0" i="0">
                          <a:solidFill>
                            <a:srgbClr val="333333"/>
                          </a:solidFill>
                          <a:latin typeface="Arial"/>
                        </a:rPr>
                        <a:t>0.98</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FFFFF"/>
                    </a:solidFill>
                  </a:tcPr>
                </a:tc>
                <a:extLst>
                  <a:ext uri="{0D108BD9-81ED-4DB2-BD59-A6C34878D82A}">
                    <a16:rowId xmlns:a16="http://schemas.microsoft.com/office/drawing/2014/main" val="10005"/>
                  </a:ext>
                </a:extLst>
              </a:tr>
              <a:tr h="292100">
                <a:tc>
                  <a:txBody>
                    <a:bodyPr/>
                    <a:lstStyle/>
                    <a:p>
                      <a:pPr algn="l">
                        <a:lnSpc>
                          <a:spcPts val="1207"/>
                        </a:lnSpc>
                        <a:spcBef>
                          <a:spcPts val="0"/>
                        </a:spcBef>
                        <a:spcAft>
                          <a:spcPts val="0"/>
                        </a:spcAft>
                      </a:pPr>
                      <a:r>
                        <a:rPr sz="1050" b="1" i="0">
                          <a:solidFill>
                            <a:srgbClr val="333333"/>
                          </a:solidFill>
                          <a:latin typeface="Arial"/>
                        </a:rPr>
                        <a:t>Tempus xT</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Oncology · NGS</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88.0</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85.0</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tc>
                  <a:txBody>
                    <a:bodyPr/>
                    <a:lstStyle/>
                    <a:p>
                      <a:pPr algn="l">
                        <a:lnSpc>
                          <a:spcPts val="1207"/>
                        </a:lnSpc>
                        <a:spcBef>
                          <a:spcPts val="0"/>
                        </a:spcBef>
                        <a:spcAft>
                          <a:spcPts val="0"/>
                        </a:spcAft>
                      </a:pPr>
                      <a:r>
                        <a:rPr sz="1050" b="0" i="0">
                          <a:solidFill>
                            <a:srgbClr val="333333"/>
                          </a:solidFill>
                          <a:latin typeface="Arial"/>
                        </a:rPr>
                        <a:t>0.87</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4F6F5"/>
                    </a:solidFill>
                  </a:tcPr>
                </a:tc>
                <a:extLst>
                  <a:ext uri="{0D108BD9-81ED-4DB2-BD59-A6C34878D82A}">
                    <a16:rowId xmlns:a16="http://schemas.microsoft.com/office/drawing/2014/main" val="10006"/>
                  </a:ext>
                </a:extLst>
              </a:tr>
              <a:tr h="292100">
                <a:tc>
                  <a:txBody>
                    <a:bodyPr/>
                    <a:lstStyle/>
                    <a:p>
                      <a:pPr algn="l">
                        <a:lnSpc>
                          <a:spcPts val="1207"/>
                        </a:lnSpc>
                        <a:spcBef>
                          <a:spcPts val="0"/>
                        </a:spcBef>
                        <a:spcAft>
                          <a:spcPts val="0"/>
                        </a:spcAft>
                      </a:pPr>
                      <a:r>
                        <a:rPr sz="1050" b="1" i="0">
                          <a:solidFill>
                            <a:srgbClr val="333333"/>
                          </a:solidFill>
                          <a:latin typeface="Arial"/>
                        </a:rPr>
                        <a:t>SkinVision</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tc>
                  <a:txBody>
                    <a:bodyPr/>
                    <a:lstStyle/>
                    <a:p>
                      <a:pPr algn="l">
                        <a:lnSpc>
                          <a:spcPts val="1207"/>
                        </a:lnSpc>
                        <a:spcBef>
                          <a:spcPts val="0"/>
                        </a:spcBef>
                        <a:spcAft>
                          <a:spcPts val="0"/>
                        </a:spcAft>
                      </a:pPr>
                      <a:r>
                        <a:rPr sz="1050" b="0" i="0">
                          <a:solidFill>
                            <a:srgbClr val="333333"/>
                          </a:solidFill>
                          <a:latin typeface="Arial"/>
                        </a:rPr>
                        <a:t>Melanoma · phone</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tc>
                  <a:txBody>
                    <a:bodyPr/>
                    <a:lstStyle/>
                    <a:p>
                      <a:pPr algn="l">
                        <a:lnSpc>
                          <a:spcPts val="1207"/>
                        </a:lnSpc>
                        <a:spcBef>
                          <a:spcPts val="0"/>
                        </a:spcBef>
                        <a:spcAft>
                          <a:spcPts val="0"/>
                        </a:spcAft>
                      </a:pPr>
                      <a:r>
                        <a:rPr sz="1050" b="0" i="0">
                          <a:solidFill>
                            <a:srgbClr val="333333"/>
                          </a:solidFill>
                          <a:latin typeface="Arial"/>
                        </a:rPr>
                        <a:t>95.1</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tc>
                  <a:txBody>
                    <a:bodyPr/>
                    <a:lstStyle/>
                    <a:p>
                      <a:pPr algn="l">
                        <a:lnSpc>
                          <a:spcPts val="1207"/>
                        </a:lnSpc>
                        <a:spcBef>
                          <a:spcPts val="0"/>
                        </a:spcBef>
                        <a:spcAft>
                          <a:spcPts val="0"/>
                        </a:spcAft>
                      </a:pPr>
                      <a:r>
                        <a:rPr sz="1050" b="0" i="0">
                          <a:solidFill>
                            <a:srgbClr val="333333"/>
                          </a:solidFill>
                          <a:latin typeface="Arial"/>
                        </a:rPr>
                        <a:t>78.3</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tc>
                  <a:txBody>
                    <a:bodyPr/>
                    <a:lstStyle/>
                    <a:p>
                      <a:pPr algn="l">
                        <a:lnSpc>
                          <a:spcPts val="1207"/>
                        </a:lnSpc>
                        <a:spcBef>
                          <a:spcPts val="0"/>
                        </a:spcBef>
                        <a:spcAft>
                          <a:spcPts val="0"/>
                        </a:spcAft>
                      </a:pPr>
                      <a:r>
                        <a:rPr sz="1050" b="0" i="0">
                          <a:solidFill>
                            <a:srgbClr val="333333"/>
                          </a:solidFill>
                          <a:latin typeface="Arial"/>
                        </a:rPr>
                        <a:t>0.89</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extLst>
                  <a:ext uri="{0D108BD9-81ED-4DB2-BD59-A6C34878D82A}">
                    <a16:rowId xmlns:a16="http://schemas.microsoft.com/office/drawing/2014/main" val="10007"/>
                  </a:ext>
                </a:extLst>
              </a:tr>
              <a:tr h="444500">
                <a:tc>
                  <a:txBody>
                    <a:bodyPr/>
                    <a:lstStyle/>
                    <a:p>
                      <a:pPr algn="l">
                        <a:lnSpc>
                          <a:spcPts val="1207"/>
                        </a:lnSpc>
                        <a:spcBef>
                          <a:spcPts val="0"/>
                        </a:spcBef>
                        <a:spcAft>
                          <a:spcPts val="0"/>
                        </a:spcAft>
                      </a:pPr>
                      <a:r>
                        <a:rPr sz="1050" b="1" i="0">
                          <a:solidFill>
                            <a:srgbClr val="333333"/>
                          </a:solidFill>
                          <a:latin typeface="Arial"/>
                        </a:rPr>
                        <a:t>Eko</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tc>
                  <a:txBody>
                    <a:bodyPr/>
                    <a:lstStyle/>
                    <a:p>
                      <a:pPr algn="l">
                        <a:lnSpc>
                          <a:spcPts val="1207"/>
                        </a:lnSpc>
                        <a:spcBef>
                          <a:spcPts val="0"/>
                        </a:spcBef>
                        <a:spcAft>
                          <a:spcPts val="0"/>
                        </a:spcAft>
                      </a:pPr>
                      <a:r>
                        <a:rPr sz="1050" b="0" i="0">
                          <a:solidFill>
                            <a:srgbClr val="333333"/>
                          </a:solidFill>
                          <a:latin typeface="Arial"/>
                        </a:rPr>
                        <a:t>Murmur · stethoscope</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tc>
                  <a:txBody>
                    <a:bodyPr/>
                    <a:lstStyle/>
                    <a:p>
                      <a:pPr algn="l">
                        <a:lnSpc>
                          <a:spcPts val="1207"/>
                        </a:lnSpc>
                        <a:spcBef>
                          <a:spcPts val="0"/>
                        </a:spcBef>
                        <a:spcAft>
                          <a:spcPts val="0"/>
                        </a:spcAft>
                      </a:pPr>
                      <a:r>
                        <a:rPr sz="1050" b="0" i="0">
                          <a:solidFill>
                            <a:srgbClr val="333333"/>
                          </a:solidFill>
                          <a:latin typeface="Arial"/>
                        </a:rPr>
                        <a:t>87.6</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tc>
                  <a:txBody>
                    <a:bodyPr/>
                    <a:lstStyle/>
                    <a:p>
                      <a:pPr algn="l">
                        <a:lnSpc>
                          <a:spcPts val="1207"/>
                        </a:lnSpc>
                        <a:spcBef>
                          <a:spcPts val="0"/>
                        </a:spcBef>
                        <a:spcAft>
                          <a:spcPts val="0"/>
                        </a:spcAft>
                      </a:pPr>
                      <a:r>
                        <a:rPr sz="1050" b="0" i="0">
                          <a:solidFill>
                            <a:srgbClr val="333333"/>
                          </a:solidFill>
                          <a:latin typeface="Arial"/>
                        </a:rPr>
                        <a:t>91.1</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tc>
                  <a:txBody>
                    <a:bodyPr/>
                    <a:lstStyle/>
                    <a:p>
                      <a:pPr algn="l">
                        <a:lnSpc>
                          <a:spcPts val="1207"/>
                        </a:lnSpc>
                        <a:spcBef>
                          <a:spcPts val="0"/>
                        </a:spcBef>
                        <a:spcAft>
                          <a:spcPts val="0"/>
                        </a:spcAft>
                      </a:pPr>
                      <a:r>
                        <a:rPr sz="1050" b="0" i="0">
                          <a:solidFill>
                            <a:srgbClr val="333333"/>
                          </a:solidFill>
                          <a:latin typeface="Arial"/>
                        </a:rPr>
                        <a:t>0.90</a:t>
                      </a:r>
                    </a:p>
                  </a:txBody>
                  <a:tcPr marL="59769" marR="47816" marT="12700" marB="12700" anchor="ctr">
                    <a:lnL w="6350" cap="flat" cmpd="sng" algn="ctr">
                      <a:solidFill>
                        <a:srgbClr val="D8DDDA"/>
                      </a:solidFill>
                      <a:prstDash val="solid"/>
                    </a:lnL>
                    <a:lnR w="6350" cap="flat" cmpd="sng" algn="ctr">
                      <a:solidFill>
                        <a:srgbClr val="D8DDDA"/>
                      </a:solidFill>
                      <a:prstDash val="solid"/>
                    </a:lnR>
                    <a:lnT w="6350" cap="flat" cmpd="sng" algn="ctr">
                      <a:solidFill>
                        <a:srgbClr val="D8DDDA"/>
                      </a:solidFill>
                      <a:prstDash val="solid"/>
                    </a:lnT>
                    <a:lnB w="6350" cap="flat" cmpd="sng" algn="ctr">
                      <a:solidFill>
                        <a:srgbClr val="D8DDDA"/>
                      </a:solidFill>
                      <a:prstDash val="solid"/>
                    </a:lnB>
                    <a:solidFill>
                      <a:srgbClr val="FDEFE2"/>
                    </a:solidFill>
                  </a:tcPr>
                </a:tc>
                <a:extLst>
                  <a:ext uri="{0D108BD9-81ED-4DB2-BD59-A6C34878D82A}">
                    <a16:rowId xmlns:a16="http://schemas.microsoft.com/office/drawing/2014/main" val="10008"/>
                  </a:ext>
                </a:extLst>
              </a:tr>
            </a:tbl>
          </a:graphicData>
        </a:graphic>
      </p:graphicFrame>
      <p:sp>
        <p:nvSpPr>
          <p:cNvPr id="7" name="Text: Se, Sp in %. Orange rows: point-of-care "/>
          <p:cNvSpPr txBox="1"/>
          <p:nvPr/>
        </p:nvSpPr>
        <p:spPr>
          <a:xfrm>
            <a:off x="4724400" y="4455067"/>
            <a:ext cx="3905250" cy="162878"/>
          </a:xfrm>
          <a:prstGeom prst="rect">
            <a:avLst/>
          </a:prstGeom>
          <a:noFill/>
        </p:spPr>
        <p:txBody>
          <a:bodyPr wrap="square" lIns="0" tIns="0" rIns="0" bIns="0" anchor="t">
            <a:noAutofit/>
          </a:bodyPr>
          <a:lstStyle/>
          <a:p>
            <a:pPr algn="l">
              <a:lnSpc>
                <a:spcPts val="1282"/>
              </a:lnSpc>
              <a:spcBef>
                <a:spcPts val="0"/>
              </a:spcBef>
              <a:spcAft>
                <a:spcPts val="0"/>
              </a:spcAft>
            </a:pPr>
            <a:r>
              <a:rPr sz="950" b="0" i="0">
                <a:solidFill>
                  <a:srgbClr val="5B6770"/>
                </a:solidFill>
                <a:latin typeface="Arial"/>
              </a:rPr>
              <a:t>Se, Sp in %. Orange rows: point-of-care / consumer devices.</a:t>
            </a:r>
          </a:p>
        </p:txBody>
      </p:sp>
      <p:grpSp>
        <p:nvGrpSpPr>
          <p:cNvPr id="14" name="Group 13">
            <a:extLst>
              <a:ext uri="{FF2B5EF4-FFF2-40B4-BE49-F238E27FC236}">
                <a16:creationId xmlns:a16="http://schemas.microsoft.com/office/drawing/2014/main" id="{4AB30A52-3BB9-75A4-A385-D8FF6376BBAD}"/>
              </a:ext>
            </a:extLst>
          </p:cNvPr>
          <p:cNvGrpSpPr/>
          <p:nvPr/>
        </p:nvGrpSpPr>
        <p:grpSpPr>
          <a:xfrm>
            <a:off x="609600" y="5096417"/>
            <a:ext cx="7924899" cy="743347"/>
            <a:chOff x="609600" y="4640560"/>
            <a:chExt cx="7924899" cy="743347"/>
          </a:xfrm>
        </p:grpSpPr>
        <p:sp>
          <p:nvSpPr>
            <p:cNvPr id="8" name="Panel"/>
            <p:cNvSpPr/>
            <p:nvPr/>
          </p:nvSpPr>
          <p:spPr>
            <a:xfrm>
              <a:off x="609600" y="4640560"/>
              <a:ext cx="2582366" cy="743347"/>
            </a:xfrm>
            <a:prstGeom prst="roundRect">
              <a:avLst>
                <a:gd name="adj" fmla="val 8542"/>
              </a:avLst>
            </a:prstGeom>
            <a:solidFill>
              <a:srgbClr val="F4F6F5"/>
            </a:solidFill>
            <a:ln>
              <a:noFill/>
            </a:ln>
          </p:spPr>
          <p:txBody>
            <a:bodyPr rtlCol="0" anchor="ctr"/>
            <a:lstStyle/>
            <a:p>
              <a:pPr algn="ctr"/>
              <a:endParaRPr/>
            </a:p>
          </p:txBody>
        </p:sp>
        <p:sp>
          <p:nvSpPr>
            <p:cNvPr id="9" name="Text: Scope: 6 of 8 are imaging or genomics AI"/>
            <p:cNvSpPr txBox="1"/>
            <p:nvPr/>
          </p:nvSpPr>
          <p:spPr>
            <a:xfrm>
              <a:off x="711200" y="4729460"/>
              <a:ext cx="2438646"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Scope:</a:t>
              </a:r>
              <a:r>
                <a:rPr sz="1100" b="0" i="0">
                  <a:solidFill>
                    <a:srgbClr val="333333"/>
                  </a:solidFill>
                  <a:latin typeface="Arial"/>
                </a:rPr>
                <a:t> 6 of 8 are imaging or genomics AI; only Eko and SkinVision are point-of-care.</a:t>
              </a:r>
            </a:p>
          </p:txBody>
        </p:sp>
        <p:sp>
          <p:nvSpPr>
            <p:cNvPr id="10" name="Panel"/>
            <p:cNvSpPr/>
            <p:nvPr/>
          </p:nvSpPr>
          <p:spPr>
            <a:xfrm>
              <a:off x="3280866" y="4640560"/>
              <a:ext cx="2582366" cy="743347"/>
            </a:xfrm>
            <a:prstGeom prst="roundRect">
              <a:avLst>
                <a:gd name="adj" fmla="val 8542"/>
              </a:avLst>
            </a:prstGeom>
            <a:solidFill>
              <a:srgbClr val="F4F6F5"/>
            </a:solidFill>
            <a:ln>
              <a:noFill/>
            </a:ln>
          </p:spPr>
          <p:txBody>
            <a:bodyPr rtlCol="0" anchor="ctr"/>
            <a:lstStyle/>
            <a:p>
              <a:pPr algn="ctr"/>
              <a:endParaRPr/>
            </a:p>
          </p:txBody>
        </p:sp>
        <p:sp>
          <p:nvSpPr>
            <p:cNvPr id="11" name="Text: Benchmark: none reaches the authors' own"/>
            <p:cNvSpPr txBox="1"/>
            <p:nvPr/>
          </p:nvSpPr>
          <p:spPr>
            <a:xfrm>
              <a:off x="3382466" y="4729460"/>
              <a:ext cx="2438646"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Benchmark:</a:t>
              </a:r>
              <a:r>
                <a:rPr sz="1100" b="0" i="0">
                  <a:solidFill>
                    <a:srgbClr val="333333"/>
                  </a:solidFill>
                  <a:latin typeface="Arial"/>
                </a:rPr>
                <a:t> none reaches the authors' own 99% sensitivity (range 87.6–95.1%).</a:t>
              </a:r>
            </a:p>
          </p:txBody>
        </p:sp>
        <p:sp>
          <p:nvSpPr>
            <p:cNvPr id="12" name="Panel"/>
            <p:cNvSpPr/>
            <p:nvPr/>
          </p:nvSpPr>
          <p:spPr>
            <a:xfrm>
              <a:off x="5952133" y="4640560"/>
              <a:ext cx="2582366" cy="743347"/>
            </a:xfrm>
            <a:prstGeom prst="roundRect">
              <a:avLst>
                <a:gd name="adj" fmla="val 8542"/>
              </a:avLst>
            </a:prstGeom>
            <a:solidFill>
              <a:srgbClr val="F4F6F5"/>
            </a:solidFill>
            <a:ln>
              <a:noFill/>
            </a:ln>
          </p:spPr>
          <p:txBody>
            <a:bodyPr rtlCol="0" anchor="ctr"/>
            <a:lstStyle/>
            <a:p>
              <a:pPr algn="ctr"/>
              <a:endParaRPr/>
            </a:p>
          </p:txBody>
        </p:sp>
        <p:sp>
          <p:nvSpPr>
            <p:cNvPr id="13" name="Text: Best discriminator: PathAI, AUC 0.98 on "/>
            <p:cNvSpPr txBox="1"/>
            <p:nvPr/>
          </p:nvSpPr>
          <p:spPr>
            <a:xfrm>
              <a:off x="6053733" y="4729460"/>
              <a:ext cx="2438646"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Best discriminator:</a:t>
              </a:r>
              <a:r>
                <a:rPr sz="1100" b="0" i="0">
                  <a:solidFill>
                    <a:srgbClr val="333333"/>
                  </a:solidFill>
                  <a:latin typeface="Arial"/>
                </a:rPr>
                <a:t> PathAI, AUC 0.98 on H&amp;E histopathology.</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20</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PPV depends on prevalence, not just accuracy</a:t>
            </a:r>
          </a:p>
        </p:txBody>
      </p:sp>
      <p:sp>
        <p:nvSpPr>
          <p:cNvPr id="3" name="Text: RESULTS · BEYOND THE PAPER: WHAT A POSIT"/>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RESULTS · BEYOND THE PAPER: WHAT A POSITIVE ALERT MEANS</a:t>
            </a:r>
          </a:p>
        </p:txBody>
      </p:sp>
      <p:sp>
        <p:nvSpPr>
          <p:cNvPr id="4" name="Text: Positive predictive value vs prevalence,"/>
          <p:cNvSpPr txBox="1"/>
          <p:nvPr/>
        </p:nvSpPr>
        <p:spPr>
          <a:xfrm>
            <a:off x="609600" y="1157908"/>
            <a:ext cx="4946650" cy="330200"/>
          </a:xfrm>
          <a:prstGeom prst="rect">
            <a:avLst/>
          </a:prstGeom>
          <a:noFill/>
        </p:spPr>
        <p:txBody>
          <a:bodyPr wrap="square" lIns="0" tIns="0" rIns="0" bIns="0" anchor="t">
            <a:noAutofit/>
          </a:bodyPr>
          <a:lstStyle/>
          <a:p>
            <a:pPr algn="l">
              <a:lnSpc>
                <a:spcPts val="1264"/>
              </a:lnSpc>
              <a:spcBef>
                <a:spcPts val="0"/>
              </a:spcBef>
              <a:spcAft>
                <a:spcPts val="0"/>
              </a:spcAft>
            </a:pPr>
            <a:r>
              <a:rPr sz="1100" b="1" i="0" dirty="0">
                <a:solidFill>
                  <a:srgbClr val="154734"/>
                </a:solidFill>
                <a:latin typeface="Arial"/>
              </a:rPr>
              <a:t>Positive predictive value vs prevalence, from Table 5 Se/</a:t>
            </a:r>
            <a:r>
              <a:rPr sz="1100" b="1" i="0" dirty="0" err="1">
                <a:solidFill>
                  <a:srgbClr val="154734"/>
                </a:solidFill>
                <a:latin typeface="Arial"/>
              </a:rPr>
              <a:t>Sp</a:t>
            </a:r>
            <a:r>
              <a:rPr sz="1100" b="1" i="0" dirty="0">
                <a:solidFill>
                  <a:srgbClr val="154734"/>
                </a:solidFill>
                <a:latin typeface="Arial"/>
              </a:rPr>
              <a:t> (my calculation)</a:t>
            </a:r>
          </a:p>
        </p:txBody>
      </p:sp>
      <p:graphicFrame>
        <p:nvGraphicFramePr>
          <p:cNvPr id="5" name="Chart: PPV vs prevalence"/>
          <p:cNvGraphicFramePr>
            <a:graphicFrameLocks noGrp="1"/>
          </p:cNvGraphicFramePr>
          <p:nvPr>
            <p:extLst>
              <p:ext uri="{D42A27DB-BD31-4B8C-83A1-F6EECF244321}">
                <p14:modId xmlns:p14="http://schemas.microsoft.com/office/powerpoint/2010/main" val="1618048197"/>
              </p:ext>
            </p:extLst>
          </p:nvPr>
        </p:nvGraphicFramePr>
        <p:xfrm>
          <a:off x="609600" y="1518346"/>
          <a:ext cx="4826000" cy="37465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PPV = Se·p / [Se·p + (1 − Sp)(1 − p)]; a"/>
          <p:cNvSpPr txBox="1"/>
          <p:nvPr/>
        </p:nvSpPr>
        <p:spPr>
          <a:xfrm>
            <a:off x="609600" y="5331936"/>
            <a:ext cx="4946650" cy="325636"/>
          </a:xfrm>
          <a:prstGeom prst="rect">
            <a:avLst/>
          </a:prstGeom>
          <a:noFill/>
        </p:spPr>
        <p:txBody>
          <a:bodyPr wrap="square" lIns="0" tIns="0" rIns="0" bIns="0" anchor="t">
            <a:noAutofit/>
          </a:bodyPr>
          <a:lstStyle/>
          <a:p>
            <a:pPr algn="l">
              <a:lnSpc>
                <a:spcPts val="1282"/>
              </a:lnSpc>
              <a:spcBef>
                <a:spcPts val="0"/>
              </a:spcBef>
              <a:spcAft>
                <a:spcPts val="0"/>
              </a:spcAft>
            </a:pPr>
            <a:r>
              <a:rPr sz="950" b="0" i="0" dirty="0">
                <a:solidFill>
                  <a:srgbClr val="5B6770"/>
                </a:solidFill>
                <a:latin typeface="Arial"/>
              </a:rPr>
              <a:t>PPV = </a:t>
            </a:r>
            <a:r>
              <a:rPr sz="950" b="0" i="0" dirty="0" err="1">
                <a:solidFill>
                  <a:srgbClr val="5B6770"/>
                </a:solidFill>
                <a:latin typeface="Arial"/>
              </a:rPr>
              <a:t>Se·p</a:t>
            </a:r>
            <a:r>
              <a:rPr sz="950" b="0" i="0" dirty="0">
                <a:solidFill>
                  <a:srgbClr val="5B6770"/>
                </a:solidFill>
                <a:latin typeface="Arial"/>
              </a:rPr>
              <a:t> / [</a:t>
            </a:r>
            <a:r>
              <a:rPr sz="950" b="0" i="0" dirty="0" err="1">
                <a:solidFill>
                  <a:srgbClr val="5B6770"/>
                </a:solidFill>
                <a:latin typeface="Arial"/>
              </a:rPr>
              <a:t>Se·p</a:t>
            </a:r>
            <a:r>
              <a:rPr sz="950" b="0" i="0" dirty="0">
                <a:solidFill>
                  <a:srgbClr val="5B6770"/>
                </a:solidFill>
                <a:latin typeface="Arial"/>
              </a:rPr>
              <a:t> + (1 − </a:t>
            </a:r>
            <a:r>
              <a:rPr sz="950" b="0" i="0" dirty="0" err="1">
                <a:solidFill>
                  <a:srgbClr val="5B6770"/>
                </a:solidFill>
                <a:latin typeface="Arial"/>
              </a:rPr>
              <a:t>Sp</a:t>
            </a:r>
            <a:r>
              <a:rPr sz="950" b="0" i="0" dirty="0">
                <a:solidFill>
                  <a:srgbClr val="5B6770"/>
                </a:solidFill>
                <a:latin typeface="Arial"/>
              </a:rPr>
              <a:t>)(1 − p)]; assumes Se and </a:t>
            </a:r>
            <a:r>
              <a:rPr sz="950" b="0" i="0" dirty="0" err="1">
                <a:solidFill>
                  <a:srgbClr val="5B6770"/>
                </a:solidFill>
                <a:latin typeface="Arial"/>
              </a:rPr>
              <a:t>Sp</a:t>
            </a:r>
            <a:r>
              <a:rPr sz="950" b="0" i="0" dirty="0">
                <a:solidFill>
                  <a:srgbClr val="5B6770"/>
                </a:solidFill>
                <a:latin typeface="Arial"/>
              </a:rPr>
              <a:t> transfer to the screened population.</a:t>
            </a:r>
          </a:p>
        </p:txBody>
      </p:sp>
      <p:grpSp>
        <p:nvGrpSpPr>
          <p:cNvPr id="20" name="Group 19">
            <a:extLst>
              <a:ext uri="{FF2B5EF4-FFF2-40B4-BE49-F238E27FC236}">
                <a16:creationId xmlns:a16="http://schemas.microsoft.com/office/drawing/2014/main" id="{E85C9C48-6DA5-540A-180A-66F570D088A1}"/>
              </a:ext>
            </a:extLst>
          </p:cNvPr>
          <p:cNvGrpSpPr/>
          <p:nvPr/>
        </p:nvGrpSpPr>
        <p:grpSpPr>
          <a:xfrm>
            <a:off x="5556250" y="1530219"/>
            <a:ext cx="3032125" cy="2305248"/>
            <a:chOff x="5575300" y="1021060"/>
            <a:chExt cx="3032125" cy="2305248"/>
          </a:xfrm>
        </p:grpSpPr>
        <p:sp>
          <p:nvSpPr>
            <p:cNvPr id="7" name="Text: At 1% prevalence"/>
            <p:cNvSpPr txBox="1"/>
            <p:nvPr/>
          </p:nvSpPr>
          <p:spPr>
            <a:xfrm>
              <a:off x="5613400" y="1021060"/>
              <a:ext cx="2994025"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dirty="0">
                  <a:solidFill>
                    <a:srgbClr val="154734"/>
                  </a:solidFill>
                  <a:latin typeface="Arial"/>
                </a:rPr>
                <a:t>At 1% prevalence</a:t>
              </a:r>
            </a:p>
          </p:txBody>
        </p:sp>
        <p:sp>
          <p:nvSpPr>
            <p:cNvPr id="8" name="Text: 4.2%"/>
            <p:cNvSpPr txBox="1"/>
            <p:nvPr/>
          </p:nvSpPr>
          <p:spPr>
            <a:xfrm>
              <a:off x="5575300" y="1262360"/>
              <a:ext cx="800100" cy="266700"/>
            </a:xfrm>
            <a:prstGeom prst="rect">
              <a:avLst/>
            </a:prstGeom>
            <a:noFill/>
          </p:spPr>
          <p:txBody>
            <a:bodyPr wrap="square" lIns="0" tIns="0" rIns="0" bIns="0" anchor="t">
              <a:noAutofit/>
            </a:bodyPr>
            <a:lstStyle/>
            <a:p>
              <a:pPr algn="r">
                <a:lnSpc>
                  <a:spcPts val="2070"/>
                </a:lnSpc>
                <a:spcBef>
                  <a:spcPts val="0"/>
                </a:spcBef>
                <a:spcAft>
                  <a:spcPts val="0"/>
                </a:spcAft>
              </a:pPr>
              <a:r>
                <a:rPr sz="1800" b="1" i="0">
                  <a:solidFill>
                    <a:srgbClr val="D46A00"/>
                  </a:solidFill>
                  <a:latin typeface="Arial"/>
                </a:rPr>
                <a:t>4.2%</a:t>
              </a:r>
            </a:p>
          </p:txBody>
        </p:sp>
        <p:sp>
          <p:nvSpPr>
            <p:cNvPr id="9" name="Text: SkinVision (Se 95.1, Sp 78.3)"/>
            <p:cNvSpPr txBox="1"/>
            <p:nvPr/>
          </p:nvSpPr>
          <p:spPr>
            <a:xfrm>
              <a:off x="6464300" y="1338560"/>
              <a:ext cx="2121852" cy="173355"/>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SkinVision (Se 95.1, Sp 78.3)</a:t>
              </a:r>
            </a:p>
          </p:txBody>
        </p:sp>
        <p:sp>
          <p:nvSpPr>
            <p:cNvPr id="10" name="Text: 9.0%"/>
            <p:cNvSpPr txBox="1"/>
            <p:nvPr/>
          </p:nvSpPr>
          <p:spPr>
            <a:xfrm>
              <a:off x="5575300" y="1605260"/>
              <a:ext cx="800100" cy="266700"/>
            </a:xfrm>
            <a:prstGeom prst="rect">
              <a:avLst/>
            </a:prstGeom>
            <a:noFill/>
          </p:spPr>
          <p:txBody>
            <a:bodyPr wrap="square" lIns="0" tIns="0" rIns="0" bIns="0" anchor="t">
              <a:noAutofit/>
            </a:bodyPr>
            <a:lstStyle/>
            <a:p>
              <a:pPr algn="r">
                <a:lnSpc>
                  <a:spcPts val="2070"/>
                </a:lnSpc>
                <a:spcBef>
                  <a:spcPts val="0"/>
                </a:spcBef>
                <a:spcAft>
                  <a:spcPts val="0"/>
                </a:spcAft>
              </a:pPr>
              <a:r>
                <a:rPr sz="1800" b="1" i="0">
                  <a:solidFill>
                    <a:srgbClr val="0077A8"/>
                  </a:solidFill>
                  <a:latin typeface="Arial"/>
                </a:rPr>
                <a:t>9.0%</a:t>
              </a:r>
            </a:p>
          </p:txBody>
        </p:sp>
        <p:sp>
          <p:nvSpPr>
            <p:cNvPr id="11" name="Text: Eko (Se 87.6, Sp 91.1)"/>
            <p:cNvSpPr txBox="1"/>
            <p:nvPr/>
          </p:nvSpPr>
          <p:spPr>
            <a:xfrm>
              <a:off x="6464300" y="1681460"/>
              <a:ext cx="2121852" cy="173355"/>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Eko (Se 87.6, Sp 91.1)</a:t>
              </a:r>
            </a:p>
          </p:txBody>
        </p:sp>
        <p:sp>
          <p:nvSpPr>
            <p:cNvPr id="12" name="Text: 13.4%"/>
            <p:cNvSpPr txBox="1"/>
            <p:nvPr/>
          </p:nvSpPr>
          <p:spPr>
            <a:xfrm>
              <a:off x="5575300" y="1948160"/>
              <a:ext cx="800100" cy="266700"/>
            </a:xfrm>
            <a:prstGeom prst="rect">
              <a:avLst/>
            </a:prstGeom>
            <a:noFill/>
          </p:spPr>
          <p:txBody>
            <a:bodyPr wrap="square" lIns="0" tIns="0" rIns="0" bIns="0" anchor="t">
              <a:noAutofit/>
            </a:bodyPr>
            <a:lstStyle/>
            <a:p>
              <a:pPr algn="r">
                <a:lnSpc>
                  <a:spcPts val="2070"/>
                </a:lnSpc>
                <a:spcBef>
                  <a:spcPts val="0"/>
                </a:spcBef>
                <a:spcAft>
                  <a:spcPts val="0"/>
                </a:spcAft>
              </a:pPr>
              <a:r>
                <a:rPr sz="1800" b="1" i="0">
                  <a:solidFill>
                    <a:srgbClr val="2E8B57"/>
                  </a:solidFill>
                  <a:latin typeface="Arial"/>
                </a:rPr>
                <a:t>13.4%</a:t>
              </a:r>
            </a:p>
          </p:txBody>
        </p:sp>
        <p:sp>
          <p:nvSpPr>
            <p:cNvPr id="13" name="Text: PathAI (Se 94.6, Sp 93.8)"/>
            <p:cNvSpPr txBox="1"/>
            <p:nvPr/>
          </p:nvSpPr>
          <p:spPr>
            <a:xfrm>
              <a:off x="6464300" y="2024360"/>
              <a:ext cx="2121852" cy="173355"/>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PathAI (Se 94.6, Sp 93.8)</a:t>
              </a:r>
            </a:p>
          </p:txBody>
        </p:sp>
        <p:sp>
          <p:nvSpPr>
            <p:cNvPr id="14" name="Text: 4.8%"/>
            <p:cNvSpPr txBox="1"/>
            <p:nvPr/>
          </p:nvSpPr>
          <p:spPr>
            <a:xfrm>
              <a:off x="5575300" y="2291060"/>
              <a:ext cx="800100" cy="266700"/>
            </a:xfrm>
            <a:prstGeom prst="rect">
              <a:avLst/>
            </a:prstGeom>
            <a:noFill/>
          </p:spPr>
          <p:txBody>
            <a:bodyPr wrap="square" lIns="0" tIns="0" rIns="0" bIns="0" anchor="t">
              <a:noAutofit/>
            </a:bodyPr>
            <a:lstStyle/>
            <a:p>
              <a:pPr algn="r">
                <a:lnSpc>
                  <a:spcPts val="2070"/>
                </a:lnSpc>
                <a:spcBef>
                  <a:spcPts val="0"/>
                </a:spcBef>
                <a:spcAft>
                  <a:spcPts val="0"/>
                </a:spcAft>
              </a:pPr>
              <a:r>
                <a:rPr sz="1800" b="1" i="0">
                  <a:solidFill>
                    <a:srgbClr val="8E5AA8"/>
                  </a:solidFill>
                  <a:latin typeface="Arial"/>
                </a:rPr>
                <a:t>4.8%</a:t>
              </a:r>
            </a:p>
          </p:txBody>
        </p:sp>
        <p:sp>
          <p:nvSpPr>
            <p:cNvPr id="15" name="Text: authors' benchmark (Se 99, Sp 80)"/>
            <p:cNvSpPr txBox="1"/>
            <p:nvPr/>
          </p:nvSpPr>
          <p:spPr>
            <a:xfrm>
              <a:off x="6464300" y="2367260"/>
              <a:ext cx="2121852" cy="173355"/>
            </a:xfrm>
            <a:prstGeom prst="rect">
              <a:avLst/>
            </a:prstGeom>
            <a:noFill/>
          </p:spPr>
          <p:txBody>
            <a:bodyPr wrap="square" lIns="0" tIns="0" rIns="0" bIns="0" anchor="t">
              <a:noAutofit/>
            </a:bodyPr>
            <a:lstStyle/>
            <a:p>
              <a:pPr algn="l">
                <a:lnSpc>
                  <a:spcPts val="1365"/>
                </a:lnSpc>
                <a:spcBef>
                  <a:spcPts val="0"/>
                </a:spcBef>
                <a:spcAft>
                  <a:spcPts val="0"/>
                </a:spcAft>
              </a:pPr>
              <a:r>
                <a:rPr sz="1050" b="0" i="0">
                  <a:solidFill>
                    <a:srgbClr val="333333"/>
                  </a:solidFill>
                  <a:latin typeface="Arial"/>
                </a:rPr>
                <a:t>authors' benchmark (Se 99, Sp 80)</a:t>
              </a:r>
            </a:p>
          </p:txBody>
        </p:sp>
        <p:sp>
          <p:nvSpPr>
            <p:cNvPr id="16" name="Panel"/>
            <p:cNvSpPr/>
            <p:nvPr/>
          </p:nvSpPr>
          <p:spPr>
            <a:xfrm>
              <a:off x="5613400" y="2633960"/>
              <a:ext cx="2921000" cy="692348"/>
            </a:xfrm>
            <a:prstGeom prst="roundRect">
              <a:avLst>
                <a:gd name="adj" fmla="val 9171"/>
              </a:avLst>
            </a:prstGeom>
            <a:solidFill>
              <a:srgbClr val="FDEFE2"/>
            </a:solidFill>
            <a:ln>
              <a:noFill/>
            </a:ln>
          </p:spPr>
          <p:txBody>
            <a:bodyPr rtlCol="0" anchor="ctr"/>
            <a:lstStyle/>
            <a:p>
              <a:pPr algn="ctr"/>
              <a:endParaRPr/>
            </a:p>
          </p:txBody>
        </p:sp>
        <p:sp>
          <p:nvSpPr>
            <p:cNvPr id="17" name="Text: Screen 1,000 people with SkinVision: 9–1"/>
            <p:cNvSpPr txBox="1"/>
            <p:nvPr/>
          </p:nvSpPr>
          <p:spPr>
            <a:xfrm>
              <a:off x="5702300" y="2710160"/>
              <a:ext cx="2811780" cy="539948"/>
            </a:xfrm>
            <a:prstGeom prst="rect">
              <a:avLst/>
            </a:prstGeom>
            <a:noFill/>
          </p:spPr>
          <p:txBody>
            <a:bodyPr wrap="square" lIns="0" tIns="0" rIns="0" bIns="0" anchor="t">
              <a:noAutofit/>
            </a:bodyPr>
            <a:lstStyle/>
            <a:p>
              <a:pPr algn="l">
                <a:lnSpc>
                  <a:spcPts val="1417"/>
                </a:lnSpc>
                <a:spcBef>
                  <a:spcPts val="0"/>
                </a:spcBef>
                <a:spcAft>
                  <a:spcPts val="0"/>
                </a:spcAft>
              </a:pPr>
              <a:r>
                <a:rPr sz="1050" b="0" i="0">
                  <a:solidFill>
                    <a:srgbClr val="333333"/>
                  </a:solidFill>
                  <a:latin typeface="Arial"/>
                </a:rPr>
                <a:t>Screen 1,000 people with SkinVision: 9–10 of the 10 melanomas are flagged, along with </a:t>
              </a:r>
              <a:r>
                <a:rPr sz="1050" b="1" i="0">
                  <a:solidFill>
                    <a:srgbClr val="333333"/>
                  </a:solidFill>
                  <a:latin typeface="Arial"/>
                </a:rPr>
                <a:t>~215 false alarms</a:t>
              </a:r>
              <a:r>
                <a:rPr sz="1050" b="0" i="0">
                  <a:solidFill>
                    <a:srgbClr val="333333"/>
                  </a:solidFill>
                  <a:latin typeface="Arial"/>
                </a:rPr>
                <a:t>.</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21</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grpSp>
        <p:nvGrpSpPr>
          <p:cNvPr id="24" name="Group 23">
            <a:extLst>
              <a:ext uri="{FF2B5EF4-FFF2-40B4-BE49-F238E27FC236}">
                <a16:creationId xmlns:a16="http://schemas.microsoft.com/office/drawing/2014/main" id="{B90DA0E3-EEBB-F570-F778-45E42F056A11}"/>
              </a:ext>
            </a:extLst>
          </p:cNvPr>
          <p:cNvGrpSpPr/>
          <p:nvPr/>
        </p:nvGrpSpPr>
        <p:grpSpPr>
          <a:xfrm>
            <a:off x="5537660" y="4433048"/>
            <a:ext cx="3194860" cy="1358133"/>
            <a:chOff x="6485860" y="5193116"/>
            <a:chExt cx="2048589" cy="870854"/>
          </a:xfrm>
        </p:grpSpPr>
        <p:sp>
          <p:nvSpPr>
            <p:cNvPr id="25" name="Panel">
              <a:extLst>
                <a:ext uri="{FF2B5EF4-FFF2-40B4-BE49-F238E27FC236}">
                  <a16:creationId xmlns:a16="http://schemas.microsoft.com/office/drawing/2014/main" id="{CE26DF3D-B5CC-B2AC-844D-6A3F083AF03E}"/>
                </a:ext>
              </a:extLst>
            </p:cNvPr>
            <p:cNvSpPr/>
            <p:nvPr/>
          </p:nvSpPr>
          <p:spPr>
            <a:xfrm>
              <a:off x="6485860" y="5232097"/>
              <a:ext cx="2048589" cy="783420"/>
            </a:xfrm>
            <a:prstGeom prst="roundRect">
              <a:avLst>
                <a:gd name="adj" fmla="val 7562"/>
              </a:avLst>
            </a:prstGeom>
            <a:solidFill>
              <a:srgbClr val="EAF4FA"/>
            </a:solidFill>
            <a:ln>
              <a:noFill/>
            </a:ln>
          </p:spPr>
          <p:txBody>
            <a:bodyPr rtlCol="0" anchor="ctr"/>
            <a:lstStyle/>
            <a:p>
              <a:pPr algn="ctr"/>
              <a:endParaRPr/>
            </a:p>
          </p:txBody>
        </p:sp>
        <p:sp>
          <p:nvSpPr>
            <p:cNvPr id="28" name="Text: Interactive: episode-capture model (clin">
              <a:hlinkClick r:id="rId4"/>
              <a:extLst>
                <a:ext uri="{FF2B5EF4-FFF2-40B4-BE49-F238E27FC236}">
                  <a16:creationId xmlns:a16="http://schemas.microsoft.com/office/drawing/2014/main" id="{E101BCE4-0CE8-4030-ED51-AE2F244E789A}"/>
                </a:ext>
              </a:extLst>
            </p:cNvPr>
            <p:cNvSpPr txBox="1"/>
            <p:nvPr/>
          </p:nvSpPr>
          <p:spPr>
            <a:xfrm>
              <a:off x="6715912" y="5356187"/>
              <a:ext cx="967563" cy="544711"/>
            </a:xfrm>
            <a:prstGeom prst="rect">
              <a:avLst/>
            </a:prstGeom>
            <a:noFill/>
          </p:spPr>
          <p:txBody>
            <a:bodyPr wrap="square" lIns="0" tIns="0" rIns="0" bIns="0" anchor="t">
              <a:noAutofit/>
            </a:bodyPr>
            <a:lstStyle/>
            <a:p>
              <a:pPr algn="l">
                <a:lnSpc>
                  <a:spcPts val="1430"/>
                </a:lnSpc>
                <a:spcBef>
                  <a:spcPts val="0"/>
                </a:spcBef>
                <a:spcAft>
                  <a:spcPts val="0"/>
                </a:spcAft>
              </a:pPr>
              <a:endParaRPr lang="en-US" sz="1100" b="1" i="0" dirty="0">
                <a:solidFill>
                  <a:srgbClr val="0077A8"/>
                </a:solidFill>
                <a:latin typeface="Arial"/>
              </a:endParaRPr>
            </a:p>
            <a:p>
              <a:pPr algn="l">
                <a:lnSpc>
                  <a:spcPts val="1430"/>
                </a:lnSpc>
                <a:spcBef>
                  <a:spcPts val="0"/>
                </a:spcBef>
                <a:spcAft>
                  <a:spcPts val="0"/>
                </a:spcAft>
              </a:pPr>
              <a:r>
                <a:rPr sz="1600" b="1" i="0" dirty="0">
                  <a:solidFill>
                    <a:srgbClr val="0077A8"/>
                  </a:solidFill>
                  <a:latin typeface="Arial"/>
                </a:rPr>
                <a:t>Interactive</a:t>
              </a:r>
              <a:r>
                <a:rPr lang="en-US" sz="1600" b="1" dirty="0">
                  <a:solidFill>
                    <a:srgbClr val="0077A8"/>
                  </a:solidFill>
                  <a:latin typeface="Arial"/>
                </a:rPr>
                <a:t> </a:t>
              </a:r>
            </a:p>
            <a:p>
              <a:pPr algn="l">
                <a:lnSpc>
                  <a:spcPts val="1430"/>
                </a:lnSpc>
                <a:spcBef>
                  <a:spcPts val="0"/>
                </a:spcBef>
                <a:spcAft>
                  <a:spcPts val="0"/>
                </a:spcAft>
              </a:pPr>
              <a:r>
                <a:rPr lang="en-US" sz="1600" b="1" dirty="0">
                  <a:solidFill>
                    <a:srgbClr val="0077A8"/>
                  </a:solidFill>
                  <a:latin typeface="Arial"/>
                </a:rPr>
                <a:t>Visualization:</a:t>
              </a:r>
            </a:p>
            <a:p>
              <a:pPr>
                <a:lnSpc>
                  <a:spcPct val="150000"/>
                </a:lnSpc>
              </a:pPr>
              <a:endParaRPr sz="1100" b="0" i="0" dirty="0">
                <a:solidFill>
                  <a:schemeClr val="accent5">
                    <a:lumMod val="90000"/>
                    <a:lumOff val="10000"/>
                  </a:schemeClr>
                </a:solidFill>
                <a:latin typeface="Arial"/>
              </a:endParaRPr>
            </a:p>
          </p:txBody>
        </p:sp>
        <p:pic>
          <p:nvPicPr>
            <p:cNvPr id="29" name="Picture 28">
              <a:extLst>
                <a:ext uri="{FF2B5EF4-FFF2-40B4-BE49-F238E27FC236}">
                  <a16:creationId xmlns:a16="http://schemas.microsoft.com/office/drawing/2014/main" id="{1A945287-C82E-C34A-1069-ABF9C2C49729}"/>
                </a:ext>
              </a:extLst>
            </p:cNvPr>
            <p:cNvPicPr>
              <a:picLocks noChangeAspect="1"/>
            </p:cNvPicPr>
            <p:nvPr/>
          </p:nvPicPr>
          <p:blipFill>
            <a:blip r:embed="rId5"/>
            <a:stretch>
              <a:fillRect/>
            </a:stretch>
          </p:blipFill>
          <p:spPr>
            <a:xfrm>
              <a:off x="7549624" y="5193116"/>
              <a:ext cx="870854" cy="870854"/>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The barriers are now data, trust and regulation</a:t>
            </a:r>
          </a:p>
        </p:txBody>
      </p:sp>
      <p:sp>
        <p:nvSpPr>
          <p:cNvPr id="3" name="Text: DISCUSSION · CHALLENGES · FIG. 11 (§5)"/>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DISCUSSION · CHALLENGES · FIG. 11 (§5)</a:t>
            </a:r>
          </a:p>
        </p:txBody>
      </p:sp>
      <p:grpSp>
        <p:nvGrpSpPr>
          <p:cNvPr id="22" name="Group 21">
            <a:extLst>
              <a:ext uri="{FF2B5EF4-FFF2-40B4-BE49-F238E27FC236}">
                <a16:creationId xmlns:a16="http://schemas.microsoft.com/office/drawing/2014/main" id="{6BADAA55-D907-6612-A77F-255853D06A93}"/>
              </a:ext>
            </a:extLst>
          </p:cNvPr>
          <p:cNvGrpSpPr/>
          <p:nvPr/>
        </p:nvGrpSpPr>
        <p:grpSpPr>
          <a:xfrm>
            <a:off x="665480" y="1341834"/>
            <a:ext cx="8011160" cy="4174331"/>
            <a:chOff x="609600" y="1059160"/>
            <a:chExt cx="8011160" cy="4174331"/>
          </a:xfrm>
        </p:grpSpPr>
        <p:sp>
          <p:nvSpPr>
            <p:cNvPr id="4" name="Panel"/>
            <p:cNvSpPr/>
            <p:nvPr/>
          </p:nvSpPr>
          <p:spPr>
            <a:xfrm>
              <a:off x="609600" y="1059160"/>
              <a:ext cx="4318000" cy="2876550"/>
            </a:xfrm>
            <a:prstGeom prst="roundRect">
              <a:avLst>
                <a:gd name="adj" fmla="val 1324"/>
              </a:avLst>
            </a:prstGeom>
            <a:solidFill>
              <a:srgbClr val="FFFFFF"/>
            </a:solidFill>
            <a:ln w="6350" cap="flat">
              <a:solidFill>
                <a:srgbClr val="D8DDDA"/>
              </a:solidFill>
            </a:ln>
          </p:spPr>
          <p:txBody>
            <a:bodyPr rtlCol="0" anchor="ctr"/>
            <a:lstStyle/>
            <a:p>
              <a:pPr algn="ctr"/>
              <a:endParaRPr/>
            </a:p>
          </p:txBody>
        </p:sp>
        <p:pic>
          <p:nvPicPr>
            <p:cNvPr id="5" name="Image (fig11)" descr="Figure 11: Venn diagram of data, AI and EHRs with panels for ethical and privacy concerns, regulatory compliance (FDA, GDPR) and legal accountability"/>
            <p:cNvPicPr>
              <a:picLocks noChangeAspect="1"/>
            </p:cNvPicPr>
            <p:nvPr/>
          </p:nvPicPr>
          <p:blipFill>
            <a:blip r:embed="rId3"/>
            <a:stretch>
              <a:fillRect/>
            </a:stretch>
          </p:blipFill>
          <p:spPr>
            <a:xfrm>
              <a:off x="620712" y="1065510"/>
              <a:ext cx="4295775" cy="2863850"/>
            </a:xfrm>
            <a:prstGeom prst="rect">
              <a:avLst/>
            </a:prstGeom>
          </p:spPr>
        </p:pic>
        <p:sp>
          <p:nvSpPr>
            <p:cNvPr id="6" name="Text: Fig. 11 — Data + AI + EHR must satisfy e"/>
            <p:cNvSpPr txBox="1"/>
            <p:nvPr/>
          </p:nvSpPr>
          <p:spPr>
            <a:xfrm>
              <a:off x="609600" y="3973810"/>
              <a:ext cx="4425950" cy="514350"/>
            </a:xfrm>
            <a:prstGeom prst="rect">
              <a:avLst/>
            </a:prstGeom>
            <a:noFill/>
          </p:spPr>
          <p:txBody>
            <a:bodyPr wrap="square" lIns="0" tIns="0" rIns="0" bIns="0" anchor="t">
              <a:noAutofit/>
            </a:bodyPr>
            <a:lstStyle/>
            <a:p>
              <a:pPr algn="l">
                <a:lnSpc>
                  <a:spcPts val="1350"/>
                </a:lnSpc>
                <a:spcBef>
                  <a:spcPts val="0"/>
                </a:spcBef>
                <a:spcAft>
                  <a:spcPts val="0"/>
                </a:spcAft>
              </a:pPr>
              <a:r>
                <a:rPr sz="1000" b="1" i="0">
                  <a:solidFill>
                    <a:srgbClr val="5B6770"/>
                  </a:solidFill>
                  <a:latin typeface="Arial"/>
                </a:rPr>
                <a:t>Fig. 11</a:t>
              </a:r>
              <a:r>
                <a:rPr sz="1000" b="0" i="0">
                  <a:solidFill>
                    <a:srgbClr val="5B6770"/>
                  </a:solidFill>
                  <a:latin typeface="Arial"/>
                </a:rPr>
                <a:t> — Data + AI + EHR must satisfy ethics &amp; privacy (encryption, bias, consent), regulation (FDA, GDPR; AES-256, role-based access) and legal accountability (liability, audit trails).</a:t>
              </a:r>
            </a:p>
          </p:txBody>
        </p:sp>
        <p:sp>
          <p:nvSpPr>
            <p:cNvPr id="7" name="Panel"/>
            <p:cNvSpPr/>
            <p:nvPr/>
          </p:nvSpPr>
          <p:spPr>
            <a:xfrm>
              <a:off x="5080000" y="1059160"/>
              <a:ext cx="1689100" cy="949821"/>
            </a:xfrm>
            <a:prstGeom prst="roundRect">
              <a:avLst>
                <a:gd name="adj" fmla="val 6685"/>
              </a:avLst>
            </a:prstGeom>
            <a:solidFill>
              <a:srgbClr val="F4F6F5"/>
            </a:solidFill>
            <a:ln>
              <a:noFill/>
            </a:ln>
          </p:spPr>
          <p:txBody>
            <a:bodyPr rtlCol="0" anchor="ctr"/>
            <a:lstStyle/>
            <a:p>
              <a:pPr algn="ctr"/>
              <a:endParaRPr/>
            </a:p>
          </p:txBody>
        </p:sp>
        <p:sp>
          <p:nvSpPr>
            <p:cNvPr id="8" name="Text: &gt;10k"/>
            <p:cNvSpPr txBox="1"/>
            <p:nvPr/>
          </p:nvSpPr>
          <p:spPr>
            <a:xfrm>
              <a:off x="5194300" y="1173460"/>
              <a:ext cx="1498600" cy="320040"/>
            </a:xfrm>
            <a:prstGeom prst="rect">
              <a:avLst/>
            </a:prstGeom>
            <a:noFill/>
          </p:spPr>
          <p:txBody>
            <a:bodyPr wrap="square" lIns="0" tIns="0" rIns="0" bIns="0" anchor="t">
              <a:noAutofit/>
            </a:bodyPr>
            <a:lstStyle/>
            <a:p>
              <a:pPr algn="l">
                <a:lnSpc>
                  <a:spcPts val="2520"/>
                </a:lnSpc>
                <a:spcBef>
                  <a:spcPts val="0"/>
                </a:spcBef>
                <a:spcAft>
                  <a:spcPts val="0"/>
                </a:spcAft>
              </a:pPr>
              <a:r>
                <a:rPr sz="2400" b="1" i="0">
                  <a:solidFill>
                    <a:srgbClr val="B3261E"/>
                  </a:solidFill>
                  <a:latin typeface="Arial"/>
                </a:rPr>
                <a:t>&gt;10k</a:t>
              </a:r>
            </a:p>
          </p:txBody>
        </p:sp>
        <p:sp>
          <p:nvSpPr>
            <p:cNvPr id="9" name="Text: labelled samples per reliable model"/>
            <p:cNvSpPr txBox="1"/>
            <p:nvPr/>
          </p:nvSpPr>
          <p:spPr>
            <a:xfrm>
              <a:off x="5194300" y="1531541"/>
              <a:ext cx="149860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labelled samples per reliable model</a:t>
              </a:r>
            </a:p>
          </p:txBody>
        </p:sp>
        <p:sp>
          <p:nvSpPr>
            <p:cNvPr id="10" name="Panel"/>
            <p:cNvSpPr/>
            <p:nvPr/>
          </p:nvSpPr>
          <p:spPr>
            <a:xfrm>
              <a:off x="6845300" y="1059160"/>
              <a:ext cx="1689100" cy="949821"/>
            </a:xfrm>
            <a:prstGeom prst="roundRect">
              <a:avLst>
                <a:gd name="adj" fmla="val 6685"/>
              </a:avLst>
            </a:prstGeom>
            <a:solidFill>
              <a:srgbClr val="F4F6F5"/>
            </a:solidFill>
            <a:ln>
              <a:noFill/>
            </a:ln>
          </p:spPr>
          <p:txBody>
            <a:bodyPr rtlCol="0" anchor="ctr"/>
            <a:lstStyle/>
            <a:p>
              <a:pPr algn="ctr"/>
              <a:endParaRPr/>
            </a:p>
          </p:txBody>
        </p:sp>
        <p:sp>
          <p:nvSpPr>
            <p:cNvPr id="11" name="Text: 15–20%"/>
            <p:cNvSpPr txBox="1"/>
            <p:nvPr/>
          </p:nvSpPr>
          <p:spPr>
            <a:xfrm>
              <a:off x="6959600" y="1173460"/>
              <a:ext cx="1498600" cy="320040"/>
            </a:xfrm>
            <a:prstGeom prst="rect">
              <a:avLst/>
            </a:prstGeom>
            <a:noFill/>
          </p:spPr>
          <p:txBody>
            <a:bodyPr wrap="square" lIns="0" tIns="0" rIns="0" bIns="0" anchor="t">
              <a:noAutofit/>
            </a:bodyPr>
            <a:lstStyle/>
            <a:p>
              <a:pPr algn="l">
                <a:lnSpc>
                  <a:spcPts val="2520"/>
                </a:lnSpc>
                <a:spcBef>
                  <a:spcPts val="0"/>
                </a:spcBef>
                <a:spcAft>
                  <a:spcPts val="0"/>
                </a:spcAft>
              </a:pPr>
              <a:r>
                <a:rPr sz="2400" b="1" i="0">
                  <a:solidFill>
                    <a:srgbClr val="B3261E"/>
                  </a:solidFill>
                  <a:latin typeface="Arial"/>
                </a:rPr>
                <a:t>15–20%</a:t>
              </a:r>
            </a:p>
          </p:txBody>
        </p:sp>
        <p:sp>
          <p:nvSpPr>
            <p:cNvPr id="12" name="Text: accuracy lost below 8-bit compression"/>
            <p:cNvSpPr txBox="1"/>
            <p:nvPr/>
          </p:nvSpPr>
          <p:spPr>
            <a:xfrm>
              <a:off x="6959600" y="1531541"/>
              <a:ext cx="149860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accuracy lost below 8-bit compression</a:t>
              </a:r>
            </a:p>
          </p:txBody>
        </p:sp>
        <p:sp>
          <p:nvSpPr>
            <p:cNvPr id="13" name="Panel"/>
            <p:cNvSpPr/>
            <p:nvPr/>
          </p:nvSpPr>
          <p:spPr>
            <a:xfrm>
              <a:off x="5080000" y="2085181"/>
              <a:ext cx="1689100" cy="1131391"/>
            </a:xfrm>
            <a:prstGeom prst="roundRect">
              <a:avLst>
                <a:gd name="adj" fmla="val 5612"/>
              </a:avLst>
            </a:prstGeom>
            <a:solidFill>
              <a:srgbClr val="F4F6F5"/>
            </a:solidFill>
            <a:ln>
              <a:noFill/>
            </a:ln>
          </p:spPr>
          <p:txBody>
            <a:bodyPr rtlCol="0" anchor="ctr"/>
            <a:lstStyle/>
            <a:p>
              <a:pPr algn="ctr"/>
              <a:endParaRPr/>
            </a:p>
          </p:txBody>
        </p:sp>
        <p:sp>
          <p:nvSpPr>
            <p:cNvPr id="14" name="Text: +14 mo"/>
            <p:cNvSpPr txBox="1"/>
            <p:nvPr/>
          </p:nvSpPr>
          <p:spPr>
            <a:xfrm>
              <a:off x="5194300" y="2199481"/>
              <a:ext cx="1498600" cy="320040"/>
            </a:xfrm>
            <a:prstGeom prst="rect">
              <a:avLst/>
            </a:prstGeom>
            <a:noFill/>
          </p:spPr>
          <p:txBody>
            <a:bodyPr wrap="square" lIns="0" tIns="0" rIns="0" bIns="0" anchor="t">
              <a:noAutofit/>
            </a:bodyPr>
            <a:lstStyle/>
            <a:p>
              <a:pPr algn="l">
                <a:lnSpc>
                  <a:spcPts val="2520"/>
                </a:lnSpc>
                <a:spcBef>
                  <a:spcPts val="0"/>
                </a:spcBef>
                <a:spcAft>
                  <a:spcPts val="0"/>
                </a:spcAft>
              </a:pPr>
              <a:r>
                <a:rPr sz="2400" b="1" i="0">
                  <a:solidFill>
                    <a:srgbClr val="B3261E"/>
                  </a:solidFill>
                  <a:latin typeface="Arial"/>
                </a:rPr>
                <a:t>+14 mo</a:t>
              </a:r>
            </a:p>
          </p:txBody>
        </p:sp>
        <p:sp>
          <p:nvSpPr>
            <p:cNvPr id="15" name="Text: longer FDA clearance for AI devices"/>
            <p:cNvSpPr txBox="1"/>
            <p:nvPr/>
          </p:nvSpPr>
          <p:spPr>
            <a:xfrm>
              <a:off x="5194300" y="2557562"/>
              <a:ext cx="149860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longer FDA clearance for AI devices</a:t>
              </a:r>
            </a:p>
          </p:txBody>
        </p:sp>
        <p:sp>
          <p:nvSpPr>
            <p:cNvPr id="16" name="Panel"/>
            <p:cNvSpPr/>
            <p:nvPr/>
          </p:nvSpPr>
          <p:spPr>
            <a:xfrm>
              <a:off x="6845300" y="2085181"/>
              <a:ext cx="1689100" cy="1131391"/>
            </a:xfrm>
            <a:prstGeom prst="roundRect">
              <a:avLst>
                <a:gd name="adj" fmla="val 5612"/>
              </a:avLst>
            </a:prstGeom>
            <a:solidFill>
              <a:srgbClr val="F4F6F5"/>
            </a:solidFill>
            <a:ln>
              <a:noFill/>
            </a:ln>
          </p:spPr>
          <p:txBody>
            <a:bodyPr rtlCol="0" anchor="ctr"/>
            <a:lstStyle/>
            <a:p>
              <a:pPr algn="ctr"/>
              <a:endParaRPr/>
            </a:p>
          </p:txBody>
        </p:sp>
        <p:sp>
          <p:nvSpPr>
            <p:cNvPr id="17" name="Text: 68%"/>
            <p:cNvSpPr txBox="1"/>
            <p:nvPr/>
          </p:nvSpPr>
          <p:spPr>
            <a:xfrm>
              <a:off x="6959600" y="2199481"/>
              <a:ext cx="1498600" cy="320040"/>
            </a:xfrm>
            <a:prstGeom prst="rect">
              <a:avLst/>
            </a:prstGeom>
            <a:noFill/>
          </p:spPr>
          <p:txBody>
            <a:bodyPr wrap="square" lIns="0" tIns="0" rIns="0" bIns="0" anchor="t">
              <a:noAutofit/>
            </a:bodyPr>
            <a:lstStyle/>
            <a:p>
              <a:pPr algn="l">
                <a:lnSpc>
                  <a:spcPts val="2520"/>
                </a:lnSpc>
                <a:spcBef>
                  <a:spcPts val="0"/>
                </a:spcBef>
                <a:spcAft>
                  <a:spcPts val="0"/>
                </a:spcAft>
              </a:pPr>
              <a:r>
                <a:rPr sz="2400" b="1" i="0">
                  <a:solidFill>
                    <a:srgbClr val="B3261E"/>
                  </a:solidFill>
                  <a:latin typeface="Arial"/>
                </a:rPr>
                <a:t>68%</a:t>
              </a:r>
            </a:p>
          </p:txBody>
        </p:sp>
        <p:sp>
          <p:nvSpPr>
            <p:cNvPr id="18" name="Text: of physicians (n = 120) hesitant without"/>
            <p:cNvSpPr txBox="1"/>
            <p:nvPr/>
          </p:nvSpPr>
          <p:spPr>
            <a:xfrm>
              <a:off x="6959600" y="2557562"/>
              <a:ext cx="1498600" cy="54471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of physicians (n = 120) hesitant without explainable AI</a:t>
              </a:r>
            </a:p>
          </p:txBody>
        </p:sp>
        <p:sp>
          <p:nvSpPr>
            <p:cNvPr id="19" name="Text: All four headline numbers are uncited in"/>
            <p:cNvSpPr txBox="1"/>
            <p:nvPr/>
          </p:nvSpPr>
          <p:spPr>
            <a:xfrm>
              <a:off x="5080000" y="3292773"/>
              <a:ext cx="3540760" cy="17145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B3261E"/>
                  </a:solidFill>
                  <a:latin typeface="Arial"/>
                </a:rPr>
                <a:t>All four headline numbers are uncited in the review (§7).</a:t>
              </a:r>
            </a:p>
          </p:txBody>
        </p:sp>
        <p:sp>
          <p:nvSpPr>
            <p:cNvPr id="20" name="Panel"/>
            <p:cNvSpPr/>
            <p:nvPr/>
          </p:nvSpPr>
          <p:spPr>
            <a:xfrm>
              <a:off x="609600" y="4653260"/>
              <a:ext cx="7924800" cy="580231"/>
            </a:xfrm>
            <a:prstGeom prst="roundRect">
              <a:avLst>
                <a:gd name="adj" fmla="val 10943"/>
              </a:avLst>
            </a:prstGeom>
            <a:solidFill>
              <a:srgbClr val="E7F0EB"/>
            </a:solidFill>
            <a:ln>
              <a:noFill/>
            </a:ln>
          </p:spPr>
          <p:txBody>
            <a:bodyPr rtlCol="0" anchor="ctr"/>
            <a:lstStyle/>
            <a:p>
              <a:pPr algn="ctr"/>
              <a:endParaRPr/>
            </a:p>
          </p:txBody>
        </p:sp>
        <p:sp>
          <p:nvSpPr>
            <p:cNvPr id="21" name="Text: Cost (§5.3): carbon instead of noble-met"/>
            <p:cNvSpPr txBox="1"/>
            <p:nvPr/>
          </p:nvSpPr>
          <p:spPr>
            <a:xfrm>
              <a:off x="736600" y="4754860"/>
              <a:ext cx="7862570"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Cost (§5.3):</a:t>
              </a:r>
              <a:r>
                <a:rPr sz="1100" b="0" i="0">
                  <a:solidFill>
                    <a:srgbClr val="333333"/>
                  </a:solidFill>
                  <a:latin typeface="Arial"/>
                </a:rPr>
                <a:t> carbon instead of noble-metal electrodes −90% material cost; roll-to-roll printing −40–60% vs batch; OTC hearing aids fell from ~$4,000 to ~$400 after FDA deregulation — technical and regulatory levers together.</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22</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Future directions and a proposed policy roadmap</a:t>
            </a:r>
          </a:p>
        </p:txBody>
      </p:sp>
      <p:sp>
        <p:nvSpPr>
          <p:cNvPr id="3" name="Text: DISCUSSION · FUTURE DIRECTIONS · FIG. 12"/>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DISCUSSION · FUTURE DIRECTIONS · FIG. 12 · POLICY (§6–7)</a:t>
            </a:r>
          </a:p>
        </p:txBody>
      </p:sp>
      <p:grpSp>
        <p:nvGrpSpPr>
          <p:cNvPr id="46" name="Group 45">
            <a:extLst>
              <a:ext uri="{FF2B5EF4-FFF2-40B4-BE49-F238E27FC236}">
                <a16:creationId xmlns:a16="http://schemas.microsoft.com/office/drawing/2014/main" id="{E08454CC-9099-E496-1BEB-62280525A853}"/>
              </a:ext>
            </a:extLst>
          </p:cNvPr>
          <p:cNvGrpSpPr/>
          <p:nvPr/>
        </p:nvGrpSpPr>
        <p:grpSpPr>
          <a:xfrm>
            <a:off x="510540" y="1447749"/>
            <a:ext cx="8122920" cy="3957241"/>
            <a:chOff x="609600" y="1097260"/>
            <a:chExt cx="8122920" cy="3957241"/>
          </a:xfrm>
        </p:grpSpPr>
        <p:sp>
          <p:nvSpPr>
            <p:cNvPr id="4" name="Panel"/>
            <p:cNvSpPr/>
            <p:nvPr/>
          </p:nvSpPr>
          <p:spPr>
            <a:xfrm>
              <a:off x="609600" y="1097260"/>
              <a:ext cx="3556000" cy="2368550"/>
            </a:xfrm>
            <a:prstGeom prst="roundRect">
              <a:avLst>
                <a:gd name="adj" fmla="val 1608"/>
              </a:avLst>
            </a:prstGeom>
            <a:solidFill>
              <a:srgbClr val="FFFFFF"/>
            </a:solidFill>
            <a:ln w="6350" cap="flat">
              <a:solidFill>
                <a:srgbClr val="D8DDDA"/>
              </a:solidFill>
            </a:ln>
          </p:spPr>
          <p:txBody>
            <a:bodyPr rtlCol="0" anchor="ctr"/>
            <a:lstStyle/>
            <a:p>
              <a:pPr algn="ctr"/>
              <a:endParaRPr/>
            </a:p>
          </p:txBody>
        </p:sp>
        <p:pic>
          <p:nvPicPr>
            <p:cNvPr id="5" name="Image (fig12)" descr="Figure 12: advancements in AI and wearable tech: AI evolution from basic algorithms to machine learning to deep learning, sensor innovations, 5G/IoT connectivity"/>
            <p:cNvPicPr>
              <a:picLocks noChangeAspect="1"/>
            </p:cNvPicPr>
            <p:nvPr/>
          </p:nvPicPr>
          <p:blipFill>
            <a:blip r:embed="rId3"/>
            <a:stretch>
              <a:fillRect/>
            </a:stretch>
          </p:blipFill>
          <p:spPr>
            <a:xfrm>
              <a:off x="621348" y="1103610"/>
              <a:ext cx="3532504" cy="2355850"/>
            </a:xfrm>
            <a:prstGeom prst="rect">
              <a:avLst/>
            </a:prstGeom>
          </p:spPr>
        </p:pic>
        <p:sp>
          <p:nvSpPr>
            <p:cNvPr id="6" name="Text: Fig. 12 — AI evolution, smaller sensors,"/>
            <p:cNvSpPr txBox="1"/>
            <p:nvPr/>
          </p:nvSpPr>
          <p:spPr>
            <a:xfrm>
              <a:off x="609600" y="3503910"/>
              <a:ext cx="3644900" cy="171450"/>
            </a:xfrm>
            <a:prstGeom prst="rect">
              <a:avLst/>
            </a:prstGeom>
            <a:noFill/>
          </p:spPr>
          <p:txBody>
            <a:bodyPr wrap="square" lIns="0" tIns="0" rIns="0" bIns="0" anchor="t">
              <a:noAutofit/>
            </a:bodyPr>
            <a:lstStyle/>
            <a:p>
              <a:pPr algn="l">
                <a:lnSpc>
                  <a:spcPts val="1350"/>
                </a:lnSpc>
                <a:spcBef>
                  <a:spcPts val="0"/>
                </a:spcBef>
                <a:spcAft>
                  <a:spcPts val="0"/>
                </a:spcAft>
              </a:pPr>
              <a:r>
                <a:rPr sz="1000" b="1" i="0">
                  <a:solidFill>
                    <a:srgbClr val="5B6770"/>
                  </a:solidFill>
                  <a:latin typeface="Arial"/>
                </a:rPr>
                <a:t>Fig. 12</a:t>
              </a:r>
              <a:r>
                <a:rPr sz="1000" b="0" i="0">
                  <a:solidFill>
                    <a:srgbClr val="5B6770"/>
                  </a:solidFill>
                  <a:latin typeface="Arial"/>
                </a:rPr>
                <a:t> — AI evolution, smaller sensors, 5G / IoT.</a:t>
              </a:r>
            </a:p>
          </p:txBody>
        </p:sp>
        <p:sp>
          <p:nvSpPr>
            <p:cNvPr id="7" name="Text: Technology roadmap (§7)"/>
            <p:cNvSpPr txBox="1"/>
            <p:nvPr/>
          </p:nvSpPr>
          <p:spPr>
            <a:xfrm>
              <a:off x="4318000" y="1097260"/>
              <a:ext cx="432181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Technology roadmap (§7)</a:t>
              </a:r>
            </a:p>
          </p:txBody>
        </p:sp>
        <p:sp>
          <p:nvSpPr>
            <p:cNvPr id="8" name="Panel"/>
            <p:cNvSpPr/>
            <p:nvPr/>
          </p:nvSpPr>
          <p:spPr>
            <a:xfrm>
              <a:off x="4318000" y="1338560"/>
              <a:ext cx="825500" cy="228600"/>
            </a:xfrm>
            <a:prstGeom prst="roundRect">
              <a:avLst>
                <a:gd name="adj" fmla="val 50000"/>
              </a:avLst>
            </a:prstGeom>
            <a:solidFill>
              <a:srgbClr val="154734"/>
            </a:solidFill>
            <a:ln>
              <a:noFill/>
            </a:ln>
          </p:spPr>
          <p:txBody>
            <a:bodyPr rtlCol="0" anchor="ctr"/>
            <a:lstStyle/>
            <a:p>
              <a:pPr algn="ctr"/>
              <a:endParaRPr/>
            </a:p>
          </p:txBody>
        </p:sp>
        <p:sp>
          <p:nvSpPr>
            <p:cNvPr id="9" name="Text: 2024–26"/>
            <p:cNvSpPr txBox="1"/>
            <p:nvPr/>
          </p:nvSpPr>
          <p:spPr>
            <a:xfrm>
              <a:off x="4298950" y="1376660"/>
              <a:ext cx="863600" cy="153352"/>
            </a:xfrm>
            <a:prstGeom prst="rect">
              <a:avLst/>
            </a:prstGeom>
            <a:noFill/>
          </p:spPr>
          <p:txBody>
            <a:bodyPr wrap="square" lIns="0" tIns="0" rIns="0" bIns="0" anchor="t">
              <a:noAutofit/>
            </a:bodyPr>
            <a:lstStyle/>
            <a:p>
              <a:pPr algn="ctr">
                <a:lnSpc>
                  <a:spcPts val="1207"/>
                </a:lnSpc>
                <a:spcBef>
                  <a:spcPts val="0"/>
                </a:spcBef>
                <a:spcAft>
                  <a:spcPts val="0"/>
                </a:spcAft>
              </a:pPr>
              <a:r>
                <a:rPr sz="1050" b="1" i="0">
                  <a:solidFill>
                    <a:srgbClr val="FFFFFF"/>
                  </a:solidFill>
                  <a:latin typeface="Arial"/>
                </a:rPr>
                <a:t>2024–26</a:t>
              </a:r>
            </a:p>
          </p:txBody>
        </p:sp>
        <p:sp>
          <p:nvSpPr>
            <p:cNvPr id="10" name="Text: synthetic-data tools to halve training-d"/>
            <p:cNvSpPr txBox="1"/>
            <p:nvPr/>
          </p:nvSpPr>
          <p:spPr>
            <a:xfrm>
              <a:off x="5232400" y="1357908"/>
              <a:ext cx="3384550"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synthetic-data tools to halve training-data needs</a:t>
              </a:r>
            </a:p>
          </p:txBody>
        </p:sp>
        <p:sp>
          <p:nvSpPr>
            <p:cNvPr id="11" name="Panel"/>
            <p:cNvSpPr/>
            <p:nvPr/>
          </p:nvSpPr>
          <p:spPr>
            <a:xfrm>
              <a:off x="4318000" y="1643360"/>
              <a:ext cx="825500" cy="228600"/>
            </a:xfrm>
            <a:prstGeom prst="roundRect">
              <a:avLst>
                <a:gd name="adj" fmla="val 50000"/>
              </a:avLst>
            </a:prstGeom>
            <a:solidFill>
              <a:srgbClr val="154734"/>
            </a:solidFill>
            <a:ln>
              <a:noFill/>
            </a:ln>
          </p:spPr>
          <p:txBody>
            <a:bodyPr rtlCol="0" anchor="ctr"/>
            <a:lstStyle/>
            <a:p>
              <a:pPr algn="ctr"/>
              <a:endParaRPr/>
            </a:p>
          </p:txBody>
        </p:sp>
        <p:sp>
          <p:nvSpPr>
            <p:cNvPr id="12" name="Text: 2027–29"/>
            <p:cNvSpPr txBox="1"/>
            <p:nvPr/>
          </p:nvSpPr>
          <p:spPr>
            <a:xfrm>
              <a:off x="4298950" y="1681460"/>
              <a:ext cx="863600" cy="153352"/>
            </a:xfrm>
            <a:prstGeom prst="rect">
              <a:avLst/>
            </a:prstGeom>
            <a:noFill/>
          </p:spPr>
          <p:txBody>
            <a:bodyPr wrap="square" lIns="0" tIns="0" rIns="0" bIns="0" anchor="t">
              <a:noAutofit/>
            </a:bodyPr>
            <a:lstStyle/>
            <a:p>
              <a:pPr algn="ctr">
                <a:lnSpc>
                  <a:spcPts val="1207"/>
                </a:lnSpc>
                <a:spcBef>
                  <a:spcPts val="0"/>
                </a:spcBef>
                <a:spcAft>
                  <a:spcPts val="0"/>
                </a:spcAft>
              </a:pPr>
              <a:r>
                <a:rPr sz="1050" b="1" i="0">
                  <a:solidFill>
                    <a:srgbClr val="FFFFFF"/>
                  </a:solidFill>
                  <a:latin typeface="Arial"/>
                </a:rPr>
                <a:t>2027–29</a:t>
              </a:r>
            </a:p>
          </p:txBody>
        </p:sp>
        <p:sp>
          <p:nvSpPr>
            <p:cNvPr id="13" name="Text: neuromorphic chips for &lt;10 µW inference"/>
            <p:cNvSpPr txBox="1"/>
            <p:nvPr/>
          </p:nvSpPr>
          <p:spPr>
            <a:xfrm>
              <a:off x="5232400" y="1662708"/>
              <a:ext cx="3384550" cy="189865"/>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neuromorphic chips for &lt;10 µW inference</a:t>
              </a:r>
            </a:p>
          </p:txBody>
        </p:sp>
        <p:sp>
          <p:nvSpPr>
            <p:cNvPr id="14" name="Panel"/>
            <p:cNvSpPr/>
            <p:nvPr/>
          </p:nvSpPr>
          <p:spPr>
            <a:xfrm>
              <a:off x="4318000" y="2023666"/>
              <a:ext cx="825500" cy="228600"/>
            </a:xfrm>
            <a:prstGeom prst="roundRect">
              <a:avLst>
                <a:gd name="adj" fmla="val 50000"/>
              </a:avLst>
            </a:prstGeom>
            <a:solidFill>
              <a:srgbClr val="154734"/>
            </a:solidFill>
            <a:ln>
              <a:noFill/>
            </a:ln>
          </p:spPr>
          <p:txBody>
            <a:bodyPr rtlCol="0" anchor="ctr"/>
            <a:lstStyle/>
            <a:p>
              <a:pPr algn="ctr"/>
              <a:endParaRPr/>
            </a:p>
          </p:txBody>
        </p:sp>
        <p:sp>
          <p:nvSpPr>
            <p:cNvPr id="15" name="Text: 2030+"/>
            <p:cNvSpPr txBox="1"/>
            <p:nvPr/>
          </p:nvSpPr>
          <p:spPr>
            <a:xfrm>
              <a:off x="4298950" y="2061766"/>
              <a:ext cx="863600" cy="153352"/>
            </a:xfrm>
            <a:prstGeom prst="rect">
              <a:avLst/>
            </a:prstGeom>
            <a:noFill/>
          </p:spPr>
          <p:txBody>
            <a:bodyPr wrap="square" lIns="0" tIns="0" rIns="0" bIns="0" anchor="t">
              <a:noAutofit/>
            </a:bodyPr>
            <a:lstStyle/>
            <a:p>
              <a:pPr algn="ctr">
                <a:lnSpc>
                  <a:spcPts val="1207"/>
                </a:lnSpc>
                <a:spcBef>
                  <a:spcPts val="0"/>
                </a:spcBef>
                <a:spcAft>
                  <a:spcPts val="0"/>
                </a:spcAft>
              </a:pPr>
              <a:r>
                <a:rPr sz="1050" b="1" i="0">
                  <a:solidFill>
                    <a:srgbClr val="FFFFFF"/>
                  </a:solidFill>
                  <a:latin typeface="Arial"/>
                </a:rPr>
                <a:t>2030+</a:t>
              </a:r>
            </a:p>
          </p:txBody>
        </p:sp>
        <p:sp>
          <p:nvSpPr>
            <p:cNvPr id="16" name="Text: quantum–AI hybrids for sensitivity limit"/>
            <p:cNvSpPr txBox="1"/>
            <p:nvPr/>
          </p:nvSpPr>
          <p:spPr>
            <a:xfrm>
              <a:off x="5232400" y="1948160"/>
              <a:ext cx="3384550" cy="379611"/>
            </a:xfrm>
            <a:prstGeom prst="rect">
              <a:avLst/>
            </a:prstGeom>
            <a:noFill/>
          </p:spPr>
          <p:txBody>
            <a:bodyPr wrap="square" lIns="0" tIns="0" rIns="0" bIns="0" anchor="t">
              <a:noAutofit/>
            </a:bodyPr>
            <a:lstStyle/>
            <a:p>
              <a:pPr algn="l">
                <a:lnSpc>
                  <a:spcPts val="1495"/>
                </a:lnSpc>
                <a:spcBef>
                  <a:spcPts val="0"/>
                </a:spcBef>
                <a:spcAft>
                  <a:spcPts val="0"/>
                </a:spcAft>
              </a:pPr>
              <a:r>
                <a:rPr sz="1150" b="0" i="0">
                  <a:solidFill>
                    <a:srgbClr val="333333"/>
                  </a:solidFill>
                  <a:latin typeface="Arial"/>
                </a:rPr>
                <a:t>quantum–AI hybrids for sensitivity limits (speculative)</a:t>
              </a:r>
            </a:p>
          </p:txBody>
        </p:sp>
        <p:sp>
          <p:nvSpPr>
            <p:cNvPr id="17" name="Panel"/>
            <p:cNvSpPr/>
            <p:nvPr/>
          </p:nvSpPr>
          <p:spPr>
            <a:xfrm>
              <a:off x="4318000" y="2403971"/>
              <a:ext cx="4216400" cy="897731"/>
            </a:xfrm>
            <a:prstGeom prst="roundRect">
              <a:avLst>
                <a:gd name="adj" fmla="val 7073"/>
              </a:avLst>
            </a:prstGeom>
            <a:solidFill>
              <a:srgbClr val="E7F0EB"/>
            </a:solidFill>
            <a:ln>
              <a:noFill/>
            </a:ln>
          </p:spPr>
          <p:txBody>
            <a:bodyPr rtlCol="0" anchor="ctr"/>
            <a:lstStyle/>
            <a:p>
              <a:pPr algn="ctr"/>
              <a:endParaRPr/>
            </a:p>
          </p:txBody>
        </p:sp>
        <p:sp>
          <p:nvSpPr>
            <p:cNvPr id="18" name="Text: Accessibility Index: cost &lt;20% of median"/>
            <p:cNvSpPr txBox="1"/>
            <p:nvPr/>
          </p:nvSpPr>
          <p:spPr>
            <a:xfrm>
              <a:off x="4419600" y="2492871"/>
              <a:ext cx="4113530" cy="719931"/>
            </a:xfrm>
            <a:prstGeom prst="rect">
              <a:avLst/>
            </a:prstGeom>
            <a:noFill/>
          </p:spPr>
          <p:txBody>
            <a:bodyPr wrap="square" lIns="0" tIns="0" rIns="0" bIns="0" anchor="t">
              <a:noAutofit/>
            </a:bodyPr>
            <a:lstStyle/>
            <a:p>
              <a:pPr algn="l">
                <a:lnSpc>
                  <a:spcPts val="1417"/>
                </a:lnSpc>
                <a:spcBef>
                  <a:spcPts val="0"/>
                </a:spcBef>
                <a:spcAft>
                  <a:spcPts val="0"/>
                </a:spcAft>
              </a:pPr>
              <a:r>
                <a:rPr sz="1050" b="1" i="0">
                  <a:solidFill>
                    <a:srgbClr val="333333"/>
                  </a:solidFill>
                  <a:latin typeface="Arial"/>
                </a:rPr>
                <a:t>Accessibility Index:</a:t>
              </a:r>
              <a:r>
                <a:rPr sz="1050" b="0" i="0">
                  <a:solidFill>
                    <a:srgbClr val="333333"/>
                  </a:solidFill>
                  <a:latin typeface="Arial"/>
                </a:rPr>
                <a:t> cost &lt;20% of median monthly income · modular · minimal training · local repair; score ≥75% → fast-track approval. </a:t>
              </a:r>
              <a:r>
                <a:rPr sz="1050" b="1" i="0">
                  <a:solidFill>
                    <a:srgbClr val="333333"/>
                  </a:solidFill>
                  <a:latin typeface="Arial"/>
                </a:rPr>
                <a:t>KPIs:</a:t>
              </a:r>
              <a:r>
                <a:rPr sz="1050" b="0" i="0">
                  <a:solidFill>
                    <a:srgbClr val="333333"/>
                  </a:solidFill>
                  <a:latin typeface="Arial"/>
                </a:rPr>
                <a:t> Gini of device distribution, QALYs per 1,000 users, cost per accurate diagnosis.</a:t>
              </a:r>
            </a:p>
          </p:txBody>
        </p:sp>
        <p:sp>
          <p:nvSpPr>
            <p:cNvPr id="19" name="Text: Five-phase rollout the authors propose"/>
            <p:cNvSpPr txBox="1"/>
            <p:nvPr/>
          </p:nvSpPr>
          <p:spPr>
            <a:xfrm>
              <a:off x="609600" y="387856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a:solidFill>
                    <a:srgbClr val="154734"/>
                  </a:solidFill>
                  <a:latin typeface="Arial"/>
                </a:rPr>
                <a:t>Five-phase rollout the authors propose</a:t>
              </a:r>
            </a:p>
          </p:txBody>
        </p:sp>
        <p:sp>
          <p:nvSpPr>
            <p:cNvPr id="20" name="Panel"/>
            <p:cNvSpPr/>
            <p:nvPr/>
          </p:nvSpPr>
          <p:spPr>
            <a:xfrm>
              <a:off x="609600" y="4246860"/>
              <a:ext cx="1493540" cy="807641"/>
            </a:xfrm>
            <a:prstGeom prst="roundRect">
              <a:avLst>
                <a:gd name="adj" fmla="val 7862"/>
              </a:avLst>
            </a:prstGeom>
            <a:solidFill>
              <a:srgbClr val="F4F6F5"/>
            </a:solidFill>
            <a:ln>
              <a:noFill/>
            </a:ln>
          </p:spPr>
          <p:txBody>
            <a:bodyPr rtlCol="0" anchor="ctr"/>
            <a:lstStyle/>
            <a:p>
              <a:pPr algn="ctr"/>
              <a:endParaRPr/>
            </a:p>
          </p:txBody>
        </p:sp>
        <p:sp>
          <p:nvSpPr>
            <p:cNvPr id="21" name="Badge 1"/>
            <p:cNvSpPr/>
            <p:nvPr/>
          </p:nvSpPr>
          <p:spPr>
            <a:xfrm>
              <a:off x="698500" y="4348460"/>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1</a:t>
              </a:r>
            </a:p>
          </p:txBody>
        </p:sp>
        <p:sp>
          <p:nvSpPr>
            <p:cNvPr id="22" name="Text: 0–6 mo"/>
            <p:cNvSpPr txBox="1"/>
            <p:nvPr/>
          </p:nvSpPr>
          <p:spPr>
            <a:xfrm>
              <a:off x="939800" y="4367510"/>
              <a:ext cx="497681" cy="153352"/>
            </a:xfrm>
            <a:prstGeom prst="rect">
              <a:avLst/>
            </a:prstGeom>
            <a:noFill/>
          </p:spPr>
          <p:txBody>
            <a:bodyPr wrap="square" lIns="0" tIns="0" rIns="0" bIns="0" anchor="t">
              <a:noAutofit/>
            </a:bodyPr>
            <a:lstStyle/>
            <a:p>
              <a:pPr algn="l">
                <a:lnSpc>
                  <a:spcPts val="1207"/>
                </a:lnSpc>
                <a:spcBef>
                  <a:spcPts val="0"/>
                </a:spcBef>
                <a:spcAft>
                  <a:spcPts val="0"/>
                </a:spcAft>
              </a:pPr>
              <a:r>
                <a:rPr sz="1050" b="1" i="0">
                  <a:solidFill>
                    <a:srgbClr val="154734"/>
                  </a:solidFill>
                  <a:latin typeface="Arial"/>
                </a:rPr>
                <a:t>0–6 mo</a:t>
              </a:r>
            </a:p>
          </p:txBody>
        </p:sp>
        <p:sp>
          <p:nvSpPr>
            <p:cNvPr id="23" name="Text: readiness: 5G, data governance"/>
            <p:cNvSpPr txBox="1"/>
            <p:nvPr/>
          </p:nvSpPr>
          <p:spPr>
            <a:xfrm>
              <a:off x="698500" y="4589760"/>
              <a:ext cx="135384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readiness: 5G, data governance</a:t>
              </a:r>
            </a:p>
          </p:txBody>
        </p:sp>
        <p:cxnSp>
          <p:nvCxnSpPr>
            <p:cNvPr id="24" name="Arrow"/>
            <p:cNvCxnSpPr/>
            <p:nvPr/>
          </p:nvCxnSpPr>
          <p:spPr>
            <a:xfrm>
              <a:off x="2128540" y="4650680"/>
              <a:ext cx="63500" cy="0"/>
            </a:xfrm>
            <a:prstGeom prst="line">
              <a:avLst/>
            </a:prstGeom>
            <a:ln w="19050" cap="flat">
              <a:solidFill>
                <a:srgbClr val="154734"/>
              </a:solidFill>
              <a:tailEnd type="triangle" w="med" len="med"/>
            </a:ln>
          </p:spPr>
        </p:cxnSp>
        <p:sp>
          <p:nvSpPr>
            <p:cNvPr id="25" name="Panel"/>
            <p:cNvSpPr/>
            <p:nvPr/>
          </p:nvSpPr>
          <p:spPr>
            <a:xfrm>
              <a:off x="2217440" y="4246860"/>
              <a:ext cx="1493540" cy="807641"/>
            </a:xfrm>
            <a:prstGeom prst="roundRect">
              <a:avLst>
                <a:gd name="adj" fmla="val 7862"/>
              </a:avLst>
            </a:prstGeom>
            <a:solidFill>
              <a:srgbClr val="F4F6F5"/>
            </a:solidFill>
            <a:ln>
              <a:noFill/>
            </a:ln>
          </p:spPr>
          <p:txBody>
            <a:bodyPr rtlCol="0" anchor="ctr"/>
            <a:lstStyle/>
            <a:p>
              <a:pPr algn="ctr"/>
              <a:endParaRPr/>
            </a:p>
          </p:txBody>
        </p:sp>
        <p:sp>
          <p:nvSpPr>
            <p:cNvPr id="26" name="Badge 2"/>
            <p:cNvSpPr/>
            <p:nvPr/>
          </p:nvSpPr>
          <p:spPr>
            <a:xfrm>
              <a:off x="2306340" y="4348460"/>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2</a:t>
              </a:r>
            </a:p>
          </p:txBody>
        </p:sp>
        <p:sp>
          <p:nvSpPr>
            <p:cNvPr id="27" name="Text: 6–18 mo"/>
            <p:cNvSpPr txBox="1"/>
            <p:nvPr/>
          </p:nvSpPr>
          <p:spPr>
            <a:xfrm>
              <a:off x="2547640" y="4367510"/>
              <a:ext cx="571897" cy="153352"/>
            </a:xfrm>
            <a:prstGeom prst="rect">
              <a:avLst/>
            </a:prstGeom>
            <a:noFill/>
          </p:spPr>
          <p:txBody>
            <a:bodyPr wrap="square" lIns="0" tIns="0" rIns="0" bIns="0" anchor="t">
              <a:noAutofit/>
            </a:bodyPr>
            <a:lstStyle/>
            <a:p>
              <a:pPr algn="l">
                <a:lnSpc>
                  <a:spcPts val="1207"/>
                </a:lnSpc>
                <a:spcBef>
                  <a:spcPts val="0"/>
                </a:spcBef>
                <a:spcAft>
                  <a:spcPts val="0"/>
                </a:spcAft>
              </a:pPr>
              <a:r>
                <a:rPr sz="1050" b="1" i="0">
                  <a:solidFill>
                    <a:srgbClr val="154734"/>
                  </a:solidFill>
                  <a:latin typeface="Arial"/>
                </a:rPr>
                <a:t>6–18 mo</a:t>
              </a:r>
            </a:p>
          </p:txBody>
        </p:sp>
        <p:sp>
          <p:nvSpPr>
            <p:cNvPr id="28" name="Text: controlled clinical pilots"/>
            <p:cNvSpPr txBox="1"/>
            <p:nvPr/>
          </p:nvSpPr>
          <p:spPr>
            <a:xfrm>
              <a:off x="2306340" y="4589760"/>
              <a:ext cx="135384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controlled clinical pilots</a:t>
              </a:r>
            </a:p>
          </p:txBody>
        </p:sp>
        <p:cxnSp>
          <p:nvCxnSpPr>
            <p:cNvPr id="29" name="Arrow"/>
            <p:cNvCxnSpPr/>
            <p:nvPr/>
          </p:nvCxnSpPr>
          <p:spPr>
            <a:xfrm>
              <a:off x="3736380" y="4650680"/>
              <a:ext cx="63500" cy="0"/>
            </a:xfrm>
            <a:prstGeom prst="line">
              <a:avLst/>
            </a:prstGeom>
            <a:ln w="19050" cap="flat">
              <a:solidFill>
                <a:srgbClr val="154734"/>
              </a:solidFill>
              <a:tailEnd type="triangle" w="med" len="med"/>
            </a:ln>
          </p:spPr>
        </p:cxnSp>
        <p:sp>
          <p:nvSpPr>
            <p:cNvPr id="30" name="Panel"/>
            <p:cNvSpPr/>
            <p:nvPr/>
          </p:nvSpPr>
          <p:spPr>
            <a:xfrm>
              <a:off x="3825280" y="4246860"/>
              <a:ext cx="1493540" cy="807641"/>
            </a:xfrm>
            <a:prstGeom prst="roundRect">
              <a:avLst>
                <a:gd name="adj" fmla="val 7862"/>
              </a:avLst>
            </a:prstGeom>
            <a:solidFill>
              <a:srgbClr val="F4F6F5"/>
            </a:solidFill>
            <a:ln>
              <a:noFill/>
            </a:ln>
          </p:spPr>
          <p:txBody>
            <a:bodyPr rtlCol="0" anchor="ctr"/>
            <a:lstStyle/>
            <a:p>
              <a:pPr algn="ctr"/>
              <a:endParaRPr/>
            </a:p>
          </p:txBody>
        </p:sp>
        <p:sp>
          <p:nvSpPr>
            <p:cNvPr id="31" name="Badge 3"/>
            <p:cNvSpPr/>
            <p:nvPr/>
          </p:nvSpPr>
          <p:spPr>
            <a:xfrm>
              <a:off x="3914180" y="4348460"/>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3</a:t>
              </a:r>
            </a:p>
          </p:txBody>
        </p:sp>
        <p:sp>
          <p:nvSpPr>
            <p:cNvPr id="32" name="Text: 18–36 mo"/>
            <p:cNvSpPr txBox="1"/>
            <p:nvPr/>
          </p:nvSpPr>
          <p:spPr>
            <a:xfrm>
              <a:off x="4155480" y="4367510"/>
              <a:ext cx="646013" cy="153352"/>
            </a:xfrm>
            <a:prstGeom prst="rect">
              <a:avLst/>
            </a:prstGeom>
            <a:noFill/>
          </p:spPr>
          <p:txBody>
            <a:bodyPr wrap="square" lIns="0" tIns="0" rIns="0" bIns="0" anchor="t">
              <a:noAutofit/>
            </a:bodyPr>
            <a:lstStyle/>
            <a:p>
              <a:pPr algn="l">
                <a:lnSpc>
                  <a:spcPts val="1207"/>
                </a:lnSpc>
                <a:spcBef>
                  <a:spcPts val="0"/>
                </a:spcBef>
                <a:spcAft>
                  <a:spcPts val="0"/>
                </a:spcAft>
              </a:pPr>
              <a:r>
                <a:rPr sz="1050" b="1" i="0">
                  <a:solidFill>
                    <a:srgbClr val="154734"/>
                  </a:solidFill>
                  <a:latin typeface="Arial"/>
                </a:rPr>
                <a:t>18–36 mo</a:t>
              </a:r>
            </a:p>
          </p:txBody>
        </p:sp>
        <p:sp>
          <p:nvSpPr>
            <p:cNvPr id="33" name="Text: scale-up, outcome-based pay"/>
            <p:cNvSpPr txBox="1"/>
            <p:nvPr/>
          </p:nvSpPr>
          <p:spPr>
            <a:xfrm>
              <a:off x="3914180" y="4589760"/>
              <a:ext cx="135384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scale-up, outcome-based pay</a:t>
              </a:r>
            </a:p>
          </p:txBody>
        </p:sp>
        <p:cxnSp>
          <p:nvCxnSpPr>
            <p:cNvPr id="34" name="Arrow"/>
            <p:cNvCxnSpPr/>
            <p:nvPr/>
          </p:nvCxnSpPr>
          <p:spPr>
            <a:xfrm>
              <a:off x="5344220" y="4650680"/>
              <a:ext cx="63500" cy="0"/>
            </a:xfrm>
            <a:prstGeom prst="line">
              <a:avLst/>
            </a:prstGeom>
            <a:ln w="19050" cap="flat">
              <a:solidFill>
                <a:srgbClr val="154734"/>
              </a:solidFill>
              <a:tailEnd type="triangle" w="med" len="med"/>
            </a:ln>
          </p:spPr>
        </p:cxnSp>
        <p:sp>
          <p:nvSpPr>
            <p:cNvPr id="35" name="Panel"/>
            <p:cNvSpPr/>
            <p:nvPr/>
          </p:nvSpPr>
          <p:spPr>
            <a:xfrm>
              <a:off x="5433120" y="4246860"/>
              <a:ext cx="1493540" cy="807641"/>
            </a:xfrm>
            <a:prstGeom prst="roundRect">
              <a:avLst>
                <a:gd name="adj" fmla="val 7862"/>
              </a:avLst>
            </a:prstGeom>
            <a:solidFill>
              <a:srgbClr val="F4F6F5"/>
            </a:solidFill>
            <a:ln>
              <a:noFill/>
            </a:ln>
          </p:spPr>
          <p:txBody>
            <a:bodyPr rtlCol="0" anchor="ctr"/>
            <a:lstStyle/>
            <a:p>
              <a:pPr algn="ctr"/>
              <a:endParaRPr/>
            </a:p>
          </p:txBody>
        </p:sp>
        <p:sp>
          <p:nvSpPr>
            <p:cNvPr id="36" name="Badge 4"/>
            <p:cNvSpPr/>
            <p:nvPr/>
          </p:nvSpPr>
          <p:spPr>
            <a:xfrm>
              <a:off x="5522020" y="4348460"/>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4</a:t>
              </a:r>
            </a:p>
          </p:txBody>
        </p:sp>
        <p:sp>
          <p:nvSpPr>
            <p:cNvPr id="37" name="Text: 3–5 yr"/>
            <p:cNvSpPr txBox="1"/>
            <p:nvPr/>
          </p:nvSpPr>
          <p:spPr>
            <a:xfrm>
              <a:off x="5763320" y="4367510"/>
              <a:ext cx="423763" cy="153352"/>
            </a:xfrm>
            <a:prstGeom prst="rect">
              <a:avLst/>
            </a:prstGeom>
            <a:noFill/>
          </p:spPr>
          <p:txBody>
            <a:bodyPr wrap="square" lIns="0" tIns="0" rIns="0" bIns="0" anchor="t">
              <a:noAutofit/>
            </a:bodyPr>
            <a:lstStyle/>
            <a:p>
              <a:pPr algn="l">
                <a:lnSpc>
                  <a:spcPts val="1207"/>
                </a:lnSpc>
                <a:spcBef>
                  <a:spcPts val="0"/>
                </a:spcBef>
                <a:spcAft>
                  <a:spcPts val="0"/>
                </a:spcAft>
              </a:pPr>
              <a:r>
                <a:rPr sz="1050" b="1" i="0">
                  <a:solidFill>
                    <a:srgbClr val="154734"/>
                  </a:solidFill>
                  <a:latin typeface="Arial"/>
                </a:rPr>
                <a:t>3–5 yr</a:t>
              </a:r>
            </a:p>
          </p:txBody>
        </p:sp>
        <p:sp>
          <p:nvSpPr>
            <p:cNvPr id="38" name="Text: EHR + public-health links"/>
            <p:cNvSpPr txBox="1"/>
            <p:nvPr/>
          </p:nvSpPr>
          <p:spPr>
            <a:xfrm>
              <a:off x="5522020" y="4589760"/>
              <a:ext cx="135384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EHR + public-health links</a:t>
              </a:r>
            </a:p>
          </p:txBody>
        </p:sp>
        <p:cxnSp>
          <p:nvCxnSpPr>
            <p:cNvPr id="39" name="Arrow"/>
            <p:cNvCxnSpPr/>
            <p:nvPr/>
          </p:nvCxnSpPr>
          <p:spPr>
            <a:xfrm>
              <a:off x="6952059" y="4650680"/>
              <a:ext cx="63500" cy="0"/>
            </a:xfrm>
            <a:prstGeom prst="line">
              <a:avLst/>
            </a:prstGeom>
            <a:ln w="19050" cap="flat">
              <a:solidFill>
                <a:srgbClr val="154734"/>
              </a:solidFill>
              <a:tailEnd type="triangle" w="med" len="med"/>
            </a:ln>
          </p:spPr>
        </p:cxnSp>
        <p:sp>
          <p:nvSpPr>
            <p:cNvPr id="40" name="Panel"/>
            <p:cNvSpPr/>
            <p:nvPr/>
          </p:nvSpPr>
          <p:spPr>
            <a:xfrm>
              <a:off x="7040959" y="4246860"/>
              <a:ext cx="1493540" cy="807641"/>
            </a:xfrm>
            <a:prstGeom prst="roundRect">
              <a:avLst>
                <a:gd name="adj" fmla="val 7862"/>
              </a:avLst>
            </a:prstGeom>
            <a:solidFill>
              <a:srgbClr val="F4F6F5"/>
            </a:solidFill>
            <a:ln>
              <a:noFill/>
            </a:ln>
          </p:spPr>
          <p:txBody>
            <a:bodyPr rtlCol="0" anchor="ctr"/>
            <a:lstStyle/>
            <a:p>
              <a:pPr algn="ctr"/>
              <a:endParaRPr/>
            </a:p>
          </p:txBody>
        </p:sp>
        <p:sp>
          <p:nvSpPr>
            <p:cNvPr id="41" name="Badge 5"/>
            <p:cNvSpPr/>
            <p:nvPr/>
          </p:nvSpPr>
          <p:spPr>
            <a:xfrm>
              <a:off x="7129859" y="4348460"/>
              <a:ext cx="190500" cy="190500"/>
            </a:xfrm>
            <a:prstGeom prst="ellipse">
              <a:avLst/>
            </a:prstGeom>
            <a:solidFill>
              <a:srgbClr val="E87500"/>
            </a:solidFill>
            <a:ln>
              <a:noFill/>
            </a:ln>
          </p:spPr>
          <p:txBody>
            <a:bodyPr wrap="none" lIns="0" tIns="0" rIns="0" bIns="0" rtlCol="0" anchor="ctr">
              <a:noAutofit/>
            </a:bodyPr>
            <a:lstStyle/>
            <a:p>
              <a:pPr algn="ctr"/>
              <a:r>
                <a:rPr sz="850" b="1">
                  <a:solidFill>
                    <a:srgbClr val="FFFFFF"/>
                  </a:solidFill>
                  <a:latin typeface="Arial"/>
                </a:rPr>
                <a:t>5</a:t>
              </a:r>
            </a:p>
          </p:txBody>
        </p:sp>
        <p:sp>
          <p:nvSpPr>
            <p:cNvPr id="42" name="Text: 5+ yr"/>
            <p:cNvSpPr txBox="1"/>
            <p:nvPr/>
          </p:nvSpPr>
          <p:spPr>
            <a:xfrm>
              <a:off x="7371159" y="4367510"/>
              <a:ext cx="353318" cy="153352"/>
            </a:xfrm>
            <a:prstGeom prst="rect">
              <a:avLst/>
            </a:prstGeom>
            <a:noFill/>
          </p:spPr>
          <p:txBody>
            <a:bodyPr wrap="square" lIns="0" tIns="0" rIns="0" bIns="0" anchor="t">
              <a:noAutofit/>
            </a:bodyPr>
            <a:lstStyle/>
            <a:p>
              <a:pPr algn="l">
                <a:lnSpc>
                  <a:spcPts val="1207"/>
                </a:lnSpc>
                <a:spcBef>
                  <a:spcPts val="0"/>
                </a:spcBef>
                <a:spcAft>
                  <a:spcPts val="0"/>
                </a:spcAft>
              </a:pPr>
              <a:r>
                <a:rPr sz="1050" b="1" i="0">
                  <a:solidFill>
                    <a:srgbClr val="154734"/>
                  </a:solidFill>
                  <a:latin typeface="Arial"/>
                </a:rPr>
                <a:t>5+ yr</a:t>
              </a:r>
            </a:p>
          </p:txBody>
        </p:sp>
        <p:sp>
          <p:nvSpPr>
            <p:cNvPr id="43" name="Text: predictive optimization"/>
            <p:cNvSpPr txBox="1"/>
            <p:nvPr/>
          </p:nvSpPr>
          <p:spPr>
            <a:xfrm>
              <a:off x="7129859" y="4589760"/>
              <a:ext cx="1353840" cy="363141"/>
            </a:xfrm>
            <a:prstGeom prst="rect">
              <a:avLst/>
            </a:prstGeom>
            <a:noFill/>
          </p:spPr>
          <p:txBody>
            <a:bodyPr wrap="square" lIns="0" tIns="0" rIns="0" bIns="0" anchor="t">
              <a:noAutofit/>
            </a:bodyPr>
            <a:lstStyle/>
            <a:p>
              <a:pPr algn="l">
                <a:lnSpc>
                  <a:spcPts val="1430"/>
                </a:lnSpc>
                <a:spcBef>
                  <a:spcPts val="0"/>
                </a:spcBef>
                <a:spcAft>
                  <a:spcPts val="0"/>
                </a:spcAft>
              </a:pPr>
              <a:r>
                <a:rPr sz="1100" b="0" i="0">
                  <a:solidFill>
                    <a:srgbClr val="333333"/>
                  </a:solidFill>
                  <a:latin typeface="Arial"/>
                </a:rPr>
                <a:t>predictive optimization</a:t>
              </a:r>
            </a:p>
          </p:txBody>
        </p:sp>
      </p:grpSp>
      <p:sp>
        <p:nvSpPr>
          <p:cNvPr id="45"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23</a:t>
            </a:fld>
            <a:endParaRPr lang="en-US" dirty="0">
              <a:solidFill>
                <a:srgbClr val="FFFFFF"/>
              </a:solidFill>
              <a:latin typeface="Arial" panose="020B0604020202020204"/>
            </a:endParaRPr>
          </a:p>
        </p:txBody>
      </p:sp>
      <p:sp>
        <p:nvSpPr>
          <p:cNvPr id="44"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Conclusions: what the review establishes</a:t>
            </a:r>
          </a:p>
        </p:txBody>
      </p:sp>
      <p:sp>
        <p:nvSpPr>
          <p:cNvPr id="3" name="Text: CONCLUSION"/>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CONCLUSION</a:t>
            </a:r>
          </a:p>
        </p:txBody>
      </p:sp>
      <p:sp>
        <p:nvSpPr>
          <p:cNvPr id="4" name="Panel"/>
          <p:cNvSpPr/>
          <p:nvPr/>
        </p:nvSpPr>
        <p:spPr>
          <a:xfrm>
            <a:off x="609600" y="1270397"/>
            <a:ext cx="7924800" cy="4317206"/>
          </a:xfrm>
          <a:prstGeom prst="roundRect">
            <a:avLst>
              <a:gd name="adj" fmla="val 1470"/>
            </a:avLst>
          </a:prstGeom>
          <a:solidFill>
            <a:srgbClr val="E7F0EB"/>
          </a:solidFill>
          <a:ln>
            <a:noFill/>
          </a:ln>
        </p:spPr>
        <p:txBody>
          <a:bodyPr rtlCol="0" anchor="ctr"/>
          <a:lstStyle/>
          <a:p>
            <a:pPr algn="ctr"/>
            <a:endParaRPr/>
          </a:p>
        </p:txBody>
      </p:sp>
      <p:grpSp>
        <p:nvGrpSpPr>
          <p:cNvPr id="15" name="Group 14">
            <a:extLst>
              <a:ext uri="{FF2B5EF4-FFF2-40B4-BE49-F238E27FC236}">
                <a16:creationId xmlns:a16="http://schemas.microsoft.com/office/drawing/2014/main" id="{106CAE3B-5D12-D4FA-C6FA-A2501805E1FF}"/>
              </a:ext>
            </a:extLst>
          </p:cNvPr>
          <p:cNvGrpSpPr/>
          <p:nvPr/>
        </p:nvGrpSpPr>
        <p:grpSpPr>
          <a:xfrm>
            <a:off x="803275" y="1542681"/>
            <a:ext cx="7537450" cy="3880723"/>
            <a:chOff x="889000" y="1338560"/>
            <a:chExt cx="7537450" cy="3880723"/>
          </a:xfrm>
        </p:grpSpPr>
        <p:sp>
          <p:nvSpPr>
            <p:cNvPr id="5" name="Badge 1"/>
            <p:cNvSpPr/>
            <p:nvPr/>
          </p:nvSpPr>
          <p:spPr>
            <a:xfrm>
              <a:off x="889000" y="1422301"/>
              <a:ext cx="381000" cy="381000"/>
            </a:xfrm>
            <a:prstGeom prst="ellipse">
              <a:avLst/>
            </a:prstGeom>
            <a:solidFill>
              <a:srgbClr val="E87500"/>
            </a:solidFill>
            <a:ln>
              <a:noFill/>
            </a:ln>
          </p:spPr>
          <p:txBody>
            <a:bodyPr wrap="none" lIns="0" tIns="0" rIns="0" bIns="0" rtlCol="0" anchor="ctr">
              <a:noAutofit/>
            </a:bodyPr>
            <a:lstStyle/>
            <a:p>
              <a:pPr algn="ctr"/>
              <a:r>
                <a:rPr sz="1600" b="1">
                  <a:solidFill>
                    <a:srgbClr val="FFFFFF"/>
                  </a:solidFill>
                  <a:latin typeface="Arial"/>
                </a:rPr>
                <a:t>1</a:t>
              </a:r>
            </a:p>
          </p:txBody>
        </p:sp>
        <p:sp>
          <p:nvSpPr>
            <p:cNvPr id="6" name="Text: AI turns wearables from recorders into d"/>
            <p:cNvSpPr txBox="1"/>
            <p:nvPr/>
          </p:nvSpPr>
          <p:spPr>
            <a:xfrm>
              <a:off x="1397000" y="1338560"/>
              <a:ext cx="7029450" cy="548481"/>
            </a:xfrm>
            <a:prstGeom prst="rect">
              <a:avLst/>
            </a:prstGeom>
            <a:noFill/>
          </p:spPr>
          <p:txBody>
            <a:bodyPr wrap="square" lIns="0" tIns="0" rIns="0" bIns="0" anchor="t">
              <a:noAutofit/>
            </a:bodyPr>
            <a:lstStyle/>
            <a:p>
              <a:pPr algn="l">
                <a:lnSpc>
                  <a:spcPts val="2160"/>
                </a:lnSpc>
                <a:spcBef>
                  <a:spcPts val="0"/>
                </a:spcBef>
                <a:spcAft>
                  <a:spcPts val="0"/>
                </a:spcAft>
              </a:pPr>
              <a:r>
                <a:rPr sz="1600" b="0" i="0">
                  <a:solidFill>
                    <a:srgbClr val="333333"/>
                  </a:solidFill>
                  <a:latin typeface="Arial"/>
                </a:rPr>
                <a:t>AI turns wearables from recorders into </a:t>
              </a:r>
              <a:r>
                <a:rPr sz="1600" b="1" i="0">
                  <a:solidFill>
                    <a:srgbClr val="333333"/>
                  </a:solidFill>
                  <a:latin typeface="Arial"/>
                </a:rPr>
                <a:t>decision systems</a:t>
              </a:r>
              <a:r>
                <a:rPr sz="1600" b="0" i="0">
                  <a:solidFill>
                    <a:srgbClr val="333333"/>
                  </a:solidFill>
                  <a:latin typeface="Arial"/>
                </a:rPr>
                <a:t>, wherever signal quality, power and labels allow.</a:t>
              </a:r>
            </a:p>
          </p:txBody>
        </p:sp>
        <p:sp>
          <p:nvSpPr>
            <p:cNvPr id="7" name="Badge 2"/>
            <p:cNvSpPr/>
            <p:nvPr/>
          </p:nvSpPr>
          <p:spPr>
            <a:xfrm>
              <a:off x="889000" y="2224782"/>
              <a:ext cx="381000" cy="381000"/>
            </a:xfrm>
            <a:prstGeom prst="ellipse">
              <a:avLst/>
            </a:prstGeom>
            <a:solidFill>
              <a:srgbClr val="E87500"/>
            </a:solidFill>
            <a:ln>
              <a:noFill/>
            </a:ln>
          </p:spPr>
          <p:txBody>
            <a:bodyPr wrap="none" lIns="0" tIns="0" rIns="0" bIns="0" rtlCol="0" anchor="ctr">
              <a:noAutofit/>
            </a:bodyPr>
            <a:lstStyle/>
            <a:p>
              <a:pPr algn="ctr"/>
              <a:r>
                <a:rPr sz="1600" b="1">
                  <a:solidFill>
                    <a:srgbClr val="FFFFFF"/>
                  </a:solidFill>
                  <a:latin typeface="Arial"/>
                </a:rPr>
                <a:t>2</a:t>
              </a:r>
            </a:p>
          </p:txBody>
        </p:sp>
        <p:sp>
          <p:nvSpPr>
            <p:cNvPr id="8" name="Text: Hardware has matured: pM–nM sensitivity,"/>
            <p:cNvSpPr txBox="1"/>
            <p:nvPr/>
          </p:nvSpPr>
          <p:spPr>
            <a:xfrm>
              <a:off x="1397000" y="2141041"/>
              <a:ext cx="7029450" cy="548481"/>
            </a:xfrm>
            <a:prstGeom prst="rect">
              <a:avLst/>
            </a:prstGeom>
            <a:noFill/>
          </p:spPr>
          <p:txBody>
            <a:bodyPr wrap="square" lIns="0" tIns="0" rIns="0" bIns="0" anchor="t">
              <a:noAutofit/>
            </a:bodyPr>
            <a:lstStyle/>
            <a:p>
              <a:pPr algn="l">
                <a:lnSpc>
                  <a:spcPts val="2160"/>
                </a:lnSpc>
                <a:spcBef>
                  <a:spcPts val="0"/>
                </a:spcBef>
                <a:spcAft>
                  <a:spcPts val="0"/>
                </a:spcAft>
              </a:pPr>
              <a:r>
                <a:rPr sz="1600" b="0" i="0" dirty="0">
                  <a:solidFill>
                    <a:srgbClr val="333333"/>
                  </a:solidFill>
                  <a:latin typeface="Arial"/>
                </a:rPr>
                <a:t>Hardware has matured: </a:t>
              </a:r>
              <a:r>
                <a:rPr sz="1600" b="0" i="0" dirty="0" err="1">
                  <a:solidFill>
                    <a:srgbClr val="333333"/>
                  </a:solidFill>
                  <a:latin typeface="Arial"/>
                </a:rPr>
                <a:t>pM</a:t>
              </a:r>
              <a:r>
                <a:rPr sz="1600" b="0" i="0" dirty="0">
                  <a:solidFill>
                    <a:srgbClr val="333333"/>
                  </a:solidFill>
                  <a:latin typeface="Arial"/>
                </a:rPr>
                <a:t>–</a:t>
              </a:r>
              <a:r>
                <a:rPr sz="1600" b="0" i="0" dirty="0" err="1">
                  <a:solidFill>
                    <a:srgbClr val="333333"/>
                  </a:solidFill>
                  <a:latin typeface="Arial"/>
                </a:rPr>
                <a:t>nM</a:t>
              </a:r>
              <a:r>
                <a:rPr sz="1600" b="0" i="0" dirty="0">
                  <a:solidFill>
                    <a:srgbClr val="333333"/>
                  </a:solidFill>
                  <a:latin typeface="Arial"/>
                </a:rPr>
                <a:t> sensitivity, &lt;1 s response, months of stability, tissue-soft and even resorbable devices.</a:t>
              </a:r>
            </a:p>
          </p:txBody>
        </p:sp>
        <p:sp>
          <p:nvSpPr>
            <p:cNvPr id="9" name="Badge 3"/>
            <p:cNvSpPr/>
            <p:nvPr/>
          </p:nvSpPr>
          <p:spPr>
            <a:xfrm>
              <a:off x="889000" y="3027263"/>
              <a:ext cx="381000" cy="381000"/>
            </a:xfrm>
            <a:prstGeom prst="ellipse">
              <a:avLst/>
            </a:prstGeom>
            <a:solidFill>
              <a:srgbClr val="E87500"/>
            </a:solidFill>
            <a:ln>
              <a:noFill/>
            </a:ln>
          </p:spPr>
          <p:txBody>
            <a:bodyPr wrap="none" lIns="0" tIns="0" rIns="0" bIns="0" rtlCol="0" anchor="ctr">
              <a:noAutofit/>
            </a:bodyPr>
            <a:lstStyle/>
            <a:p>
              <a:pPr algn="ctr"/>
              <a:r>
                <a:rPr sz="1600" b="1">
                  <a:solidFill>
                    <a:srgbClr val="FFFFFF"/>
                  </a:solidFill>
                  <a:latin typeface="Arial"/>
                </a:rPr>
                <a:t>3</a:t>
              </a:r>
            </a:p>
          </p:txBody>
        </p:sp>
        <p:sp>
          <p:nvSpPr>
            <p:cNvPr id="10" name="Text: Edge AI (&lt;20 ms, &lt;5 mW) is the enabling "/>
            <p:cNvSpPr txBox="1"/>
            <p:nvPr/>
          </p:nvSpPr>
          <p:spPr>
            <a:xfrm>
              <a:off x="1397000" y="2943523"/>
              <a:ext cx="7029450" cy="548481"/>
            </a:xfrm>
            <a:prstGeom prst="rect">
              <a:avLst/>
            </a:prstGeom>
            <a:noFill/>
          </p:spPr>
          <p:txBody>
            <a:bodyPr wrap="square" lIns="0" tIns="0" rIns="0" bIns="0" anchor="t">
              <a:noAutofit/>
            </a:bodyPr>
            <a:lstStyle/>
            <a:p>
              <a:pPr algn="l">
                <a:lnSpc>
                  <a:spcPts val="2160"/>
                </a:lnSpc>
                <a:spcBef>
                  <a:spcPts val="0"/>
                </a:spcBef>
                <a:spcAft>
                  <a:spcPts val="0"/>
                </a:spcAft>
              </a:pPr>
              <a:r>
                <a:rPr sz="1600" b="1" i="0" dirty="0">
                  <a:solidFill>
                    <a:srgbClr val="333333"/>
                  </a:solidFill>
                  <a:latin typeface="Arial"/>
                </a:rPr>
                <a:t>Edge AI</a:t>
              </a:r>
              <a:r>
                <a:rPr sz="1600" b="0" i="0" dirty="0">
                  <a:solidFill>
                    <a:srgbClr val="333333"/>
                  </a:solidFill>
                  <a:latin typeface="Arial"/>
                </a:rPr>
                <a:t> (&lt;20 </a:t>
              </a:r>
              <a:r>
                <a:rPr sz="1600" b="0" i="0" dirty="0" err="1">
                  <a:solidFill>
                    <a:srgbClr val="333333"/>
                  </a:solidFill>
                  <a:latin typeface="Arial"/>
                </a:rPr>
                <a:t>ms</a:t>
              </a:r>
              <a:r>
                <a:rPr sz="1600" b="0" i="0" dirty="0">
                  <a:solidFill>
                    <a:srgbClr val="333333"/>
                  </a:solidFill>
                  <a:latin typeface="Arial"/>
                </a:rPr>
                <a:t>, &lt;5 </a:t>
              </a:r>
              <a:r>
                <a:rPr sz="1600" b="0" i="0" dirty="0" err="1">
                  <a:solidFill>
                    <a:srgbClr val="333333"/>
                  </a:solidFill>
                  <a:latin typeface="Arial"/>
                </a:rPr>
                <a:t>mW</a:t>
              </a:r>
              <a:r>
                <a:rPr sz="1600" b="0" i="0" dirty="0">
                  <a:solidFill>
                    <a:srgbClr val="333333"/>
                  </a:solidFill>
                  <a:latin typeface="Arial"/>
                </a:rPr>
                <a:t>) is the enabling architecture for privacy and battery life; compression costs accuracy.</a:t>
              </a:r>
            </a:p>
          </p:txBody>
        </p:sp>
        <p:sp>
          <p:nvSpPr>
            <p:cNvPr id="11" name="Badge 4"/>
            <p:cNvSpPr/>
            <p:nvPr/>
          </p:nvSpPr>
          <p:spPr>
            <a:xfrm>
              <a:off x="889000" y="3829745"/>
              <a:ext cx="381000" cy="381000"/>
            </a:xfrm>
            <a:prstGeom prst="ellipse">
              <a:avLst/>
            </a:prstGeom>
            <a:solidFill>
              <a:srgbClr val="E87500"/>
            </a:solidFill>
            <a:ln>
              <a:noFill/>
            </a:ln>
          </p:spPr>
          <p:txBody>
            <a:bodyPr wrap="none" lIns="0" tIns="0" rIns="0" bIns="0" rtlCol="0" anchor="ctr">
              <a:noAutofit/>
            </a:bodyPr>
            <a:lstStyle/>
            <a:p>
              <a:pPr algn="ctr"/>
              <a:r>
                <a:rPr sz="1600" b="1">
                  <a:solidFill>
                    <a:srgbClr val="FFFFFF"/>
                  </a:solidFill>
                  <a:latin typeface="Arial"/>
                </a:rPr>
                <a:t>4</a:t>
              </a:r>
            </a:p>
          </p:txBody>
        </p:sp>
        <p:sp>
          <p:nvSpPr>
            <p:cNvPr id="12" name="Text: The binding constraints are now validati"/>
            <p:cNvSpPr txBox="1"/>
            <p:nvPr/>
          </p:nvSpPr>
          <p:spPr>
            <a:xfrm>
              <a:off x="1397000" y="3746004"/>
              <a:ext cx="7029450" cy="548481"/>
            </a:xfrm>
            <a:prstGeom prst="rect">
              <a:avLst/>
            </a:prstGeom>
            <a:noFill/>
          </p:spPr>
          <p:txBody>
            <a:bodyPr wrap="square" lIns="0" tIns="0" rIns="0" bIns="0" anchor="t">
              <a:noAutofit/>
            </a:bodyPr>
            <a:lstStyle/>
            <a:p>
              <a:pPr algn="l">
                <a:lnSpc>
                  <a:spcPts val="2160"/>
                </a:lnSpc>
                <a:spcBef>
                  <a:spcPts val="0"/>
                </a:spcBef>
                <a:spcAft>
                  <a:spcPts val="0"/>
                </a:spcAft>
              </a:pPr>
              <a:r>
                <a:rPr sz="1600" b="0" i="0">
                  <a:solidFill>
                    <a:srgbClr val="333333"/>
                  </a:solidFill>
                  <a:latin typeface="Arial"/>
                </a:rPr>
                <a:t>The binding constraints are now </a:t>
              </a:r>
              <a:r>
                <a:rPr sz="1600" b="1" i="0">
                  <a:solidFill>
                    <a:srgbClr val="333333"/>
                  </a:solidFill>
                  <a:latin typeface="Arial"/>
                </a:rPr>
                <a:t>validation, bias, interoperability and liability</a:t>
              </a:r>
              <a:r>
                <a:rPr sz="1600" b="0" i="0">
                  <a:solidFill>
                    <a:srgbClr val="333333"/>
                  </a:solidFill>
                  <a:latin typeface="Arial"/>
                </a:rPr>
                <a:t>, not sensing.</a:t>
              </a:r>
            </a:p>
          </p:txBody>
        </p:sp>
        <p:sp>
          <p:nvSpPr>
            <p:cNvPr id="13" name="Badge 5"/>
            <p:cNvSpPr/>
            <p:nvPr/>
          </p:nvSpPr>
          <p:spPr>
            <a:xfrm>
              <a:off x="889000" y="4632226"/>
              <a:ext cx="381000" cy="381000"/>
            </a:xfrm>
            <a:prstGeom prst="ellipse">
              <a:avLst/>
            </a:prstGeom>
            <a:solidFill>
              <a:srgbClr val="E87500"/>
            </a:solidFill>
            <a:ln>
              <a:noFill/>
            </a:ln>
          </p:spPr>
          <p:txBody>
            <a:bodyPr wrap="none" lIns="0" tIns="0" rIns="0" bIns="0" rtlCol="0" anchor="ctr">
              <a:noAutofit/>
            </a:bodyPr>
            <a:lstStyle/>
            <a:p>
              <a:pPr algn="ctr"/>
              <a:r>
                <a:rPr sz="1600" b="1">
                  <a:solidFill>
                    <a:srgbClr val="FFFFFF"/>
                  </a:solidFill>
                  <a:latin typeface="Arial"/>
                </a:rPr>
                <a:t>5</a:t>
              </a:r>
            </a:p>
          </p:txBody>
        </p:sp>
        <p:sp>
          <p:nvSpPr>
            <p:cNvPr id="14" name="Text: The review is a wide map plus a policy p"/>
            <p:cNvSpPr txBox="1"/>
            <p:nvPr/>
          </p:nvSpPr>
          <p:spPr>
            <a:xfrm>
              <a:off x="1397000" y="4670802"/>
              <a:ext cx="7029450" cy="548481"/>
            </a:xfrm>
            <a:prstGeom prst="rect">
              <a:avLst/>
            </a:prstGeom>
            <a:noFill/>
          </p:spPr>
          <p:txBody>
            <a:bodyPr wrap="square" lIns="0" tIns="0" rIns="0" bIns="0" anchor="t">
              <a:noAutofit/>
            </a:bodyPr>
            <a:lstStyle/>
            <a:p>
              <a:pPr algn="l">
                <a:lnSpc>
                  <a:spcPts val="2160"/>
                </a:lnSpc>
                <a:spcBef>
                  <a:spcPts val="0"/>
                </a:spcBef>
                <a:spcAft>
                  <a:spcPts val="0"/>
                </a:spcAft>
              </a:pPr>
              <a:r>
                <a:rPr sz="1600" b="0" i="0" dirty="0">
                  <a:solidFill>
                    <a:srgbClr val="333333"/>
                  </a:solidFill>
                  <a:latin typeface="Arial"/>
                </a:rPr>
                <a:t>The review is a wide map plus a policy proposal, not a quantitative synthesis.</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24</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a:solidFill>
                  <a:srgbClr val="154734"/>
                </a:solidFill>
                <a:latin typeface="Arial"/>
              </a:rPr>
              <a:t>My assessment: a broad map with thin evidence</a:t>
            </a:r>
          </a:p>
        </p:txBody>
      </p:sp>
      <p:sp>
        <p:nvSpPr>
          <p:cNvPr id="3" name="Text: MY COMMENTS · CRITICAL ASSESSMENT"/>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MY COMMENTS · CRITICAL ASSESSMENT</a:t>
            </a:r>
          </a:p>
        </p:txBody>
      </p:sp>
      <p:grpSp>
        <p:nvGrpSpPr>
          <p:cNvPr id="28" name="Group 27">
            <a:extLst>
              <a:ext uri="{FF2B5EF4-FFF2-40B4-BE49-F238E27FC236}">
                <a16:creationId xmlns:a16="http://schemas.microsoft.com/office/drawing/2014/main" id="{510A7AA1-921E-1DAC-9F0D-6B6A863E4ADC}"/>
              </a:ext>
            </a:extLst>
          </p:cNvPr>
          <p:cNvGrpSpPr/>
          <p:nvPr/>
        </p:nvGrpSpPr>
        <p:grpSpPr>
          <a:xfrm>
            <a:off x="544036" y="1278532"/>
            <a:ext cx="8055928" cy="4300935"/>
            <a:chOff x="609600" y="1008360"/>
            <a:chExt cx="8055928" cy="4300935"/>
          </a:xfrm>
        </p:grpSpPr>
        <p:sp>
          <p:nvSpPr>
            <p:cNvPr id="4" name="Text: Strengths"/>
            <p:cNvSpPr txBox="1"/>
            <p:nvPr/>
          </p:nvSpPr>
          <p:spPr>
            <a:xfrm>
              <a:off x="609600" y="1008360"/>
              <a:ext cx="2603500"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2E8B57"/>
                  </a:solidFill>
                  <a:latin typeface="Arial"/>
                </a:rPr>
                <a:t>Strengths</a:t>
              </a:r>
            </a:p>
          </p:txBody>
        </p:sp>
        <p:sp>
          <p:nvSpPr>
            <p:cNvPr id="5" name="Panel"/>
            <p:cNvSpPr/>
            <p:nvPr/>
          </p:nvSpPr>
          <p:spPr>
            <a:xfrm>
              <a:off x="609600" y="1249660"/>
              <a:ext cx="2540000" cy="717947"/>
            </a:xfrm>
            <a:prstGeom prst="roundRect">
              <a:avLst>
                <a:gd name="adj" fmla="val 8844"/>
              </a:avLst>
            </a:prstGeom>
            <a:solidFill>
              <a:srgbClr val="E7F0EB"/>
            </a:solidFill>
            <a:ln>
              <a:noFill/>
            </a:ln>
          </p:spPr>
          <p:txBody>
            <a:bodyPr rtlCol="0" anchor="ctr"/>
            <a:lstStyle/>
            <a:p>
              <a:pPr algn="ctr"/>
              <a:endParaRPr/>
            </a:p>
          </p:txBody>
        </p:sp>
        <p:sp>
          <p:nvSpPr>
            <p:cNvPr id="6" name="Text: End-to-end scope: molecule → materials →"/>
            <p:cNvSpPr txBox="1"/>
            <p:nvPr/>
          </p:nvSpPr>
          <p:spPr>
            <a:xfrm>
              <a:off x="711200" y="1325860"/>
              <a:ext cx="2395220"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End-to-end scope:</a:t>
              </a:r>
              <a:r>
                <a:rPr sz="1100" b="0" i="0">
                  <a:solidFill>
                    <a:srgbClr val="333333"/>
                  </a:solidFill>
                  <a:latin typeface="Arial"/>
                </a:rPr>
                <a:t> molecule → materials → power → AI → clinic → policy in one place.</a:t>
              </a:r>
            </a:p>
          </p:txBody>
        </p:sp>
        <p:sp>
          <p:nvSpPr>
            <p:cNvPr id="7" name="Panel"/>
            <p:cNvSpPr/>
            <p:nvPr/>
          </p:nvSpPr>
          <p:spPr>
            <a:xfrm>
              <a:off x="609600" y="2031107"/>
              <a:ext cx="2540000" cy="717947"/>
            </a:xfrm>
            <a:prstGeom prst="roundRect">
              <a:avLst>
                <a:gd name="adj" fmla="val 8844"/>
              </a:avLst>
            </a:prstGeom>
            <a:solidFill>
              <a:srgbClr val="E7F0EB"/>
            </a:solidFill>
            <a:ln>
              <a:noFill/>
            </a:ln>
          </p:spPr>
          <p:txBody>
            <a:bodyPr rtlCol="0" anchor="ctr"/>
            <a:lstStyle/>
            <a:p>
              <a:pPr algn="ctr"/>
              <a:endParaRPr/>
            </a:p>
          </p:txBody>
        </p:sp>
        <p:sp>
          <p:nvSpPr>
            <p:cNvPr id="8" name="Text: Quantitative anchors: sensor generations"/>
            <p:cNvSpPr txBox="1"/>
            <p:nvPr/>
          </p:nvSpPr>
          <p:spPr>
            <a:xfrm>
              <a:off x="711200" y="2107307"/>
              <a:ext cx="2395220"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Quantitative anchors:</a:t>
              </a:r>
              <a:r>
                <a:rPr sz="1100" b="0" i="0">
                  <a:solidFill>
                    <a:srgbClr val="333333"/>
                  </a:solidFill>
                  <a:latin typeface="Arial"/>
                </a:rPr>
                <a:t> sensor generations, edge latency and power targets.</a:t>
              </a:r>
            </a:p>
          </p:txBody>
        </p:sp>
        <p:sp>
          <p:nvSpPr>
            <p:cNvPr id="9" name="Panel"/>
            <p:cNvSpPr/>
            <p:nvPr/>
          </p:nvSpPr>
          <p:spPr>
            <a:xfrm>
              <a:off x="609600" y="2812554"/>
              <a:ext cx="2540000" cy="717947"/>
            </a:xfrm>
            <a:prstGeom prst="roundRect">
              <a:avLst>
                <a:gd name="adj" fmla="val 8844"/>
              </a:avLst>
            </a:prstGeom>
            <a:solidFill>
              <a:srgbClr val="E7F0EB"/>
            </a:solidFill>
            <a:ln>
              <a:noFill/>
            </a:ln>
          </p:spPr>
          <p:txBody>
            <a:bodyPr rtlCol="0" anchor="ctr"/>
            <a:lstStyle/>
            <a:p>
              <a:pPr algn="ctr"/>
              <a:endParaRPr/>
            </a:p>
          </p:txBody>
        </p:sp>
        <p:sp>
          <p:nvSpPr>
            <p:cNvPr id="10" name="Text: Testable proposals: 99% / 80% benchmark,"/>
            <p:cNvSpPr txBox="1"/>
            <p:nvPr/>
          </p:nvSpPr>
          <p:spPr>
            <a:xfrm>
              <a:off x="711200" y="2888754"/>
              <a:ext cx="2395220"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Testable proposals:</a:t>
              </a:r>
              <a:r>
                <a:rPr sz="1100" b="0" i="0">
                  <a:solidFill>
                    <a:srgbClr val="333333"/>
                  </a:solidFill>
                  <a:latin typeface="Arial"/>
                </a:rPr>
                <a:t> 99% / 80% benchmark, Accessibility Index, KPIs (Gini, QALYs).</a:t>
              </a:r>
            </a:p>
          </p:txBody>
        </p:sp>
        <p:sp>
          <p:nvSpPr>
            <p:cNvPr id="11" name="Panel"/>
            <p:cNvSpPr/>
            <p:nvPr/>
          </p:nvSpPr>
          <p:spPr>
            <a:xfrm>
              <a:off x="609600" y="3594001"/>
              <a:ext cx="2540000" cy="717947"/>
            </a:xfrm>
            <a:prstGeom prst="roundRect">
              <a:avLst>
                <a:gd name="adj" fmla="val 8844"/>
              </a:avLst>
            </a:prstGeom>
            <a:solidFill>
              <a:srgbClr val="E7F0EB"/>
            </a:solidFill>
            <a:ln>
              <a:noFill/>
            </a:ln>
          </p:spPr>
          <p:txBody>
            <a:bodyPr rtlCol="0" anchor="ctr"/>
            <a:lstStyle/>
            <a:p>
              <a:pPr algn="ctr"/>
              <a:endParaRPr/>
            </a:p>
          </p:txBody>
        </p:sp>
        <p:sp>
          <p:nvSpPr>
            <p:cNvPr id="12" name="Text: Cost and equity taken seriously: roll-to"/>
            <p:cNvSpPr txBox="1"/>
            <p:nvPr/>
          </p:nvSpPr>
          <p:spPr>
            <a:xfrm>
              <a:off x="711200" y="3670201"/>
              <a:ext cx="2395220"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Cost and equity</a:t>
              </a:r>
              <a:r>
                <a:rPr sz="1100" b="0" i="0">
                  <a:solidFill>
                    <a:srgbClr val="333333"/>
                  </a:solidFill>
                  <a:latin typeface="Arial"/>
                </a:rPr>
                <a:t> taken seriously: roll-to-roll printing, tiered pricing, repairability.</a:t>
              </a:r>
            </a:p>
          </p:txBody>
        </p:sp>
        <p:sp>
          <p:nvSpPr>
            <p:cNvPr id="13" name="Text: Weaknesses"/>
            <p:cNvSpPr txBox="1"/>
            <p:nvPr/>
          </p:nvSpPr>
          <p:spPr>
            <a:xfrm>
              <a:off x="3289300" y="1008360"/>
              <a:ext cx="5376228" cy="177800"/>
            </a:xfrm>
            <a:prstGeom prst="rect">
              <a:avLst/>
            </a:prstGeom>
            <a:noFill/>
          </p:spPr>
          <p:txBody>
            <a:bodyPr wrap="square" lIns="0" tIns="0" rIns="0" bIns="0" anchor="t">
              <a:noAutofit/>
            </a:bodyPr>
            <a:lstStyle/>
            <a:p>
              <a:pPr algn="l">
                <a:lnSpc>
                  <a:spcPts val="1380"/>
                </a:lnSpc>
                <a:spcBef>
                  <a:spcPts val="0"/>
                </a:spcBef>
                <a:spcAft>
                  <a:spcPts val="0"/>
                </a:spcAft>
              </a:pPr>
              <a:r>
                <a:rPr sz="1200" b="1" i="0">
                  <a:solidFill>
                    <a:srgbClr val="B3261E"/>
                  </a:solidFill>
                  <a:latin typeface="Arial"/>
                </a:rPr>
                <a:t>Weaknesses</a:t>
              </a:r>
            </a:p>
          </p:txBody>
        </p:sp>
        <p:sp>
          <p:nvSpPr>
            <p:cNvPr id="14" name="Panel"/>
            <p:cNvSpPr/>
            <p:nvPr/>
          </p:nvSpPr>
          <p:spPr>
            <a:xfrm>
              <a:off x="3289300" y="1249660"/>
              <a:ext cx="5245100" cy="529431"/>
            </a:xfrm>
            <a:prstGeom prst="roundRect">
              <a:avLst>
                <a:gd name="adj" fmla="val 11994"/>
              </a:avLst>
            </a:prstGeom>
            <a:solidFill>
              <a:srgbClr val="FBEAE8"/>
            </a:solidFill>
            <a:ln>
              <a:noFill/>
            </a:ln>
          </p:spPr>
          <p:txBody>
            <a:bodyPr rtlCol="0" anchor="ctr"/>
            <a:lstStyle/>
            <a:p>
              <a:pPr algn="ctr"/>
              <a:endParaRPr/>
            </a:p>
          </p:txBody>
        </p:sp>
        <p:sp>
          <p:nvSpPr>
            <p:cNvPr id="15" name="Text: No search protocol: databases, dates and"/>
            <p:cNvSpPr txBox="1"/>
            <p:nvPr/>
          </p:nvSpPr>
          <p:spPr>
            <a:xfrm>
              <a:off x="3390900" y="1325860"/>
              <a:ext cx="5167948"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No search protocol:</a:t>
              </a:r>
              <a:r>
                <a:rPr sz="1100" b="0" i="0">
                  <a:solidFill>
                    <a:srgbClr val="333333"/>
                  </a:solidFill>
                  <a:latin typeface="Arial"/>
                </a:rPr>
                <a:t> databases, dates and inclusion criteria unreported, so selection bias is unknown.</a:t>
              </a:r>
            </a:p>
          </p:txBody>
        </p:sp>
        <p:sp>
          <p:nvSpPr>
            <p:cNvPr id="16" name="Panel"/>
            <p:cNvSpPr/>
            <p:nvPr/>
          </p:nvSpPr>
          <p:spPr>
            <a:xfrm>
              <a:off x="3289300" y="1842591"/>
              <a:ext cx="5245100" cy="717947"/>
            </a:xfrm>
            <a:prstGeom prst="roundRect">
              <a:avLst>
                <a:gd name="adj" fmla="val 8844"/>
              </a:avLst>
            </a:prstGeom>
            <a:solidFill>
              <a:srgbClr val="FBEAE8"/>
            </a:solidFill>
            <a:ln>
              <a:noFill/>
            </a:ln>
          </p:spPr>
          <p:txBody>
            <a:bodyPr rtlCol="0" anchor="ctr"/>
            <a:lstStyle/>
            <a:p>
              <a:pPr algn="ctr"/>
              <a:endParaRPr/>
            </a:p>
          </p:txBody>
        </p:sp>
        <p:sp>
          <p:nvSpPr>
            <p:cNvPr id="17" name="Text: Uncited or untraceable claims: all of Ta"/>
            <p:cNvSpPr txBox="1"/>
            <p:nvPr/>
          </p:nvSpPr>
          <p:spPr>
            <a:xfrm>
              <a:off x="3390900" y="1918791"/>
              <a:ext cx="5167948"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Uncited or untraceable claims:</a:t>
              </a:r>
              <a:r>
                <a:rPr sz="1100" b="0" i="0">
                  <a:solidFill>
                    <a:srgbClr val="333333"/>
                  </a:solidFill>
                  <a:latin typeface="Arial"/>
                </a:rPr>
                <a:t> all of Table 4; “68% of physicians (n = 120)”; “Singapore's Safer Wearables Initiative” cites an unrelated EHR-nursing paper [214]; FDA's Pre-Cert pilot, cited as accelerating approvals, ended in Sept 2022.</a:t>
              </a:r>
            </a:p>
          </p:txBody>
        </p:sp>
        <p:sp>
          <p:nvSpPr>
            <p:cNvPr id="18" name="Panel"/>
            <p:cNvSpPr/>
            <p:nvPr/>
          </p:nvSpPr>
          <p:spPr>
            <a:xfrm>
              <a:off x="3289300" y="2624038"/>
              <a:ext cx="5245100" cy="717947"/>
            </a:xfrm>
            <a:prstGeom prst="roundRect">
              <a:avLst>
                <a:gd name="adj" fmla="val 8844"/>
              </a:avLst>
            </a:prstGeom>
            <a:solidFill>
              <a:srgbClr val="FBEAE8"/>
            </a:solidFill>
            <a:ln>
              <a:noFill/>
            </a:ln>
          </p:spPr>
          <p:txBody>
            <a:bodyPr rtlCol="0" anchor="ctr"/>
            <a:lstStyle/>
            <a:p>
              <a:pPr algn="ctr"/>
              <a:endParaRPr/>
            </a:p>
          </p:txBody>
        </p:sp>
        <p:sp>
          <p:nvSpPr>
            <p:cNvPr id="19" name="Text: Scope mismatch: Table 5 is mostly imagin"/>
            <p:cNvSpPr txBox="1"/>
            <p:nvPr/>
          </p:nvSpPr>
          <p:spPr>
            <a:xfrm>
              <a:off x="3390900" y="2700238"/>
              <a:ext cx="5167948"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Scope mismatch:</a:t>
              </a:r>
              <a:r>
                <a:rPr sz="1100" b="0" i="0">
                  <a:solidFill>
                    <a:srgbClr val="333333"/>
                  </a:solidFill>
                  <a:latin typeface="Arial"/>
                </a:rPr>
                <a:t> Table 5 is mostly imaging AI; no listed system meets the authors' own 99%-sensitivity benchmark, and the benchmark itself gives &lt;5% PPV at 1% prevalence.</a:t>
              </a:r>
            </a:p>
          </p:txBody>
        </p:sp>
        <p:sp>
          <p:nvSpPr>
            <p:cNvPr id="20" name="Panel"/>
            <p:cNvSpPr/>
            <p:nvPr/>
          </p:nvSpPr>
          <p:spPr>
            <a:xfrm>
              <a:off x="3289300" y="3405485"/>
              <a:ext cx="5245100" cy="529431"/>
            </a:xfrm>
            <a:prstGeom prst="roundRect">
              <a:avLst>
                <a:gd name="adj" fmla="val 11994"/>
              </a:avLst>
            </a:prstGeom>
            <a:solidFill>
              <a:srgbClr val="FBEAE8"/>
            </a:solidFill>
            <a:ln>
              <a:noFill/>
            </a:ln>
          </p:spPr>
          <p:txBody>
            <a:bodyPr rtlCol="0" anchor="ctr"/>
            <a:lstStyle/>
            <a:p>
              <a:pPr algn="ctr"/>
              <a:endParaRPr/>
            </a:p>
          </p:txBody>
        </p:sp>
        <p:sp>
          <p:nvSpPr>
            <p:cNvPr id="21" name="Text: Physiology slip (§4.1.3): stress lowers "/>
            <p:cNvSpPr txBox="1"/>
            <p:nvPr/>
          </p:nvSpPr>
          <p:spPr>
            <a:xfrm>
              <a:off x="3390900" y="3481685"/>
              <a:ext cx="5167948"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Physiology slip (§4.1.3):</a:t>
              </a:r>
              <a:r>
                <a:rPr sz="1100" b="0" i="0">
                  <a:solidFill>
                    <a:srgbClr val="333333"/>
                  </a:solidFill>
                  <a:latin typeface="Arial"/>
                </a:rPr>
                <a:t> stress </a:t>
              </a:r>
              <a:r>
                <a:rPr sz="1100" b="0" i="1">
                  <a:solidFill>
                    <a:srgbClr val="333333"/>
                  </a:solidFill>
                  <a:latin typeface="Arial"/>
                </a:rPr>
                <a:t>lowers</a:t>
              </a:r>
              <a:r>
                <a:rPr sz="1100" b="0" i="0">
                  <a:solidFill>
                    <a:srgbClr val="333333"/>
                  </a:solidFill>
                  <a:latin typeface="Arial"/>
                </a:rPr>
                <a:t> HRV (vagal withdrawal; Kim et al. 2018 meta-analysis), yet the text lists “elevated HRV” as a stress sign.</a:t>
              </a:r>
            </a:p>
          </p:txBody>
        </p:sp>
        <p:sp>
          <p:nvSpPr>
            <p:cNvPr id="22" name="Panel"/>
            <p:cNvSpPr/>
            <p:nvPr/>
          </p:nvSpPr>
          <p:spPr>
            <a:xfrm>
              <a:off x="3289300" y="3998416"/>
              <a:ext cx="5245100" cy="529431"/>
            </a:xfrm>
            <a:prstGeom prst="roundRect">
              <a:avLst>
                <a:gd name="adj" fmla="val 11994"/>
              </a:avLst>
            </a:prstGeom>
            <a:solidFill>
              <a:srgbClr val="FBEAE8"/>
            </a:solidFill>
            <a:ln>
              <a:noFill/>
            </a:ln>
          </p:spPr>
          <p:txBody>
            <a:bodyPr rtlCol="0" anchor="ctr"/>
            <a:lstStyle/>
            <a:p>
              <a:pPr algn="ctr"/>
              <a:endParaRPr/>
            </a:p>
          </p:txBody>
        </p:sp>
        <p:sp>
          <p:nvSpPr>
            <p:cNvPr id="23" name="Text: Decorative figures: Figs 1, 7, 8, 11, 12"/>
            <p:cNvSpPr txBox="1"/>
            <p:nvPr/>
          </p:nvSpPr>
          <p:spPr>
            <a:xfrm>
              <a:off x="3390900" y="4074616"/>
              <a:ext cx="5167948" cy="377031"/>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Decorative figures:</a:t>
              </a:r>
              <a:r>
                <a:rPr sz="1100" b="0" i="0">
                  <a:solidFill>
                    <a:srgbClr val="333333"/>
                  </a:solidFill>
                  <a:latin typeface="Arial"/>
                </a:rPr>
                <a:t> Figs 1, 7, 8, 11, 12 are infographics with typos (“Cennectivity”, “Liabliity”) and no data.</a:t>
              </a:r>
            </a:p>
          </p:txBody>
        </p:sp>
        <p:sp>
          <p:nvSpPr>
            <p:cNvPr id="24" name="Panel"/>
            <p:cNvSpPr/>
            <p:nvPr/>
          </p:nvSpPr>
          <p:spPr>
            <a:xfrm>
              <a:off x="3289300" y="4591348"/>
              <a:ext cx="5245100" cy="717947"/>
            </a:xfrm>
            <a:prstGeom prst="roundRect">
              <a:avLst>
                <a:gd name="adj" fmla="val 8844"/>
              </a:avLst>
            </a:prstGeom>
            <a:solidFill>
              <a:srgbClr val="FBEAE8"/>
            </a:solidFill>
            <a:ln>
              <a:noFill/>
            </a:ln>
          </p:spPr>
          <p:txBody>
            <a:bodyPr rtlCol="0" anchor="ctr"/>
            <a:lstStyle/>
            <a:p>
              <a:pPr algn="ctr"/>
              <a:endParaRPr/>
            </a:p>
          </p:txBody>
        </p:sp>
        <p:sp>
          <p:nvSpPr>
            <p:cNvPr id="25" name="Text: Missing landmark evidence: Apple Heart S"/>
            <p:cNvSpPr txBox="1"/>
            <p:nvPr/>
          </p:nvSpPr>
          <p:spPr>
            <a:xfrm>
              <a:off x="3390900" y="4667548"/>
              <a:ext cx="5167948" cy="565547"/>
            </a:xfrm>
            <a:prstGeom prst="rect">
              <a:avLst/>
            </a:prstGeom>
            <a:noFill/>
          </p:spPr>
          <p:txBody>
            <a:bodyPr wrap="square" lIns="0" tIns="0" rIns="0" bIns="0" anchor="t">
              <a:noAutofit/>
            </a:bodyPr>
            <a:lstStyle/>
            <a:p>
              <a:pPr algn="l">
                <a:lnSpc>
                  <a:spcPts val="1485"/>
                </a:lnSpc>
                <a:spcBef>
                  <a:spcPts val="0"/>
                </a:spcBef>
                <a:spcAft>
                  <a:spcPts val="0"/>
                </a:spcAft>
              </a:pPr>
              <a:r>
                <a:rPr sz="1100" b="1" i="0">
                  <a:solidFill>
                    <a:srgbClr val="333333"/>
                  </a:solidFill>
                  <a:latin typeface="Arial"/>
                </a:rPr>
                <a:t>Missing landmark evidence:</a:t>
              </a:r>
              <a:r>
                <a:rPr sz="1100" b="0" i="0">
                  <a:solidFill>
                    <a:srgbClr val="333333"/>
                  </a:solidFill>
                  <a:latin typeface="Arial"/>
                </a:rPr>
                <a:t> Apple Heart Study (n = 419,297; notification PPV 0.84); skin-tone bias in optical sensing (occult hypoxemia 11.7% vs 3.6%, Sjoding 2020).</a:t>
              </a:r>
            </a:p>
          </p:txBody>
        </p:sp>
      </p:gr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25</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dirty="0">
                <a:solidFill>
                  <a:srgbClr val="154734"/>
                </a:solidFill>
                <a:latin typeface="Arial"/>
              </a:rPr>
              <a:t>Questions for the authors</a:t>
            </a:r>
          </a:p>
        </p:txBody>
      </p:sp>
      <p:sp>
        <p:nvSpPr>
          <p:cNvPr id="3" name="Text: MY COMMENTS · QUESTIONS TO THE AUTHORS"/>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MY COMMENTS · QUESTIONS TO THE AUTHORS</a:t>
            </a:r>
          </a:p>
        </p:txBody>
      </p:sp>
      <p:grpSp>
        <p:nvGrpSpPr>
          <p:cNvPr id="17" name="Group 16">
            <a:extLst>
              <a:ext uri="{FF2B5EF4-FFF2-40B4-BE49-F238E27FC236}">
                <a16:creationId xmlns:a16="http://schemas.microsoft.com/office/drawing/2014/main" id="{EECFA123-5268-1073-612A-AC6AAAEE2041}"/>
              </a:ext>
            </a:extLst>
          </p:cNvPr>
          <p:cNvGrpSpPr/>
          <p:nvPr/>
        </p:nvGrpSpPr>
        <p:grpSpPr>
          <a:xfrm>
            <a:off x="516572" y="1363960"/>
            <a:ext cx="8110855" cy="3300511"/>
            <a:chOff x="609600" y="1059160"/>
            <a:chExt cx="8110855" cy="3300511"/>
          </a:xfrm>
        </p:grpSpPr>
        <p:sp>
          <p:nvSpPr>
            <p:cNvPr id="4" name="Badge Q1"/>
            <p:cNvSpPr/>
            <p:nvPr/>
          </p:nvSpPr>
          <p:spPr>
            <a:xfrm>
              <a:off x="609600" y="1059160"/>
              <a:ext cx="368300" cy="368300"/>
            </a:xfrm>
            <a:prstGeom prst="ellipse">
              <a:avLst/>
            </a:prstGeom>
            <a:solidFill>
              <a:srgbClr val="154734"/>
            </a:solidFill>
            <a:ln>
              <a:noFill/>
            </a:ln>
          </p:spPr>
          <p:txBody>
            <a:bodyPr wrap="none" lIns="0" tIns="0" rIns="0" bIns="0" rtlCol="0" anchor="ctr">
              <a:noAutofit/>
            </a:bodyPr>
            <a:lstStyle/>
            <a:p>
              <a:pPr algn="ctr"/>
              <a:r>
                <a:rPr sz="1200" b="1">
                  <a:solidFill>
                    <a:srgbClr val="FFFFFF"/>
                  </a:solidFill>
                  <a:latin typeface="Arial"/>
                </a:rPr>
                <a:t>Q1</a:t>
              </a:r>
            </a:p>
          </p:txBody>
        </p:sp>
        <p:sp>
          <p:nvSpPr>
            <p:cNvPr id="5" name="Text: Search method. Which databases, dates an"/>
            <p:cNvSpPr txBox="1"/>
            <p:nvPr/>
          </p:nvSpPr>
          <p:spPr>
            <a:xfrm>
              <a:off x="1092200" y="1059160"/>
              <a:ext cx="7628255" cy="480020"/>
            </a:xfrm>
            <a:prstGeom prst="rect">
              <a:avLst/>
            </a:prstGeom>
            <a:noFill/>
          </p:spPr>
          <p:txBody>
            <a:bodyPr wrap="square" lIns="0" tIns="0" rIns="0" bIns="0" anchor="t">
              <a:noAutofit/>
            </a:bodyPr>
            <a:lstStyle/>
            <a:p>
              <a:pPr algn="l">
                <a:lnSpc>
                  <a:spcPts val="1889"/>
                </a:lnSpc>
                <a:spcBef>
                  <a:spcPts val="0"/>
                </a:spcBef>
                <a:spcAft>
                  <a:spcPts val="0"/>
                </a:spcAft>
              </a:pPr>
              <a:r>
                <a:rPr sz="1400" b="1" i="0" dirty="0">
                  <a:solidFill>
                    <a:srgbClr val="333333"/>
                  </a:solidFill>
                  <a:latin typeface="Arial"/>
                </a:rPr>
                <a:t>Search method.</a:t>
              </a:r>
              <a:r>
                <a:rPr sz="1400" b="0" i="0" dirty="0">
                  <a:solidFill>
                    <a:srgbClr val="333333"/>
                  </a:solidFill>
                  <a:latin typeface="Arial"/>
                </a:rPr>
                <a:t> Which databases, dates and inclusion criteria produced the 225 references, and would a PRISMA-style protocol change any conclusion?</a:t>
              </a:r>
            </a:p>
          </p:txBody>
        </p:sp>
        <p:sp>
          <p:nvSpPr>
            <p:cNvPr id="6" name="Badge Q2"/>
            <p:cNvSpPr/>
            <p:nvPr/>
          </p:nvSpPr>
          <p:spPr>
            <a:xfrm>
              <a:off x="609600" y="1704280"/>
              <a:ext cx="368300" cy="368300"/>
            </a:xfrm>
            <a:prstGeom prst="ellipse">
              <a:avLst/>
            </a:prstGeom>
            <a:solidFill>
              <a:srgbClr val="154734"/>
            </a:solidFill>
            <a:ln>
              <a:noFill/>
            </a:ln>
          </p:spPr>
          <p:txBody>
            <a:bodyPr wrap="none" lIns="0" tIns="0" rIns="0" bIns="0" rtlCol="0" anchor="ctr">
              <a:noAutofit/>
            </a:bodyPr>
            <a:lstStyle/>
            <a:p>
              <a:pPr algn="ctr"/>
              <a:r>
                <a:rPr sz="1200" b="1">
                  <a:solidFill>
                    <a:srgbClr val="FFFFFF"/>
                  </a:solidFill>
                  <a:latin typeface="Arial"/>
                </a:rPr>
                <a:t>Q2</a:t>
              </a:r>
            </a:p>
          </p:txBody>
        </p:sp>
        <p:sp>
          <p:nvSpPr>
            <p:cNvPr id="7" name="Text: Table 4 provenance. Which tasks, dataset"/>
            <p:cNvSpPr txBox="1"/>
            <p:nvPr/>
          </p:nvSpPr>
          <p:spPr>
            <a:xfrm>
              <a:off x="1092200" y="1704280"/>
              <a:ext cx="7628255" cy="480020"/>
            </a:xfrm>
            <a:prstGeom prst="rect">
              <a:avLst/>
            </a:prstGeom>
            <a:noFill/>
          </p:spPr>
          <p:txBody>
            <a:bodyPr wrap="square" lIns="0" tIns="0" rIns="0" bIns="0" anchor="t">
              <a:noAutofit/>
            </a:bodyPr>
            <a:lstStyle/>
            <a:p>
              <a:pPr algn="l">
                <a:lnSpc>
                  <a:spcPts val="1889"/>
                </a:lnSpc>
                <a:spcBef>
                  <a:spcPts val="0"/>
                </a:spcBef>
                <a:spcAft>
                  <a:spcPts val="0"/>
                </a:spcAft>
              </a:pPr>
              <a:r>
                <a:rPr sz="1400" b="1" i="0">
                  <a:solidFill>
                    <a:srgbClr val="333333"/>
                  </a:solidFill>
                  <a:latin typeface="Arial"/>
                </a:rPr>
                <a:t>Table 4 provenance.</a:t>
              </a:r>
              <a:r>
                <a:rPr sz="1400" b="0" i="0">
                  <a:solidFill>
                    <a:srgbClr val="333333"/>
                  </a:solidFill>
                  <a:latin typeface="Arial"/>
                </a:rPr>
                <a:t> Which tasks, datasets and sample sizes underlie 72.3% → 89.7% accuracy and 15% → 4% weekly drift?</a:t>
              </a:r>
            </a:p>
          </p:txBody>
        </p:sp>
        <p:sp>
          <p:nvSpPr>
            <p:cNvPr id="8" name="Badge Q3"/>
            <p:cNvSpPr/>
            <p:nvPr/>
          </p:nvSpPr>
          <p:spPr>
            <a:xfrm>
              <a:off x="609600" y="2349401"/>
              <a:ext cx="368300" cy="368300"/>
            </a:xfrm>
            <a:prstGeom prst="ellipse">
              <a:avLst/>
            </a:prstGeom>
            <a:solidFill>
              <a:srgbClr val="154734"/>
            </a:solidFill>
            <a:ln>
              <a:noFill/>
            </a:ln>
          </p:spPr>
          <p:txBody>
            <a:bodyPr wrap="none" lIns="0" tIns="0" rIns="0" bIns="0" rtlCol="0" anchor="ctr">
              <a:noAutofit/>
            </a:bodyPr>
            <a:lstStyle/>
            <a:p>
              <a:pPr algn="ctr"/>
              <a:r>
                <a:rPr sz="1200" b="1">
                  <a:solidFill>
                    <a:srgbClr val="FFFFFF"/>
                  </a:solidFill>
                  <a:latin typeface="Arial"/>
                </a:rPr>
                <a:t>Q3</a:t>
              </a:r>
            </a:p>
          </p:txBody>
        </p:sp>
        <p:sp>
          <p:nvSpPr>
            <p:cNvPr id="9" name="Text: Wearable evidence. Why represent wearabl"/>
            <p:cNvSpPr txBox="1"/>
            <p:nvPr/>
          </p:nvSpPr>
          <p:spPr>
            <a:xfrm>
              <a:off x="1092200" y="2349401"/>
              <a:ext cx="7628255" cy="480020"/>
            </a:xfrm>
            <a:prstGeom prst="rect">
              <a:avLst/>
            </a:prstGeom>
            <a:noFill/>
          </p:spPr>
          <p:txBody>
            <a:bodyPr wrap="square" lIns="0" tIns="0" rIns="0" bIns="0" anchor="t">
              <a:noAutofit/>
            </a:bodyPr>
            <a:lstStyle/>
            <a:p>
              <a:pPr algn="l">
                <a:lnSpc>
                  <a:spcPts val="1889"/>
                </a:lnSpc>
                <a:spcBef>
                  <a:spcPts val="0"/>
                </a:spcBef>
                <a:spcAft>
                  <a:spcPts val="0"/>
                </a:spcAft>
              </a:pPr>
              <a:r>
                <a:rPr sz="1400" b="1" i="0" dirty="0">
                  <a:solidFill>
                    <a:srgbClr val="333333"/>
                  </a:solidFill>
                  <a:latin typeface="Arial"/>
                </a:rPr>
                <a:t>Wearable evidence.</a:t>
              </a:r>
              <a:r>
                <a:rPr sz="1400" b="0" i="0" dirty="0">
                  <a:solidFill>
                    <a:srgbClr val="333333"/>
                  </a:solidFill>
                  <a:latin typeface="Arial"/>
                </a:rPr>
                <a:t> Why represent wearables with imaging AI in Table 5? Which prospective wearable trials (e.g., the Apple Heart Study) belong there?</a:t>
              </a:r>
            </a:p>
          </p:txBody>
        </p:sp>
        <p:sp>
          <p:nvSpPr>
            <p:cNvPr id="10" name="Badge Q4"/>
            <p:cNvSpPr/>
            <p:nvPr/>
          </p:nvSpPr>
          <p:spPr>
            <a:xfrm>
              <a:off x="609600" y="2994521"/>
              <a:ext cx="368300" cy="368300"/>
            </a:xfrm>
            <a:prstGeom prst="ellipse">
              <a:avLst/>
            </a:prstGeom>
            <a:solidFill>
              <a:srgbClr val="154734"/>
            </a:solidFill>
            <a:ln>
              <a:noFill/>
            </a:ln>
          </p:spPr>
          <p:txBody>
            <a:bodyPr wrap="none" lIns="0" tIns="0" rIns="0" bIns="0" rtlCol="0" anchor="ctr">
              <a:noAutofit/>
            </a:bodyPr>
            <a:lstStyle/>
            <a:p>
              <a:pPr algn="ctr"/>
              <a:r>
                <a:rPr sz="1200" b="1">
                  <a:solidFill>
                    <a:srgbClr val="FFFFFF"/>
                  </a:solidFill>
                  <a:latin typeface="Arial"/>
                </a:rPr>
                <a:t>Q4</a:t>
              </a:r>
            </a:p>
          </p:txBody>
        </p:sp>
        <p:sp>
          <p:nvSpPr>
            <p:cNvPr id="11" name="Text: Benchmark design. Should the 99% / 80% t"/>
            <p:cNvSpPr txBox="1"/>
            <p:nvPr/>
          </p:nvSpPr>
          <p:spPr>
            <a:xfrm>
              <a:off x="1092200" y="2994521"/>
              <a:ext cx="7628255" cy="480020"/>
            </a:xfrm>
            <a:prstGeom prst="rect">
              <a:avLst/>
            </a:prstGeom>
            <a:noFill/>
          </p:spPr>
          <p:txBody>
            <a:bodyPr wrap="square" lIns="0" tIns="0" rIns="0" bIns="0" anchor="t">
              <a:noAutofit/>
            </a:bodyPr>
            <a:lstStyle/>
            <a:p>
              <a:pPr algn="l">
                <a:lnSpc>
                  <a:spcPts val="1889"/>
                </a:lnSpc>
                <a:spcBef>
                  <a:spcPts val="0"/>
                </a:spcBef>
                <a:spcAft>
                  <a:spcPts val="0"/>
                </a:spcAft>
              </a:pPr>
              <a:r>
                <a:rPr sz="1400" b="1" i="0">
                  <a:solidFill>
                    <a:srgbClr val="333333"/>
                  </a:solidFill>
                  <a:latin typeface="Arial"/>
                </a:rPr>
                <a:t>Benchmark design.</a:t>
              </a:r>
              <a:r>
                <a:rPr sz="1400" b="0" i="0">
                  <a:solidFill>
                    <a:srgbClr val="333333"/>
                  </a:solidFill>
                  <a:latin typeface="Arial"/>
                </a:rPr>
                <a:t> Should the 99% / 80% target be restated as a PPV or alarm-burden target that scales with prevalence?</a:t>
              </a:r>
            </a:p>
          </p:txBody>
        </p:sp>
        <p:sp>
          <p:nvSpPr>
            <p:cNvPr id="12" name="Badge Q5"/>
            <p:cNvSpPr/>
            <p:nvPr/>
          </p:nvSpPr>
          <p:spPr>
            <a:xfrm>
              <a:off x="609600" y="3639641"/>
              <a:ext cx="368300" cy="368300"/>
            </a:xfrm>
            <a:prstGeom prst="ellipse">
              <a:avLst/>
            </a:prstGeom>
            <a:solidFill>
              <a:srgbClr val="154734"/>
            </a:solidFill>
            <a:ln>
              <a:noFill/>
            </a:ln>
          </p:spPr>
          <p:txBody>
            <a:bodyPr wrap="none" lIns="0" tIns="0" rIns="0" bIns="0" rtlCol="0" anchor="ctr">
              <a:noAutofit/>
            </a:bodyPr>
            <a:lstStyle/>
            <a:p>
              <a:pPr algn="ctr"/>
              <a:r>
                <a:rPr sz="1200" b="1">
                  <a:solidFill>
                    <a:srgbClr val="FFFFFF"/>
                  </a:solidFill>
                  <a:latin typeface="Arial"/>
                </a:rPr>
                <a:t>Q5</a:t>
              </a:r>
            </a:p>
          </p:txBody>
        </p:sp>
        <p:sp>
          <p:nvSpPr>
            <p:cNvPr id="13" name="Text: Adaptive models and bias. How does the s"/>
            <p:cNvSpPr txBox="1"/>
            <p:nvPr/>
          </p:nvSpPr>
          <p:spPr>
            <a:xfrm>
              <a:off x="1092200" y="3639641"/>
              <a:ext cx="7628255" cy="720030"/>
            </a:xfrm>
            <a:prstGeom prst="rect">
              <a:avLst/>
            </a:prstGeom>
            <a:noFill/>
          </p:spPr>
          <p:txBody>
            <a:bodyPr wrap="square" lIns="0" tIns="0" rIns="0" bIns="0" anchor="t">
              <a:noAutofit/>
            </a:bodyPr>
            <a:lstStyle/>
            <a:p>
              <a:pPr algn="l">
                <a:lnSpc>
                  <a:spcPts val="1889"/>
                </a:lnSpc>
                <a:spcBef>
                  <a:spcPts val="0"/>
                </a:spcBef>
                <a:spcAft>
                  <a:spcPts val="0"/>
                </a:spcAft>
              </a:pPr>
              <a:r>
                <a:rPr sz="1400" b="1" i="0" dirty="0">
                  <a:solidFill>
                    <a:srgbClr val="333333"/>
                  </a:solidFill>
                  <a:latin typeface="Arial"/>
                </a:rPr>
                <a:t>Adaptive models and bias.</a:t>
              </a:r>
              <a:r>
                <a:rPr sz="1400" b="0" i="0" dirty="0">
                  <a:solidFill>
                    <a:srgbClr val="333333"/>
                  </a:solidFill>
                  <a:latin typeface="Arial"/>
                </a:rPr>
                <a:t> How does the staged framework map onto FDA Predetermined Change Control Plans (2024) and the EU AI Act, and should bias audits require validation across skin tones?</a:t>
              </a:r>
            </a:p>
          </p:txBody>
        </p:sp>
      </p:grpSp>
      <p:sp>
        <p:nvSpPr>
          <p:cNvPr id="14" name="Text: Thank you — questions and discussion wel"/>
          <p:cNvSpPr txBox="1"/>
          <p:nvPr/>
        </p:nvSpPr>
        <p:spPr>
          <a:xfrm>
            <a:off x="1844834" y="5221668"/>
            <a:ext cx="5454332" cy="234950"/>
          </a:xfrm>
          <a:prstGeom prst="rect">
            <a:avLst/>
          </a:prstGeom>
          <a:noFill/>
        </p:spPr>
        <p:txBody>
          <a:bodyPr wrap="square" lIns="0" tIns="0" rIns="0" bIns="0" anchor="t">
            <a:noAutofit/>
          </a:bodyPr>
          <a:lstStyle/>
          <a:p>
            <a:pPr algn="ctr">
              <a:lnSpc>
                <a:spcPts val="1839"/>
              </a:lnSpc>
              <a:spcBef>
                <a:spcPts val="0"/>
              </a:spcBef>
              <a:spcAft>
                <a:spcPts val="0"/>
              </a:spcAft>
            </a:pPr>
            <a:r>
              <a:rPr sz="1600" b="1" i="0" dirty="0">
                <a:solidFill>
                  <a:srgbClr val="154734"/>
                </a:solidFill>
                <a:latin typeface="Arial"/>
              </a:rPr>
              <a:t>Thank you — questions and discussion welcome.</a:t>
            </a:r>
          </a:p>
        </p:txBody>
      </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26</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r>
              <a:rPr sz="900">
                <a:solidFill>
                  <a:srgbClr val="FFFFFF"/>
                </a:solidFill>
                <a:latin typeface="Arial"/>
              </a:rPr>
              <a:t>Huang, Chen &amp; Liao · Biosensors 2025, 15, 410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58800"/>
            <a:ext cx="8122920" cy="335280"/>
          </a:xfrm>
        </p:spPr>
        <p:txBody>
          <a:bodyPr wrap="square" lIns="0" tIns="0" rIns="0" bIns="0" anchor="t">
            <a:noAutofit/>
          </a:bodyPr>
          <a:lstStyle/>
          <a:p>
            <a:pPr algn="l">
              <a:lnSpc>
                <a:spcPts val="2640"/>
              </a:lnSpc>
              <a:spcBef>
                <a:spcPts val="0"/>
              </a:spcBef>
              <a:spcAft>
                <a:spcPts val="0"/>
              </a:spcAft>
            </a:pPr>
            <a:r>
              <a:rPr sz="2400" b="1" i="0" dirty="0">
                <a:solidFill>
                  <a:srgbClr val="154734"/>
                </a:solidFill>
                <a:latin typeface="Arial"/>
              </a:rPr>
              <a:t>Sources beyond the reviewed paper</a:t>
            </a:r>
          </a:p>
        </p:txBody>
      </p:sp>
      <p:sp>
        <p:nvSpPr>
          <p:cNvPr id="3" name="Text: BACKUP · REFERENCES"/>
          <p:cNvSpPr txBox="1"/>
          <p:nvPr/>
        </p:nvSpPr>
        <p:spPr>
          <a:xfrm>
            <a:off x="609600" y="355600"/>
            <a:ext cx="8122920" cy="165100"/>
          </a:xfrm>
          <a:prstGeom prst="rect">
            <a:avLst/>
          </a:prstGeom>
          <a:noFill/>
        </p:spPr>
        <p:txBody>
          <a:bodyPr wrap="square" lIns="0" tIns="0" rIns="0" bIns="0" anchor="t">
            <a:noAutofit/>
          </a:bodyPr>
          <a:lstStyle/>
          <a:p>
            <a:pPr algn="l">
              <a:lnSpc>
                <a:spcPts val="1264"/>
              </a:lnSpc>
              <a:spcBef>
                <a:spcPts val="0"/>
              </a:spcBef>
              <a:spcAft>
                <a:spcPts val="0"/>
              </a:spcAft>
            </a:pPr>
            <a:r>
              <a:rPr sz="1100" b="1" i="0" spc="100">
                <a:solidFill>
                  <a:srgbClr val="A84D00"/>
                </a:solidFill>
                <a:latin typeface="Arial"/>
              </a:rPr>
              <a:t>BACKUP · REFERENCES</a:t>
            </a:r>
          </a:p>
        </p:txBody>
      </p:sp>
      <p:sp>
        <p:nvSpPr>
          <p:cNvPr id="26" name="Slide Number Placeholder 25">
            <a:extLst>
              <a:ext uri="{FF2B5EF4-FFF2-40B4-BE49-F238E27FC236}">
                <a16:creationId xmlns:a16="http://schemas.microsoft.com/office/drawing/2014/main" id="{F4B7BFCC-91AB-DE78-0CFC-CD3DB75C542E}"/>
              </a:ext>
            </a:extLst>
          </p:cNvPr>
          <p:cNvSpPr>
            <a:spLocks noGrp="1"/>
          </p:cNvSpPr>
          <p:nvPr>
            <p:ph type="sldNum" sz="quarter" idx="12"/>
          </p:nvPr>
        </p:nvSpPr>
        <p:spPr>
          <a:xfrm>
            <a:off x="4206240" y="6462064"/>
            <a:ext cx="731520" cy="190195"/>
          </a:xfrm>
        </p:spPr>
        <p:txBody>
          <a:bodyPr/>
          <a:lstStyle/>
          <a:p>
            <a:pPr algn="ctr" defTabSz="685800"/>
            <a:fld id="{C68DACDF-E1A9-A04C-A5FF-FC2443684BF5}" type="slidenum">
              <a:rPr lang="en-US">
                <a:solidFill>
                  <a:srgbClr val="FFFFFF"/>
                </a:solidFill>
                <a:latin typeface="Arial" panose="020B0604020202020204"/>
              </a:rPr>
              <a:pPr algn="ctr" defTabSz="685800"/>
              <a:t>27</a:t>
            </a:fld>
            <a:endParaRPr lang="en-US" dirty="0">
              <a:solidFill>
                <a:srgbClr val="FFFFFF"/>
              </a:solidFill>
              <a:latin typeface="Arial" panose="020B0604020202020204"/>
            </a:endParaRPr>
          </a:p>
        </p:txBody>
      </p:sp>
      <p:sp>
        <p:nvSpPr>
          <p:cNvPr id="27" name="Footer citation"/>
          <p:cNvSpPr txBox="1"/>
          <p:nvPr/>
        </p:nvSpPr>
        <p:spPr>
          <a:xfrm>
            <a:off x="3038475" y="6483715"/>
            <a:ext cx="5829300" cy="152400"/>
          </a:xfrm>
          <a:prstGeom prst="rect">
            <a:avLst/>
          </a:prstGeom>
          <a:noFill/>
        </p:spPr>
        <p:txBody>
          <a:bodyPr wrap="square" lIns="0" tIns="0" rIns="0" bIns="0" anchor="t">
            <a:noAutofit/>
          </a:bodyPr>
          <a:lstStyle/>
          <a:p>
            <a:pPr algn="r"/>
            <a:endParaRPr sz="900" dirty="0">
              <a:solidFill>
                <a:srgbClr val="FFFFFF"/>
              </a:solidFill>
              <a:latin typeface="Arial"/>
            </a:endParaRPr>
          </a:p>
        </p:txBody>
      </p:sp>
      <p:grpSp>
        <p:nvGrpSpPr>
          <p:cNvPr id="29" name="Group 28">
            <a:extLst>
              <a:ext uri="{FF2B5EF4-FFF2-40B4-BE49-F238E27FC236}">
                <a16:creationId xmlns:a16="http://schemas.microsoft.com/office/drawing/2014/main" id="{B83A9612-A75E-913A-7702-2630D3CE9BA1}"/>
              </a:ext>
            </a:extLst>
          </p:cNvPr>
          <p:cNvGrpSpPr/>
          <p:nvPr/>
        </p:nvGrpSpPr>
        <p:grpSpPr>
          <a:xfrm>
            <a:off x="508975" y="1488256"/>
            <a:ext cx="8120040" cy="4131250"/>
            <a:chOff x="508975" y="1488256"/>
            <a:chExt cx="8120040" cy="4131250"/>
          </a:xfrm>
        </p:grpSpPr>
        <p:sp>
          <p:nvSpPr>
            <p:cNvPr id="4" name="Text: [1]"/>
            <p:cNvSpPr txBox="1"/>
            <p:nvPr/>
          </p:nvSpPr>
          <p:spPr>
            <a:xfrm>
              <a:off x="514985" y="1488256"/>
              <a:ext cx="317500" cy="34290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[1]</a:t>
              </a:r>
            </a:p>
          </p:txBody>
        </p:sp>
        <p:sp>
          <p:nvSpPr>
            <p:cNvPr id="5" name="Text: Huang G, Chen X, Liao C. AI-driven weara"/>
            <p:cNvSpPr txBox="1"/>
            <p:nvPr/>
          </p:nvSpPr>
          <p:spPr>
            <a:xfrm>
              <a:off x="870585" y="1488256"/>
              <a:ext cx="7758430" cy="34290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333333"/>
                  </a:solidFill>
                  <a:latin typeface="Arial"/>
                </a:rPr>
                <a:t>Huang G, Chen X, Liao C. AI-driven wearable bioelectronics in digital healthcare. </a:t>
              </a:r>
              <a:r>
                <a:rPr sz="1000" b="0" i="1">
                  <a:solidFill>
                    <a:srgbClr val="333333"/>
                  </a:solidFill>
                  <a:latin typeface="Arial"/>
                </a:rPr>
                <a:t>Biosensors</a:t>
              </a:r>
              <a:r>
                <a:rPr sz="1000" b="0" i="0">
                  <a:solidFill>
                    <a:srgbClr val="333333"/>
                  </a:solidFill>
                  <a:latin typeface="Arial"/>
                </a:rPr>
                <a:t> 2025;15(7):410. doi:10.3390/bios15070410</a:t>
              </a:r>
            </a:p>
          </p:txBody>
        </p:sp>
        <p:sp>
          <p:nvSpPr>
            <p:cNvPr id="6" name="Text: [2]"/>
            <p:cNvSpPr txBox="1"/>
            <p:nvPr/>
          </p:nvSpPr>
          <p:spPr>
            <a:xfrm>
              <a:off x="514985" y="1907356"/>
              <a:ext cx="317500" cy="34290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[2]</a:t>
              </a:r>
            </a:p>
          </p:txBody>
        </p:sp>
        <p:sp>
          <p:nvSpPr>
            <p:cNvPr id="7" name="Text: NCD Risk Factor Collaboration. Worldwide"/>
            <p:cNvSpPr txBox="1"/>
            <p:nvPr/>
          </p:nvSpPr>
          <p:spPr>
            <a:xfrm>
              <a:off x="870585" y="1907356"/>
              <a:ext cx="7758430" cy="342900"/>
            </a:xfrm>
            <a:prstGeom prst="rect">
              <a:avLst/>
            </a:prstGeom>
            <a:noFill/>
          </p:spPr>
          <p:txBody>
            <a:bodyPr wrap="square" lIns="0" tIns="0" rIns="0" bIns="0" anchor="t">
              <a:noAutofit/>
            </a:bodyPr>
            <a:lstStyle/>
            <a:p>
              <a:pPr algn="l">
                <a:lnSpc>
                  <a:spcPts val="1350"/>
                </a:lnSpc>
                <a:spcBef>
                  <a:spcPts val="0"/>
                </a:spcBef>
                <a:spcAft>
                  <a:spcPts val="0"/>
                </a:spcAft>
              </a:pPr>
              <a:r>
                <a:rPr sz="1000" b="0" i="0" dirty="0">
                  <a:solidFill>
                    <a:srgbClr val="333333"/>
                  </a:solidFill>
                  <a:latin typeface="Arial"/>
                </a:rPr>
                <a:t>NCD Risk Factor Collaboration. Worldwide trends in diabetes prevalence and treatment from 1990 to 2022. </a:t>
              </a:r>
              <a:r>
                <a:rPr sz="1000" b="0" i="1" dirty="0">
                  <a:solidFill>
                    <a:srgbClr val="333333"/>
                  </a:solidFill>
                  <a:latin typeface="Arial"/>
                </a:rPr>
                <a:t>Lancet</a:t>
              </a:r>
              <a:r>
                <a:rPr sz="1000" b="0" i="0" dirty="0">
                  <a:solidFill>
                    <a:srgbClr val="333333"/>
                  </a:solidFill>
                  <a:latin typeface="Arial"/>
                </a:rPr>
                <a:t> 2024. doi:10.1016/S0140-6736(24)02317-1</a:t>
              </a:r>
            </a:p>
          </p:txBody>
        </p:sp>
        <p:sp>
          <p:nvSpPr>
            <p:cNvPr id="8" name="Text: [3]"/>
            <p:cNvSpPr txBox="1"/>
            <p:nvPr/>
          </p:nvSpPr>
          <p:spPr>
            <a:xfrm>
              <a:off x="514985" y="2326456"/>
              <a:ext cx="317500" cy="34290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[3]</a:t>
              </a:r>
            </a:p>
          </p:txBody>
        </p:sp>
        <p:sp>
          <p:nvSpPr>
            <p:cNvPr id="9" name="Text: Kim H-G, Cheon E-J, Bai D-S, Lee YH, Koo"/>
            <p:cNvSpPr txBox="1"/>
            <p:nvPr/>
          </p:nvSpPr>
          <p:spPr>
            <a:xfrm>
              <a:off x="870585" y="2326456"/>
              <a:ext cx="7758430" cy="34290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333333"/>
                  </a:solidFill>
                  <a:latin typeface="Arial"/>
                </a:rPr>
                <a:t>Kim H-G, Cheon E-J, Bai D-S, Lee YH, Koo B-H. Stress and heart rate variability: a meta-analysis and review of the literature. </a:t>
              </a:r>
              <a:r>
                <a:rPr sz="1000" b="0" i="1">
                  <a:solidFill>
                    <a:srgbClr val="333333"/>
                  </a:solidFill>
                  <a:latin typeface="Arial"/>
                </a:rPr>
                <a:t>Psychiatry Investig</a:t>
              </a:r>
              <a:r>
                <a:rPr sz="1000" b="0" i="0">
                  <a:solidFill>
                    <a:srgbClr val="333333"/>
                  </a:solidFill>
                  <a:latin typeface="Arial"/>
                </a:rPr>
                <a:t> 2018;15:235–245.</a:t>
              </a:r>
            </a:p>
          </p:txBody>
        </p:sp>
        <p:sp>
          <p:nvSpPr>
            <p:cNvPr id="10" name="Text: [4]"/>
            <p:cNvSpPr txBox="1"/>
            <p:nvPr/>
          </p:nvSpPr>
          <p:spPr>
            <a:xfrm>
              <a:off x="514985" y="2745556"/>
              <a:ext cx="317500" cy="34290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[4]</a:t>
              </a:r>
            </a:p>
          </p:txBody>
        </p:sp>
        <p:sp>
          <p:nvSpPr>
            <p:cNvPr id="11" name="Text: Sjoding MW, Dickson RP, Iwashyna TJ, Gay"/>
            <p:cNvSpPr txBox="1"/>
            <p:nvPr/>
          </p:nvSpPr>
          <p:spPr>
            <a:xfrm>
              <a:off x="870585" y="2745556"/>
              <a:ext cx="7758430" cy="34290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333333"/>
                  </a:solidFill>
                  <a:latin typeface="Arial"/>
                </a:rPr>
                <a:t>Sjoding MW, Dickson RP, Iwashyna TJ, Gay SE, Valley TS. Racial bias in pulse oximetry measurement. </a:t>
              </a:r>
              <a:r>
                <a:rPr sz="1000" b="0" i="1">
                  <a:solidFill>
                    <a:srgbClr val="333333"/>
                  </a:solidFill>
                  <a:latin typeface="Arial"/>
                </a:rPr>
                <a:t>N Engl J Med</a:t>
              </a:r>
              <a:r>
                <a:rPr sz="1000" b="0" i="0">
                  <a:solidFill>
                    <a:srgbClr val="333333"/>
                  </a:solidFill>
                  <a:latin typeface="Arial"/>
                </a:rPr>
                <a:t> 2020;383:2477–2478.</a:t>
              </a:r>
            </a:p>
          </p:txBody>
        </p:sp>
        <p:sp>
          <p:nvSpPr>
            <p:cNvPr id="12" name="Text: [5]"/>
            <p:cNvSpPr txBox="1"/>
            <p:nvPr/>
          </p:nvSpPr>
          <p:spPr>
            <a:xfrm>
              <a:off x="514985" y="3164656"/>
              <a:ext cx="317500" cy="17145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[5]</a:t>
              </a:r>
            </a:p>
          </p:txBody>
        </p:sp>
        <p:sp>
          <p:nvSpPr>
            <p:cNvPr id="13" name="Text: Perez MV, et al. Large-scale assessment "/>
            <p:cNvSpPr txBox="1"/>
            <p:nvPr/>
          </p:nvSpPr>
          <p:spPr>
            <a:xfrm>
              <a:off x="870585" y="3164656"/>
              <a:ext cx="7758430" cy="17145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333333"/>
                  </a:solidFill>
                  <a:latin typeface="Arial"/>
                </a:rPr>
                <a:t>Perez MV, et al. Large-scale assessment of a smartwatch to identify atrial fibrillation. </a:t>
              </a:r>
              <a:r>
                <a:rPr sz="1000" b="0" i="1">
                  <a:solidFill>
                    <a:srgbClr val="333333"/>
                  </a:solidFill>
                  <a:latin typeface="Arial"/>
                </a:rPr>
                <a:t>N Engl J Med</a:t>
              </a:r>
              <a:r>
                <a:rPr sz="1000" b="0" i="0">
                  <a:solidFill>
                    <a:srgbClr val="333333"/>
                  </a:solidFill>
                  <a:latin typeface="Arial"/>
                </a:rPr>
                <a:t> 2019;381:1909–1917.</a:t>
              </a:r>
            </a:p>
          </p:txBody>
        </p:sp>
        <p:sp>
          <p:nvSpPr>
            <p:cNvPr id="14" name="Text: [6]"/>
            <p:cNvSpPr txBox="1"/>
            <p:nvPr/>
          </p:nvSpPr>
          <p:spPr>
            <a:xfrm>
              <a:off x="514985" y="3412306"/>
              <a:ext cx="317500" cy="342900"/>
            </a:xfrm>
            <a:prstGeom prst="rect">
              <a:avLst/>
            </a:prstGeom>
            <a:noFill/>
          </p:spPr>
          <p:txBody>
            <a:bodyPr wrap="square" lIns="0" tIns="0" rIns="0" bIns="0" anchor="t">
              <a:noAutofit/>
            </a:bodyPr>
            <a:lstStyle/>
            <a:p>
              <a:pPr algn="l">
                <a:lnSpc>
                  <a:spcPts val="1150"/>
                </a:lnSpc>
                <a:spcBef>
                  <a:spcPts val="0"/>
                </a:spcBef>
                <a:spcAft>
                  <a:spcPts val="0"/>
                </a:spcAft>
              </a:pPr>
              <a:r>
                <a:rPr sz="1000" b="1" i="0">
                  <a:solidFill>
                    <a:srgbClr val="A84D00"/>
                  </a:solidFill>
                  <a:latin typeface="Arial"/>
                </a:rPr>
                <a:t>[6]</a:t>
              </a:r>
            </a:p>
          </p:txBody>
        </p:sp>
        <p:sp>
          <p:nvSpPr>
            <p:cNvPr id="15" name="Text: US FDA. The Software Precertification (P"/>
            <p:cNvSpPr txBox="1"/>
            <p:nvPr/>
          </p:nvSpPr>
          <p:spPr>
            <a:xfrm>
              <a:off x="870585" y="3412306"/>
              <a:ext cx="7758430" cy="342900"/>
            </a:xfrm>
            <a:prstGeom prst="rect">
              <a:avLst/>
            </a:prstGeom>
            <a:noFill/>
          </p:spPr>
          <p:txBody>
            <a:bodyPr wrap="square" lIns="0" tIns="0" rIns="0" bIns="0" anchor="t">
              <a:noAutofit/>
            </a:bodyPr>
            <a:lstStyle/>
            <a:p>
              <a:pPr algn="l">
                <a:lnSpc>
                  <a:spcPts val="1350"/>
                </a:lnSpc>
                <a:spcBef>
                  <a:spcPts val="0"/>
                </a:spcBef>
                <a:spcAft>
                  <a:spcPts val="0"/>
                </a:spcAft>
              </a:pPr>
              <a:r>
                <a:rPr sz="1000" b="0" i="0">
                  <a:solidFill>
                    <a:srgbClr val="333333"/>
                  </a:solidFill>
                  <a:latin typeface="Arial"/>
                </a:rPr>
                <a:t>US FDA. The Software Precertification (Pre-Cert) Pilot Program: tailored total product lifecycle approaches and key findings. September 2022.</a:t>
              </a:r>
            </a:p>
          </p:txBody>
        </p:sp>
        <p:sp>
          <p:nvSpPr>
            <p:cNvPr id="16" name="Text: [7]"/>
            <p:cNvSpPr txBox="1"/>
            <p:nvPr/>
          </p:nvSpPr>
          <p:spPr>
            <a:xfrm>
              <a:off x="514985" y="3831406"/>
              <a:ext cx="317500" cy="342900"/>
            </a:xfrm>
            <a:prstGeom prst="rect">
              <a:avLst/>
            </a:prstGeom>
            <a:noFill/>
          </p:spPr>
          <p:txBody>
            <a:bodyPr wrap="square" lIns="0" tIns="0" rIns="0" bIns="0" anchor="t">
              <a:noAutofit/>
            </a:bodyPr>
            <a:lstStyle/>
            <a:p>
              <a:pPr algn="l">
                <a:lnSpc>
                  <a:spcPts val="1150"/>
                </a:lnSpc>
                <a:spcBef>
                  <a:spcPts val="0"/>
                </a:spcBef>
                <a:spcAft>
                  <a:spcPts val="0"/>
                </a:spcAft>
              </a:pPr>
              <a:r>
                <a:rPr sz="1000" b="1" i="0" dirty="0">
                  <a:solidFill>
                    <a:srgbClr val="A84D00"/>
                  </a:solidFill>
                  <a:latin typeface="Arial"/>
                </a:rPr>
                <a:t>[7]</a:t>
              </a:r>
            </a:p>
          </p:txBody>
        </p:sp>
        <p:sp>
          <p:nvSpPr>
            <p:cNvPr id="17" name="Text: US FDA. Marketing submission recommendat"/>
            <p:cNvSpPr txBox="1"/>
            <p:nvPr/>
          </p:nvSpPr>
          <p:spPr>
            <a:xfrm>
              <a:off x="870585" y="3831406"/>
              <a:ext cx="7758430" cy="342900"/>
            </a:xfrm>
            <a:prstGeom prst="rect">
              <a:avLst/>
            </a:prstGeom>
            <a:noFill/>
          </p:spPr>
          <p:txBody>
            <a:bodyPr wrap="square" lIns="0" tIns="0" rIns="0" bIns="0" anchor="t">
              <a:noAutofit/>
            </a:bodyPr>
            <a:lstStyle/>
            <a:p>
              <a:pPr algn="l">
                <a:lnSpc>
                  <a:spcPts val="1350"/>
                </a:lnSpc>
                <a:spcBef>
                  <a:spcPts val="0"/>
                </a:spcBef>
                <a:spcAft>
                  <a:spcPts val="0"/>
                </a:spcAft>
              </a:pPr>
              <a:r>
                <a:rPr sz="1000" b="0" i="0" dirty="0">
                  <a:solidFill>
                    <a:srgbClr val="333333"/>
                  </a:solidFill>
                  <a:latin typeface="Arial"/>
                </a:rPr>
                <a:t>US FDA. Marketing submission recommendations for a Predetermined Change Control Plan for AI-enabled device software functions. Final guidance, December 2024.</a:t>
              </a:r>
            </a:p>
          </p:txBody>
        </p:sp>
        <p:sp>
          <p:nvSpPr>
            <p:cNvPr id="18" name="Text: [8]"/>
            <p:cNvSpPr txBox="1"/>
            <p:nvPr/>
          </p:nvSpPr>
          <p:spPr>
            <a:xfrm>
              <a:off x="514985" y="4250506"/>
              <a:ext cx="317500" cy="491615"/>
            </a:xfrm>
            <a:prstGeom prst="rect">
              <a:avLst/>
            </a:prstGeom>
            <a:noFill/>
          </p:spPr>
          <p:txBody>
            <a:bodyPr wrap="square" lIns="0" tIns="0" rIns="0" bIns="0" anchor="t">
              <a:noAutofit/>
            </a:bodyPr>
            <a:lstStyle/>
            <a:p>
              <a:pPr algn="l">
                <a:lnSpc>
                  <a:spcPts val="1150"/>
                </a:lnSpc>
                <a:spcBef>
                  <a:spcPts val="0"/>
                </a:spcBef>
                <a:spcAft>
                  <a:spcPts val="0"/>
                </a:spcAft>
              </a:pPr>
              <a:r>
                <a:rPr sz="1000" b="1" i="0" dirty="0">
                  <a:solidFill>
                    <a:srgbClr val="A84D00"/>
                  </a:solidFill>
                  <a:latin typeface="Arial"/>
                </a:rPr>
                <a:t>[8]</a:t>
              </a:r>
            </a:p>
          </p:txBody>
        </p:sp>
        <p:sp>
          <p:nvSpPr>
            <p:cNvPr id="19" name="Text: Figures reproduced from the review (CC B"/>
            <p:cNvSpPr txBox="1"/>
            <p:nvPr/>
          </p:nvSpPr>
          <p:spPr>
            <a:xfrm>
              <a:off x="870585" y="4250506"/>
              <a:ext cx="7758430" cy="685800"/>
            </a:xfrm>
            <a:prstGeom prst="rect">
              <a:avLst/>
            </a:prstGeom>
            <a:noFill/>
          </p:spPr>
          <p:txBody>
            <a:bodyPr wrap="square" lIns="0" tIns="0" rIns="0" bIns="0" anchor="t">
              <a:noAutofit/>
            </a:bodyPr>
            <a:lstStyle/>
            <a:p>
              <a:pPr algn="l">
                <a:lnSpc>
                  <a:spcPts val="1350"/>
                </a:lnSpc>
                <a:spcBef>
                  <a:spcPts val="0"/>
                </a:spcBef>
                <a:spcAft>
                  <a:spcPts val="0"/>
                </a:spcAft>
              </a:pPr>
              <a:r>
                <a:rPr sz="1000" b="0" i="0" dirty="0">
                  <a:solidFill>
                    <a:srgbClr val="333333"/>
                  </a:solidFill>
                  <a:latin typeface="Arial"/>
                </a:rPr>
                <a:t>Figures reproduced from the review (CC BY 4.0) and its sources: Ates et al., Nat Rev Mater 2022 (Fig 2); Song et al., Sci Adv 2023 (Fig 3); Lu et al., Nat Electron 2024 (Fig 4); Ma et al., Sci Adv 2023 (Fig 5); Rong et al., Sensors 2021 (Fig 6); Tu et al., Nat Biomed Eng 2023 (Fig 9); Wang et al., Sci </a:t>
              </a:r>
              <a:r>
                <a:rPr sz="1000" b="0" i="0" dirty="0" err="1">
                  <a:solidFill>
                    <a:srgbClr val="333333"/>
                  </a:solidFill>
                  <a:latin typeface="Arial"/>
                </a:rPr>
                <a:t>Transl</a:t>
              </a:r>
              <a:r>
                <a:rPr sz="1000" b="0" i="0" dirty="0">
                  <a:solidFill>
                    <a:srgbClr val="333333"/>
                  </a:solidFill>
                  <a:latin typeface="Arial"/>
                </a:rPr>
                <a:t> Med 2025 (Fig 10). All other diagrams, charts and calculations: presenter's own, from the review's data.</a:t>
              </a:r>
            </a:p>
          </p:txBody>
        </p:sp>
        <p:sp>
          <p:nvSpPr>
            <p:cNvPr id="23" name="Text: Figures reproduced from the review (CC B">
              <a:extLst>
                <a:ext uri="{FF2B5EF4-FFF2-40B4-BE49-F238E27FC236}">
                  <a16:creationId xmlns:a16="http://schemas.microsoft.com/office/drawing/2014/main" id="{92A98A1F-D136-71B4-9E7C-1B86B127D73D}"/>
                </a:ext>
              </a:extLst>
            </p:cNvPr>
            <p:cNvSpPr txBox="1"/>
            <p:nvPr/>
          </p:nvSpPr>
          <p:spPr>
            <a:xfrm>
              <a:off x="870585" y="4932955"/>
              <a:ext cx="7758430" cy="240304"/>
            </a:xfrm>
            <a:prstGeom prst="rect">
              <a:avLst/>
            </a:prstGeom>
            <a:noFill/>
          </p:spPr>
          <p:txBody>
            <a:bodyPr wrap="square" lIns="0" tIns="0" rIns="0" bIns="0" anchor="t">
              <a:noAutofit/>
            </a:bodyPr>
            <a:lstStyle/>
            <a:p>
              <a:pPr>
                <a:lnSpc>
                  <a:spcPts val="1350"/>
                </a:lnSpc>
              </a:pPr>
              <a:r>
                <a:rPr lang="en-US" sz="1000" b="0" i="0" dirty="0">
                  <a:solidFill>
                    <a:srgbClr val="333333"/>
                  </a:solidFill>
                  <a:latin typeface="Arial"/>
                </a:rPr>
                <a:t>Anthropic, Claude, Opus 5. Anthropic, 2026. Accessed: Sep. 21, 2026. [Online]. Available: https://</a:t>
              </a:r>
              <a:r>
                <a:rPr lang="en-US" sz="1000" b="0" i="0" dirty="0" err="1">
                  <a:solidFill>
                    <a:srgbClr val="333333"/>
                  </a:solidFill>
                  <a:latin typeface="Arial"/>
                </a:rPr>
                <a:t>claude.ai</a:t>
              </a:r>
              <a:r>
                <a:rPr lang="en-US" sz="1000" b="0" i="0" dirty="0">
                  <a:solidFill>
                    <a:srgbClr val="333333"/>
                  </a:solidFill>
                  <a:latin typeface="Arial"/>
                </a:rPr>
                <a:t> </a:t>
              </a:r>
              <a:endParaRPr sz="1000" b="0" i="0" dirty="0">
                <a:solidFill>
                  <a:srgbClr val="333333"/>
                </a:solidFill>
                <a:latin typeface="Arial"/>
              </a:endParaRPr>
            </a:p>
          </p:txBody>
        </p:sp>
        <p:sp>
          <p:nvSpPr>
            <p:cNvPr id="24" name="Text: [8]">
              <a:extLst>
                <a:ext uri="{FF2B5EF4-FFF2-40B4-BE49-F238E27FC236}">
                  <a16:creationId xmlns:a16="http://schemas.microsoft.com/office/drawing/2014/main" id="{4AFAC83A-61DF-6B14-7CBC-437DE480529F}"/>
                </a:ext>
              </a:extLst>
            </p:cNvPr>
            <p:cNvSpPr txBox="1"/>
            <p:nvPr/>
          </p:nvSpPr>
          <p:spPr>
            <a:xfrm>
              <a:off x="508975" y="4932955"/>
              <a:ext cx="317500" cy="342901"/>
            </a:xfrm>
            <a:prstGeom prst="rect">
              <a:avLst/>
            </a:prstGeom>
            <a:noFill/>
          </p:spPr>
          <p:txBody>
            <a:bodyPr wrap="square" lIns="0" tIns="0" rIns="0" bIns="0" anchor="t">
              <a:noAutofit/>
            </a:bodyPr>
            <a:lstStyle/>
            <a:p>
              <a:pPr algn="l">
                <a:lnSpc>
                  <a:spcPts val="1150"/>
                </a:lnSpc>
                <a:spcBef>
                  <a:spcPts val="0"/>
                </a:spcBef>
                <a:spcAft>
                  <a:spcPts val="0"/>
                </a:spcAft>
              </a:pPr>
              <a:r>
                <a:rPr sz="1000" b="1" i="0" dirty="0">
                  <a:solidFill>
                    <a:srgbClr val="A84D00"/>
                  </a:solidFill>
                  <a:latin typeface="Arial"/>
                </a:rPr>
                <a:t>[</a:t>
              </a:r>
              <a:r>
                <a:rPr lang="en-US" sz="1000" b="1" dirty="0">
                  <a:solidFill>
                    <a:srgbClr val="A84D00"/>
                  </a:solidFill>
                  <a:latin typeface="Arial"/>
                </a:rPr>
                <a:t>9]</a:t>
              </a:r>
              <a:endParaRPr sz="1000" b="1" i="0" dirty="0">
                <a:solidFill>
                  <a:srgbClr val="A84D00"/>
                </a:solidFill>
                <a:latin typeface="Arial"/>
              </a:endParaRPr>
            </a:p>
          </p:txBody>
        </p:sp>
        <p:sp>
          <p:nvSpPr>
            <p:cNvPr id="25" name="Text: Figures reproduced from the review (CC B">
              <a:extLst>
                <a:ext uri="{FF2B5EF4-FFF2-40B4-BE49-F238E27FC236}">
                  <a16:creationId xmlns:a16="http://schemas.microsoft.com/office/drawing/2014/main" id="{3A435BB0-FE9A-015E-0643-202729476650}"/>
                </a:ext>
              </a:extLst>
            </p:cNvPr>
            <p:cNvSpPr txBox="1"/>
            <p:nvPr/>
          </p:nvSpPr>
          <p:spPr>
            <a:xfrm>
              <a:off x="870585" y="5276605"/>
              <a:ext cx="7758430" cy="240304"/>
            </a:xfrm>
            <a:prstGeom prst="rect">
              <a:avLst/>
            </a:prstGeom>
            <a:noFill/>
          </p:spPr>
          <p:txBody>
            <a:bodyPr wrap="square" lIns="0" tIns="0" rIns="0" bIns="0" anchor="t">
              <a:noAutofit/>
            </a:bodyPr>
            <a:lstStyle/>
            <a:p>
              <a:pPr>
                <a:lnSpc>
                  <a:spcPts val="1350"/>
                </a:lnSpc>
              </a:pPr>
              <a:r>
                <a:rPr lang="en-US" sz="1000" b="0" i="0" dirty="0">
                  <a:solidFill>
                    <a:srgbClr val="333333"/>
                  </a:solidFill>
                  <a:latin typeface="Arial"/>
                </a:rPr>
                <a:t>R. Patra, Wearable AI Explorer, 2026. [Online]. Available: https://rittik047.github.io/WearableAI_Simulator/</a:t>
              </a:r>
              <a:endParaRPr sz="1000" b="0" i="0" dirty="0">
                <a:solidFill>
                  <a:srgbClr val="333333"/>
                </a:solidFill>
                <a:latin typeface="Arial"/>
              </a:endParaRPr>
            </a:p>
          </p:txBody>
        </p:sp>
        <p:sp>
          <p:nvSpPr>
            <p:cNvPr id="28" name="Text: [8]">
              <a:extLst>
                <a:ext uri="{FF2B5EF4-FFF2-40B4-BE49-F238E27FC236}">
                  <a16:creationId xmlns:a16="http://schemas.microsoft.com/office/drawing/2014/main" id="{06DC5BF8-DAAA-7F8B-5897-696F410EA59E}"/>
                </a:ext>
              </a:extLst>
            </p:cNvPr>
            <p:cNvSpPr txBox="1"/>
            <p:nvPr/>
          </p:nvSpPr>
          <p:spPr>
            <a:xfrm>
              <a:off x="508975" y="5276605"/>
              <a:ext cx="317500" cy="342901"/>
            </a:xfrm>
            <a:prstGeom prst="rect">
              <a:avLst/>
            </a:prstGeom>
            <a:noFill/>
          </p:spPr>
          <p:txBody>
            <a:bodyPr wrap="square" lIns="0" tIns="0" rIns="0" bIns="0" anchor="t">
              <a:noAutofit/>
            </a:bodyPr>
            <a:lstStyle/>
            <a:p>
              <a:pPr algn="l">
                <a:lnSpc>
                  <a:spcPts val="1150"/>
                </a:lnSpc>
                <a:spcBef>
                  <a:spcPts val="0"/>
                </a:spcBef>
                <a:spcAft>
                  <a:spcPts val="0"/>
                </a:spcAft>
              </a:pPr>
              <a:r>
                <a:rPr sz="1000" b="1" i="0" dirty="0">
                  <a:solidFill>
                    <a:srgbClr val="A84D00"/>
                  </a:solidFill>
                  <a:latin typeface="Arial"/>
                </a:rPr>
                <a:t>[</a:t>
              </a:r>
              <a:r>
                <a:rPr lang="en-US" sz="1000" b="1" i="0" dirty="0">
                  <a:solidFill>
                    <a:srgbClr val="A84D00"/>
                  </a:solidFill>
                  <a:latin typeface="Arial"/>
                </a:rPr>
                <a:t>10</a:t>
              </a:r>
              <a:r>
                <a:rPr lang="en-US" sz="1000" b="1" dirty="0">
                  <a:solidFill>
                    <a:srgbClr val="A84D00"/>
                  </a:solidFill>
                  <a:latin typeface="Arial"/>
                </a:rPr>
                <a:t>]</a:t>
              </a:r>
              <a:endParaRPr sz="1000" b="1" i="0" dirty="0">
                <a:solidFill>
                  <a:srgbClr val="A84D00"/>
                </a:solidFill>
                <a:latin typeface="Aria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UTD 2019 Colors">
      <a:dk1>
        <a:srgbClr val="000000"/>
      </a:dk1>
      <a:lt1>
        <a:srgbClr val="FFFFFF"/>
      </a:lt1>
      <a:dk2>
        <a:srgbClr val="414141"/>
      </a:dk2>
      <a:lt2>
        <a:srgbClr val="E7E6E6"/>
      </a:lt2>
      <a:accent1>
        <a:srgbClr val="E87500"/>
      </a:accent1>
      <a:accent2>
        <a:srgbClr val="69BD28"/>
      </a:accent2>
      <a:accent3>
        <a:srgbClr val="00A0DE"/>
      </a:accent3>
      <a:accent4>
        <a:srgbClr val="FFB611"/>
      </a:accent4>
      <a:accent5>
        <a:srgbClr val="154734"/>
      </a:accent5>
      <a:accent6>
        <a:srgbClr val="5FE0B7"/>
      </a:accent6>
      <a:hlink>
        <a:srgbClr val="C8C8C8"/>
      </a:hlink>
      <a:folHlink>
        <a:srgbClr val="808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ittik_Proposal" id="{990ABD52-F88A-F64F-A80B-8A9C7AE2C301}" vid="{6AF685EF-EB4A-A046-9BFD-F2CF961BFE86}"/>
    </a:ext>
  </a:extLst>
</a:theme>
</file>

<file path=ppt/theme/theme3.xml><?xml version="1.0" encoding="utf-8"?>
<a:theme xmlns:a="http://schemas.openxmlformats.org/drawingml/2006/main" name="2_Office Theme">
  <a:themeElements>
    <a:clrScheme name="UTD 2019 Colors">
      <a:dk1>
        <a:srgbClr val="000000"/>
      </a:dk1>
      <a:lt1>
        <a:srgbClr val="FFFFFF"/>
      </a:lt1>
      <a:dk2>
        <a:srgbClr val="414141"/>
      </a:dk2>
      <a:lt2>
        <a:srgbClr val="E7E6E6"/>
      </a:lt2>
      <a:accent1>
        <a:srgbClr val="E87500"/>
      </a:accent1>
      <a:accent2>
        <a:srgbClr val="69BD28"/>
      </a:accent2>
      <a:accent3>
        <a:srgbClr val="00A0DE"/>
      </a:accent3>
      <a:accent4>
        <a:srgbClr val="FFB611"/>
      </a:accent4>
      <a:accent5>
        <a:srgbClr val="154734"/>
      </a:accent5>
      <a:accent6>
        <a:srgbClr val="5FE0B7"/>
      </a:accent6>
      <a:hlink>
        <a:srgbClr val="C8C8C8"/>
      </a:hlink>
      <a:folHlink>
        <a:srgbClr val="808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TotalTime>
  <Words>8216</Words>
  <Application>Microsoft Macintosh PowerPoint</Application>
  <PresentationFormat>On-screen Show (4:3)</PresentationFormat>
  <Paragraphs>698</Paragraphs>
  <Slides>26</Slides>
  <Notes>25</Notes>
  <HiddenSlides>1</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26</vt:i4>
      </vt:variant>
    </vt:vector>
  </HeadingPairs>
  <TitlesOfParts>
    <vt:vector size="33" baseType="lpstr">
      <vt:lpstr>Aptos</vt:lpstr>
      <vt:lpstr>Arial</vt:lpstr>
      <vt:lpstr>Calibri</vt:lpstr>
      <vt:lpstr>Dreaming Outloud Script Pro</vt:lpstr>
      <vt:lpstr>Office Theme</vt:lpstr>
      <vt:lpstr>1_Office Theme</vt:lpstr>
      <vt:lpstr>2_Office Theme</vt:lpstr>
      <vt:lpstr>AI-Driven Wearable Bioelectronics  in  Digital Healthcare</vt:lpstr>
      <vt:lpstr>AI-Driven Wearable Bioelectronics  in  Digital Healthcare</vt:lpstr>
      <vt:lpstr>AI-Driven  Wearable Bioelectronics in Digital Healthcare</vt:lpstr>
      <vt:lpstr>Clinic visits sample your physiology at ~3 × 10⁻⁸ Hz</vt:lpstr>
      <vt:lpstr>Continuous signals, scarce clinical insight</vt:lpstr>
      <vt:lpstr>A narrative review, read as a five-layer system</vt:lpstr>
      <vt:lpstr>Every biosensor is a three-stage transduction chain</vt:lpstr>
      <vt:lpstr>Six decades of wearables, five building blocks</vt:lpstr>
      <vt:lpstr>Three device archetypes: dissolve, conform, weave</vt:lpstr>
      <vt:lpstr>Materials: match the tissue, not just the circuit</vt:lpstr>
      <vt:lpstr>Power is the hard ceiling on on-body intelligence</vt:lpstr>
      <vt:lpstr>The data: continuous, noisy, sparsely labeled</vt:lpstr>
      <vt:lpstr>An algorithm toolbox for on-body constraints</vt:lpstr>
      <vt:lpstr>Edge AI: move inference onto the wrist</vt:lpstr>
      <vt:lpstr>The authors' AI–biosensor fusion framework</vt:lpstr>
      <vt:lpstr>From signal to clinical use: what the review catalogs</vt:lpstr>
      <vt:lpstr>Two exemplars: sweat CRP patch, smart bandage</vt:lpstr>
      <vt:lpstr>Table 4: traditional vs AI-enhanced biosensing</vt:lpstr>
      <vt:lpstr>Table 5 in ROC space: strong, but mostly not wearable</vt:lpstr>
      <vt:lpstr>PPV depends on prevalence, not just accuracy</vt:lpstr>
      <vt:lpstr>The barriers are now data, trust and regulation</vt:lpstr>
      <vt:lpstr>Future directions and a proposed policy roadmap</vt:lpstr>
      <vt:lpstr>Conclusions: what the review establishes</vt:lpstr>
      <vt:lpstr>My assessment: a broad map with thin evidence</vt:lpstr>
      <vt:lpstr>Questions for the authors</vt:lpstr>
      <vt:lpstr>Sources beyond the reviewed paper</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Wearable Bioelectronics in Digital Healthcare: paper presentation</dc:title>
  <dc:subject>BMEN 6367 paper presentation: Huang, Chen &amp; Liao, Biosensors 2025, 15(7), 410</dc:subject>
  <dc:creator>Rittik Patra</dc:creator>
  <cp:keywords/>
  <dc:description>generated using python-pptx</dc:description>
  <cp:lastModifiedBy>Patra, Rittik</cp:lastModifiedBy>
  <cp:revision>6</cp:revision>
  <dcterms:created xsi:type="dcterms:W3CDTF">2013-01-27T09:14:16Z</dcterms:created>
  <dcterms:modified xsi:type="dcterms:W3CDTF">2026-09-22T18:41:46Z</dcterms:modified>
  <cp:category/>
</cp:coreProperties>
</file>